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dd86d968d3653b3b.png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62fcaaa95469edef.png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9525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0239375" y="1905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43000" y="2571750"/>
            <a:ext cx="9906000" cy="95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4200" b="1" dirty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从能调用到可运营：建立企业级模型治理体系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809750" y="3600450"/>
            <a:ext cx="85725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2025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LLM 执行底座 · 教学讲义</a:t>
            </a:r>
          </a:p>
        </p:txBody>
      </p:sp>
      <p:sp>
        <p:nvSpPr>
          <p:cNvPr id="8" name="Line 8"/>
          <p:cNvSpPr/>
          <p:nvPr/>
        </p:nvSpPr>
        <p:spPr>
          <a:xfrm>
            <a:off x="4000500" y="4333875"/>
            <a:ext cx="4191000" cy="9525"/>
          </a:xfrm>
          <a:custGeom>
            <a:avLst/>
            <a:gdLst/>
            <a:ahLst/>
            <a:cxnLst/>
            <a:rect l="l" t="t" r="r" b="b"/>
            <a:pathLst>
              <a:path w="4191000" h="9525">
                <a:moveTo>
                  <a:pt x="0" y="0"/>
                </a:moveTo>
                <a:lnTo>
                  <a:pt x="4191000" y="0"/>
                </a:lnTo>
              </a:path>
            </a:pathLst>
          </a:custGeom>
          <a:noFill/>
          <a:ln w="19050">
            <a:solidFill>
              <a:srgbClr val="F59E0B"/>
            </a:solidFill>
          </a:ln>
        </p:spPr>
      </p:sp>
      <p:sp>
        <p:nvSpPr>
          <p:cNvPr id="9" name="Ellipse 9"/>
          <p:cNvSpPr/>
          <p:nvPr/>
        </p:nvSpPr>
        <p:spPr>
          <a:xfrm>
            <a:off x="6048375" y="4286250"/>
            <a:ext cx="95250" cy="9525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714750" y="4714875"/>
            <a:ext cx="47625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725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企业级Agent工程架构实战营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714750" y="5105400"/>
            <a:ext cx="4762500" cy="333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425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第14讲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952750" y="5486400"/>
            <a:ext cx="62865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LLM 执行底座</a:t>
            </a:r>
          </a:p>
        </p:txBody>
      </p:sp>
      <p:sp>
        <p:nvSpPr>
          <p:cNvPr id="13" name="Rectangle 13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AF5EC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4381500" y="6486525"/>
            <a:ext cx="34290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2026-09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59E0B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14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学习目标 / Lernziele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1) 能解释成本的机制；2) 能对比升级的取舍；3) 能跑通 DataAgent 对应测试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从能调用到可运营：建立企业级模型治理体系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核心概念：治理点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机制的三个关键要点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课程第14讲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LLM 执行底座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成本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预算+统计+租户归集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升级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模型版本+路由版本+Replay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AF5EC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成本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预算+统计+租户归集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AF5EC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升级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模型版本+路由版本+Replay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AF5EC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租户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隔离+权限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架构与执行链路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一图看懂本讲的机制流转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课程第14讲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LLM 执行底座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AF5EC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成本：预算+统计+租户归集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升级：模型版本+路由版本+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落点：仓库验证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AF5EC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图：本讲核心对象的执行链路（由讲义表格自动生成）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关键代码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可运行实现与讲解一一对应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课程第14讲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LLM 执行底座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AF5EC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契约先行：接口→实现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离线可运行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AF5EC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代码：见讲义与 dataagent/ 仓库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关键证据与结论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用证据支撑工程判断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课程第14讲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LLM 执行底座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06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治理点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预算+统计+租户归集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升级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模型版本+路由版本+Replay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实战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DataAgent 仓库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B45309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实现多租户成本归集与预算控制，验证模型升级后 Replay 可回溯。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9525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0239375" y="1905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43000" y="2333625"/>
            <a:ext cx="9906000" cy="857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4200" b="1" dirty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本章小结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809750" y="3238500"/>
            <a:ext cx="85725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0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从能调用到可运营：建立企业级模型治理体系</a:t>
            </a:r>
          </a:p>
        </p:txBody>
      </p:sp>
      <p:sp>
        <p:nvSpPr>
          <p:cNvPr id="8" name="Line 8"/>
          <p:cNvSpPr/>
          <p:nvPr/>
        </p:nvSpPr>
        <p:spPr>
          <a:xfrm>
            <a:off x="4381500" y="3857625"/>
            <a:ext cx="3429000" cy="9525"/>
          </a:xfrm>
          <a:custGeom>
            <a:avLst/>
            <a:gdLst/>
            <a:ahLst/>
            <a:cxnLst/>
            <a:rect l="l" t="t" r="r" b="b"/>
            <a:pathLst>
              <a:path w="3429000" h="9525">
                <a:moveTo>
                  <a:pt x="0" y="0"/>
                </a:moveTo>
                <a:lnTo>
                  <a:pt x="3429000" y="0"/>
                </a:lnTo>
              </a:path>
            </a:pathLst>
          </a:custGeom>
          <a:noFill/>
          <a:ln w="19050">
            <a:solidFill>
              <a:srgbClr val="F59E0B"/>
            </a:solidFill>
          </a:ln>
        </p:spPr>
      </p:sp>
      <p:sp>
        <p:nvSpPr>
          <p:cNvPr id="9" name="Ellipse 9"/>
          <p:cNvSpPr/>
          <p:nvPr/>
        </p:nvSpPr>
        <p:spPr>
          <a:xfrm>
            <a:off x="6048375" y="3810000"/>
            <a:ext cx="95250" cy="9525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3429000" y="4238625"/>
            <a:ext cx="5334000" cy="1238250"/>
          </a:xfrm>
          <a:prstGeom prst="roundRect">
            <a:avLst>
              <a:gd name="adj" fmla="val 3077"/>
            </a:avLst>
          </a:prstGeom>
          <a:solidFill>
            <a:srgbClr val="FAF5EC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3619500" y="447675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实现多租户成本归集与预算控制，验证模型升级后 Replay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000500" y="4838700"/>
            <a:ext cx="41910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20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第14讲 · LLM 执行底座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619500" y="5124450"/>
            <a:ext cx="49530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20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企业级Agent工程架构实战营</a:t>
            </a:r>
          </a:p>
        </p:txBody>
      </p:sp>
      <p:sp>
        <p:nvSpPr>
          <p:cNvPr id="14" name="Rectangle 14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AF5EC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3619500" y="6486525"/>
            <a:ext cx="49530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课程复现资料 · 可公开分享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763250" y="6486525"/>
            <a:ext cx="85725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