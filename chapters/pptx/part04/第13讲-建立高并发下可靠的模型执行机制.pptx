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a0da788b739a4215.png"/>
</Relationships>
</file>

<file path=ppt/slides/_rels/slide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3faa258fb842d850.png"/>
</Relationships>
</file>

<file path=ppt/slides/_rels/slide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07137cf74b227ea9.png"/>
</Relationships>
</file>

<file path=ppt/slides/_rels/slide1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06c225566739d442.png"/>
</Relationships>
</file>

<file path=ppt/slides/_rels/slide1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d0fda08a331fcb89.png"/>
</Relationships>
</file>

<file path=ppt/slides/_rels/slide2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e3400bf163652c93.png"/>
</Relationships>
</file>

<file path=ppt/slides/_rels/slide2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fd5d3467bd6fdc7e.png"/>
</Relationships>
</file>

<file path=ppt/slides/_rels/slide2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5da5b69f3f7ba6df.png"/>
</Relationships>
</file>

<file path=ppt/slides/_rels/slide2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5a0f21e65afb9431.png"/>
</Relationships>
</file>

<file path=ppt/slides/_rels/slide3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0b4d782b0f9ba0af.png"/>
</Relationships>
</file>

<file path=ppt/slides/_rels/slide3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8cf6a619111a9750.png"/>
</Relationships>
</file>

<file path=ppt/slides/_rels/slide3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0f5111308a12470f.png"/>
</Relationships>
</file>

<file path=ppt/slides/_rels/slide3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e37b3400b9a6bfd8.png"/>
</Relationships>
</file>

<file path=ppt/slides/_rels/slide4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37da76779adbfc81.png"/>
</Relationships>
</file>

<file path=ppt/slides/_rels/slide4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31b56098feb2e214.png"/>
</Relationships>
</file>

<file path=ppt/slides/_rels/slide4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c73f2f35b7386f92.png"/>
</Relationships>
</file>

<file path=ppt/slides/_rels/slide5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1a1e9641055e2419.png"/>
</Relationships>
</file>

<file path=ppt/slides/_rels/slide5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3ce0284306b703de.png"/>
</Relationships>
</file>

<file path=ppt/slides/_rels/slide6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143378e8dc606a2f.png"/>
</Relationships>
</file>

<file path=ppt/slides/_rels/slide6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bb93e1e457b6fd70.png"/>
</Relationships>
</file>

<file path=ppt/slides/_rels/slide6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5f76e7e53611f066.png"/>
</Relationships>
</file>

<file path=ppt/slides/_rels/slide7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7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7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7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7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7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7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7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a09e50242b834d50.png"/>
</Relationships>
</file>

<file path=ppt/slides/_rels/slide7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7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8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8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8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571750"/>
            <a:ext cx="9906000" cy="952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B45309"/>
                </a:solidFill>
                <a:latin typeface="Arial"/>
                <a:ea typeface="Microsoft YaHei"/>
                <a:cs typeface="Arial"/>
              </a:rPr>
              <a:t>建立高并发下可靠的模型执行机制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600450"/>
            <a:ext cx="8572500" cy="476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20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LLM 执行底座 · 深度教学讲义</a:t>
            </a:r>
          </a:p>
        </p:txBody>
      </p:sp>
      <p:sp>
        <p:nvSpPr>
          <p:cNvPr id="8" name="Line 8"/>
          <p:cNvSpPr/>
          <p:nvPr/>
        </p:nvSpPr>
        <p:spPr>
          <a:xfrm>
            <a:off x="4000500" y="4333875"/>
            <a:ext cx="4191000" cy="9525"/>
          </a:xfrm>
          <a:custGeom>
            <a:avLst/>
            <a:gdLst/>
            <a:ahLst/>
            <a:cxnLst/>
            <a:rect l="l" t="t" r="r" b="b"/>
            <a:pathLst>
              <a:path w="4191000" h="9525">
                <a:moveTo>
                  <a:pt x="0" y="0"/>
                </a:moveTo>
                <a:lnTo>
                  <a:pt x="4191000" y="0"/>
                </a:lnTo>
              </a:path>
            </a:pathLst>
          </a:custGeom>
          <a:noFill/>
          <a:ln w="19050">
            <a:solidFill>
              <a:srgbClr val="F59E0B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4286250"/>
            <a:ext cx="95250" cy="9525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714750" y="4714875"/>
            <a:ext cx="476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725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714750" y="5105400"/>
            <a:ext cx="476250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4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第13讲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952750" y="5486400"/>
            <a:ext cx="62865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3" name="Rectangle 13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AF5EC"/>
          </a:solidFill>
          <a:ln>
            <a:noFill/>
          </a:ln>
        </p:spPr>
      </p:sp>
      <p:sp>
        <p:nvSpPr>
          <p:cNvPr id="14" name="TextBox 14"/>
          <p:cNvSpPr txBox="1"/>
          <p:nvPr/>
        </p:nvSpPr>
        <p:spPr>
          <a:xfrm>
            <a:off x="4381500" y="6486525"/>
            <a:ext cx="3429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2026-09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54330" y="211455"/>
            <a:ext cx="703555" cy="4267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目录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0239375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grpSp>
        <p:nvGrpSpPr>
          <p:cNvPr id="31" name="Group 31"/>
          <p:cNvGrpSpPr/>
          <p:nvPr/>
        </p:nvGrpSpPr>
        <p:grpSpPr>
          <a:xfrm>
            <a:off x="762000" y="1095375"/>
            <a:ext cx="10668000" cy="2952750"/>
            <a:chOff x="762000" y="1095375"/>
            <a:chExt cx="10668000" cy="2952750"/>
          </a:xfrm>
        </p:grpSpPr>
        <p:sp>
          <p:nvSpPr>
            <p:cNvPr id="7" name="Rectangle 7"/>
            <p:cNvSpPr/>
            <p:nvPr/>
          </p:nvSpPr>
          <p:spPr>
            <a:xfrm>
              <a:off x="762000" y="1095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1095375"/>
              <a:ext cx="57150" cy="857250"/>
            </a:xfrm>
            <a:prstGeom prst="rect">
              <a:avLst/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093470" y="1264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771650" y="1190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概念详解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143000" y="1600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核心概念定义与边界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6286500" y="1095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3" name="Rectangle 13"/>
            <p:cNvSpPr/>
            <p:nvPr/>
          </p:nvSpPr>
          <p:spPr>
            <a:xfrm>
              <a:off x="6286500" y="1095375"/>
              <a:ext cx="57150" cy="857250"/>
            </a:xfrm>
            <a:prstGeom prst="rect">
              <a:avLst/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6617970" y="1264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296150" y="1190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机制与图解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667500" y="1600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运行机制与图解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2238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FAF5EC"/>
            </a:solidFill>
            <a:ln>
              <a:noFill/>
            </a:ln>
          </p:spPr>
        </p:sp>
        <p:sp>
          <p:nvSpPr>
            <p:cNvPr id="18" name="Rectangle 18"/>
            <p:cNvSpPr/>
            <p:nvPr/>
          </p:nvSpPr>
          <p:spPr>
            <a:xfrm>
              <a:off x="762000" y="2238375"/>
              <a:ext cx="57150" cy="857250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1093470" y="2407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771650" y="2333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代码实现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143000" y="2743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仓库真实代码三切面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6286500" y="2238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FAF5EC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6286500" y="2238375"/>
              <a:ext cx="57150" cy="857250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617970" y="2407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04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296150" y="2333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应用实践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667500" y="2743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落地步骤与场景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3381375"/>
              <a:ext cx="5143500" cy="666750"/>
            </a:xfrm>
            <a:prstGeom prst="roundRect">
              <a:avLst>
                <a:gd name="adj" fmla="val 5714"/>
              </a:avLst>
            </a:prstGeom>
            <a:noFill/>
            <a:ln w="9525">
              <a:solidFill>
                <a:srgbClr val="F0DCC0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952500" y="3524250"/>
              <a:ext cx="4762500" cy="3619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275" dirty="0">
                  <a:solidFill>
                    <a:srgbClr val="6B7C8F"/>
                  </a:solidFill>
                  <a:latin typeface="Arial"/>
                  <a:ea typeface="Microsoft YaHei"/>
                  <a:cs typeface="Arial"/>
                </a:rPr>
                <a:t>陷阱与排查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3381375"/>
              <a:ext cx="5143500" cy="666750"/>
            </a:xfrm>
            <a:prstGeom prst="roundRect">
              <a:avLst>
                <a:gd name="adj" fmla="val 5714"/>
              </a:avLst>
            </a:prstGeom>
            <a:noFill/>
            <a:ln w="9525">
              <a:solidFill>
                <a:srgbClr val="F0DCC0"/>
              </a:solidFill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477000" y="3524250"/>
              <a:ext cx="4762500" cy="3619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275" dirty="0">
                  <a:solidFill>
                    <a:srgbClr val="6B7C8F"/>
                  </a:solidFill>
                  <a:latin typeface="Arial"/>
                  <a:ea typeface="Microsoft YaHei"/>
                  <a:cs typeface="Arial"/>
                </a:rPr>
                <a:t>优化拓展</a:t>
              </a:r>
            </a:p>
          </p:txBody>
        </p:sp>
      </p:grpSp>
      <p:sp>
        <p:nvSpPr>
          <p:cNvPr id="32" name="Line 32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33" name="TextBox 33"/>
          <p:cNvSpPr txBox="1"/>
          <p:nvPr/>
        </p:nvSpPr>
        <p:spPr>
          <a:xfrm>
            <a:off x="10763250" y="6486525"/>
            <a:ext cx="85725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F59E0B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13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学习目标 / Lernziele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1) 能解释Retry的机制；2) 能对比Fallback的取舍；3) 能跑通 llm_runtime.py 对应测试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建立高并发下可靠的模型执行机制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F59E0B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04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概念详解：Retry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「Retry」指瞬时失败。在企业级语境下，它同时约束接口契约、生命周期与治理边界，而不只是一个名词。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建立高并发下可靠的模型执行机制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定义与内涵：Retry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把Retry讲透：是什么、不是什么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05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「Retry」指瞬时失败。在企业级语境下，它同时约束接口契约、生命周期与治理边界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解决的问题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解决的问题维度：瞬时失败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要点维度：瞬时失败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统一 Runtime 是一切的地基：调用成功不等于任务成功。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机制图解：Retry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06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「Retry」的运行机制分三步：输入契约校验 → 核心转换执行 → 结果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AF5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图：Retry 的机制与数据流（flow_v 视角）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深入原理：Retry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07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正确姿势：先定义「Retry」的契约与不变量，再谈实现；所有旁路都必须被审计。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常见误用：把「Retry」当成一次性胶水代码，没有版本、没有度量、没有回滚路径。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治理视角：路由、预算、回放构成模型治理三件套。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代码契约：Retry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08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文件：llm_runtime.py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AF5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代码：llm_runtime.py · 契约（概念1 Retry）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代码实现：Retry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09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文件：llm_runtime.py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AF5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代码：llm_runtime.py · 实现（概念1 Retry）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代码测试：Retry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测试切面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10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文件：test_llm_runtime.py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切面：测试——先读接口再读实现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AF5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代码：test_llm_runtime.py · 测试（概念1 Retry）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应用实践：Retry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11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把「Retry」落到业务：先小流量灰度验证效果与成本，再逐步放开租户范围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案例视角：故障注入下 Reliable Executor 的重试与回退实测。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陷阱与排查：Retry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12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「Retry」典型故障：静默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工程决策：Retry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13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「Retry」的选型以证据与约束为准</a:t>
              </a:r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生产化：Retry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企业级落地三机制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14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阶段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机制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审计/落点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中断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ApprovalPending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waiting_approval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决议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decided_by/at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approve/reject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恢复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pre_approved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succeeded/canceled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HITL：中断-审批-恢复 全真实落库</a:t>
              </a:r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企业治理：Retry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三项已闭合边界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15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认证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未认证401/越权403（LAN实测）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queued→running→终态全落库（LAN实测）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JWT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HS256+四角色RBAC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Pulsar/Redis Worker落库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审批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HITL 中断-恢复</a:t>
              </a:r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优化拓展：Retry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16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「Retry」优化一：把人工经验固化为资产（规则/Skill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「Retry」优化二：建立基线对照（关闭/盲选/受控三组）证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F59E0B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17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概念详解：Fallback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对「Fallback」的正确定位是：模型不可用；它是可观测、可治理、可演进的稳定工程对象。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建立高并发下可靠的模型执行机制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定义与内涵：Fallback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把Fallback讲透：是什么、不是什么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18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对「Fallback」的正确定位是：模型不可用；它是可观测、可治理、可演进的稳定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解决的问题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解决的问题维度：模型不可用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要点维度：模型不可用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统一 Runtime 是一切的地基：调用成功不等于任务成功。</a:t>
              </a:r>
            </a:p>
          </p:txBody>
        </p:sp>
      </p:grp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机制图解：Fallback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19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从数据流看「Fallback」：上游产出受控载荷，经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AF5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图：Fallback 的机制与数据流（cycle 视角）</a:t>
              </a:r>
            </a:p>
          </p:txBody>
        </p:sp>
      </p:grp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深入原理：Fallback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20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正确姿势：把「Fallback」的决策依据落成证据（Trace/Eval），而不是凭经验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常见误用：用相关性绕过「Fallback」的硬性过滤，短期省事，长期必然越权或漂移。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治理视角：路由、预算、回放构成模型治理三件套。</a:t>
              </a:r>
            </a:p>
          </p:txBody>
        </p:sp>
      </p:grp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代码契约：Fallback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21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文件：llm_runtime.py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AF5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代码：llm_runtime.py · 契约（概念2 Fallback）</a:t>
              </a:r>
            </a:p>
          </p:txBody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代码实现：Fallback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22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文件：llm_runtime.py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AF5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代码：llm_runtime.py · 实现（概念2 Fallback）</a:t>
              </a:r>
            </a:p>
          </p:txBody>
        </p:sp>
      </p:grp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代码测试：Fallback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测试切面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23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文件：test_llm_runtime.py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切面：测试——先读接口再读实现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AF5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代码：test_llm_runtime.py · 测试（概念2 Fallback）</a:t>
              </a:r>
            </a:p>
          </p:txBody>
        </p:sp>
      </p:grp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应用实践：Fallback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24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「Fallback」的应用入口在本课程 DataAgent：跑通对应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案例视角：故障注入下 Reliable Executor 的重试与回退实测。</a:t>
              </a:r>
            </a:p>
          </p:txBody>
        </p:sp>
      </p:grp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陷阱与排查：Fallback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25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「Fallback」典型故障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工程决策：Fallback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26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「Fallback」的选型以证据与约束为</a:t>
              </a:r>
            </a:p>
          </p:txBody>
        </p:sp>
      </p:grp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生产化：Fallback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企业级落地三机制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27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阶段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机制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审计/落点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中断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ApprovalPending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waiting_approval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决议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decided_by/at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approve/reject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恢复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pre_approved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succeeded/canceled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HITL：中断-审批-恢复 全真实落库</a:t>
              </a:r>
            </a:p>
          </p:txBody>
        </p:sp>
      </p:grp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企业治理：Fallback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三项已闭合边界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28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认证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未认证401/越权403（LAN实测）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queued→running→终态全落库（LAN实测）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JWT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HS256+四角色RBAC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Pulsar/Redis Worker落库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审批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HITL 中断-恢复</a:t>
              </a:r>
            </a:p>
          </p:txBody>
        </p:sp>
      </p:grp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优化拓展：Fallback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29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「Fallback」优化一：把人工经验固化为资产（规则/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「Fallback」优化二：建立基线对照（关闭/盲选/受控三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F59E0B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30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概念详解：Timeout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「Timeout」的本质是卡死。理解它的关键是分清模型能做的与系统必须兜底的。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建立高并发下可靠的模型执行机制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定义与内涵：Timeout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把Timeout讲透：是什么、不是什么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31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「Timeout」的本质是卡死。理解它的关键是分清模型能做的与系统必须兜底的。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解决的问题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解决的问题维度：卡死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要点维度：卡死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统一 Runtime 是一切的地基：调用成功不等于任务成功。</a:t>
              </a:r>
            </a:p>
          </p:txBody>
        </p:sp>
      </p:grp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机制图解：Timeout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32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「Timeout」的机制核心是解耦：策略与执行分离、状态与过程分离、权限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AF5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图：Timeout 的机制与数据流（layers 视角）</a:t>
              </a:r>
            </a:p>
          </p:txBody>
        </p:sp>
      </p:grp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深入原理：Timeout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33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正确姿势：为「Timeout」设置显式预算与停止条件，宁可慢一点，不可失控。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常见误用：只在 Demo 里验证「Timeout」的正常路径，故障注入一跑就现出原形。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治理视角：路由、预算、回放构成模型治理三件套。</a:t>
              </a:r>
            </a:p>
          </p:txBody>
        </p:sp>
      </p:grp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代码契约：Timeout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34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文件：llm_runtime.py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AF5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代码：llm_runtime.py · 契约（概念3 Timeout）</a:t>
              </a:r>
            </a:p>
          </p:txBody>
        </p:sp>
      </p:grp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代码实现：Timeout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35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文件：llm_runtime.py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AF5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代码：llm_runtime.py · 实现（概念3 Timeout）</a:t>
              </a:r>
            </a:p>
          </p:txBody>
        </p:sp>
      </p:grp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代码测试：Timeout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测试切面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36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文件：test_llm_runtime.py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切面：测试——先读接口再读实现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AF5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代码：test_llm_runtime.py · 测试（概念3 Timeout）</a:t>
              </a:r>
            </a:p>
          </p:txBody>
        </p:sp>
      </p:grp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应用实践：Timeout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37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上线「Timeout」前自检三问：失败会怎样？谁能审计？回滚要多久？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案例视角：故障注入下 Reliable Executor 的重试与回退实测。</a:t>
              </a:r>
            </a:p>
          </p:txBody>
        </p:sp>
      </p:grp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陷阱与排查：Timeout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38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「Timeout」典型故障：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工程决策：Timeout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39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「Timeout」的选型以证据与约束为准</a:t>
              </a:r>
            </a:p>
          </p:txBody>
        </p:sp>
      </p:grp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生产化：Timeout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企业级落地三机制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40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阶段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机制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审计/落点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中断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ApprovalPending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waiting_approval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决议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decided_by/at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approve/reject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恢复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pre_approved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succeeded/canceled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HITL：中断-审批-恢复 全真实落库</a:t>
              </a:r>
            </a:p>
          </p:txBody>
        </p:sp>
      </p:grp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企业治理：Timeout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三项已闭合边界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41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认证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未认证401/越权403（LAN实测）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queued→running→终态全落库（LAN实测）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JWT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HS256+四角色RBAC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Pulsar/Redis Worker落库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审批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HITL 中断-恢复</a:t>
              </a:r>
            </a:p>
          </p:txBody>
        </p:sp>
      </p:grp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优化拓展：Timeout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42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「Timeout」优化一：把人工经验固化为资产（规则/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「Timeout」优化二：建立基线对照（关闭/盲选/受控三组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F59E0B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43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概念详解：Schema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把「Schema」当工程对象看：无效输出。它有明确的输入契约、失败语义与度量口径。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建立高并发下可靠的模型执行机制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定义与内涵：Schema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把Schema讲透：是什么、不是什么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44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把「Schema」当工程对象看：无效输出。它有明确的输入契约、失败语义与度量口径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解决的问题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解决的问题维度：无效输出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要点维度：无效输出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统一 Runtime 是一切的地基：调用成功不等于任务成功。</a:t>
              </a:r>
            </a:p>
          </p:txBody>
        </p:sp>
      </p:grp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机制图解：Schema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45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「Schema」之所以可靠，是因为它把不确定性关进笼子：预算、超时、重试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AF5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图：Schema 的机制与数据流（hub 视角）</a:t>
              </a:r>
            </a:p>
          </p:txBody>
        </p:sp>
      </p:grp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深入原理：Schema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46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正确姿势：先定义「Schema」的契约与不变量，再谈实现；所有旁路都必须被审计。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常见误用：把「Schema」当成一次性胶水代码，没有版本、没有度量、没有回滚路径。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治理视角：路由、预算、回放构成模型治理三件套。</a:t>
              </a:r>
            </a:p>
          </p:txBody>
        </p:sp>
      </p:grp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代码契约：Schema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47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文件：llm_runtime.py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AF5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代码：llm_runtime.py · 契约（概念4 Schema）</a:t>
              </a:r>
            </a:p>
          </p:txBody>
        </p:sp>
      </p:grp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代码实现：Schema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48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文件：llm_runtime.py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AF5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代码：llm_runtime.py · 实现（概念4 Schema）</a:t>
              </a:r>
            </a:p>
          </p:txBody>
        </p:sp>
      </p:grp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代码测试：Schema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测试切面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49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文件：test_llm_runtime.py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切面：测试——先读接口再读实现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AF5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代码：test_llm_runtime.py · 测试（概念4 Schema）</a:t>
              </a:r>
            </a:p>
          </p:txBody>
        </p:sp>
      </p:grp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应用实践：Schema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50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把「Schema」落到业务：先小流量灰度验证效果与成本，再逐步放开租户范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案例视角：故障注入下 Reliable Executor 的重试与回退实测。</a:t>
              </a:r>
            </a:p>
          </p:txBody>
        </p:sp>
      </p:grp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陷阱与排查：Schema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51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「Schema」典型故障：静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工程决策：Schema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52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「Schema」的选型以证据与约束为准</a:t>
              </a:r>
            </a:p>
          </p:txBody>
        </p:sp>
      </p:grp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生产化：Schema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企业级落地三机制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53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阶段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机制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审计/落点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中断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ApprovalPending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waiting_approval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决议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decided_by/at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approve/reject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恢复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pre_approved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succeeded/canceled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HITL：中断-审批-恢复 全真实落库</a:t>
              </a:r>
            </a:p>
          </p:txBody>
        </p:sp>
      </p:grp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企业治理：Schema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三项已闭合边界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54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认证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未认证401/越权403（LAN实测）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queued→running→终态全落库（LAN实测）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JWT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HS256+四角色RBAC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Pulsar/Redis Worker落库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审批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HITL 中断-恢复</a:t>
              </a:r>
            </a:p>
          </p:txBody>
        </p:sp>
      </p:grp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优化拓展：Schema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55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「Schema」优化一：把人工经验固化为资产（规则/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「Schema」优化二：建立基线对照（关闭/盲选/受控三组）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F59E0B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56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概念详解：Stream+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「Stream+Commit」指中间结果干扰。在企业级语境下，它同时约束接口契约、生命周期与治理边界，而不只是一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建立高并发下可靠的模型执行机制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定义与内涵：Stream+Commit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把Stream+Commit讲透：是什么、不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57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「Stream+Commit」指中间结果干扰。在企业级语境下，它同时约束接口契约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解决的问题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解决的问题维度：中间结果干扰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要点维度：中间结果干扰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统一 Runtime 是一切的地基：调用成功不等于任务成功。</a:t>
              </a:r>
            </a:p>
          </p:txBody>
        </p:sp>
      </p:grp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机制图解：Stream+Commit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58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「Stream+Commit」的运行机制分三步：输入契约校验 → 核心转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AF5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图：Stream+Commit 的机制与数据流（flow_v 视角）</a:t>
              </a:r>
            </a:p>
          </p:txBody>
        </p:sp>
      </p:grp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深入原理：Stream+Commit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59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正确姿势：把「Stream+Commit」的决策依据落成证据（Trace/Eval），而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常见误用：用相关性绕过「Stream+Commit」的硬性过滤，短期省事，长期必然越权或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治理视角：路由、预算、回放构成模型治理三件套。</a:t>
              </a:r>
            </a:p>
          </p:txBody>
        </p:sp>
      </p:grp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代码契约：Stream+Commit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60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文件：llm_runtime.py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AF5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代码：llm_runtime.py · 契约（概念5 Stream+Commit）</a:t>
              </a:r>
            </a:p>
          </p:txBody>
        </p:sp>
      </p:grp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代码实现：Stream+Commit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61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文件：llm_runtime.py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AF5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代码：llm_runtime.py · 实现（概念5 Stream+Commit）</a:t>
              </a:r>
            </a:p>
          </p:txBody>
        </p:sp>
      </p:grp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代码测试：Stream+Commit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测试切面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62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文件：test_llm_runtime.py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切面：测试——先读接口再读实现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AF5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代码：test_llm_runtime.py · 测试（概念5 Stream+Commit）</a:t>
              </a:r>
            </a:p>
          </p:txBody>
        </p:sp>
      </p:grp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应用实践：Stream+Commit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63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「Stream+Commit」的应用入口在本课程 DataAgent：跑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案例视角：故障注入下 Reliable Executor 的重试与回退实测。</a:t>
              </a:r>
            </a:p>
          </p:txBody>
        </p:sp>
      </p:grp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陷阱与排查：Stream+Commit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64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「Stream+Commit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工程决策：Stream+Commit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65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「Stream+Commit」的选型以证</a:t>
              </a:r>
            </a:p>
          </p:txBody>
        </p:sp>
      </p:grp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生产化：Stream+Commit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企业级落地三机制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66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阶段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机制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审计/落点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中断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ApprovalPending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waiting_approval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决议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decided_by/at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approve/reject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恢复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pre_approved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succeeded/canceled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HITL：中断-审批-恢复 全真实落库</a:t>
              </a:r>
            </a:p>
          </p:txBody>
        </p:sp>
      </p:grp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企业治理：Stream+Commit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三项已闭合边界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67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认证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未认证401/越权403（LAN实测）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queued→running→终态全落库（LAN实测）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JWT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HS256+四角色RBAC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Pulsar/Redis Worker落库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审批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HITL 中断-恢复</a:t>
              </a:r>
            </a:p>
          </p:txBody>
        </p:sp>
      </p:grp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优化拓展：Stream+Commit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68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「Stream+Commit」优化一：把人工经验固化为资产（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「Stream+Commit」优化二：建立基线对照（关闭/盲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本章知识图谱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概念之间的结构关系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69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核心：Retry、Fallba、Timeou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关系：输入→机制→治理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全部概念见讲义表格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AF5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图：本章概念关系（中心辐射视角）</a:t>
              </a:r>
            </a:p>
          </p:txBody>
        </p:sp>
      </p:grp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F59E0B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70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应用与实战指南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从理解到落地：场景、步骤与检查清单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建立高并发下可靠的模型执行机制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71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实战路线图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三步从 Demo 到生产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71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场景选择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选高频、可验证、低风险场景切入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契约先行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定义输入/输出/错误语义与验收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评测护航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建数据集与评分卡再动 Prompt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案例视角：故障注入下 Reliable Executor 的重试与回退实测。</a:t>
              </a:r>
            </a:p>
          </p:txBody>
        </p:sp>
      </p:grp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72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典型应用场景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场景→做法→收益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72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场景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做法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收益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经营诊断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自主分析闭环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结论可解释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数据查询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只读网关+权限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安全合规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行动执行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审批+幂等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风险可控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场景选择决定治理强度，按风险分级</a:t>
              </a:r>
            </a:p>
          </p:txBody>
        </p:sp>
      </p:grp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73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落地检查清单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上线前逐项打勾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73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功能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核心链路全绿；故障注入通过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质量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三层评测达标；回归门禁通过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安全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权限/审计/幂等/回滚就绪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GO/NO-GO 由硬门槛决定，不由均分决定</a:t>
              </a:r>
            </a:p>
          </p:txBody>
        </p:sp>
      </p:grp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F59E0B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74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优化与拓展指南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让系统随模型共同进化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建立高并发下可靠的模型执行机制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75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优化方向对照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短期补丁 vs 长期资产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75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短期补丁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改 Prompt 救火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局部 if-else 兜底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人工盯梢排查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经验留在个人脑中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长期资产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规则/Skill/Eval 沉淀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统一 Runtime 治理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Trace+Baseline 驱动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资产随组织复用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延伸阅读：LogicalCall/Attempt 的生命周期与成本归集。</a:t>
              </a:r>
            </a:p>
          </p:txBody>
        </p:sp>
      </p:grp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76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拓展学习地图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三层次进阶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76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体系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把本讲机制放进企业级全景图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贯通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与前后讲次的接口互相印证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向上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架构与治理体系化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向深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Runtime 与可靠性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向外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多 Agent 与平台化</a:t>
              </a:r>
            </a:p>
          </p:txBody>
        </p:sp>
      </p:grp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77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演进路线图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本讲在能力阶梯上的位置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77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当前：本讲机制已可运行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下一站：与相邻模块协同治理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长期：固化为组织级资产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AF5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图：从本讲机制到组织资产的演进路径</a:t>
              </a:r>
            </a:p>
          </p:txBody>
        </p:sp>
      </p:grp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F59E0B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78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治理与常见陷阱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企业级红线与审计要点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建立高并发下可靠的模型执行机制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79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企业级红线清单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红线→后果→防护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79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红线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后果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防护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越权访问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数据泄漏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硬过滤+审计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未审批副作用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业务事故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审批+幂等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不可回放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无法追责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Trace+Checkpoint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红线一票否决，不允许带病上线</a:t>
              </a:r>
            </a:p>
          </p:txBody>
        </p:sp>
      </p:grp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F59E0B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80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复习与考核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把本讲装进长期记忆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建立高并发下可靠的模型执行机制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81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复习要点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三个必答题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81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是什么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Retry的定义与边界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为什么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统一 Runtime 是一切的地基：调用成功不等于任务成功。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怎么用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在 DataAgent 中跑通 llm_runtime.py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能讲给同事听懂，才算真正掌握</a:t>
              </a:r>
            </a:p>
          </p:txBody>
        </p:sp>
      </p:grp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333625"/>
            <a:ext cx="9906000" cy="857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B45309"/>
                </a:solidFill>
                <a:latin typeface="Arial"/>
                <a:ea typeface="Microsoft YaHei"/>
                <a:cs typeface="Arial"/>
              </a:rPr>
              <a:t>本章小结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238500"/>
            <a:ext cx="857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建立高并发下可靠的模型执行机制</a:t>
            </a:r>
          </a:p>
        </p:txBody>
      </p:sp>
      <p:sp>
        <p:nvSpPr>
          <p:cNvPr id="8" name="Line 8"/>
          <p:cNvSpPr/>
          <p:nvPr/>
        </p:nvSpPr>
        <p:spPr>
          <a:xfrm>
            <a:off x="4381500" y="3857625"/>
            <a:ext cx="3429000" cy="9525"/>
          </a:xfrm>
          <a:custGeom>
            <a:avLst/>
            <a:gdLst/>
            <a:ahLst/>
            <a:cxnLst/>
            <a:rect l="l" t="t" r="r" b="b"/>
            <a:pathLst>
              <a:path w="3429000" h="9525">
                <a:moveTo>
                  <a:pt x="0" y="0"/>
                </a:moveTo>
                <a:lnTo>
                  <a:pt x="3429000" y="0"/>
                </a:lnTo>
              </a:path>
            </a:pathLst>
          </a:custGeom>
          <a:noFill/>
          <a:ln w="19050">
            <a:solidFill>
              <a:srgbClr val="F59E0B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3810000"/>
            <a:ext cx="95250" cy="95250"/>
          </a:xfrm>
          <a:prstGeom prst="ellipse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10" name="Rectangle 10"/>
          <p:cNvSpPr/>
          <p:nvPr/>
        </p:nvSpPr>
        <p:spPr>
          <a:xfrm>
            <a:off x="3429000" y="4238625"/>
            <a:ext cx="5334000" cy="1238250"/>
          </a:xfrm>
          <a:prstGeom prst="roundRect">
            <a:avLst>
              <a:gd name="adj" fmla="val 3077"/>
            </a:avLst>
          </a:prstGeom>
          <a:solidFill>
            <a:srgbClr val="FAF5EC"/>
          </a:solidFill>
          <a:ln>
            <a:noFill/>
          </a:ln>
        </p:spPr>
      </p:sp>
      <p:sp>
        <p:nvSpPr>
          <p:cNvPr id="11" name="TextBox 11"/>
          <p:cNvSpPr txBox="1"/>
          <p:nvPr/>
        </p:nvSpPr>
        <p:spPr>
          <a:xfrm>
            <a:off x="3619500" y="4476750"/>
            <a:ext cx="4953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为 DataAgent 注入真实故障与高并发测试，完成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4000500" y="4838700"/>
            <a:ext cx="4191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第13讲 · LLM 执行底座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3619500" y="5124450"/>
            <a:ext cx="4953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4" name="Rectangle 14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AF5EC"/>
          </a:solidFill>
          <a:ln>
            <a:noFill/>
          </a:ln>
        </p:spPr>
      </p:sp>
      <p:sp>
        <p:nvSpPr>
          <p:cNvPr id="15" name="TextBox 15"/>
          <p:cNvSpPr txBox="1"/>
          <p:nvPr/>
        </p:nvSpPr>
        <p:spPr>
          <a:xfrm>
            <a:off x="3619500" y="6486525"/>
            <a:ext cx="4953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课程复现资料 · 可公开分享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0763250" y="6486525"/>
            <a:ext cx="85725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82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