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2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3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4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_rels/slide5.xml.rels><?xml version="1.0" encoding="UTF-8" standalone="yes"?>
<Relationships xmlns="http://schemas.openxmlformats.org/package/2006/relationships">
  <Relationship Id="rId1" Type="http://schemas.openxmlformats.org/officeDocument/2006/relationships/slideLayout" Target="../slideLayouts/slideLayout1.xml"/>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571750"/>
            <a:ext cx="9906000" cy="952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23 动态上下文装配与预算：让不同 Step 只看到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600450"/>
            <a:ext cx="8572500" cy="476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20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第六篇（Agent 上下文治理篇） · 教学讲义</a:t>
            </a:r>
          </a:p>
        </p:txBody>
      </p:sp>
      <p:sp>
        <p:nvSpPr>
          <p:cNvPr id="8" name="Line 8"/>
          <p:cNvSpPr/>
          <p:nvPr/>
        </p:nvSpPr>
        <p:spPr>
          <a:xfrm>
            <a:off x="4000500" y="4333875"/>
            <a:ext cx="4191000" cy="9525"/>
          </a:xfrm>
          <a:custGeom>
            <a:avLst/>
            <a:gdLst/>
            <a:ahLst/>
            <a:cxnLst/>
            <a:rect l="l" t="t" r="r" b="b"/>
            <a:pathLst>
              <a:path w="4191000" h="9525">
                <a:moveTo>
                  <a:pt x="0" y="0"/>
                </a:moveTo>
                <a:lnTo>
                  <a:pt x="4191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4286250"/>
            <a:ext cx="95250" cy="95250"/>
          </a:xfrm>
          <a:prstGeom prst="ellipse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714750" y="4714875"/>
            <a:ext cx="476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725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3714750" y="5105400"/>
            <a:ext cx="476250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425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第23讲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952750" y="5486400"/>
            <a:ext cx="6286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3" name="Rectangle 13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4" name="TextBox 14"/>
          <p:cNvSpPr txBox="1"/>
          <p:nvPr/>
        </p:nvSpPr>
        <p:spPr>
          <a:xfrm>
            <a:off x="4381500" y="6486525"/>
            <a:ext cx="3429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2026-09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核心概念：能力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方法的三个关键要点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02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3524250"/>
            <a:ext cx="11201400" cy="1285875"/>
            <a:chOff x="495300" y="352425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352425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352425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397192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375285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管线化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375285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375285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装配管道定位错误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硬过滤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权限/租户/有效期</a:t>
              </a:r>
            </a:p>
          </p:txBody>
        </p:sp>
      </p:grpSp>
      <p:grpSp>
        <p:nvGrpSpPr>
          <p:cNvPr id="34" name="EasySlides Component: metric_01"/>
          <p:cNvGrpSpPr/>
          <p:nvPr/>
        </p:nvGrpSpPr>
        <p:grpSpPr>
          <a:xfrm>
            <a:off x="495300" y="1285875"/>
            <a:ext cx="3505200" cy="1809750"/>
            <a:chOff x="495300" y="1285875"/>
            <a:chExt cx="3505200" cy="1809750"/>
          </a:xfrm>
        </p:grpSpPr>
        <p:sp>
          <p:nvSpPr>
            <p:cNvPr id="29" name="Rectangle 29"/>
            <p:cNvSpPr/>
            <p:nvPr/>
          </p:nvSpPr>
          <p:spPr>
            <a:xfrm>
              <a:off x="4953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620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管线化</a:t>
              </a:r>
            </a:p>
          </p:txBody>
        </p:sp>
        <p:sp>
          <p:nvSpPr>
            <p:cNvPr id="32" name="Line 32"/>
            <p:cNvSpPr/>
            <p:nvPr/>
          </p:nvSpPr>
          <p:spPr>
            <a:xfrm>
              <a:off x="9906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7620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装配管道定位错误</a:t>
              </a:r>
            </a:p>
          </p:txBody>
        </p:sp>
      </p:grpSp>
      <p:grpSp>
        <p:nvGrpSpPr>
          <p:cNvPr id="40" name="EasySlides Component: metric_02"/>
          <p:cNvGrpSpPr/>
          <p:nvPr/>
        </p:nvGrpSpPr>
        <p:grpSpPr>
          <a:xfrm>
            <a:off x="4343400" y="1285875"/>
            <a:ext cx="3505200" cy="1809750"/>
            <a:chOff x="4343400" y="1285875"/>
            <a:chExt cx="3505200" cy="1809750"/>
          </a:xfrm>
        </p:grpSpPr>
        <p:sp>
          <p:nvSpPr>
            <p:cNvPr id="35" name="Rectangle 35"/>
            <p:cNvSpPr/>
            <p:nvPr/>
          </p:nvSpPr>
          <p:spPr>
            <a:xfrm>
              <a:off x="43434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36" name="Rectangle 36"/>
            <p:cNvSpPr/>
            <p:nvPr/>
          </p:nvSpPr>
          <p:spPr>
            <a:xfrm>
              <a:off x="43434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7" name="TextBox 37"/>
            <p:cNvSpPr txBox="1"/>
            <p:nvPr/>
          </p:nvSpPr>
          <p:spPr>
            <a:xfrm>
              <a:off x="46101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硬过滤</a:t>
              </a:r>
            </a:p>
          </p:txBody>
        </p:sp>
        <p:sp>
          <p:nvSpPr>
            <p:cNvPr id="38" name="Line 38"/>
            <p:cNvSpPr/>
            <p:nvPr/>
          </p:nvSpPr>
          <p:spPr>
            <a:xfrm>
              <a:off x="48387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9" name="TextBox 39"/>
            <p:cNvSpPr txBox="1"/>
            <p:nvPr/>
          </p:nvSpPr>
          <p:spPr>
            <a:xfrm>
              <a:off x="46101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权限/租户/有效期</a:t>
              </a:r>
            </a:p>
          </p:txBody>
        </p:sp>
      </p:grpSp>
      <p:grpSp>
        <p:nvGrpSpPr>
          <p:cNvPr id="46" name="EasySlides Component: metric_03"/>
          <p:cNvGrpSpPr/>
          <p:nvPr/>
        </p:nvGrpSpPr>
        <p:grpSpPr>
          <a:xfrm>
            <a:off x="8191500" y="1285875"/>
            <a:ext cx="3505200" cy="1809750"/>
            <a:chOff x="8191500" y="1285875"/>
            <a:chExt cx="3505200" cy="1809750"/>
          </a:xfrm>
        </p:grpSpPr>
        <p:sp>
          <p:nvSpPr>
            <p:cNvPr id="41" name="Rectangle 41"/>
            <p:cNvSpPr/>
            <p:nvPr/>
          </p:nvSpPr>
          <p:spPr>
            <a:xfrm>
              <a:off x="8191500" y="1285875"/>
              <a:ext cx="3505200" cy="1809750"/>
            </a:xfrm>
            <a:prstGeom prst="roundRect">
              <a:avLst>
                <a:gd name="adj" fmla="val 2105"/>
              </a:avLst>
            </a:prstGeom>
            <a:solidFill>
              <a:srgbClr val="F5F7FA"/>
            </a:solidFill>
            <a:ln w="11430">
              <a:solidFill>
                <a:srgbClr val="B8C7D6"/>
              </a:solidFill>
            </a:ln>
          </p:spPr>
        </p:sp>
        <p:sp>
          <p:nvSpPr>
            <p:cNvPr id="42" name="Rectangle 42"/>
            <p:cNvSpPr/>
            <p:nvPr/>
          </p:nvSpPr>
          <p:spPr>
            <a:xfrm>
              <a:off x="8191500" y="1285875"/>
              <a:ext cx="3505200" cy="666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43" name="TextBox 43"/>
            <p:cNvSpPr txBox="1"/>
            <p:nvPr/>
          </p:nvSpPr>
          <p:spPr>
            <a:xfrm>
              <a:off x="8458200" y="1619250"/>
              <a:ext cx="2971800" cy="7143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31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预算分区</a:t>
              </a:r>
            </a:p>
          </p:txBody>
        </p:sp>
        <p:sp>
          <p:nvSpPr>
            <p:cNvPr id="44" name="Line 44"/>
            <p:cNvSpPr/>
            <p:nvPr/>
          </p:nvSpPr>
          <p:spPr>
            <a:xfrm>
              <a:off x="8686800" y="2476500"/>
              <a:ext cx="2514600" cy="9525"/>
            </a:xfrm>
            <a:custGeom>
              <a:avLst/>
              <a:gdLst/>
              <a:ahLst/>
              <a:cxnLst/>
              <a:rect l="l" t="t" r="r" b="b"/>
              <a:pathLst>
                <a:path w="2514600" h="9525">
                  <a:moveTo>
                    <a:pt x="0" y="0"/>
                  </a:moveTo>
                  <a:lnTo>
                    <a:pt x="2514600" y="0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45" name="TextBox 45"/>
            <p:cNvSpPr txBox="1"/>
            <p:nvPr/>
          </p:nvSpPr>
          <p:spPr>
            <a:xfrm>
              <a:off x="8458200" y="2562225"/>
              <a:ext cx="29718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dirty="0">
                  <a:solidFill>
                    <a:srgbClr val="52657A"/>
                  </a:solidFill>
                  <a:latin typeface="Arial"/>
                  <a:ea typeface="Microsoft YaHei"/>
                  <a:cs typeface="Arial"/>
                </a:rPr>
                <a:t>provenance 配额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机制与流程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三步走：理解→实现→验证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03</a:t>
            </a:r>
          </a:p>
        </p:txBody>
      </p:sp>
      <p:grpSp>
        <p:nvGrpSpPr>
          <p:cNvPr id="22" name="EasySlides Component: step_01"/>
          <p:cNvGrpSpPr/>
          <p:nvPr/>
        </p:nvGrpSpPr>
        <p:grpSpPr>
          <a:xfrm>
            <a:off x="495300" y="1285875"/>
            <a:ext cx="3505200" cy="3476625"/>
            <a:chOff x="495300" y="1285875"/>
            <a:chExt cx="3505200" cy="3476625"/>
          </a:xfrm>
        </p:grpSpPr>
        <p:sp>
          <p:nvSpPr>
            <p:cNvPr id="15" name="Rectangle 15"/>
            <p:cNvSpPr/>
            <p:nvPr/>
          </p:nvSpPr>
          <p:spPr>
            <a:xfrm>
              <a:off x="4953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Ellipse 16"/>
            <p:cNvSpPr/>
            <p:nvPr/>
          </p:nvSpPr>
          <p:spPr>
            <a:xfrm>
              <a:off x="6953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143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3144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管线化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8001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9525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装配管道定位错误</a:t>
              </a:r>
            </a:p>
          </p:txBody>
        </p:sp>
        <p:sp>
          <p:nvSpPr>
            <p:cNvPr id="21" name="Rectangle 21"/>
            <p:cNvSpPr/>
            <p:nvPr/>
          </p:nvSpPr>
          <p:spPr>
            <a:xfrm>
              <a:off x="8001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0" name="EasySlides Component: step_02"/>
          <p:cNvGrpSpPr/>
          <p:nvPr/>
        </p:nvGrpSpPr>
        <p:grpSpPr>
          <a:xfrm>
            <a:off x="4343400" y="1285875"/>
            <a:ext cx="3505200" cy="3476625"/>
            <a:chOff x="4343400" y="1285875"/>
            <a:chExt cx="3505200" cy="3476625"/>
          </a:xfrm>
        </p:grpSpPr>
        <p:sp>
          <p:nvSpPr>
            <p:cNvPr id="23" name="Rectangle 23"/>
            <p:cNvSpPr/>
            <p:nvPr/>
          </p:nvSpPr>
          <p:spPr>
            <a:xfrm>
              <a:off x="43434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4" name="Ellipse 24"/>
            <p:cNvSpPr/>
            <p:nvPr/>
          </p:nvSpPr>
          <p:spPr>
            <a:xfrm>
              <a:off x="45434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5" name="TextBox 25"/>
            <p:cNvSpPr txBox="1"/>
            <p:nvPr/>
          </p:nvSpPr>
          <p:spPr>
            <a:xfrm>
              <a:off x="45624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2</a:t>
              </a:r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51625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硬过滤</a:t>
              </a:r>
            </a:p>
          </p:txBody>
        </p:sp>
        <p:sp>
          <p:nvSpPr>
            <p:cNvPr id="27" name="Line 27"/>
            <p:cNvSpPr/>
            <p:nvPr/>
          </p:nvSpPr>
          <p:spPr>
            <a:xfrm>
              <a:off x="46482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28" name="TextBox 28"/>
            <p:cNvSpPr txBox="1"/>
            <p:nvPr/>
          </p:nvSpPr>
          <p:spPr>
            <a:xfrm>
              <a:off x="48006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权限/租户/有效期</a:t>
              </a:r>
            </a:p>
          </p:txBody>
        </p:sp>
        <p:sp>
          <p:nvSpPr>
            <p:cNvPr id="29" name="Rectangle 29"/>
            <p:cNvSpPr/>
            <p:nvPr/>
          </p:nvSpPr>
          <p:spPr>
            <a:xfrm>
              <a:off x="46482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38" name="EasySlides Component: step_03"/>
          <p:cNvGrpSpPr/>
          <p:nvPr/>
        </p:nvGrpSpPr>
        <p:grpSpPr>
          <a:xfrm>
            <a:off x="8191500" y="1285875"/>
            <a:ext cx="3505200" cy="3476625"/>
            <a:chOff x="8191500" y="1285875"/>
            <a:chExt cx="3505200" cy="3476625"/>
          </a:xfrm>
        </p:grpSpPr>
        <p:sp>
          <p:nvSpPr>
            <p:cNvPr id="31" name="Rectangle 31"/>
            <p:cNvSpPr/>
            <p:nvPr/>
          </p:nvSpPr>
          <p:spPr>
            <a:xfrm>
              <a:off x="8191500" y="1285875"/>
              <a:ext cx="3505200" cy="3476625"/>
            </a:xfrm>
            <a:prstGeom prst="roundRect">
              <a:avLst>
                <a:gd name="adj" fmla="val 1096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2" name="Ellipse 32"/>
            <p:cNvSpPr/>
            <p:nvPr/>
          </p:nvSpPr>
          <p:spPr>
            <a:xfrm>
              <a:off x="8391525" y="1495425"/>
              <a:ext cx="476250" cy="476250"/>
            </a:xfrm>
            <a:prstGeom prst="ellipse">
              <a:avLst/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3" name="TextBox 33"/>
            <p:cNvSpPr txBox="1"/>
            <p:nvPr/>
          </p:nvSpPr>
          <p:spPr>
            <a:xfrm>
              <a:off x="8410575" y="1504950"/>
              <a:ext cx="43815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3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3</a:t>
              </a:r>
            </a:p>
          </p:txBody>
        </p:sp>
        <p:sp>
          <p:nvSpPr>
            <p:cNvPr id="34" name="TextBox 34"/>
            <p:cNvSpPr txBox="1"/>
            <p:nvPr/>
          </p:nvSpPr>
          <p:spPr>
            <a:xfrm>
              <a:off x="9010650" y="1524000"/>
              <a:ext cx="2324100" cy="42862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650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预算分区</a:t>
              </a:r>
            </a:p>
          </p:txBody>
        </p:sp>
        <p:sp>
          <p:nvSpPr>
            <p:cNvPr id="35" name="Line 35"/>
            <p:cNvSpPr/>
            <p:nvPr/>
          </p:nvSpPr>
          <p:spPr>
            <a:xfrm>
              <a:off x="8496300" y="2181225"/>
              <a:ext cx="2895600" cy="9525"/>
            </a:xfrm>
            <a:custGeom>
              <a:avLst/>
              <a:gdLst/>
              <a:ahLst/>
              <a:cxnLst/>
              <a:rect l="l" t="t" r="r" b="b"/>
              <a:pathLst>
                <a:path w="2895600" h="9525">
                  <a:moveTo>
                    <a:pt x="0" y="0"/>
                  </a:moveTo>
                  <a:lnTo>
                    <a:pt x="2895600" y="0"/>
                  </a:lnTo>
                </a:path>
              </a:pathLst>
            </a:custGeom>
            <a:noFill/>
            <a:ln w="19050">
              <a:solidFill>
                <a:srgbClr val="D4E2EE"/>
              </a:solidFill>
            </a:ln>
          </p:spPr>
        </p:sp>
        <p:sp>
          <p:nvSpPr>
            <p:cNvPr id="36" name="TextBox 36"/>
            <p:cNvSpPr txBox="1"/>
            <p:nvPr/>
          </p:nvSpPr>
          <p:spPr>
            <a:xfrm>
              <a:off x="8648700" y="2476500"/>
              <a:ext cx="2590800" cy="1666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00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provenance 配额</a:t>
              </a:r>
            </a:p>
          </p:txBody>
        </p:sp>
        <p:sp>
          <p:nvSpPr>
            <p:cNvPr id="37" name="Rectangle 37"/>
            <p:cNvSpPr/>
            <p:nvPr/>
          </p:nvSpPr>
          <p:spPr>
            <a:xfrm>
              <a:off x="8496300" y="4391025"/>
              <a:ext cx="762000" cy="66675"/>
            </a:xfrm>
            <a:prstGeom prst="rect">
              <a:avLst/>
            </a:prstGeom>
            <a:solidFill>
              <a:srgbClr val="CC0000"/>
            </a:solidFill>
            <a:ln>
              <a:noFill/>
            </a:ln>
          </p:spPr>
        </p:sp>
      </p:grpSp>
      <p:grpSp>
        <p:nvGrpSpPr>
          <p:cNvPr id="42" name="EasySlides Component: synthesis"/>
          <p:cNvGrpSpPr/>
          <p:nvPr/>
        </p:nvGrpSpPr>
        <p:grpSpPr>
          <a:xfrm>
            <a:off x="495300" y="5476875"/>
            <a:ext cx="11201400" cy="714375"/>
            <a:chOff x="495300" y="5476875"/>
            <a:chExt cx="11201400" cy="714375"/>
          </a:xfrm>
        </p:grpSpPr>
        <p:sp>
          <p:nvSpPr>
            <p:cNvPr id="39" name="Rectangle 39"/>
            <p:cNvSpPr/>
            <p:nvPr/>
          </p:nvSpPr>
          <p:spPr>
            <a:xfrm>
              <a:off x="495300" y="5476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40" name="Rectangle 40"/>
            <p:cNvSpPr/>
            <p:nvPr/>
          </p:nvSpPr>
          <p:spPr>
            <a:xfrm>
              <a:off x="495300" y="5476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41" name="TextBox 41"/>
            <p:cNvSpPr txBox="1"/>
            <p:nvPr/>
          </p:nvSpPr>
          <p:spPr>
            <a:xfrm>
              <a:off x="876300" y="5610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代码落点：dataagent/infra/context/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66675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66675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381000" y="123825"/>
            <a:ext cx="762000" cy="40005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1275" b="1" dirty="0">
                <a:solidFill>
                  <a:srgbClr val="9FD3FF"/>
                </a:solidFill>
                <a:latin typeface="Arial"/>
                <a:ea typeface="Microsoft YaHei"/>
                <a:cs typeface="Arial"/>
              </a:rPr>
              <a:t>23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7300" y="95250"/>
            <a:ext cx="809625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 anchorCtr="0">
            <a:noAutofit/>
          </a:bodyPr>
          <a:lstStyle/>
          <a:p>
            <a:pPr algn="l"/>
            <a:r>
              <a:rPr lang="zh-CN" sz="210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关键证据与结论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0001250" y="762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8" name="Rectangle 8"/>
          <p:cNvSpPr/>
          <p:nvPr/>
        </p:nvSpPr>
        <p:spPr>
          <a:xfrm>
            <a:off x="0" y="666750"/>
            <a:ext cx="12192000" cy="476250"/>
          </a:xfrm>
          <a:prstGeom prst="rect">
            <a:avLst/>
          </a:prstGeom>
          <a:solidFill>
            <a:srgbClr val="E8F4FC"/>
          </a:solidFill>
          <a:ln>
            <a:noFill/>
          </a:ln>
        </p:spPr>
      </p:sp>
      <p:sp>
        <p:nvSpPr>
          <p:cNvPr id="9" name="Rectangle 9"/>
          <p:cNvSpPr/>
          <p:nvPr/>
        </p:nvSpPr>
        <p:spPr>
          <a:xfrm>
            <a:off x="0" y="666750"/>
            <a:ext cx="57150" cy="476250"/>
          </a:xfrm>
          <a:prstGeom prst="rect">
            <a:avLst/>
          </a:prstGeom>
          <a:solidFill>
            <a:srgbClr val="0066CC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381000" y="714375"/>
            <a:ext cx="1000125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用证据支撑工程判断</a:t>
            </a:r>
          </a:p>
        </p:txBody>
      </p:sp>
      <p:sp>
        <p:nvSpPr>
          <p:cNvPr id="11" name="Line 11"/>
          <p:cNvSpPr/>
          <p:nvPr/>
        </p:nvSpPr>
        <p:spPr>
          <a:xfrm>
            <a:off x="381000" y="6334125"/>
            <a:ext cx="11430000" cy="9525"/>
          </a:xfrm>
          <a:custGeom>
            <a:avLst/>
            <a:gdLst/>
            <a:ahLst/>
            <a:cxnLst/>
            <a:rect l="l" t="t" r="r" b="b"/>
            <a:pathLst>
              <a:path w="11430000" h="9525">
                <a:moveTo>
                  <a:pt x="0" y="0"/>
                </a:moveTo>
                <a:lnTo>
                  <a:pt x="11430000" y="0"/>
                </a:lnTo>
              </a:path>
            </a:pathLst>
          </a:custGeom>
          <a:noFill/>
          <a:ln w="9525">
            <a:solidFill>
              <a:srgbClr val="E8F4FC"/>
            </a:solidFill>
          </a:ln>
        </p:spPr>
      </p:sp>
      <p:sp>
        <p:nvSpPr>
          <p:cNvPr id="12" name="TextBox 12"/>
          <p:cNvSpPr txBox="1"/>
          <p:nvPr/>
        </p:nvSpPr>
        <p:spPr>
          <a:xfrm>
            <a:off x="381000" y="6477000"/>
            <a:ext cx="4953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l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课程第23讲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4381500" y="6477000"/>
            <a:ext cx="3429000" cy="2476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90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上下文治理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0763250" y="6457950"/>
            <a:ext cx="8572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04</a:t>
            </a:r>
          </a:p>
        </p:txBody>
      </p:sp>
      <p:grpSp>
        <p:nvGrpSpPr>
          <p:cNvPr id="21" name="EasySlides Component: evidence_01"/>
          <p:cNvGrpSpPr/>
          <p:nvPr/>
        </p:nvGrpSpPr>
        <p:grpSpPr>
          <a:xfrm>
            <a:off x="495300" y="2095500"/>
            <a:ext cx="11201400" cy="1285875"/>
            <a:chOff x="495300" y="2095500"/>
            <a:chExt cx="11201400" cy="1285875"/>
          </a:xfrm>
        </p:grpSpPr>
        <p:sp>
          <p:nvSpPr>
            <p:cNvPr id="15" name="Rectangle 15"/>
            <p:cNvSpPr/>
            <p:nvPr/>
          </p:nvSpPr>
          <p:spPr>
            <a:xfrm>
              <a:off x="495300" y="2095500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16" name="Rectangle 16"/>
            <p:cNvSpPr/>
            <p:nvPr/>
          </p:nvSpPr>
          <p:spPr>
            <a:xfrm>
              <a:off x="495300" y="2095500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17" name="TextBox 17"/>
            <p:cNvSpPr txBox="1"/>
            <p:nvPr/>
          </p:nvSpPr>
          <p:spPr>
            <a:xfrm>
              <a:off x="733425" y="2543175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01</a:t>
              </a:r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1447800" y="2324100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能力</a:t>
              </a:r>
            </a:p>
          </p:txBody>
        </p:sp>
        <p:sp>
          <p:nvSpPr>
            <p:cNvPr id="19" name="Line 19"/>
            <p:cNvSpPr/>
            <p:nvPr/>
          </p:nvSpPr>
          <p:spPr>
            <a:xfrm>
              <a:off x="4362450" y="2324100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0" name="TextBox 20"/>
            <p:cNvSpPr txBox="1"/>
            <p:nvPr/>
          </p:nvSpPr>
          <p:spPr>
            <a:xfrm>
              <a:off x="4686300" y="2324100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装配管道定位错误</a:t>
              </a:r>
            </a:p>
          </p:txBody>
        </p:sp>
      </p:grpSp>
      <p:grpSp>
        <p:nvGrpSpPr>
          <p:cNvPr id="28" name="EasySlides Component: evidence_02"/>
          <p:cNvGrpSpPr/>
          <p:nvPr/>
        </p:nvGrpSpPr>
        <p:grpSpPr>
          <a:xfrm>
            <a:off x="495300" y="3571875"/>
            <a:ext cx="11201400" cy="1285875"/>
            <a:chOff x="495300" y="3571875"/>
            <a:chExt cx="11201400" cy="1285875"/>
          </a:xfrm>
        </p:grpSpPr>
        <p:sp>
          <p:nvSpPr>
            <p:cNvPr id="22" name="Rectangle 22"/>
            <p:cNvSpPr/>
            <p:nvPr/>
          </p:nvSpPr>
          <p:spPr>
            <a:xfrm>
              <a:off x="495300" y="35718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23" name="Rectangle 23"/>
            <p:cNvSpPr/>
            <p:nvPr/>
          </p:nvSpPr>
          <p:spPr>
            <a:xfrm>
              <a:off x="495300" y="35718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24" name="TextBox 24"/>
            <p:cNvSpPr txBox="1"/>
            <p:nvPr/>
          </p:nvSpPr>
          <p:spPr>
            <a:xfrm>
              <a:off x="733425" y="40195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02</a:t>
              </a:r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1447800" y="38004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硬过滤</a:t>
              </a:r>
            </a:p>
          </p:txBody>
        </p:sp>
        <p:sp>
          <p:nvSpPr>
            <p:cNvPr id="26" name="Line 26"/>
            <p:cNvSpPr/>
            <p:nvPr/>
          </p:nvSpPr>
          <p:spPr>
            <a:xfrm>
              <a:off x="4362450" y="38004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27" name="TextBox 27"/>
            <p:cNvSpPr txBox="1"/>
            <p:nvPr/>
          </p:nvSpPr>
          <p:spPr>
            <a:xfrm>
              <a:off x="4686300" y="38004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权限/租户/有效期</a:t>
              </a:r>
            </a:p>
          </p:txBody>
        </p:sp>
      </p:grpSp>
      <p:grpSp>
        <p:nvGrpSpPr>
          <p:cNvPr id="35" name="EasySlides Component: evidence_03"/>
          <p:cNvGrpSpPr/>
          <p:nvPr/>
        </p:nvGrpSpPr>
        <p:grpSpPr>
          <a:xfrm>
            <a:off x="495300" y="4905375"/>
            <a:ext cx="11201400" cy="1285875"/>
            <a:chOff x="495300" y="4905375"/>
            <a:chExt cx="11201400" cy="1285875"/>
          </a:xfrm>
        </p:grpSpPr>
        <p:sp>
          <p:nvSpPr>
            <p:cNvPr id="29" name="Rectangle 29"/>
            <p:cNvSpPr/>
            <p:nvPr/>
          </p:nvSpPr>
          <p:spPr>
            <a:xfrm>
              <a:off x="495300" y="4905375"/>
              <a:ext cx="11201400" cy="1285875"/>
            </a:xfrm>
            <a:prstGeom prst="roundRect">
              <a:avLst>
                <a:gd name="adj" fmla="val 2963"/>
              </a:avLst>
            </a:prstGeom>
            <a:solidFill>
              <a:srgbClr val="FFFFFF"/>
            </a:solidFill>
            <a:ln w="11430">
              <a:solidFill>
                <a:srgbClr val="B8C7D6"/>
              </a:solidFill>
            </a:ln>
          </p:spPr>
        </p:sp>
        <p:sp>
          <p:nvSpPr>
            <p:cNvPr id="30" name="Rectangle 30"/>
            <p:cNvSpPr/>
            <p:nvPr/>
          </p:nvSpPr>
          <p:spPr>
            <a:xfrm>
              <a:off x="495300" y="4905375"/>
              <a:ext cx="76200" cy="1285875"/>
            </a:xfrm>
            <a:prstGeom prst="roundRect">
              <a:avLst>
                <a:gd name="adj" fmla="val 50000"/>
              </a:avLst>
            </a:prstGeom>
            <a:solidFill>
              <a:srgbClr val="0066CC"/>
            </a:solidFill>
            <a:ln>
              <a:noFill/>
            </a:ln>
          </p:spPr>
        </p:sp>
        <p:sp>
          <p:nvSpPr>
            <p:cNvPr id="31" name="TextBox 31"/>
            <p:cNvSpPr txBox="1"/>
            <p:nvPr/>
          </p:nvSpPr>
          <p:spPr>
            <a:xfrm>
              <a:off x="733425" y="5353050"/>
              <a:ext cx="438150" cy="5238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0066CC"/>
                  </a:solidFill>
                  <a:latin typeface="Arial"/>
                  <a:ea typeface="Microsoft YaHei"/>
                  <a:cs typeface="Arial"/>
                </a:rPr>
                <a:t>03</a:t>
              </a:r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1447800" y="5133975"/>
              <a:ext cx="266700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575" b="1" dirty="0">
                  <a:solidFill>
                    <a:srgbClr val="003366"/>
                  </a:solidFill>
                  <a:latin typeface="Arial"/>
                  <a:ea typeface="Microsoft YaHei"/>
                  <a:cs typeface="Arial"/>
                </a:rPr>
                <a:t>实战</a:t>
              </a:r>
            </a:p>
          </p:txBody>
        </p:sp>
        <p:sp>
          <p:nvSpPr>
            <p:cNvPr id="33" name="Line 33"/>
            <p:cNvSpPr/>
            <p:nvPr/>
          </p:nvSpPr>
          <p:spPr>
            <a:xfrm>
              <a:off x="4362450" y="5133975"/>
              <a:ext cx="9525" cy="828675"/>
            </a:xfrm>
            <a:custGeom>
              <a:avLst/>
              <a:gdLst/>
              <a:ahLst/>
              <a:cxnLst/>
              <a:rect l="l" t="t" r="r" b="b"/>
              <a:pathLst>
                <a:path w="9525" h="828675">
                  <a:moveTo>
                    <a:pt x="0" y="0"/>
                  </a:moveTo>
                  <a:lnTo>
                    <a:pt x="0" y="828675"/>
                  </a:lnTo>
                </a:path>
              </a:pathLst>
            </a:custGeom>
            <a:noFill/>
            <a:ln w="9525">
              <a:solidFill>
                <a:srgbClr val="D4E2EE"/>
              </a:solidFill>
            </a:ln>
          </p:spPr>
        </p:sp>
        <p:sp>
          <p:nvSpPr>
            <p:cNvPr id="34" name="TextBox 34"/>
            <p:cNvSpPr txBox="1"/>
            <p:nvPr/>
          </p:nvSpPr>
          <p:spPr>
            <a:xfrm>
              <a:off x="4686300" y="5133975"/>
              <a:ext cx="6572250" cy="78105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l"/>
              <a:r>
                <a:rPr lang="zh-CN" sz="1425" dirty="0">
                  <a:solidFill>
                    <a:srgbClr val="26384A"/>
                  </a:solidFill>
                  <a:latin typeface="Arial"/>
                  <a:ea typeface="Microsoft YaHei"/>
                  <a:cs typeface="Arial"/>
                </a:rPr>
                <a:t>dataagent/infra/</a:t>
              </a:r>
            </a:p>
          </p:txBody>
        </p:sp>
      </p:grpSp>
      <p:grpSp>
        <p:nvGrpSpPr>
          <p:cNvPr id="39" name="EasySlides Component: synthesis"/>
          <p:cNvGrpSpPr/>
          <p:nvPr/>
        </p:nvGrpSpPr>
        <p:grpSpPr>
          <a:xfrm>
            <a:off x="495300" y="1285875"/>
            <a:ext cx="11201400" cy="714375"/>
            <a:chOff x="495300" y="1285875"/>
            <a:chExt cx="11201400" cy="714375"/>
          </a:xfrm>
        </p:grpSpPr>
        <p:sp>
          <p:nvSpPr>
            <p:cNvPr id="36" name="Rectangle 36"/>
            <p:cNvSpPr/>
            <p:nvPr/>
          </p:nvSpPr>
          <p:spPr>
            <a:xfrm>
              <a:off x="495300" y="1285875"/>
              <a:ext cx="11201400" cy="714375"/>
            </a:xfrm>
            <a:prstGeom prst="roundRect">
              <a:avLst>
                <a:gd name="adj" fmla="val 5333"/>
              </a:avLst>
            </a:prstGeom>
            <a:solidFill>
              <a:srgbClr val="003366"/>
            </a:solidFill>
            <a:ln>
              <a:noFill/>
            </a:ln>
          </p:spPr>
        </p:sp>
        <p:sp>
          <p:nvSpPr>
            <p:cNvPr id="37" name="Rectangle 37"/>
            <p:cNvSpPr/>
            <p:nvPr/>
          </p:nvSpPr>
          <p:spPr>
            <a:xfrm>
              <a:off x="495300" y="1285875"/>
              <a:ext cx="76200" cy="714375"/>
            </a:xfrm>
            <a:prstGeom prst="roundRect">
              <a:avLst>
                <a:gd name="adj" fmla="val 50000"/>
              </a:avLst>
            </a:prstGeom>
            <a:solidFill>
              <a:srgbClr val="CC0000"/>
            </a:solidFill>
            <a:ln>
              <a:noFill/>
            </a:ln>
          </p:spPr>
        </p:sp>
        <p:sp>
          <p:nvSpPr>
            <p:cNvPr id="38" name="TextBox 38"/>
            <p:cNvSpPr txBox="1"/>
            <p:nvPr/>
          </p:nvSpPr>
          <p:spPr>
            <a:xfrm>
              <a:off x="876300" y="1419225"/>
              <a:ext cx="10439400" cy="4476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anchor="ctr" anchorCtr="0">
              <a:normAutofit/>
            </a:bodyPr>
            <a:lstStyle/>
            <a:p>
              <a:pPr algn="ctr"/>
              <a:r>
                <a:rPr lang="zh-CN" sz="1650" b="1" dirty="0">
                  <a:solidFill>
                    <a:srgbClr val="FFFFFF"/>
                  </a:solidFill>
                  <a:latin typeface="Arial"/>
                  <a:ea typeface="Microsoft YaHei"/>
                  <a:cs typeface="Arial"/>
                </a:rPr>
                <a:t>给 DataAgent 注入跨租户上下文，验证硬性过滤兜底且记录过滤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2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</p:sp>
      <p:sp>
        <p:nvSpPr>
          <p:cNvPr id="3" name="Rectangle 3"/>
          <p:cNvSpPr/>
          <p:nvPr/>
        </p:nvSpPr>
        <p:spPr>
          <a:xfrm>
            <a:off x="0" y="0"/>
            <a:ext cx="12192000" cy="952500"/>
          </a:xfrm>
          <a:prstGeom prst="rect">
            <a:avLst/>
          </a:prstGeom>
          <a:solidFill>
            <a:srgbClr val="003366"/>
          </a:solidFill>
          <a:ln>
            <a:noFill/>
          </a:ln>
        </p:spPr>
      </p:sp>
      <p:sp>
        <p:nvSpPr>
          <p:cNvPr id="4" name="Rectangle 4"/>
          <p:cNvSpPr/>
          <p:nvPr/>
        </p:nvSpPr>
        <p:spPr>
          <a:xfrm>
            <a:off x="0" y="0"/>
            <a:ext cx="57150" cy="952500"/>
          </a:xfrm>
          <a:prstGeom prst="rect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5" name="TextBox 5"/>
          <p:cNvSpPr txBox="1"/>
          <p:nvPr/>
        </p:nvSpPr>
        <p:spPr>
          <a:xfrm>
            <a:off x="10239375" y="190500"/>
            <a:ext cx="1619250" cy="5143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b="1" dirty="0">
                <a:solidFill>
                  <a:srgbClr val="FFFFFF"/>
                </a:solidFill>
                <a:latin typeface="Arial"/>
                <a:ea typeface="Microsoft YaHei"/>
                <a:cs typeface="Arial"/>
              </a:rPr>
              <a:t>DataAgent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143000" y="2333625"/>
            <a:ext cx="9906000" cy="8572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4200" b="1" dirty="0">
                <a:solidFill>
                  <a:srgbClr val="003366"/>
                </a:solidFill>
                <a:latin typeface="Arial"/>
                <a:ea typeface="Microsoft YaHei"/>
                <a:cs typeface="Arial"/>
              </a:rPr>
              <a:t>本章小结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809750" y="3238500"/>
            <a:ext cx="8572500" cy="40005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8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23 动态上下文装配与预算：让不同 Step 只看到最小充分</a:t>
            </a:r>
          </a:p>
        </p:txBody>
      </p:sp>
      <p:sp>
        <p:nvSpPr>
          <p:cNvPr id="8" name="Line 8"/>
          <p:cNvSpPr/>
          <p:nvPr/>
        </p:nvSpPr>
        <p:spPr>
          <a:xfrm>
            <a:off x="4381500" y="3857625"/>
            <a:ext cx="3429000" cy="9525"/>
          </a:xfrm>
          <a:custGeom>
            <a:avLst/>
            <a:gdLst/>
            <a:ahLst/>
            <a:cxnLst/>
            <a:rect l="l" t="t" r="r" b="b"/>
            <a:pathLst>
              <a:path w="3429000" h="9525">
                <a:moveTo>
                  <a:pt x="0" y="0"/>
                </a:moveTo>
                <a:lnTo>
                  <a:pt x="3429000" y="0"/>
                </a:lnTo>
              </a:path>
            </a:pathLst>
          </a:custGeom>
          <a:noFill/>
          <a:ln w="19050">
            <a:solidFill>
              <a:srgbClr val="0066CC"/>
            </a:solidFill>
          </a:ln>
        </p:spPr>
      </p:sp>
      <p:sp>
        <p:nvSpPr>
          <p:cNvPr id="9" name="Ellipse 9"/>
          <p:cNvSpPr/>
          <p:nvPr/>
        </p:nvSpPr>
        <p:spPr>
          <a:xfrm>
            <a:off x="6048375" y="3810000"/>
            <a:ext cx="95250" cy="95250"/>
          </a:xfrm>
          <a:prstGeom prst="ellipse">
            <a:avLst/>
          </a:prstGeom>
          <a:solidFill>
            <a:srgbClr val="CC0000"/>
          </a:solidFill>
          <a:ln>
            <a:noFill/>
          </a:ln>
        </p:spPr>
      </p:sp>
      <p:sp>
        <p:nvSpPr>
          <p:cNvPr id="10" name="Rectangle 10"/>
          <p:cNvSpPr/>
          <p:nvPr/>
        </p:nvSpPr>
        <p:spPr>
          <a:xfrm>
            <a:off x="3429000" y="4238625"/>
            <a:ext cx="5334000" cy="1238250"/>
          </a:xfrm>
          <a:prstGeom prst="roundRect">
            <a:avLst>
              <a:gd name="adj" fmla="val 3077"/>
            </a:avLst>
          </a:prstGeom>
          <a:solidFill>
            <a:srgbClr val="F5F7FA"/>
          </a:solidFill>
          <a:ln>
            <a:noFill/>
          </a:ln>
        </p:spPr>
      </p:sp>
      <p:sp>
        <p:nvSpPr>
          <p:cNvPr id="11" name="TextBox 11"/>
          <p:cNvSpPr txBox="1"/>
          <p:nvPr/>
        </p:nvSpPr>
        <p:spPr>
          <a:xfrm>
            <a:off x="3619500" y="4476750"/>
            <a:ext cx="4953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350" dirty="0">
                <a:solidFill>
                  <a:srgbClr val="26384A"/>
                </a:solidFill>
                <a:latin typeface="Arial"/>
                <a:ea typeface="Microsoft YaHei"/>
                <a:cs typeface="Arial"/>
              </a:rPr>
              <a:t>给 DataAgent 注入跨租户上下文，验证硬性过滤兜底且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4000500" y="4838700"/>
            <a:ext cx="4191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第23讲 · 第六篇（Agent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3619500" y="5124450"/>
            <a:ext cx="495300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200" dirty="0">
                <a:solidFill>
                  <a:srgbClr val="52657A"/>
                </a:solidFill>
                <a:latin typeface="Arial"/>
                <a:ea typeface="Microsoft YaHei"/>
                <a:cs typeface="Arial"/>
              </a:rPr>
              <a:t>企业级Agent工程架构实战营</a:t>
            </a:r>
          </a:p>
        </p:txBody>
      </p:sp>
      <p:sp>
        <p:nvSpPr>
          <p:cNvPr id="14" name="Rectangle 14"/>
          <p:cNvSpPr/>
          <p:nvPr/>
        </p:nvSpPr>
        <p:spPr>
          <a:xfrm>
            <a:off x="0" y="6334125"/>
            <a:ext cx="12192000" cy="523875"/>
          </a:xfrm>
          <a:prstGeom prst="rect">
            <a:avLst/>
          </a:prstGeom>
          <a:solidFill>
            <a:srgbClr val="F5F7FA"/>
          </a:solidFill>
          <a:ln>
            <a:noFill/>
          </a:ln>
        </p:spPr>
      </p:sp>
      <p:sp>
        <p:nvSpPr>
          <p:cNvPr id="15" name="TextBox 15"/>
          <p:cNvSpPr txBox="1"/>
          <p:nvPr/>
        </p:nvSpPr>
        <p:spPr>
          <a:xfrm>
            <a:off x="3619500" y="6486525"/>
            <a:ext cx="495300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课程复现资料 · 可公开分享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763250" y="6486525"/>
            <a:ext cx="857250" cy="23812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 anchorCtr="0">
            <a:normAutofit/>
          </a:bodyPr>
          <a:lstStyle/>
          <a:p>
            <a:pPr algn="ctr"/>
            <a:r>
              <a:rPr lang="zh-CN" sz="1050" dirty="0">
                <a:solidFill>
                  <a:srgbClr val="6B7C8F"/>
                </a:solidFill>
                <a:latin typeface="Arial"/>
                <a:ea typeface="Microsoft YaHei"/>
                <a:cs typeface="Arial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