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188db7fb66574d4c.png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258fdf1e8c7c513a.png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b38c5eb37e7a9bf2.png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26d7ab6a3e72efb7.png"/>
</Relationships>
</file>

<file path=ppt/slides/_rels/slide1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a235bbb903e5f2b2.png"/>
</Relationships>
</file>

<file path=ppt/slides/_rels/slide1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c354c47323072854.png"/>
</Relationships>
</file>

<file path=ppt/slides/_rels/slide2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8ca05de28aded914.png"/>
</Relationships>
</file>

<file path=ppt/slides/_rels/slide2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e28aedf868c3d02f.png"/>
</Relationships>
</file>

<file path=ppt/slides/_rels/slide2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3068e07abfa007d6.png"/>
</Relationships>
</file>

<file path=ppt/slides/_rels/slide3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48cf0a06d8e80bad.png"/>
</Relationships>
</file>

<file path=ppt/slides/_rels/slide3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29de905954f4aa4e.png"/>
</Relationships>
</file>

<file path=ppt/slides/_rels/slide3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019f47959058679e.png"/>
</Relationships>
</file>

<file path=ppt/slides/_rels/slide4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8fa15cd230f194af.png"/>
</Relationships>
</file>

<file path=ppt/slides/_rels/slide4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f7ee5fd208e28e60.png"/>
</Relationships>
</file>

<file path=ppt/slides/_rels/slide4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d12e809a2e17cbcb.png"/>
</Relationships>
</file>

<file path=ppt/slides/_rels/slide5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ab30aed0bc6a673e.png"/>
</Relationships>
</file>

<file path=ppt/slides/_rels/slide5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5d81e00f1fbfa40a.png"/>
</Relationships>
</file>

<file path=ppt/slides/_rels/slide6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9525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0239375" y="1905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43000" y="2571750"/>
            <a:ext cx="9906000" cy="952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4200" b="1" dirty="0">
                <a:solidFill>
                  <a:srgbClr val="4D7C0F"/>
                </a:solidFill>
                <a:latin typeface="Arial"/>
                <a:ea typeface="Microsoft YaHei"/>
                <a:cs typeface="Arial"/>
              </a:rPr>
              <a:t>动态上下文装配与预算：让不同 Step 只看到最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809750" y="3600450"/>
            <a:ext cx="85725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2025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上下文治理 · 深度教学讲义</a:t>
            </a:r>
          </a:p>
        </p:txBody>
      </p:sp>
      <p:sp>
        <p:nvSpPr>
          <p:cNvPr id="8" name="Line 8"/>
          <p:cNvSpPr/>
          <p:nvPr/>
        </p:nvSpPr>
        <p:spPr>
          <a:xfrm>
            <a:off x="4000500" y="4333875"/>
            <a:ext cx="4191000" cy="9525"/>
          </a:xfrm>
          <a:custGeom>
            <a:avLst/>
            <a:gdLst/>
            <a:ahLst/>
            <a:cxnLst/>
            <a:rect l="l" t="t" r="r" b="b"/>
            <a:pathLst>
              <a:path w="4191000" h="9525">
                <a:moveTo>
                  <a:pt x="0" y="0"/>
                </a:moveTo>
                <a:lnTo>
                  <a:pt x="4191000" y="0"/>
                </a:lnTo>
              </a:path>
            </a:pathLst>
          </a:custGeom>
          <a:noFill/>
          <a:ln w="19050">
            <a:solidFill>
              <a:srgbClr val="84CC16"/>
            </a:solidFill>
          </a:ln>
        </p:spPr>
      </p:sp>
      <p:sp>
        <p:nvSpPr>
          <p:cNvPr id="9" name="Ellipse 9"/>
          <p:cNvSpPr/>
          <p:nvPr/>
        </p:nvSpPr>
        <p:spPr>
          <a:xfrm>
            <a:off x="6048375" y="4286250"/>
            <a:ext cx="95250" cy="95250"/>
          </a:xfrm>
          <a:prstGeom prst="ellipse">
            <a:avLst/>
          </a:prstGeom>
          <a:solidFill>
            <a:srgbClr val="84CC1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714750" y="4714875"/>
            <a:ext cx="476250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725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企业级Agent工程架构实战营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714750" y="5105400"/>
            <a:ext cx="4762500" cy="3333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425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第23讲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952750" y="5486400"/>
            <a:ext cx="62865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上下文治理</a:t>
            </a:r>
          </a:p>
        </p:txBody>
      </p:sp>
      <p:sp>
        <p:nvSpPr>
          <p:cNvPr id="13" name="Rectangle 13"/>
          <p:cNvSpPr/>
          <p:nvPr/>
        </p:nvSpPr>
        <p:spPr>
          <a:xfrm>
            <a:off x="0" y="6334125"/>
            <a:ext cx="12192000" cy="523875"/>
          </a:xfrm>
          <a:prstGeom prst="rect">
            <a:avLst/>
          </a:prstGeom>
          <a:solidFill>
            <a:srgbClr val="F7FAEC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4381500" y="6486525"/>
            <a:ext cx="342900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2026-09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54330" y="211455"/>
            <a:ext cx="703555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目录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39375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762000" y="1095375"/>
            <a:ext cx="10668000" cy="2952750"/>
            <a:chOff x="762000" y="1095375"/>
            <a:chExt cx="10668000" cy="2952750"/>
          </a:xfrm>
        </p:grpSpPr>
        <p:sp>
          <p:nvSpPr>
            <p:cNvPr id="7" name="Rectangle 7"/>
            <p:cNvSpPr/>
            <p:nvPr/>
          </p:nvSpPr>
          <p:spPr>
            <a:xfrm>
              <a:off x="762000" y="1095375"/>
              <a:ext cx="5143500" cy="857250"/>
            </a:xfrm>
            <a:prstGeom prst="roundRect">
              <a:avLst>
                <a:gd name="adj" fmla="val 4444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62000" y="1095375"/>
              <a:ext cx="57150" cy="857250"/>
            </a:xfrm>
            <a:prstGeom prst="rect">
              <a:avLst/>
            </a:prstGeom>
            <a:solidFill>
              <a:srgbClr val="4D7C0F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93470" y="1264920"/>
              <a:ext cx="469666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771650" y="1190625"/>
              <a:ext cx="3810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725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概念详解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43000" y="1600200"/>
              <a:ext cx="4286250" cy="2667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0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核心概念定义与边界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6286500" y="1095375"/>
              <a:ext cx="5143500" cy="857250"/>
            </a:xfrm>
            <a:prstGeom prst="roundRect">
              <a:avLst>
                <a:gd name="adj" fmla="val 4444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6286500" y="1095375"/>
              <a:ext cx="57150" cy="857250"/>
            </a:xfrm>
            <a:prstGeom prst="rect">
              <a:avLst/>
            </a:prstGeom>
            <a:solidFill>
              <a:srgbClr val="4D7C0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617970" y="1264920"/>
              <a:ext cx="469666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296150" y="1190625"/>
              <a:ext cx="3810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725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机制与图解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667500" y="1600200"/>
              <a:ext cx="4286250" cy="2667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0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运行机制与图解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762000" y="2238375"/>
              <a:ext cx="5143500" cy="857250"/>
            </a:xfrm>
            <a:prstGeom prst="roundRect">
              <a:avLst>
                <a:gd name="adj" fmla="val 4444"/>
              </a:avLst>
            </a:prstGeom>
            <a:solidFill>
              <a:srgbClr val="F7FAEC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762000" y="2238375"/>
              <a:ext cx="57150" cy="857250"/>
            </a:xfrm>
            <a:prstGeom prst="rect">
              <a:avLst/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093470" y="2407920"/>
              <a:ext cx="469666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771650" y="2333625"/>
              <a:ext cx="3810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725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代码实现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143000" y="2743200"/>
              <a:ext cx="4286250" cy="2667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0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仓库真实代码三切面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6286500" y="2238375"/>
              <a:ext cx="5143500" cy="857250"/>
            </a:xfrm>
            <a:prstGeom prst="roundRect">
              <a:avLst>
                <a:gd name="adj" fmla="val 4444"/>
              </a:avLst>
            </a:prstGeom>
            <a:solidFill>
              <a:srgbClr val="F7FAEC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6286500" y="2238375"/>
              <a:ext cx="57150" cy="857250"/>
            </a:xfrm>
            <a:prstGeom prst="rect">
              <a:avLst/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617970" y="2407920"/>
              <a:ext cx="469666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04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296150" y="2333625"/>
              <a:ext cx="3810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725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应用实践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667500" y="2743200"/>
              <a:ext cx="4286250" cy="2667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0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落地步骤与场景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762000" y="3381375"/>
              <a:ext cx="5143500" cy="666750"/>
            </a:xfrm>
            <a:prstGeom prst="roundRect">
              <a:avLst>
                <a:gd name="adj" fmla="val 5714"/>
              </a:avLst>
            </a:prstGeom>
            <a:noFill/>
            <a:ln w="9525">
              <a:solidFill>
                <a:srgbClr val="E0EDC8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52500" y="3524250"/>
              <a:ext cx="4762500" cy="3619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275" dirty="0">
                  <a:solidFill>
                    <a:srgbClr val="6B7C8F"/>
                  </a:solidFill>
                  <a:latin typeface="Arial"/>
                  <a:ea typeface="Microsoft YaHei"/>
                  <a:cs typeface="Arial"/>
                </a:rPr>
                <a:t>陷阱与排查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286500" y="3381375"/>
              <a:ext cx="5143500" cy="666750"/>
            </a:xfrm>
            <a:prstGeom prst="roundRect">
              <a:avLst>
                <a:gd name="adj" fmla="val 5714"/>
              </a:avLst>
            </a:prstGeom>
            <a:noFill/>
            <a:ln w="9525">
              <a:solidFill>
                <a:srgbClr val="E0EDC8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477000" y="3524250"/>
              <a:ext cx="4762500" cy="3619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275" dirty="0">
                  <a:solidFill>
                    <a:srgbClr val="6B7C8F"/>
                  </a:solidFill>
                  <a:latin typeface="Arial"/>
                  <a:ea typeface="Microsoft YaHei"/>
                  <a:cs typeface="Arial"/>
                </a:rPr>
                <a:t>优化拓展</a:t>
              </a:r>
            </a:p>
          </p:txBody>
        </p:sp>
      </p:grpSp>
      <p:sp>
        <p:nvSpPr>
          <p:cNvPr id="32" name="Line 32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10763250" y="6486525"/>
            <a:ext cx="85725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4CC16">
              <a:alpha val="2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6250" y="2095500"/>
            <a:ext cx="2952750" cy="314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750" b="1" dirty="0">
                <a:solidFill>
                  <a:srgbClr val="FFFFFF">
                    <a:alphaMod val="10000"/>
                  </a:srgbClr>
                </a:solidFill>
                <a:latin typeface="Arial"/>
                <a:ea typeface="Microsoft YaHei"/>
                <a:cs typeface="Arial"/>
              </a:rPr>
              <a:t>23</a:t>
            </a:r>
          </a:p>
        </p:txBody>
      </p:sp>
      <p:sp>
        <p:nvSpPr>
          <p:cNvPr id="6" name="Line 6"/>
          <p:cNvSpPr/>
          <p:nvPr/>
        </p:nvSpPr>
        <p:spPr>
          <a:xfrm>
            <a:off x="3619500" y="25050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619500" y="2667000"/>
            <a:ext cx="7429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学习目标 / Lernziele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19500" y="3648075"/>
            <a:ext cx="7620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1) 能解释管线化的机制；2) 能对比硬过滤的取舍；3) 能跑通 assembler.py 对应测试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62750" y="628650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55000"/>
                  </a:srgbClr>
                </a:solidFill>
                <a:latin typeface="Arial"/>
                <a:ea typeface="Microsoft YaHei"/>
                <a:cs typeface="Arial"/>
              </a:rPr>
              <a:t>动态上下文装配与预算：让不同 Step 只看到最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4CC16">
              <a:alpha val="2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6250" y="2095500"/>
            <a:ext cx="2952750" cy="314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750" b="1" dirty="0">
                <a:solidFill>
                  <a:srgbClr val="FFFFFF">
                    <a:alphaMod val="10000"/>
                  </a:srgbClr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  <p:sp>
        <p:nvSpPr>
          <p:cNvPr id="6" name="Line 6"/>
          <p:cNvSpPr/>
          <p:nvPr/>
        </p:nvSpPr>
        <p:spPr>
          <a:xfrm>
            <a:off x="3619500" y="25050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619500" y="2667000"/>
            <a:ext cx="7429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概念详解：管线化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19500" y="3648075"/>
            <a:ext cx="7620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「管线化」指装配管道定位错误。在企业级语境下，它同时约束接口契约、生命周期与治理边界，而不只是一个名词。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62750" y="628650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55000"/>
                  </a:srgbClr>
                </a:solidFill>
                <a:latin typeface="Arial"/>
                <a:ea typeface="Microsoft YaHei"/>
                <a:cs typeface="Arial"/>
              </a:rPr>
              <a:t>动态上下文装配与预算：让不同 Step 只看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05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定义与内涵：管线化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84CC1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把管线化讲透：是什么、不是什么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课程第23讲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上下文治理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05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2095500"/>
            <a:ext cx="11201400" cy="1285875"/>
            <a:chOff x="495300" y="209550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209550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209550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254317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232410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定义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232410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232410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「管线化」指装配管道定位错误。在企业级语境下，它同时约束接口契约、生命周期与治理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3571875"/>
            <a:ext cx="11201400" cy="1285875"/>
            <a:chOff x="495300" y="35718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35718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35718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40195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38004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方法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38004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38004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方法维度：装配管道定位错误</a:t>
              </a:r>
            </a:p>
          </p:txBody>
        </p:sp>
      </p:grpSp>
      <p:grpSp>
        <p:nvGrpSpPr>
          <p:cNvPr id="35" name="EasySlides Component: evidence_03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9" name="Rectangle 29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要点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要点维度：装配管道定位错误</a:t>
              </a:r>
            </a:p>
          </p:txBody>
        </p:sp>
      </p:grpSp>
      <p:grpSp>
        <p:nvGrpSpPr>
          <p:cNvPr id="39" name="EasySlides Component: synthesis"/>
          <p:cNvGrpSpPr/>
          <p:nvPr/>
        </p:nvGrpSpPr>
        <p:grpSpPr>
          <a:xfrm>
            <a:off x="495300" y="1285875"/>
            <a:ext cx="11201400" cy="714375"/>
            <a:chOff x="495300" y="1285875"/>
            <a:chExt cx="11201400" cy="714375"/>
          </a:xfrm>
        </p:grpSpPr>
        <p:sp>
          <p:nvSpPr>
            <p:cNvPr id="36" name="Rectangle 36"/>
            <p:cNvSpPr/>
            <p:nvPr/>
          </p:nvSpPr>
          <p:spPr>
            <a:xfrm>
              <a:off x="495300" y="1285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4D7C0F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95300" y="1285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76300" y="1419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上下文即决策环境：最小充分、可信可控，缺一即停。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06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机制图解：管线化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84CC1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一图看懂运行机制与数据流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课程第23讲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上下文治理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06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7FAEC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「管线化」的运行机制分三步：输入契约校验 → 核心转换执行 → 结果验证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关键环节：契约→执行→验证→留痕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落点：仓库验证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7FAEC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图：管线化 的机制与数据流（flow_v 视角）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07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深入原理：管线化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84CC1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正确姿势 vs 常见误用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课程第23讲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上下文治理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07</a:t>
            </a:r>
          </a:p>
        </p:txBody>
      </p:sp>
      <p:grpSp>
        <p:nvGrpSpPr>
          <p:cNvPr id="22" name="EasySlides Component: left"/>
          <p:cNvGrpSpPr/>
          <p:nvPr/>
        </p:nvGrpSpPr>
        <p:grpSpPr>
          <a:xfrm>
            <a:off x="495300" y="1285875"/>
            <a:ext cx="5410200" cy="4000500"/>
            <a:chOff x="495300" y="1285875"/>
            <a:chExt cx="5410200" cy="4000500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495300" y="1285875"/>
              <a:ext cx="57150" cy="609600"/>
            </a:xfrm>
            <a:prstGeom prst="rect">
              <a:avLst/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001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正确姿势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287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正确姿势：先定义「管线化」的契约与不变量，再谈实现；所有旁路都必须被审计。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契约先行，证据留痕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8001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0" name="EasySlides Component: right"/>
          <p:cNvGrpSpPr/>
          <p:nvPr/>
        </p:nvGrpSpPr>
        <p:grpSpPr>
          <a:xfrm>
            <a:off x="6286500" y="1285875"/>
            <a:ext cx="5410200" cy="4000500"/>
            <a:chOff x="6286500" y="1285875"/>
            <a:chExt cx="5410200" cy="4000500"/>
          </a:xfrm>
        </p:grpSpPr>
        <p:sp>
          <p:nvSpPr>
            <p:cNvPr id="23" name="Rectangle 23"/>
            <p:cNvSpPr/>
            <p:nvPr/>
          </p:nvSpPr>
          <p:spPr>
            <a:xfrm>
              <a:off x="62865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865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286500" y="1285875"/>
              <a:ext cx="57150" cy="609600"/>
            </a:xfrm>
            <a:prstGeom prst="rect">
              <a:avLst/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913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常见误用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65913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199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常见误用：把「管线化」当成一次性胶水代码，没有版本、没有度量、没有回滚路径。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无版本/无度量/无回滚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65913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4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1" name="Rectangle 31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4D7C0F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治理视角：权限先于相关性，硬过滤不可被排序绕过。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08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代码契约：管线化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84CC1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仓库真实代码 · 契约切面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课程第23讲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上下文治理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08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7FAEC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文件：assembler.py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切面：契约——先读接口再读实现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测试见 tests/ 目录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7FAEC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代码：assembler.py · 契约（概念1 管线化）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09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代码实现：管线化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84CC1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仓库真实代码 · 实现切面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课程第23讲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上下文治理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09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7FAEC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文件：assembler.py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切面：实现——先读接口再读实现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测试见 tests/ 目录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7FAEC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代码：assembler.py · 实现（概念1 管线化）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10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应用实践：管线化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84CC1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三步落地：闭环→灰度→放开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课程第23讲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上下文治理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10</a:t>
            </a:r>
          </a:p>
        </p:txBody>
      </p:sp>
      <p:grpSp>
        <p:nvGrpSpPr>
          <p:cNvPr id="22" name="EasySlides Component: step_01"/>
          <p:cNvGrpSpPr/>
          <p:nvPr/>
        </p:nvGrpSpPr>
        <p:grpSpPr>
          <a:xfrm>
            <a:off x="495300" y="1285875"/>
            <a:ext cx="3505200" cy="3476625"/>
            <a:chOff x="495300" y="1285875"/>
            <a:chExt cx="3505200" cy="347662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695325" y="1495425"/>
              <a:ext cx="476250" cy="476250"/>
            </a:xfrm>
            <a:prstGeom prst="ellipse">
              <a:avLst/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143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144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最小闭环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525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把「管线化」落到业务：先小流量灰度验证效果与成本，再逐步放开租户范围。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001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0" name="EasySlides Component: step_02"/>
          <p:cNvGrpSpPr/>
          <p:nvPr/>
        </p:nvGrpSpPr>
        <p:grpSpPr>
          <a:xfrm>
            <a:off x="4343400" y="1285875"/>
            <a:ext cx="3505200" cy="3476625"/>
            <a:chOff x="4343400" y="1285875"/>
            <a:chExt cx="3505200" cy="3476625"/>
          </a:xfrm>
        </p:grpSpPr>
        <p:sp>
          <p:nvSpPr>
            <p:cNvPr id="23" name="Rectangle 23"/>
            <p:cNvSpPr/>
            <p:nvPr/>
          </p:nvSpPr>
          <p:spPr>
            <a:xfrm>
              <a:off x="43434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4543425" y="1495425"/>
              <a:ext cx="476250" cy="476250"/>
            </a:xfrm>
            <a:prstGeom prst="ellipse">
              <a:avLst/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5624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1625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灰度验证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46482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8006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小流量对照基线，观察效果/成本/时延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6482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8" name="EasySlides Component: step_03"/>
          <p:cNvGrpSpPr/>
          <p:nvPr/>
        </p:nvGrpSpPr>
        <p:grpSpPr>
          <a:xfrm>
            <a:off x="8191500" y="1285875"/>
            <a:ext cx="3505200" cy="3476625"/>
            <a:chOff x="8191500" y="1285875"/>
            <a:chExt cx="3505200" cy="3476625"/>
          </a:xfrm>
        </p:grpSpPr>
        <p:sp>
          <p:nvSpPr>
            <p:cNvPr id="31" name="Rectangle 31"/>
            <p:cNvSpPr/>
            <p:nvPr/>
          </p:nvSpPr>
          <p:spPr>
            <a:xfrm>
              <a:off x="81915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8391525" y="1495425"/>
              <a:ext cx="476250" cy="476250"/>
            </a:xfrm>
            <a:prstGeom prst="ellipse">
              <a:avLst/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105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0106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逐步放开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84963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6487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按租户/场景分批，异常即回滚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4963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42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9" name="Rectangle 39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4D7C0F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案例视角：指标口径注入与跨租户泄漏的防御实测。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11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陷阱与排查：管线化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84CC1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症状→根因→处置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课程第23讲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上下文治理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11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4D7C0F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症状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根因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处置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「管线化」典型故障：静默失败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缺少验证/预算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验真+预算上限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结果不可解释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无 Trace 留痕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接入统一 Trace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效果悄悄退化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无回归基线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评测+回归门禁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先止血，再根因，最后沉淀为回归用例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12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工程决策：管线化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84CC1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候选方案 × 取舍（ADR）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课程第23讲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上下文治理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12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4D7C0F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方案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代价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结论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直连实现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快但耦合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Demo 可用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平台化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前期成本高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生产首选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保持简单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能力上限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按场景取舍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「管线化」的选型以证据与约束为准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13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优化拓展：管线化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84CC1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三个可持续优化抓手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课程第23讲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上下文治理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13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3524250"/>
            <a:ext cx="11201400" cy="1285875"/>
            <a:chOff x="495300" y="352425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352425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352425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397192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375285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资产化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375285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375285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「管线化」优化一：把人工经验固化为资产（规则/Skill/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基线化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「管线化」优化二：建立基线对照（关闭/盲选/受控三组）证明增</a:t>
              </a:r>
            </a:p>
          </p:txBody>
        </p:sp>
      </p:grpSp>
      <p:grpSp>
        <p:nvGrpSpPr>
          <p:cNvPr id="34" name="EasySlides Component: metric_01"/>
          <p:cNvGrpSpPr/>
          <p:nvPr/>
        </p:nvGrpSpPr>
        <p:grpSpPr>
          <a:xfrm>
            <a:off x="495300" y="1285875"/>
            <a:ext cx="3505200" cy="1809750"/>
            <a:chOff x="495300" y="1285875"/>
            <a:chExt cx="3505200" cy="1809750"/>
          </a:xfrm>
        </p:grpSpPr>
        <p:sp>
          <p:nvSpPr>
            <p:cNvPr id="29" name="Rectangle 29"/>
            <p:cNvSpPr/>
            <p:nvPr/>
          </p:nvSpPr>
          <p:spPr>
            <a:xfrm>
              <a:off x="4953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7FAEC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资产化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9906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经验固化为规则/Skill</a:t>
              </a:r>
            </a:p>
          </p:txBody>
        </p:sp>
      </p:grpSp>
      <p:grpSp>
        <p:nvGrpSpPr>
          <p:cNvPr id="40" name="EasySlides Component: metric_02"/>
          <p:cNvGrpSpPr/>
          <p:nvPr/>
        </p:nvGrpSpPr>
        <p:grpSpPr>
          <a:xfrm>
            <a:off x="4343400" y="1285875"/>
            <a:ext cx="3505200" cy="1809750"/>
            <a:chOff x="4343400" y="1285875"/>
            <a:chExt cx="3505200" cy="1809750"/>
          </a:xfrm>
        </p:grpSpPr>
        <p:sp>
          <p:nvSpPr>
            <p:cNvPr id="35" name="Rectangle 35"/>
            <p:cNvSpPr/>
            <p:nvPr/>
          </p:nvSpPr>
          <p:spPr>
            <a:xfrm>
              <a:off x="43434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7FAEC"/>
            </a:solidFill>
            <a:ln w="11430">
              <a:solidFill>
                <a:srgbClr val="B8C7D6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43434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6101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基线化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48387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6101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对照实验证明增量</a:t>
              </a:r>
            </a:p>
          </p:txBody>
        </p:sp>
      </p:grpSp>
      <p:grpSp>
        <p:nvGrpSpPr>
          <p:cNvPr id="46" name="EasySlides Component: metric_03"/>
          <p:cNvGrpSpPr/>
          <p:nvPr/>
        </p:nvGrpSpPr>
        <p:grpSpPr>
          <a:xfrm>
            <a:off x="8191500" y="1285875"/>
            <a:ext cx="3505200" cy="1809750"/>
            <a:chOff x="8191500" y="1285875"/>
            <a:chExt cx="3505200" cy="1809750"/>
          </a:xfrm>
        </p:grpSpPr>
        <p:sp>
          <p:nvSpPr>
            <p:cNvPr id="41" name="Rectangle 41"/>
            <p:cNvSpPr/>
            <p:nvPr/>
          </p:nvSpPr>
          <p:spPr>
            <a:xfrm>
              <a:off x="81915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7FAEC"/>
            </a:solidFill>
            <a:ln w="11430">
              <a:solidFill>
                <a:srgbClr val="B8C7D6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1915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4582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观测化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86868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4582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Trace/Baseline 先行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4CC16">
              <a:alpha val="2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6250" y="2095500"/>
            <a:ext cx="2952750" cy="314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750" b="1" dirty="0">
                <a:solidFill>
                  <a:srgbClr val="FFFFFF">
                    <a:alphaMod val="10000"/>
                  </a:srgbClr>
                </a:solidFill>
                <a:latin typeface="Arial"/>
                <a:ea typeface="Microsoft YaHei"/>
                <a:cs typeface="Arial"/>
              </a:rPr>
              <a:t>14</a:t>
            </a:r>
          </a:p>
        </p:txBody>
      </p:sp>
      <p:sp>
        <p:nvSpPr>
          <p:cNvPr id="6" name="Line 6"/>
          <p:cNvSpPr/>
          <p:nvPr/>
        </p:nvSpPr>
        <p:spPr>
          <a:xfrm>
            <a:off x="3619500" y="25050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619500" y="2667000"/>
            <a:ext cx="7429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概念详解：硬过滤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19500" y="3648075"/>
            <a:ext cx="7620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对「硬过滤」的正确定位是：权限/租户/有效期；它是可观测、可治理、可演进的稳定工程对象。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62750" y="628650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55000"/>
                  </a:srgbClr>
                </a:solidFill>
                <a:latin typeface="Arial"/>
                <a:ea typeface="Microsoft YaHei"/>
                <a:cs typeface="Arial"/>
              </a:rPr>
              <a:t>动态上下文装配与预算：让不同 Step 只看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15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定义与内涵：硬过滤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84CC1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把硬过滤讲透：是什么、不是什么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课程第23讲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上下文治理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15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2095500"/>
            <a:ext cx="11201400" cy="1285875"/>
            <a:chOff x="495300" y="209550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209550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209550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254317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232410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定义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232410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232410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对「硬过滤」的正确定位是：权限/租户/有效期；它是可观测、可治理、可演进的稳定工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3571875"/>
            <a:ext cx="11201400" cy="1285875"/>
            <a:chOff x="495300" y="35718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35718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35718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40195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38004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方法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38004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38004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方法维度：权限/租户/有效期</a:t>
              </a:r>
            </a:p>
          </p:txBody>
        </p:sp>
      </p:grpSp>
      <p:grpSp>
        <p:nvGrpSpPr>
          <p:cNvPr id="35" name="EasySlides Component: evidence_03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9" name="Rectangle 29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要点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要点维度：权限/租户/有效期</a:t>
              </a:r>
            </a:p>
          </p:txBody>
        </p:sp>
      </p:grpSp>
      <p:grpSp>
        <p:nvGrpSpPr>
          <p:cNvPr id="39" name="EasySlides Component: synthesis"/>
          <p:cNvGrpSpPr/>
          <p:nvPr/>
        </p:nvGrpSpPr>
        <p:grpSpPr>
          <a:xfrm>
            <a:off x="495300" y="1285875"/>
            <a:ext cx="11201400" cy="714375"/>
            <a:chOff x="495300" y="1285875"/>
            <a:chExt cx="11201400" cy="714375"/>
          </a:xfrm>
        </p:grpSpPr>
        <p:sp>
          <p:nvSpPr>
            <p:cNvPr id="36" name="Rectangle 36"/>
            <p:cNvSpPr/>
            <p:nvPr/>
          </p:nvSpPr>
          <p:spPr>
            <a:xfrm>
              <a:off x="495300" y="1285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4D7C0F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95300" y="1285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76300" y="1419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上下文即决策环境：最小充分、可信可控，缺一即停。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16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机制图解：硬过滤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84CC1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一图看懂运行机制与数据流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课程第23讲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上下文治理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16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7FAEC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从数据流看「硬过滤」：上游产出受控载荷，经 assembler.py 中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关键环节：契约→执行→验证→留痕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落点：仓库验证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7FAEC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图：硬过滤 的机制与数据流（cycle 视角）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17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深入原理：硬过滤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84CC1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正确姿势 vs 常见误用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课程第23讲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上下文治理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17</a:t>
            </a:r>
          </a:p>
        </p:txBody>
      </p:sp>
      <p:grpSp>
        <p:nvGrpSpPr>
          <p:cNvPr id="22" name="EasySlides Component: left"/>
          <p:cNvGrpSpPr/>
          <p:nvPr/>
        </p:nvGrpSpPr>
        <p:grpSpPr>
          <a:xfrm>
            <a:off x="495300" y="1285875"/>
            <a:ext cx="5410200" cy="4000500"/>
            <a:chOff x="495300" y="1285875"/>
            <a:chExt cx="5410200" cy="4000500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495300" y="1285875"/>
              <a:ext cx="57150" cy="609600"/>
            </a:xfrm>
            <a:prstGeom prst="rect">
              <a:avLst/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001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正确姿势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287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正确姿势：把「硬过滤」的决策依据落成证据（Trace/Eval），而不是凭经验拍板。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契约先行，证据留痕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8001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0" name="EasySlides Component: right"/>
          <p:cNvGrpSpPr/>
          <p:nvPr/>
        </p:nvGrpSpPr>
        <p:grpSpPr>
          <a:xfrm>
            <a:off x="6286500" y="1285875"/>
            <a:ext cx="5410200" cy="4000500"/>
            <a:chOff x="6286500" y="1285875"/>
            <a:chExt cx="5410200" cy="4000500"/>
          </a:xfrm>
        </p:grpSpPr>
        <p:sp>
          <p:nvSpPr>
            <p:cNvPr id="23" name="Rectangle 23"/>
            <p:cNvSpPr/>
            <p:nvPr/>
          </p:nvSpPr>
          <p:spPr>
            <a:xfrm>
              <a:off x="62865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865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286500" y="1285875"/>
              <a:ext cx="57150" cy="609600"/>
            </a:xfrm>
            <a:prstGeom prst="rect">
              <a:avLst/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913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常见误用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65913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199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常见误用：用相关性绕过「硬过滤」的硬性过滤，短期省事，长期必然越权或漂移。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无版本/无度量/无回滚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65913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4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1" name="Rectangle 31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4D7C0F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治理视角：权限先于相关性，硬过滤不可被排序绕过。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18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代码契约：硬过滤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84CC1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仓库真实代码 · 契约切面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课程第23讲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上下文治理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18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7FAEC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文件：assembler.py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切面：契约——先读接口再读实现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测试见 tests/ 目录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7FAEC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代码：assembler.py · 契约（概念2 硬过滤）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19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代码实现：硬过滤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84CC1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仓库真实代码 · 实现切面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课程第23讲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上下文治理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19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7FAEC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文件：assembler.py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切面：实现——先读接口再读实现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测试见 tests/ 目录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7FAEC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代码：assembler.py · 实现（概念2 硬过滤）</a:t>
              </a: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20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应用实践：硬过滤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84CC1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三步落地：闭环→灰度→放开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课程第23讲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上下文治理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20</a:t>
            </a:r>
          </a:p>
        </p:txBody>
      </p:sp>
      <p:grpSp>
        <p:nvGrpSpPr>
          <p:cNvPr id="22" name="EasySlides Component: step_01"/>
          <p:cNvGrpSpPr/>
          <p:nvPr/>
        </p:nvGrpSpPr>
        <p:grpSpPr>
          <a:xfrm>
            <a:off x="495300" y="1285875"/>
            <a:ext cx="3505200" cy="3476625"/>
            <a:chOff x="495300" y="1285875"/>
            <a:chExt cx="3505200" cy="347662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695325" y="1495425"/>
              <a:ext cx="476250" cy="476250"/>
            </a:xfrm>
            <a:prstGeom prst="ellipse">
              <a:avLst/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143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144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最小闭环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525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「硬过滤」的应用入口在本课程 DataAgent：跑通对应 pytest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001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0" name="EasySlides Component: step_02"/>
          <p:cNvGrpSpPr/>
          <p:nvPr/>
        </p:nvGrpSpPr>
        <p:grpSpPr>
          <a:xfrm>
            <a:off x="4343400" y="1285875"/>
            <a:ext cx="3505200" cy="3476625"/>
            <a:chOff x="4343400" y="1285875"/>
            <a:chExt cx="3505200" cy="3476625"/>
          </a:xfrm>
        </p:grpSpPr>
        <p:sp>
          <p:nvSpPr>
            <p:cNvPr id="23" name="Rectangle 23"/>
            <p:cNvSpPr/>
            <p:nvPr/>
          </p:nvSpPr>
          <p:spPr>
            <a:xfrm>
              <a:off x="43434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4543425" y="1495425"/>
              <a:ext cx="476250" cy="476250"/>
            </a:xfrm>
            <a:prstGeom prst="ellipse">
              <a:avLst/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5624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1625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灰度验证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46482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8006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小流量对照基线，观察效果/成本/时延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6482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8" name="EasySlides Component: step_03"/>
          <p:cNvGrpSpPr/>
          <p:nvPr/>
        </p:nvGrpSpPr>
        <p:grpSpPr>
          <a:xfrm>
            <a:off x="8191500" y="1285875"/>
            <a:ext cx="3505200" cy="3476625"/>
            <a:chOff x="8191500" y="1285875"/>
            <a:chExt cx="3505200" cy="3476625"/>
          </a:xfrm>
        </p:grpSpPr>
        <p:sp>
          <p:nvSpPr>
            <p:cNvPr id="31" name="Rectangle 31"/>
            <p:cNvSpPr/>
            <p:nvPr/>
          </p:nvSpPr>
          <p:spPr>
            <a:xfrm>
              <a:off x="81915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8391525" y="1495425"/>
              <a:ext cx="476250" cy="476250"/>
            </a:xfrm>
            <a:prstGeom prst="ellipse">
              <a:avLst/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105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0106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逐步放开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84963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6487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按租户/场景分批，异常即回滚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4963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42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9" name="Rectangle 39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4D7C0F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案例视角：指标口径注入与跨租户泄漏的防御实测。</a:t>
              </a: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21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陷阱与排查：硬过滤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84CC1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症状→根因→处置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课程第23讲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上下文治理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21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4D7C0F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症状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根因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处置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「硬过滤」典型故障：成本失控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缺少验证/预算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验真+预算上限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结果不可解释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无 Trace 留痕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接入统一 Trace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效果悄悄退化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无回归基线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评测+回归门禁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先止血，再根因，最后沉淀为回归用例</a:t>
              </a: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22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工程决策：硬过滤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84CC1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候选方案 × 取舍（ADR）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课程第23讲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上下文治理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22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4D7C0F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方案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代价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结论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直连实现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快但耦合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Demo 可用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平台化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前期成本高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生产首选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保持简单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能力上限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按场景取舍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「硬过滤」的选型以证据与约束为准</a:t>
              </a: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23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优化拓展：硬过滤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84CC1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三个可持续优化抓手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课程第23讲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上下文治理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23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3524250"/>
            <a:ext cx="11201400" cy="1285875"/>
            <a:chOff x="495300" y="352425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352425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352425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397192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375285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资产化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375285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375285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「硬过滤」优化一：把人工经验固化为资产（规则/Skill/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基线化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「硬过滤」优化二：建立基线对照（关闭/盲选/受控三组）证明增</a:t>
              </a:r>
            </a:p>
          </p:txBody>
        </p:sp>
      </p:grpSp>
      <p:grpSp>
        <p:nvGrpSpPr>
          <p:cNvPr id="34" name="EasySlides Component: metric_01"/>
          <p:cNvGrpSpPr/>
          <p:nvPr/>
        </p:nvGrpSpPr>
        <p:grpSpPr>
          <a:xfrm>
            <a:off x="495300" y="1285875"/>
            <a:ext cx="3505200" cy="1809750"/>
            <a:chOff x="495300" y="1285875"/>
            <a:chExt cx="3505200" cy="1809750"/>
          </a:xfrm>
        </p:grpSpPr>
        <p:sp>
          <p:nvSpPr>
            <p:cNvPr id="29" name="Rectangle 29"/>
            <p:cNvSpPr/>
            <p:nvPr/>
          </p:nvSpPr>
          <p:spPr>
            <a:xfrm>
              <a:off x="4953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7FAEC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资产化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9906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经验固化为规则/Skill</a:t>
              </a:r>
            </a:p>
          </p:txBody>
        </p:sp>
      </p:grpSp>
      <p:grpSp>
        <p:nvGrpSpPr>
          <p:cNvPr id="40" name="EasySlides Component: metric_02"/>
          <p:cNvGrpSpPr/>
          <p:nvPr/>
        </p:nvGrpSpPr>
        <p:grpSpPr>
          <a:xfrm>
            <a:off x="4343400" y="1285875"/>
            <a:ext cx="3505200" cy="1809750"/>
            <a:chOff x="4343400" y="1285875"/>
            <a:chExt cx="3505200" cy="1809750"/>
          </a:xfrm>
        </p:grpSpPr>
        <p:sp>
          <p:nvSpPr>
            <p:cNvPr id="35" name="Rectangle 35"/>
            <p:cNvSpPr/>
            <p:nvPr/>
          </p:nvSpPr>
          <p:spPr>
            <a:xfrm>
              <a:off x="43434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7FAEC"/>
            </a:solidFill>
            <a:ln w="11430">
              <a:solidFill>
                <a:srgbClr val="B8C7D6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43434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6101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基线化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48387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6101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对照实验证明增量</a:t>
              </a:r>
            </a:p>
          </p:txBody>
        </p:sp>
      </p:grpSp>
      <p:grpSp>
        <p:nvGrpSpPr>
          <p:cNvPr id="46" name="EasySlides Component: metric_03"/>
          <p:cNvGrpSpPr/>
          <p:nvPr/>
        </p:nvGrpSpPr>
        <p:grpSpPr>
          <a:xfrm>
            <a:off x="8191500" y="1285875"/>
            <a:ext cx="3505200" cy="1809750"/>
            <a:chOff x="8191500" y="1285875"/>
            <a:chExt cx="3505200" cy="1809750"/>
          </a:xfrm>
        </p:grpSpPr>
        <p:sp>
          <p:nvSpPr>
            <p:cNvPr id="41" name="Rectangle 41"/>
            <p:cNvSpPr/>
            <p:nvPr/>
          </p:nvSpPr>
          <p:spPr>
            <a:xfrm>
              <a:off x="81915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7FAEC"/>
            </a:solidFill>
            <a:ln w="11430">
              <a:solidFill>
                <a:srgbClr val="B8C7D6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1915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4582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观测化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86868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4582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Trace/Baseline 先行</a:t>
              </a: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4CC16">
              <a:alpha val="2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6250" y="2095500"/>
            <a:ext cx="2952750" cy="314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750" b="1" dirty="0">
                <a:solidFill>
                  <a:srgbClr val="FFFFFF">
                    <a:alphaMod val="10000"/>
                  </a:srgbClr>
                </a:solidFill>
                <a:latin typeface="Arial"/>
                <a:ea typeface="Microsoft YaHei"/>
                <a:cs typeface="Arial"/>
              </a:rPr>
              <a:t>24</a:t>
            </a:r>
          </a:p>
        </p:txBody>
      </p:sp>
      <p:sp>
        <p:nvSpPr>
          <p:cNvPr id="6" name="Line 6"/>
          <p:cNvSpPr/>
          <p:nvPr/>
        </p:nvSpPr>
        <p:spPr>
          <a:xfrm>
            <a:off x="3619500" y="25050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619500" y="2667000"/>
            <a:ext cx="7429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概念详解：预算分区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19500" y="3648075"/>
            <a:ext cx="7620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「预算分区」的本质是provenance 配额。理解它的关键是分清模型能做的与系统必须兜底的。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62750" y="628650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55000"/>
                  </a:srgbClr>
                </a:solidFill>
                <a:latin typeface="Arial"/>
                <a:ea typeface="Microsoft YaHei"/>
                <a:cs typeface="Arial"/>
              </a:rPr>
              <a:t>动态上下文装配与预算：让不同 Step 只看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25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定义与内涵：预算分区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84CC1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把预算分区讲透：是什么、不是什么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课程第23讲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上下文治理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25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2095500"/>
            <a:ext cx="11201400" cy="1285875"/>
            <a:chOff x="495300" y="209550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209550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209550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254317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232410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定义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232410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232410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「预算分区」的本质是provenance 配额。理解它的关键是分清模型能做的与系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3571875"/>
            <a:ext cx="11201400" cy="1285875"/>
            <a:chOff x="495300" y="35718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35718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35718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40195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38004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方法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38004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38004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方法维度：provenance 配额</a:t>
              </a:r>
            </a:p>
          </p:txBody>
        </p:sp>
      </p:grpSp>
      <p:grpSp>
        <p:nvGrpSpPr>
          <p:cNvPr id="35" name="EasySlides Component: evidence_03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9" name="Rectangle 29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要点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要点维度：provenance 配额</a:t>
              </a:r>
            </a:p>
          </p:txBody>
        </p:sp>
      </p:grpSp>
      <p:grpSp>
        <p:nvGrpSpPr>
          <p:cNvPr id="39" name="EasySlides Component: synthesis"/>
          <p:cNvGrpSpPr/>
          <p:nvPr/>
        </p:nvGrpSpPr>
        <p:grpSpPr>
          <a:xfrm>
            <a:off x="495300" y="1285875"/>
            <a:ext cx="11201400" cy="714375"/>
            <a:chOff x="495300" y="1285875"/>
            <a:chExt cx="11201400" cy="714375"/>
          </a:xfrm>
        </p:grpSpPr>
        <p:sp>
          <p:nvSpPr>
            <p:cNvPr id="36" name="Rectangle 36"/>
            <p:cNvSpPr/>
            <p:nvPr/>
          </p:nvSpPr>
          <p:spPr>
            <a:xfrm>
              <a:off x="495300" y="1285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4D7C0F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95300" y="1285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76300" y="1419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上下文即决策环境：最小充分、可信可控，缺一即停。</a:t>
              </a:r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26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机制图解：预算分区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84CC1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一图看懂运行机制与数据流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课程第23讲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上下文治理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26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7FAEC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「预算分区」的机制核心是解耦：策略与执行分离、状态与过程分离、权限与相关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关键环节：契约→执行→验证→留痕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落点：仓库验证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7FAEC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图：预算分区 的机制与数据流（layers 视角）</a:t>
              </a:r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27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深入原理：预算分区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84CC1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正确姿势 vs 常见误用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课程第23讲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上下文治理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27</a:t>
            </a:r>
          </a:p>
        </p:txBody>
      </p:sp>
      <p:grpSp>
        <p:nvGrpSpPr>
          <p:cNvPr id="22" name="EasySlides Component: left"/>
          <p:cNvGrpSpPr/>
          <p:nvPr/>
        </p:nvGrpSpPr>
        <p:grpSpPr>
          <a:xfrm>
            <a:off x="495300" y="1285875"/>
            <a:ext cx="5410200" cy="4000500"/>
            <a:chOff x="495300" y="1285875"/>
            <a:chExt cx="5410200" cy="4000500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495300" y="1285875"/>
              <a:ext cx="57150" cy="609600"/>
            </a:xfrm>
            <a:prstGeom prst="rect">
              <a:avLst/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001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正确姿势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287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正确姿势：为「预算分区」设置显式预算与停止条件，宁可慢一点，不可失控。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契约先行，证据留痕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8001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0" name="EasySlides Component: right"/>
          <p:cNvGrpSpPr/>
          <p:nvPr/>
        </p:nvGrpSpPr>
        <p:grpSpPr>
          <a:xfrm>
            <a:off x="6286500" y="1285875"/>
            <a:ext cx="5410200" cy="4000500"/>
            <a:chOff x="6286500" y="1285875"/>
            <a:chExt cx="5410200" cy="4000500"/>
          </a:xfrm>
        </p:grpSpPr>
        <p:sp>
          <p:nvSpPr>
            <p:cNvPr id="23" name="Rectangle 23"/>
            <p:cNvSpPr/>
            <p:nvPr/>
          </p:nvSpPr>
          <p:spPr>
            <a:xfrm>
              <a:off x="62865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865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286500" y="1285875"/>
              <a:ext cx="57150" cy="609600"/>
            </a:xfrm>
            <a:prstGeom prst="rect">
              <a:avLst/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913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常见误用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65913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199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常见误用：只在 Demo 里验证「预算分区」的正常路径，故障注入一跑就现出原形。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无版本/无度量/无回滚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65913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4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1" name="Rectangle 31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4D7C0F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治理视角：权限先于相关性，硬过滤不可被排序绕过。</a:t>
              </a:r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28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代码契约：预算分区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84CC1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仓库真实代码 · 契约切面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课程第23讲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上下文治理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28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7FAEC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文件：assembler.py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切面：契约——先读接口再读实现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测试见 tests/ 目录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7FAEC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代码：assembler.py · 契约（概念3 预算分区）</a:t>
              </a:r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29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代码实现：预算分区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84CC1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仓库真实代码 · 实现切面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课程第23讲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上下文治理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29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7FAEC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文件：assembler.py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切面：实现——先读接口再读实现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测试见 tests/ 目录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7FAEC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代码：assembler.py · 实现（概念3 预算分区）</a:t>
              </a:r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30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应用实践：预算分区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84CC1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三步落地：闭环→灰度→放开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课程第23讲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上下文治理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30</a:t>
            </a:r>
          </a:p>
        </p:txBody>
      </p:sp>
      <p:grpSp>
        <p:nvGrpSpPr>
          <p:cNvPr id="22" name="EasySlides Component: step_01"/>
          <p:cNvGrpSpPr/>
          <p:nvPr/>
        </p:nvGrpSpPr>
        <p:grpSpPr>
          <a:xfrm>
            <a:off x="495300" y="1285875"/>
            <a:ext cx="3505200" cy="3476625"/>
            <a:chOff x="495300" y="1285875"/>
            <a:chExt cx="3505200" cy="347662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695325" y="1495425"/>
              <a:ext cx="476250" cy="476250"/>
            </a:xfrm>
            <a:prstGeom prst="ellipse">
              <a:avLst/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143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144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最小闭环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525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上线「预算分区」前自检三问：失败会怎样？谁能审计？回滚要多久？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001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0" name="EasySlides Component: step_02"/>
          <p:cNvGrpSpPr/>
          <p:nvPr/>
        </p:nvGrpSpPr>
        <p:grpSpPr>
          <a:xfrm>
            <a:off x="4343400" y="1285875"/>
            <a:ext cx="3505200" cy="3476625"/>
            <a:chOff x="4343400" y="1285875"/>
            <a:chExt cx="3505200" cy="3476625"/>
          </a:xfrm>
        </p:grpSpPr>
        <p:sp>
          <p:nvSpPr>
            <p:cNvPr id="23" name="Rectangle 23"/>
            <p:cNvSpPr/>
            <p:nvPr/>
          </p:nvSpPr>
          <p:spPr>
            <a:xfrm>
              <a:off x="43434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4543425" y="1495425"/>
              <a:ext cx="476250" cy="476250"/>
            </a:xfrm>
            <a:prstGeom prst="ellipse">
              <a:avLst/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5624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1625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灰度验证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46482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8006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小流量对照基线，观察效果/成本/时延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6482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8" name="EasySlides Component: step_03"/>
          <p:cNvGrpSpPr/>
          <p:nvPr/>
        </p:nvGrpSpPr>
        <p:grpSpPr>
          <a:xfrm>
            <a:off x="8191500" y="1285875"/>
            <a:ext cx="3505200" cy="3476625"/>
            <a:chOff x="8191500" y="1285875"/>
            <a:chExt cx="3505200" cy="3476625"/>
          </a:xfrm>
        </p:grpSpPr>
        <p:sp>
          <p:nvSpPr>
            <p:cNvPr id="31" name="Rectangle 31"/>
            <p:cNvSpPr/>
            <p:nvPr/>
          </p:nvSpPr>
          <p:spPr>
            <a:xfrm>
              <a:off x="81915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8391525" y="1495425"/>
              <a:ext cx="476250" cy="476250"/>
            </a:xfrm>
            <a:prstGeom prst="ellipse">
              <a:avLst/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105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0106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逐步放开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84963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6487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按租户/场景分批，异常即回滚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4963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42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9" name="Rectangle 39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4D7C0F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案例视角：指标口径注入与跨租户泄漏的防御实测。</a:t>
              </a:r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31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陷阱与排查：预算分区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84CC1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症状→根因→处置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课程第23讲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上下文治理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31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4D7C0F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症状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根因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处置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「预算分区」典型故障：上下文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缺少验证/预算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验真+预算上限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结果不可解释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无 Trace 留痕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接入统一 Trace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效果悄悄退化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无回归基线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评测+回归门禁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先止血，再根因，最后沉淀为回归用例</a:t>
              </a:r>
            </a:p>
          </p:txBody>
        </p: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32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工程决策：预算分区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84CC1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候选方案 × 取舍（ADR）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课程第23讲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上下文治理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32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4D7C0F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方案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代价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结论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直连实现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快但耦合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Demo 可用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平台化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前期成本高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生产首选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保持简单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能力上限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按场景取舍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「预算分区」的选型以证据与约束为准</a:t>
              </a:r>
            </a:p>
          </p:txBody>
        </p: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33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优化拓展：预算分区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84CC1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三个可持续优化抓手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课程第23讲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上下文治理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33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3524250"/>
            <a:ext cx="11201400" cy="1285875"/>
            <a:chOff x="495300" y="352425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352425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352425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397192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375285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资产化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375285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375285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「预算分区」优化一：把人工经验固化为资产（规则/Skill/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基线化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「预算分区」优化二：建立基线对照（关闭/盲选/受控三组）证明</a:t>
              </a:r>
            </a:p>
          </p:txBody>
        </p:sp>
      </p:grpSp>
      <p:grpSp>
        <p:nvGrpSpPr>
          <p:cNvPr id="34" name="EasySlides Component: metric_01"/>
          <p:cNvGrpSpPr/>
          <p:nvPr/>
        </p:nvGrpSpPr>
        <p:grpSpPr>
          <a:xfrm>
            <a:off x="495300" y="1285875"/>
            <a:ext cx="3505200" cy="1809750"/>
            <a:chOff x="495300" y="1285875"/>
            <a:chExt cx="3505200" cy="1809750"/>
          </a:xfrm>
        </p:grpSpPr>
        <p:sp>
          <p:nvSpPr>
            <p:cNvPr id="29" name="Rectangle 29"/>
            <p:cNvSpPr/>
            <p:nvPr/>
          </p:nvSpPr>
          <p:spPr>
            <a:xfrm>
              <a:off x="4953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7FAEC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资产化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9906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经验固化为规则/Skill</a:t>
              </a:r>
            </a:p>
          </p:txBody>
        </p:sp>
      </p:grpSp>
      <p:grpSp>
        <p:nvGrpSpPr>
          <p:cNvPr id="40" name="EasySlides Component: metric_02"/>
          <p:cNvGrpSpPr/>
          <p:nvPr/>
        </p:nvGrpSpPr>
        <p:grpSpPr>
          <a:xfrm>
            <a:off x="4343400" y="1285875"/>
            <a:ext cx="3505200" cy="1809750"/>
            <a:chOff x="4343400" y="1285875"/>
            <a:chExt cx="3505200" cy="1809750"/>
          </a:xfrm>
        </p:grpSpPr>
        <p:sp>
          <p:nvSpPr>
            <p:cNvPr id="35" name="Rectangle 35"/>
            <p:cNvSpPr/>
            <p:nvPr/>
          </p:nvSpPr>
          <p:spPr>
            <a:xfrm>
              <a:off x="43434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7FAEC"/>
            </a:solidFill>
            <a:ln w="11430">
              <a:solidFill>
                <a:srgbClr val="B8C7D6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43434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6101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基线化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48387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6101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对照实验证明增量</a:t>
              </a:r>
            </a:p>
          </p:txBody>
        </p:sp>
      </p:grpSp>
      <p:grpSp>
        <p:nvGrpSpPr>
          <p:cNvPr id="46" name="EasySlides Component: metric_03"/>
          <p:cNvGrpSpPr/>
          <p:nvPr/>
        </p:nvGrpSpPr>
        <p:grpSpPr>
          <a:xfrm>
            <a:off x="8191500" y="1285875"/>
            <a:ext cx="3505200" cy="1809750"/>
            <a:chOff x="8191500" y="1285875"/>
            <a:chExt cx="3505200" cy="1809750"/>
          </a:xfrm>
        </p:grpSpPr>
        <p:sp>
          <p:nvSpPr>
            <p:cNvPr id="41" name="Rectangle 41"/>
            <p:cNvSpPr/>
            <p:nvPr/>
          </p:nvSpPr>
          <p:spPr>
            <a:xfrm>
              <a:off x="81915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7FAEC"/>
            </a:solidFill>
            <a:ln w="11430">
              <a:solidFill>
                <a:srgbClr val="B8C7D6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1915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4582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观测化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86868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4582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Trace/Baseline 先行</a:t>
              </a:r>
            </a:p>
          </p:txBody>
        </p: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4CC16">
              <a:alpha val="2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6250" y="2095500"/>
            <a:ext cx="2952750" cy="314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750" b="1" dirty="0">
                <a:solidFill>
                  <a:srgbClr val="FFFFFF">
                    <a:alphaMod val="10000"/>
                  </a:srgbClr>
                </a:solidFill>
                <a:latin typeface="Arial"/>
                <a:ea typeface="Microsoft YaHei"/>
                <a:cs typeface="Arial"/>
              </a:rPr>
              <a:t>34</a:t>
            </a:r>
          </a:p>
        </p:txBody>
      </p:sp>
      <p:sp>
        <p:nvSpPr>
          <p:cNvPr id="6" name="Line 6"/>
          <p:cNvSpPr/>
          <p:nvPr/>
        </p:nvSpPr>
        <p:spPr>
          <a:xfrm>
            <a:off x="3619500" y="25050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619500" y="2667000"/>
            <a:ext cx="7429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概念详解：去重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19500" y="3648075"/>
            <a:ext cx="7620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把「去重」当工程对象看：冲突处理。它有明确的输入契约、失败语义与度量口径。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62750" y="628650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55000"/>
                  </a:srgbClr>
                </a:solidFill>
                <a:latin typeface="Arial"/>
                <a:ea typeface="Microsoft YaHei"/>
                <a:cs typeface="Arial"/>
              </a:rPr>
              <a:t>动态上下文装配与预算：让不同 Step 只看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35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定义与内涵：去重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84CC1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把去重讲透：是什么、不是什么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课程第23讲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上下文治理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35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2095500"/>
            <a:ext cx="11201400" cy="1285875"/>
            <a:chOff x="495300" y="209550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209550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209550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254317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232410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定义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232410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232410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把「去重」当工程对象看：冲突处理。它有明确的输入契约、失败语义与度量口径。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3571875"/>
            <a:ext cx="11201400" cy="1285875"/>
            <a:chOff x="495300" y="35718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35718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35718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40195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38004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方法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38004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38004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方法维度：冲突处理</a:t>
              </a:r>
            </a:p>
          </p:txBody>
        </p:sp>
      </p:grpSp>
      <p:grpSp>
        <p:nvGrpSpPr>
          <p:cNvPr id="35" name="EasySlides Component: evidence_03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9" name="Rectangle 29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要点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要点维度：冲突处理</a:t>
              </a:r>
            </a:p>
          </p:txBody>
        </p:sp>
      </p:grpSp>
      <p:grpSp>
        <p:nvGrpSpPr>
          <p:cNvPr id="39" name="EasySlides Component: synthesis"/>
          <p:cNvGrpSpPr/>
          <p:nvPr/>
        </p:nvGrpSpPr>
        <p:grpSpPr>
          <a:xfrm>
            <a:off x="495300" y="1285875"/>
            <a:ext cx="11201400" cy="714375"/>
            <a:chOff x="495300" y="1285875"/>
            <a:chExt cx="11201400" cy="714375"/>
          </a:xfrm>
        </p:grpSpPr>
        <p:sp>
          <p:nvSpPr>
            <p:cNvPr id="36" name="Rectangle 36"/>
            <p:cNvSpPr/>
            <p:nvPr/>
          </p:nvSpPr>
          <p:spPr>
            <a:xfrm>
              <a:off x="495300" y="1285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4D7C0F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95300" y="1285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76300" y="1419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上下文即决策环境：最小充分、可信可控，缺一即停。</a:t>
              </a:r>
            </a:p>
          </p:txBody>
        </p:sp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36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机制图解：去重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84CC1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一图看懂运行机制与数据流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课程第23讲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上下文治理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36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7FAEC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「去重」之所以可靠，是因为它把不确定性关进笼子：预算、超时、重试、审计四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关键环节：契约→执行→验证→留痕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落点：仓库验证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7FAEC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图：去重 的机制与数据流（hub 视角）</a:t>
              </a:r>
            </a:p>
          </p:txBody>
        </p:sp>
      </p:grp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37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深入原理：去重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84CC1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正确姿势 vs 常见误用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课程第23讲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上下文治理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37</a:t>
            </a:r>
          </a:p>
        </p:txBody>
      </p:sp>
      <p:grpSp>
        <p:nvGrpSpPr>
          <p:cNvPr id="22" name="EasySlides Component: left"/>
          <p:cNvGrpSpPr/>
          <p:nvPr/>
        </p:nvGrpSpPr>
        <p:grpSpPr>
          <a:xfrm>
            <a:off x="495300" y="1285875"/>
            <a:ext cx="5410200" cy="4000500"/>
            <a:chOff x="495300" y="1285875"/>
            <a:chExt cx="5410200" cy="4000500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495300" y="1285875"/>
              <a:ext cx="57150" cy="609600"/>
            </a:xfrm>
            <a:prstGeom prst="rect">
              <a:avLst/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001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正确姿势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287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正确姿势：先定义「去重」的契约与不变量，再谈实现；所有旁路都必须被审计。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契约先行，证据留痕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8001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0" name="EasySlides Component: right"/>
          <p:cNvGrpSpPr/>
          <p:nvPr/>
        </p:nvGrpSpPr>
        <p:grpSpPr>
          <a:xfrm>
            <a:off x="6286500" y="1285875"/>
            <a:ext cx="5410200" cy="4000500"/>
            <a:chOff x="6286500" y="1285875"/>
            <a:chExt cx="5410200" cy="4000500"/>
          </a:xfrm>
        </p:grpSpPr>
        <p:sp>
          <p:nvSpPr>
            <p:cNvPr id="23" name="Rectangle 23"/>
            <p:cNvSpPr/>
            <p:nvPr/>
          </p:nvSpPr>
          <p:spPr>
            <a:xfrm>
              <a:off x="62865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865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286500" y="1285875"/>
              <a:ext cx="57150" cy="609600"/>
            </a:xfrm>
            <a:prstGeom prst="rect">
              <a:avLst/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913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常见误用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65913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199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常见误用：把「去重」当成一次性胶水代码，没有版本、没有度量、没有回滚路径。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无版本/无度量/无回滚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65913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4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1" name="Rectangle 31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4D7C0F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治理视角：权限先于相关性，硬过滤不可被排序绕过。</a:t>
              </a:r>
            </a:p>
          </p:txBody>
        </p:sp>
      </p:grp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38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代码契约：去重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84CC1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仓库真实代码 · 契约切面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课程第23讲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上下文治理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38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7FAEC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文件：assembler.py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切面：契约——先读接口再读实现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测试见 tests/ 目录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7FAEC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代码：assembler.py · 契约（概念4 去重）</a:t>
              </a:r>
            </a:p>
          </p:txBody>
        </p:sp>
      </p:grp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39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代码实现：去重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84CC1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仓库真实代码 · 实现切面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课程第23讲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上下文治理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39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7FAEC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文件：assembler.py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切面：实现——先读接口再读实现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测试见 tests/ 目录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7FAEC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代码：assembler.py · 实现（概念4 去重）</a:t>
              </a:r>
            </a:p>
          </p:txBody>
        </p:sp>
      </p:grp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40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应用实践：去重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84CC1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三步落地：闭环→灰度→放开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课程第23讲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上下文治理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40</a:t>
            </a:r>
          </a:p>
        </p:txBody>
      </p:sp>
      <p:grpSp>
        <p:nvGrpSpPr>
          <p:cNvPr id="22" name="EasySlides Component: step_01"/>
          <p:cNvGrpSpPr/>
          <p:nvPr/>
        </p:nvGrpSpPr>
        <p:grpSpPr>
          <a:xfrm>
            <a:off x="495300" y="1285875"/>
            <a:ext cx="3505200" cy="3476625"/>
            <a:chOff x="495300" y="1285875"/>
            <a:chExt cx="3505200" cy="347662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695325" y="1495425"/>
              <a:ext cx="476250" cy="476250"/>
            </a:xfrm>
            <a:prstGeom prst="ellipse">
              <a:avLst/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143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144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最小闭环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525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把「去重」落到业务：先小流量灰度验证效果与成本，再逐步放开租户范围。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001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0" name="EasySlides Component: step_02"/>
          <p:cNvGrpSpPr/>
          <p:nvPr/>
        </p:nvGrpSpPr>
        <p:grpSpPr>
          <a:xfrm>
            <a:off x="4343400" y="1285875"/>
            <a:ext cx="3505200" cy="3476625"/>
            <a:chOff x="4343400" y="1285875"/>
            <a:chExt cx="3505200" cy="3476625"/>
          </a:xfrm>
        </p:grpSpPr>
        <p:sp>
          <p:nvSpPr>
            <p:cNvPr id="23" name="Rectangle 23"/>
            <p:cNvSpPr/>
            <p:nvPr/>
          </p:nvSpPr>
          <p:spPr>
            <a:xfrm>
              <a:off x="43434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4543425" y="1495425"/>
              <a:ext cx="476250" cy="476250"/>
            </a:xfrm>
            <a:prstGeom prst="ellipse">
              <a:avLst/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5624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1625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灰度验证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46482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8006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小流量对照基线，观察效果/成本/时延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6482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8" name="EasySlides Component: step_03"/>
          <p:cNvGrpSpPr/>
          <p:nvPr/>
        </p:nvGrpSpPr>
        <p:grpSpPr>
          <a:xfrm>
            <a:off x="8191500" y="1285875"/>
            <a:ext cx="3505200" cy="3476625"/>
            <a:chOff x="8191500" y="1285875"/>
            <a:chExt cx="3505200" cy="3476625"/>
          </a:xfrm>
        </p:grpSpPr>
        <p:sp>
          <p:nvSpPr>
            <p:cNvPr id="31" name="Rectangle 31"/>
            <p:cNvSpPr/>
            <p:nvPr/>
          </p:nvSpPr>
          <p:spPr>
            <a:xfrm>
              <a:off x="81915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8391525" y="1495425"/>
              <a:ext cx="476250" cy="476250"/>
            </a:xfrm>
            <a:prstGeom prst="ellipse">
              <a:avLst/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105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0106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逐步放开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84963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6487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按租户/场景分批，异常即回滚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4963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42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9" name="Rectangle 39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4D7C0F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案例视角：指标口径注入与跨租户泄漏的防御实测。</a:t>
              </a:r>
            </a:p>
          </p:txBody>
        </p:sp>
      </p:grp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41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陷阱与排查：去重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84CC1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症状→根因→处置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课程第23讲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上下文治理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41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4D7C0F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症状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根因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处置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「去重」典型故障：静默失败—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缺少验证/预算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验真+预算上限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结果不可解释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无 Trace 留痕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接入统一 Trace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效果悄悄退化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无回归基线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评测+回归门禁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先止血，再根因，最后沉淀为回归用例</a:t>
              </a:r>
            </a:p>
          </p:txBody>
        </p:sp>
      </p:grp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42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工程决策：去重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84CC1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候选方案 × 取舍（ADR）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课程第23讲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上下文治理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42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4D7C0F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方案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代价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结论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直连实现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快但耦合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Demo 可用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平台化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前期成本高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生产首选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保持简单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能力上限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按场景取舍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「去重」的选型以证据与约束为准</a:t>
              </a:r>
            </a:p>
          </p:txBody>
        </p:sp>
      </p:grp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43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优化拓展：去重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84CC1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三个可持续优化抓手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课程第23讲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上下文治理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43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3524250"/>
            <a:ext cx="11201400" cy="1285875"/>
            <a:chOff x="495300" y="352425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352425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352425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397192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375285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资产化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375285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375285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「去重」优化一：把人工经验固化为资产（规则/Skill/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基线化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「去重」优化二：建立基线对照（关闭/盲选/受控三组）证明增量</a:t>
              </a:r>
            </a:p>
          </p:txBody>
        </p:sp>
      </p:grpSp>
      <p:grpSp>
        <p:nvGrpSpPr>
          <p:cNvPr id="34" name="EasySlides Component: metric_01"/>
          <p:cNvGrpSpPr/>
          <p:nvPr/>
        </p:nvGrpSpPr>
        <p:grpSpPr>
          <a:xfrm>
            <a:off x="495300" y="1285875"/>
            <a:ext cx="3505200" cy="1809750"/>
            <a:chOff x="495300" y="1285875"/>
            <a:chExt cx="3505200" cy="1809750"/>
          </a:xfrm>
        </p:grpSpPr>
        <p:sp>
          <p:nvSpPr>
            <p:cNvPr id="29" name="Rectangle 29"/>
            <p:cNvSpPr/>
            <p:nvPr/>
          </p:nvSpPr>
          <p:spPr>
            <a:xfrm>
              <a:off x="4953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7FAEC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资产化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9906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经验固化为规则/Skill</a:t>
              </a:r>
            </a:p>
          </p:txBody>
        </p:sp>
      </p:grpSp>
      <p:grpSp>
        <p:nvGrpSpPr>
          <p:cNvPr id="40" name="EasySlides Component: metric_02"/>
          <p:cNvGrpSpPr/>
          <p:nvPr/>
        </p:nvGrpSpPr>
        <p:grpSpPr>
          <a:xfrm>
            <a:off x="4343400" y="1285875"/>
            <a:ext cx="3505200" cy="1809750"/>
            <a:chOff x="4343400" y="1285875"/>
            <a:chExt cx="3505200" cy="1809750"/>
          </a:xfrm>
        </p:grpSpPr>
        <p:sp>
          <p:nvSpPr>
            <p:cNvPr id="35" name="Rectangle 35"/>
            <p:cNvSpPr/>
            <p:nvPr/>
          </p:nvSpPr>
          <p:spPr>
            <a:xfrm>
              <a:off x="43434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7FAEC"/>
            </a:solidFill>
            <a:ln w="11430">
              <a:solidFill>
                <a:srgbClr val="B8C7D6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43434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6101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基线化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48387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6101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对照实验证明增量</a:t>
              </a:r>
            </a:p>
          </p:txBody>
        </p:sp>
      </p:grpSp>
      <p:grpSp>
        <p:nvGrpSpPr>
          <p:cNvPr id="46" name="EasySlides Component: metric_03"/>
          <p:cNvGrpSpPr/>
          <p:nvPr/>
        </p:nvGrpSpPr>
        <p:grpSpPr>
          <a:xfrm>
            <a:off x="8191500" y="1285875"/>
            <a:ext cx="3505200" cy="1809750"/>
            <a:chOff x="8191500" y="1285875"/>
            <a:chExt cx="3505200" cy="1809750"/>
          </a:xfrm>
        </p:grpSpPr>
        <p:sp>
          <p:nvSpPr>
            <p:cNvPr id="41" name="Rectangle 41"/>
            <p:cNvSpPr/>
            <p:nvPr/>
          </p:nvSpPr>
          <p:spPr>
            <a:xfrm>
              <a:off x="81915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7FAEC"/>
            </a:solidFill>
            <a:ln w="11430">
              <a:solidFill>
                <a:srgbClr val="B8C7D6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1915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4582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观测化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86868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4582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Trace/Baseline 先行</a:t>
              </a:r>
            </a:p>
          </p:txBody>
        </p:sp>
      </p:grp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4CC16">
              <a:alpha val="2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6250" y="2095500"/>
            <a:ext cx="2952750" cy="314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750" b="1" dirty="0">
                <a:solidFill>
                  <a:srgbClr val="FFFFFF">
                    <a:alphaMod val="10000"/>
                  </a:srgbClr>
                </a:solidFill>
                <a:latin typeface="Arial"/>
                <a:ea typeface="Microsoft YaHei"/>
                <a:cs typeface="Arial"/>
              </a:rPr>
              <a:t>44</a:t>
            </a:r>
          </a:p>
        </p:txBody>
      </p:sp>
      <p:sp>
        <p:nvSpPr>
          <p:cNvPr id="6" name="Line 6"/>
          <p:cNvSpPr/>
          <p:nvPr/>
        </p:nvSpPr>
        <p:spPr>
          <a:xfrm>
            <a:off x="3619500" y="25050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619500" y="2667000"/>
            <a:ext cx="7429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概念详解：充分性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19500" y="3648075"/>
            <a:ext cx="7620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「充分性」指required 检查。在企业级语境下，它同时约束接口契约、生命周期与治理边界，而不只是一个名词。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62750" y="628650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55000"/>
                  </a:srgbClr>
                </a:solidFill>
                <a:latin typeface="Arial"/>
                <a:ea typeface="Microsoft YaHei"/>
                <a:cs typeface="Arial"/>
              </a:rPr>
              <a:t>动态上下文装配与预算：让不同 Step 只看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45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定义与内涵：充分性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84CC1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把充分性讲透：是什么、不是什么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课程第23讲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上下文治理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45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2095500"/>
            <a:ext cx="11201400" cy="1285875"/>
            <a:chOff x="495300" y="209550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209550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209550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254317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232410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定义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232410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232410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「充分性」指required 检查。在企业级语境下，它同时约束接口契约、生命周期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3571875"/>
            <a:ext cx="11201400" cy="1285875"/>
            <a:chOff x="495300" y="35718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35718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35718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40195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38004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方法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38004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38004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方法维度：required 检查</a:t>
              </a:r>
            </a:p>
          </p:txBody>
        </p:sp>
      </p:grpSp>
      <p:grpSp>
        <p:nvGrpSpPr>
          <p:cNvPr id="35" name="EasySlides Component: evidence_03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9" name="Rectangle 29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要点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要点维度：required 检查</a:t>
              </a:r>
            </a:p>
          </p:txBody>
        </p:sp>
      </p:grpSp>
      <p:grpSp>
        <p:nvGrpSpPr>
          <p:cNvPr id="39" name="EasySlides Component: synthesis"/>
          <p:cNvGrpSpPr/>
          <p:nvPr/>
        </p:nvGrpSpPr>
        <p:grpSpPr>
          <a:xfrm>
            <a:off x="495300" y="1285875"/>
            <a:ext cx="11201400" cy="714375"/>
            <a:chOff x="495300" y="1285875"/>
            <a:chExt cx="11201400" cy="714375"/>
          </a:xfrm>
        </p:grpSpPr>
        <p:sp>
          <p:nvSpPr>
            <p:cNvPr id="36" name="Rectangle 36"/>
            <p:cNvSpPr/>
            <p:nvPr/>
          </p:nvSpPr>
          <p:spPr>
            <a:xfrm>
              <a:off x="495300" y="1285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4D7C0F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95300" y="1285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76300" y="1419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上下文即决策环境：最小充分、可信可控，缺一即停。</a:t>
              </a:r>
            </a:p>
          </p:txBody>
        </p:sp>
      </p:grp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46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机制图解：充分性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84CC1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一图看懂运行机制与数据流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课程第23讲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上下文治理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46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7FAEC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「充分性」的运行机制分三步：输入契约校验 → 核心转换执行 → 结果验证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关键环节：契约→执行→验证→留痕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落点：仓库验证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7FAEC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图：充分性 的机制与数据流（flow_v 视角）</a:t>
              </a:r>
            </a:p>
          </p:txBody>
        </p:sp>
      </p:grp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47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深入原理：充分性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84CC1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正确姿势 vs 常见误用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课程第23讲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上下文治理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47</a:t>
            </a:r>
          </a:p>
        </p:txBody>
      </p:sp>
      <p:grpSp>
        <p:nvGrpSpPr>
          <p:cNvPr id="22" name="EasySlides Component: left"/>
          <p:cNvGrpSpPr/>
          <p:nvPr/>
        </p:nvGrpSpPr>
        <p:grpSpPr>
          <a:xfrm>
            <a:off x="495300" y="1285875"/>
            <a:ext cx="5410200" cy="4000500"/>
            <a:chOff x="495300" y="1285875"/>
            <a:chExt cx="5410200" cy="4000500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495300" y="1285875"/>
              <a:ext cx="57150" cy="609600"/>
            </a:xfrm>
            <a:prstGeom prst="rect">
              <a:avLst/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001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正确姿势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287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正确姿势：把「充分性」的决策依据落成证据（Trace/Eval），而不是凭经验拍板。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契约先行，证据留痕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8001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0" name="EasySlides Component: right"/>
          <p:cNvGrpSpPr/>
          <p:nvPr/>
        </p:nvGrpSpPr>
        <p:grpSpPr>
          <a:xfrm>
            <a:off x="6286500" y="1285875"/>
            <a:ext cx="5410200" cy="4000500"/>
            <a:chOff x="6286500" y="1285875"/>
            <a:chExt cx="5410200" cy="4000500"/>
          </a:xfrm>
        </p:grpSpPr>
        <p:sp>
          <p:nvSpPr>
            <p:cNvPr id="23" name="Rectangle 23"/>
            <p:cNvSpPr/>
            <p:nvPr/>
          </p:nvSpPr>
          <p:spPr>
            <a:xfrm>
              <a:off x="62865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865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286500" y="1285875"/>
              <a:ext cx="57150" cy="609600"/>
            </a:xfrm>
            <a:prstGeom prst="rect">
              <a:avLst/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913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常见误用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65913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199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常见误用：用相关性绕过「充分性」的硬性过滤，短期省事，长期必然越权或漂移。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无版本/无度量/无回滚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65913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4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1" name="Rectangle 31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4D7C0F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治理视角：权限先于相关性，硬过滤不可被排序绕过。</a:t>
              </a:r>
            </a:p>
          </p:txBody>
        </p:sp>
      </p:grp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48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代码契约：充分性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84CC1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仓库真实代码 · 契约切面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课程第23讲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上下文治理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48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7FAEC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文件：assembler.py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切面：契约——先读接口再读实现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测试见 tests/ 目录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7FAEC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代码：assembler.py · 契约（概念5 充分性）</a:t>
              </a:r>
            </a:p>
          </p:txBody>
        </p:sp>
      </p:grp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49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代码实现：充分性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84CC1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仓库真实代码 · 实现切面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课程第23讲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上下文治理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49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7FAEC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文件：assembler.py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切面：实现——先读接口再读实现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测试见 tests/ 目录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7FAEC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代码：assembler.py · 实现（概念5 充分性）</a:t>
              </a:r>
            </a:p>
          </p:txBody>
        </p:sp>
      </p:grp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50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应用实践：充分性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84CC1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三步落地：闭环→灰度→放开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课程第23讲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上下文治理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50</a:t>
            </a:r>
          </a:p>
        </p:txBody>
      </p:sp>
      <p:grpSp>
        <p:nvGrpSpPr>
          <p:cNvPr id="22" name="EasySlides Component: step_01"/>
          <p:cNvGrpSpPr/>
          <p:nvPr/>
        </p:nvGrpSpPr>
        <p:grpSpPr>
          <a:xfrm>
            <a:off x="495300" y="1285875"/>
            <a:ext cx="3505200" cy="3476625"/>
            <a:chOff x="495300" y="1285875"/>
            <a:chExt cx="3505200" cy="347662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695325" y="1495425"/>
              <a:ext cx="476250" cy="476250"/>
            </a:xfrm>
            <a:prstGeom prst="ellipse">
              <a:avLst/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143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144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最小闭环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525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「充分性」的应用入口在本课程 DataAgent：跑通对应 pytest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001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0" name="EasySlides Component: step_02"/>
          <p:cNvGrpSpPr/>
          <p:nvPr/>
        </p:nvGrpSpPr>
        <p:grpSpPr>
          <a:xfrm>
            <a:off x="4343400" y="1285875"/>
            <a:ext cx="3505200" cy="3476625"/>
            <a:chOff x="4343400" y="1285875"/>
            <a:chExt cx="3505200" cy="3476625"/>
          </a:xfrm>
        </p:grpSpPr>
        <p:sp>
          <p:nvSpPr>
            <p:cNvPr id="23" name="Rectangle 23"/>
            <p:cNvSpPr/>
            <p:nvPr/>
          </p:nvSpPr>
          <p:spPr>
            <a:xfrm>
              <a:off x="43434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4543425" y="1495425"/>
              <a:ext cx="476250" cy="476250"/>
            </a:xfrm>
            <a:prstGeom prst="ellipse">
              <a:avLst/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5624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1625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灰度验证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46482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8006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小流量对照基线，观察效果/成本/时延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6482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8" name="EasySlides Component: step_03"/>
          <p:cNvGrpSpPr/>
          <p:nvPr/>
        </p:nvGrpSpPr>
        <p:grpSpPr>
          <a:xfrm>
            <a:off x="8191500" y="1285875"/>
            <a:ext cx="3505200" cy="3476625"/>
            <a:chOff x="8191500" y="1285875"/>
            <a:chExt cx="3505200" cy="3476625"/>
          </a:xfrm>
        </p:grpSpPr>
        <p:sp>
          <p:nvSpPr>
            <p:cNvPr id="31" name="Rectangle 31"/>
            <p:cNvSpPr/>
            <p:nvPr/>
          </p:nvSpPr>
          <p:spPr>
            <a:xfrm>
              <a:off x="81915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8391525" y="1495425"/>
              <a:ext cx="476250" cy="476250"/>
            </a:xfrm>
            <a:prstGeom prst="ellipse">
              <a:avLst/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105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0106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逐步放开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84963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6487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按租户/场景分批，异常即回滚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4963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42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9" name="Rectangle 39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4D7C0F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案例视角：指标口径注入与跨租户泄漏的防御实测。</a:t>
              </a:r>
            </a:p>
          </p:txBody>
        </p:sp>
      </p:grp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51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陷阱与排查：充分性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84CC1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症状→根因→处置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课程第23讲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上下文治理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51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4D7C0F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症状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根因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处置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「充分性」典型故障：成本失控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缺少验证/预算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验真+预算上限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结果不可解释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无 Trace 留痕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接入统一 Trace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效果悄悄退化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无回归基线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评测+回归门禁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先止血，再根因，最后沉淀为回归用例</a:t>
              </a:r>
            </a:p>
          </p:txBody>
        </p:sp>
      </p:grp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52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工程决策：充分性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84CC1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候选方案 × 取舍（ADR）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课程第23讲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上下文治理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52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4D7C0F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方案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代价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结论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直连实现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快但耦合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Demo 可用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平台化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前期成本高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生产首选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保持简单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能力上限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按场景取舍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「充分性」的选型以证据与约束为准</a:t>
              </a:r>
            </a:p>
          </p:txBody>
        </p:sp>
      </p:grp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53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优化拓展：充分性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84CC1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三个可持续优化抓手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课程第23讲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上下文治理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53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3524250"/>
            <a:ext cx="11201400" cy="1285875"/>
            <a:chOff x="495300" y="352425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352425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352425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397192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375285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资产化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375285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375285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「充分性」优化一：把人工经验固化为资产（规则/Skill/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基线化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「充分性」优化二：建立基线对照（关闭/盲选/受控三组）证明增</a:t>
              </a:r>
            </a:p>
          </p:txBody>
        </p:sp>
      </p:grpSp>
      <p:grpSp>
        <p:nvGrpSpPr>
          <p:cNvPr id="34" name="EasySlides Component: metric_01"/>
          <p:cNvGrpSpPr/>
          <p:nvPr/>
        </p:nvGrpSpPr>
        <p:grpSpPr>
          <a:xfrm>
            <a:off x="495300" y="1285875"/>
            <a:ext cx="3505200" cy="1809750"/>
            <a:chOff x="495300" y="1285875"/>
            <a:chExt cx="3505200" cy="1809750"/>
          </a:xfrm>
        </p:grpSpPr>
        <p:sp>
          <p:nvSpPr>
            <p:cNvPr id="29" name="Rectangle 29"/>
            <p:cNvSpPr/>
            <p:nvPr/>
          </p:nvSpPr>
          <p:spPr>
            <a:xfrm>
              <a:off x="4953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7FAEC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资产化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9906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经验固化为规则/Skill</a:t>
              </a:r>
            </a:p>
          </p:txBody>
        </p:sp>
      </p:grpSp>
      <p:grpSp>
        <p:nvGrpSpPr>
          <p:cNvPr id="40" name="EasySlides Component: metric_02"/>
          <p:cNvGrpSpPr/>
          <p:nvPr/>
        </p:nvGrpSpPr>
        <p:grpSpPr>
          <a:xfrm>
            <a:off x="4343400" y="1285875"/>
            <a:ext cx="3505200" cy="1809750"/>
            <a:chOff x="4343400" y="1285875"/>
            <a:chExt cx="3505200" cy="1809750"/>
          </a:xfrm>
        </p:grpSpPr>
        <p:sp>
          <p:nvSpPr>
            <p:cNvPr id="35" name="Rectangle 35"/>
            <p:cNvSpPr/>
            <p:nvPr/>
          </p:nvSpPr>
          <p:spPr>
            <a:xfrm>
              <a:off x="43434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7FAEC"/>
            </a:solidFill>
            <a:ln w="11430">
              <a:solidFill>
                <a:srgbClr val="B8C7D6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43434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6101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基线化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48387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6101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对照实验证明增量</a:t>
              </a:r>
            </a:p>
          </p:txBody>
        </p:sp>
      </p:grpSp>
      <p:grpSp>
        <p:nvGrpSpPr>
          <p:cNvPr id="46" name="EasySlides Component: metric_03"/>
          <p:cNvGrpSpPr/>
          <p:nvPr/>
        </p:nvGrpSpPr>
        <p:grpSpPr>
          <a:xfrm>
            <a:off x="8191500" y="1285875"/>
            <a:ext cx="3505200" cy="1809750"/>
            <a:chOff x="8191500" y="1285875"/>
            <a:chExt cx="3505200" cy="1809750"/>
          </a:xfrm>
        </p:grpSpPr>
        <p:sp>
          <p:nvSpPr>
            <p:cNvPr id="41" name="Rectangle 41"/>
            <p:cNvSpPr/>
            <p:nvPr/>
          </p:nvSpPr>
          <p:spPr>
            <a:xfrm>
              <a:off x="81915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7FAEC"/>
            </a:solidFill>
            <a:ln w="11430">
              <a:solidFill>
                <a:srgbClr val="B8C7D6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1915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4582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观测化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86868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4582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Trace/Baseline 先行</a:t>
              </a:r>
            </a:p>
          </p:txBody>
        </p:sp>
      </p:grp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54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本章知识图谱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84CC1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概念之间的结构关系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课程第23讲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上下文治理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54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7FAEC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核心：管线化、硬过滤、预算分区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关系：输入→机制→治理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全部概念见讲义表格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7FAEC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图：本章概念关系（中心辐射视角）</a:t>
              </a:r>
            </a:p>
          </p:txBody>
        </p:sp>
      </p:grp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4CC16">
              <a:alpha val="2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6250" y="2095500"/>
            <a:ext cx="2952750" cy="314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750" b="1" dirty="0">
                <a:solidFill>
                  <a:srgbClr val="FFFFFF">
                    <a:alphaMod val="10000"/>
                  </a:srgbClr>
                </a:solidFill>
                <a:latin typeface="Arial"/>
                <a:ea typeface="Microsoft YaHei"/>
                <a:cs typeface="Arial"/>
              </a:rPr>
              <a:t>55</a:t>
            </a:r>
          </a:p>
        </p:txBody>
      </p:sp>
      <p:sp>
        <p:nvSpPr>
          <p:cNvPr id="6" name="Line 6"/>
          <p:cNvSpPr/>
          <p:nvPr/>
        </p:nvSpPr>
        <p:spPr>
          <a:xfrm>
            <a:off x="3619500" y="25050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619500" y="2667000"/>
            <a:ext cx="7429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应用与实战指南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19500" y="3648075"/>
            <a:ext cx="7620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从理解到落地：场景、步骤与检查清单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62750" y="628650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55000"/>
                  </a:srgbClr>
                </a:solidFill>
                <a:latin typeface="Arial"/>
                <a:ea typeface="Microsoft YaHei"/>
                <a:cs typeface="Arial"/>
              </a:rPr>
              <a:t>动态上下文装配与预算：让不同 Step 只看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56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实战路线图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84CC1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三步从 Demo 到生产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课程第23讲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上下文治理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56</a:t>
            </a:r>
          </a:p>
        </p:txBody>
      </p:sp>
      <p:grpSp>
        <p:nvGrpSpPr>
          <p:cNvPr id="22" name="EasySlides Component: step_01"/>
          <p:cNvGrpSpPr/>
          <p:nvPr/>
        </p:nvGrpSpPr>
        <p:grpSpPr>
          <a:xfrm>
            <a:off x="495300" y="1285875"/>
            <a:ext cx="3505200" cy="3476625"/>
            <a:chOff x="495300" y="1285875"/>
            <a:chExt cx="3505200" cy="347662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695325" y="1495425"/>
              <a:ext cx="476250" cy="476250"/>
            </a:xfrm>
            <a:prstGeom prst="ellipse">
              <a:avLst/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143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144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场景选择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525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选高频、可验证、低风险场景切入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001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0" name="EasySlides Component: step_02"/>
          <p:cNvGrpSpPr/>
          <p:nvPr/>
        </p:nvGrpSpPr>
        <p:grpSpPr>
          <a:xfrm>
            <a:off x="4343400" y="1285875"/>
            <a:ext cx="3505200" cy="3476625"/>
            <a:chOff x="4343400" y="1285875"/>
            <a:chExt cx="3505200" cy="3476625"/>
          </a:xfrm>
        </p:grpSpPr>
        <p:sp>
          <p:nvSpPr>
            <p:cNvPr id="23" name="Rectangle 23"/>
            <p:cNvSpPr/>
            <p:nvPr/>
          </p:nvSpPr>
          <p:spPr>
            <a:xfrm>
              <a:off x="43434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4543425" y="1495425"/>
              <a:ext cx="476250" cy="476250"/>
            </a:xfrm>
            <a:prstGeom prst="ellipse">
              <a:avLst/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5624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1625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契约先行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46482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8006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定义输入/输出/错误语义与验收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6482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8" name="EasySlides Component: step_03"/>
          <p:cNvGrpSpPr/>
          <p:nvPr/>
        </p:nvGrpSpPr>
        <p:grpSpPr>
          <a:xfrm>
            <a:off x="8191500" y="1285875"/>
            <a:ext cx="3505200" cy="3476625"/>
            <a:chOff x="8191500" y="1285875"/>
            <a:chExt cx="3505200" cy="3476625"/>
          </a:xfrm>
        </p:grpSpPr>
        <p:sp>
          <p:nvSpPr>
            <p:cNvPr id="31" name="Rectangle 31"/>
            <p:cNvSpPr/>
            <p:nvPr/>
          </p:nvSpPr>
          <p:spPr>
            <a:xfrm>
              <a:off x="81915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8391525" y="1495425"/>
              <a:ext cx="476250" cy="476250"/>
            </a:xfrm>
            <a:prstGeom prst="ellipse">
              <a:avLst/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105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0106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评测护航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84963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6487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建数据集与评分卡再动 Prompt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4963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42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9" name="Rectangle 39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4D7C0F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案例视角：指标口径注入与跨租户泄漏的防御实测。</a:t>
              </a:r>
            </a:p>
          </p:txBody>
        </p:sp>
      </p:grp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57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典型应用场景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84CC1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场景→做法→收益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课程第23讲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上下文治理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57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4D7C0F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场景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做法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收益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经营诊断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自主分析闭环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结论可解释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数据查询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只读网关+权限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安全合规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行动执行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审批+幂等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风险可控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场景选择决定治理强度，按风险分级</a:t>
              </a:r>
            </a:p>
          </p:txBody>
        </p:sp>
      </p:grp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58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落地检查清单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84CC1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上线前逐项打勾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课程第23讲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上下文治理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58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2095500"/>
            <a:ext cx="11201400" cy="1285875"/>
            <a:chOff x="495300" y="209550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209550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209550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254317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232410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功能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232410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232410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核心链路全绿；故障注入通过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3571875"/>
            <a:ext cx="11201400" cy="1285875"/>
            <a:chOff x="495300" y="35718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35718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35718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40195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38004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质量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38004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38004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三层评测达标；回归门禁通过</a:t>
              </a:r>
            </a:p>
          </p:txBody>
        </p:sp>
      </p:grpSp>
      <p:grpSp>
        <p:nvGrpSpPr>
          <p:cNvPr id="35" name="EasySlides Component: evidence_03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9" name="Rectangle 29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安全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权限/审计/幂等/回滚就绪</a:t>
              </a:r>
            </a:p>
          </p:txBody>
        </p:sp>
      </p:grpSp>
      <p:grpSp>
        <p:nvGrpSpPr>
          <p:cNvPr id="39" name="EasySlides Component: synthesis"/>
          <p:cNvGrpSpPr/>
          <p:nvPr/>
        </p:nvGrpSpPr>
        <p:grpSpPr>
          <a:xfrm>
            <a:off x="495300" y="1285875"/>
            <a:ext cx="11201400" cy="714375"/>
            <a:chOff x="495300" y="1285875"/>
            <a:chExt cx="11201400" cy="714375"/>
          </a:xfrm>
        </p:grpSpPr>
        <p:sp>
          <p:nvSpPr>
            <p:cNvPr id="36" name="Rectangle 36"/>
            <p:cNvSpPr/>
            <p:nvPr/>
          </p:nvSpPr>
          <p:spPr>
            <a:xfrm>
              <a:off x="495300" y="1285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4D7C0F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95300" y="1285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76300" y="1419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GO/NO-GO 由硬门槛决定，不由均分决定</a:t>
              </a:r>
            </a:p>
          </p:txBody>
        </p:sp>
      </p:grp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4CC16">
              <a:alpha val="2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6250" y="2095500"/>
            <a:ext cx="2952750" cy="314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750" b="1" dirty="0">
                <a:solidFill>
                  <a:srgbClr val="FFFFFF">
                    <a:alphaMod val="10000"/>
                  </a:srgbClr>
                </a:solidFill>
                <a:latin typeface="Arial"/>
                <a:ea typeface="Microsoft YaHei"/>
                <a:cs typeface="Arial"/>
              </a:rPr>
              <a:t>59</a:t>
            </a:r>
          </a:p>
        </p:txBody>
      </p:sp>
      <p:sp>
        <p:nvSpPr>
          <p:cNvPr id="6" name="Line 6"/>
          <p:cNvSpPr/>
          <p:nvPr/>
        </p:nvSpPr>
        <p:spPr>
          <a:xfrm>
            <a:off x="3619500" y="25050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619500" y="2667000"/>
            <a:ext cx="7429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优化与拓展指南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19500" y="3648075"/>
            <a:ext cx="7620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让系统随模型共同进化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62750" y="628650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55000"/>
                  </a:srgbClr>
                </a:solidFill>
                <a:latin typeface="Arial"/>
                <a:ea typeface="Microsoft YaHei"/>
                <a:cs typeface="Arial"/>
              </a:rPr>
              <a:t>动态上下文装配与预算：让不同 Step 只看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60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优化方向对照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84CC1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短期补丁 vs 长期资产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课程第23讲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上下文治理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60</a:t>
            </a:r>
          </a:p>
        </p:txBody>
      </p:sp>
      <p:grpSp>
        <p:nvGrpSpPr>
          <p:cNvPr id="22" name="EasySlides Component: left"/>
          <p:cNvGrpSpPr/>
          <p:nvPr/>
        </p:nvGrpSpPr>
        <p:grpSpPr>
          <a:xfrm>
            <a:off x="495300" y="1285875"/>
            <a:ext cx="5410200" cy="4000500"/>
            <a:chOff x="495300" y="1285875"/>
            <a:chExt cx="5410200" cy="4000500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495300" y="1285875"/>
              <a:ext cx="57150" cy="609600"/>
            </a:xfrm>
            <a:prstGeom prst="rect">
              <a:avLst/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001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短期补丁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287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改 Prompt 救火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局部 if-else 兜底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人工盯梢排查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经验留在个人脑中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8001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0" name="EasySlides Component: right"/>
          <p:cNvGrpSpPr/>
          <p:nvPr/>
        </p:nvGrpSpPr>
        <p:grpSpPr>
          <a:xfrm>
            <a:off x="6286500" y="1285875"/>
            <a:ext cx="5410200" cy="4000500"/>
            <a:chOff x="6286500" y="1285875"/>
            <a:chExt cx="5410200" cy="4000500"/>
          </a:xfrm>
        </p:grpSpPr>
        <p:sp>
          <p:nvSpPr>
            <p:cNvPr id="23" name="Rectangle 23"/>
            <p:cNvSpPr/>
            <p:nvPr/>
          </p:nvSpPr>
          <p:spPr>
            <a:xfrm>
              <a:off x="6286500" y="1285875"/>
              <a:ext cx="5410200" cy="4000500"/>
            </a:xfrm>
            <a:prstGeom prst="roundRect">
              <a:avLst>
                <a:gd name="adj" fmla="val 952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86500" y="1285875"/>
              <a:ext cx="5410200" cy="609600"/>
            </a:xfrm>
            <a:prstGeom prst="roundRect">
              <a:avLst>
                <a:gd name="adj" fmla="val 6250"/>
              </a:avLst>
            </a:prstGeom>
            <a:solidFill>
              <a:srgbClr val="E8F4FC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286500" y="1285875"/>
              <a:ext cx="57150" cy="609600"/>
            </a:xfrm>
            <a:prstGeom prst="rect">
              <a:avLst/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91300" y="1419225"/>
              <a:ext cx="48006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725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长期资产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6591300" y="22764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19900" y="2505075"/>
              <a:ext cx="4343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规则/Skill/Eval 沉淀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统一 Runtime 治理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Trace+Baseline 驱动</a:t>
              </a:r>
            </a:p>
            <a:p>
              <a:pPr algn="l"/>
              <a:r>
                <a:rPr lang="zh-CN" sz="165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资产随组织复用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6591300" y="4905375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</p:grpSp>
      <p:grpSp>
        <p:nvGrpSpPr>
          <p:cNvPr id="34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1" name="Rectangle 31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4D7C0F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延伸阅读：Context Decision Trace 与上下文故障分类。</a:t>
              </a:r>
            </a:p>
          </p:txBody>
        </p:sp>
      </p:grp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61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拓展学习地图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84CC1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三层次进阶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课程第23讲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上下文治理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61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3524250"/>
            <a:ext cx="11201400" cy="1285875"/>
            <a:chOff x="495300" y="352425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352425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352425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397192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375285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体系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375285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375285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把本讲机制放进企业级全景图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贯通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与前后讲次的接口互相印证</a:t>
              </a:r>
            </a:p>
          </p:txBody>
        </p:sp>
      </p:grpSp>
      <p:grpSp>
        <p:nvGrpSpPr>
          <p:cNvPr id="34" name="EasySlides Component: metric_01"/>
          <p:cNvGrpSpPr/>
          <p:nvPr/>
        </p:nvGrpSpPr>
        <p:grpSpPr>
          <a:xfrm>
            <a:off x="495300" y="1285875"/>
            <a:ext cx="3505200" cy="1809750"/>
            <a:chOff x="495300" y="1285875"/>
            <a:chExt cx="3505200" cy="1809750"/>
          </a:xfrm>
        </p:grpSpPr>
        <p:sp>
          <p:nvSpPr>
            <p:cNvPr id="29" name="Rectangle 29"/>
            <p:cNvSpPr/>
            <p:nvPr/>
          </p:nvSpPr>
          <p:spPr>
            <a:xfrm>
              <a:off x="4953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7FAEC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向上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9906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架构与治理体系化</a:t>
              </a:r>
            </a:p>
          </p:txBody>
        </p:sp>
      </p:grpSp>
      <p:grpSp>
        <p:nvGrpSpPr>
          <p:cNvPr id="40" name="EasySlides Component: metric_02"/>
          <p:cNvGrpSpPr/>
          <p:nvPr/>
        </p:nvGrpSpPr>
        <p:grpSpPr>
          <a:xfrm>
            <a:off x="4343400" y="1285875"/>
            <a:ext cx="3505200" cy="1809750"/>
            <a:chOff x="4343400" y="1285875"/>
            <a:chExt cx="3505200" cy="1809750"/>
          </a:xfrm>
        </p:grpSpPr>
        <p:sp>
          <p:nvSpPr>
            <p:cNvPr id="35" name="Rectangle 35"/>
            <p:cNvSpPr/>
            <p:nvPr/>
          </p:nvSpPr>
          <p:spPr>
            <a:xfrm>
              <a:off x="43434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7FAEC"/>
            </a:solidFill>
            <a:ln w="11430">
              <a:solidFill>
                <a:srgbClr val="B8C7D6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43434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6101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向深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48387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6101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Runtime 与可靠性</a:t>
              </a:r>
            </a:p>
          </p:txBody>
        </p:sp>
      </p:grpSp>
      <p:grpSp>
        <p:nvGrpSpPr>
          <p:cNvPr id="46" name="EasySlides Component: metric_03"/>
          <p:cNvGrpSpPr/>
          <p:nvPr/>
        </p:nvGrpSpPr>
        <p:grpSpPr>
          <a:xfrm>
            <a:off x="8191500" y="1285875"/>
            <a:ext cx="3505200" cy="1809750"/>
            <a:chOff x="8191500" y="1285875"/>
            <a:chExt cx="3505200" cy="1809750"/>
          </a:xfrm>
        </p:grpSpPr>
        <p:sp>
          <p:nvSpPr>
            <p:cNvPr id="41" name="Rectangle 41"/>
            <p:cNvSpPr/>
            <p:nvPr/>
          </p:nvSpPr>
          <p:spPr>
            <a:xfrm>
              <a:off x="81915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7FAEC"/>
            </a:solidFill>
            <a:ln w="11430">
              <a:solidFill>
                <a:srgbClr val="B8C7D6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1915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4582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向外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86868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4582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多 Agent 与平台化</a:t>
              </a:r>
            </a:p>
          </p:txBody>
        </p:sp>
      </p:grp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62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演进路线图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84CC1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本讲在能力阶梯上的位置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课程第23讲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上下文治理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62</a:t>
            </a:r>
          </a:p>
        </p:txBody>
      </p:sp>
      <p:grpSp>
        <p:nvGrpSpPr>
          <p:cNvPr id="26" name="EasySlides Component: evidence"/>
          <p:cNvGrpSpPr/>
          <p:nvPr/>
        </p:nvGrpSpPr>
        <p:grpSpPr>
          <a:xfrm>
            <a:off x="7124700" y="1285875"/>
            <a:ext cx="4572000" cy="4905375"/>
            <a:chOff x="7124700" y="1285875"/>
            <a:chExt cx="45720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7124700" y="1285875"/>
              <a:ext cx="4572000" cy="4905375"/>
            </a:xfrm>
            <a:prstGeom prst="roundRect">
              <a:avLst>
                <a:gd name="adj" fmla="val 833"/>
              </a:avLst>
            </a:prstGeom>
            <a:solidFill>
              <a:srgbClr val="F7FAEC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4700" y="1285875"/>
              <a:ext cx="76200" cy="4905375"/>
            </a:xfrm>
            <a:prstGeom prst="rect">
              <a:avLst/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91400" y="155257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91400" y="3105150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391400" y="4657725"/>
              <a:ext cx="4038600" cy="1257300"/>
            </a:xfrm>
            <a:prstGeom prst="roundRect">
              <a:avLst>
                <a:gd name="adj" fmla="val 1515"/>
              </a:avLst>
            </a:prstGeom>
            <a:solidFill>
              <a:srgbClr val="FFFFFF"/>
            </a:solidFill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05712" y="174545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05712" y="3298031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05712" y="4850606"/>
              <a:ext cx="220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CC000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48600" y="181927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当前：本讲机制已可运行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48600" y="3371850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下一站：与相邻模块协同治理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48600" y="4924425"/>
              <a:ext cx="3314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长期：固化为组织级资产</a:t>
              </a:r>
            </a:p>
          </p:txBody>
        </p:sp>
      </p:grpSp>
      <p:grpSp>
        <p:nvGrpSpPr>
          <p:cNvPr id="32" name="EasySlides Component: figure"/>
          <p:cNvGrpSpPr/>
          <p:nvPr/>
        </p:nvGrpSpPr>
        <p:grpSpPr>
          <a:xfrm>
            <a:off x="495300" y="1285875"/>
            <a:ext cx="6400800" cy="4905375"/>
            <a:chOff x="495300" y="1285875"/>
            <a:chExt cx="6400800" cy="4905375"/>
          </a:xfrm>
        </p:grpSpPr>
        <p:sp>
          <p:nvSpPr>
            <p:cNvPr id="27" name="Rectangle 27"/>
            <p:cNvSpPr/>
            <p:nvPr/>
          </p:nvSpPr>
          <p:spPr>
            <a:xfrm>
              <a:off x="495300" y="1285875"/>
              <a:ext cx="64008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700" y="1438275"/>
              <a:ext cx="6096000" cy="3905250"/>
            </a:xfrm>
            <a:prstGeom prst="roundRect">
              <a:avLst>
                <a:gd name="adj" fmla="val 488"/>
              </a:avLst>
            </a:prstGeom>
            <a:solidFill>
              <a:srgbClr val="F7FAEC"/>
            </a:solidFill>
            <a:ln w="9525">
              <a:solidFill>
                <a:srgbClr val="D4E2EE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605643"/>
              <a:ext cx="6096000" cy="3570514"/>
            </a:xfrm>
            <a:prstGeom prst="rect">
              <a:avLst/>
            </a:prstGeom>
          </p:spPr>
        </p:pic>
        <p:sp>
          <p:nvSpPr>
            <p:cNvPr id="30" name="Line 30"/>
            <p:cNvSpPr/>
            <p:nvPr/>
          </p:nvSpPr>
          <p:spPr>
            <a:xfrm>
              <a:off x="723900" y="55340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100" y="5610225"/>
              <a:ext cx="579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图：从本讲机制到组织资产的演进路径</a:t>
              </a:r>
            </a:p>
          </p:txBody>
        </p:sp>
      </p:grp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4CC16">
              <a:alpha val="2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6250" y="2095500"/>
            <a:ext cx="2952750" cy="314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750" b="1" dirty="0">
                <a:solidFill>
                  <a:srgbClr val="FFFFFF">
                    <a:alphaMod val="10000"/>
                  </a:srgbClr>
                </a:solidFill>
                <a:latin typeface="Arial"/>
                <a:ea typeface="Microsoft YaHei"/>
                <a:cs typeface="Arial"/>
              </a:rPr>
              <a:t>63</a:t>
            </a:r>
          </a:p>
        </p:txBody>
      </p:sp>
      <p:sp>
        <p:nvSpPr>
          <p:cNvPr id="6" name="Line 6"/>
          <p:cNvSpPr/>
          <p:nvPr/>
        </p:nvSpPr>
        <p:spPr>
          <a:xfrm>
            <a:off x="3619500" y="25050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619500" y="2667000"/>
            <a:ext cx="7429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治理与常见陷阱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19500" y="3648075"/>
            <a:ext cx="7620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企业级红线与审计要点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62750" y="628650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55000"/>
                  </a:srgbClr>
                </a:solidFill>
                <a:latin typeface="Arial"/>
                <a:ea typeface="Microsoft YaHei"/>
                <a:cs typeface="Arial"/>
              </a:rPr>
              <a:t>动态上下文装配与预算：让不同 Step 只看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64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企业级红线清单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84CC1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红线→后果→防护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课程第23讲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上下文治理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64</a:t>
            </a:r>
          </a:p>
        </p:txBody>
      </p:sp>
      <p:grpSp>
        <p:nvGrpSpPr>
          <p:cNvPr id="38" name="EasySlides Component: matrix"/>
          <p:cNvGrpSpPr/>
          <p:nvPr/>
        </p:nvGrpSpPr>
        <p:grpSpPr>
          <a:xfrm>
            <a:off x="495300" y="1285875"/>
            <a:ext cx="11201400" cy="4905375"/>
            <a:chOff x="495300" y="1285875"/>
            <a:chExt cx="11201400" cy="490537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11201400" cy="4905375"/>
            </a:xfrm>
            <a:prstGeom prst="roundRect">
              <a:avLst>
                <a:gd name="adj" fmla="val 777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1285875"/>
              <a:ext cx="11201400" cy="647700"/>
            </a:xfrm>
            <a:prstGeom prst="roundRect">
              <a:avLst>
                <a:gd name="adj" fmla="val 5882"/>
              </a:avLst>
            </a:prstGeom>
            <a:solidFill>
              <a:srgbClr val="4D7C0F"/>
            </a:solidFill>
            <a:ln>
              <a:noFill/>
            </a:ln>
          </p:spPr>
        </p:sp>
        <p:sp>
          <p:nvSpPr>
            <p:cNvPr id="17" name="Line 17"/>
            <p:cNvSpPr/>
            <p:nvPr/>
          </p:nvSpPr>
          <p:spPr>
            <a:xfrm>
              <a:off x="42291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962900" y="1285875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95300" y="19335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495300" y="309562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495300" y="4257675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95300" y="54292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B8C7D6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04850" y="1428750"/>
              <a:ext cx="10782300" cy="361950"/>
              <a:chOff x="704850" y="1428750"/>
              <a:chExt cx="10782300" cy="36195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7048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红线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4386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后果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72450" y="1428750"/>
                <a:ext cx="33147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5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防护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23900" y="2105025"/>
              <a:ext cx="10744200" cy="3086100"/>
              <a:chOff x="723900" y="2105025"/>
              <a:chExt cx="10744200" cy="3086100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7239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越权访问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577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数据泄漏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91500" y="21050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硬过滤+审计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239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未审批副作用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577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业务事故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91500" y="326707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审批+幂等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239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不可回放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77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无法追责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191500" y="4429125"/>
                <a:ext cx="32766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ctr" anchorCtr="0">
                <a:normAutofit/>
              </a:bodyPr>
              <a:lstStyle/>
              <a:p>
                <a:pPr algn="ctr"/>
                <a:r>
                  <a:rPr lang="zh-CN" sz="1425" dirty="0">
                    <a:solidFill>
                      <a:srgbClr val="26384A"/>
                    </a:solidFill>
                    <a:latin typeface="Arial"/>
                    <a:ea typeface="Microsoft YaHei"/>
                    <a:cs typeface="Arial"/>
                  </a:rPr>
                  <a:t>Trace+Checkpoint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28675" y="5581650"/>
              <a:ext cx="10534650" cy="4191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红线一票否决，不允许带病上线</a:t>
              </a:r>
            </a:p>
          </p:txBody>
        </p:sp>
      </p:grp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0" y="0"/>
            <a:ext cx="6477000" cy="6858000"/>
          </a:xfrm>
          <a:custGeom>
            <a:avLst/>
            <a:gdLst/>
            <a:ahLst/>
            <a:cxnLst/>
            <a:rect l="l" t="t" r="r" b="b"/>
            <a:pathLst>
              <a:path w="6477000" h="6858000">
                <a:moveTo>
                  <a:pt x="1905000" y="0"/>
                </a:moveTo>
                <a:lnTo>
                  <a:pt x="6477000" y="0"/>
                </a:lnTo>
                <a:lnTo>
                  <a:pt x="6477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4CC16">
              <a:alpha val="20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2286000"/>
            <a:ext cx="114300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76250" y="2095500"/>
            <a:ext cx="2952750" cy="314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750" b="1" dirty="0">
                <a:solidFill>
                  <a:srgbClr val="FFFFFF">
                    <a:alphaMod val="10000"/>
                  </a:srgbClr>
                </a:solidFill>
                <a:latin typeface="Arial"/>
                <a:ea typeface="Microsoft YaHei"/>
                <a:cs typeface="Arial"/>
              </a:rPr>
              <a:t>65</a:t>
            </a:r>
          </a:p>
        </p:txBody>
      </p:sp>
      <p:sp>
        <p:nvSpPr>
          <p:cNvPr id="6" name="Line 6"/>
          <p:cNvSpPr/>
          <p:nvPr/>
        </p:nvSpPr>
        <p:spPr>
          <a:xfrm>
            <a:off x="3619500" y="25050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57150">
            <a:solidFill>
              <a:srgbClr val="CC000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3619500" y="2667000"/>
            <a:ext cx="74295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复习与考核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19500" y="3648075"/>
            <a:ext cx="76200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800" dirty="0">
                <a:solidFill>
                  <a:srgbClr val="E8F4FC"/>
                </a:solidFill>
                <a:latin typeface="Arial"/>
                <a:ea typeface="Microsoft YaHei"/>
                <a:cs typeface="Arial"/>
              </a:rPr>
              <a:t>把本讲装进长期记忆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62750" y="628650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r"/>
            <a:r>
              <a:rPr lang="zh-CN" sz="1200" dirty="0">
                <a:solidFill>
                  <a:srgbClr val="FFFFFF">
                    <a:alphaMod val="55000"/>
                  </a:srgbClr>
                </a:solidFill>
                <a:latin typeface="Arial"/>
                <a:ea typeface="Microsoft YaHei"/>
                <a:cs typeface="Arial"/>
              </a:rPr>
              <a:t>动态上下文装配与预算：让不同 Step 只看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66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复习要点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84CC1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三个必答题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课程第23讲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上下文治理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66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2095500"/>
            <a:ext cx="11201400" cy="1285875"/>
            <a:chOff x="495300" y="209550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209550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209550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254317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232410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是什么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232410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232410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管线化的定义与边界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3571875"/>
            <a:ext cx="11201400" cy="1285875"/>
            <a:chOff x="495300" y="35718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35718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35718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40195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38004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为什么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38004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38004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上下文即决策环境：最小充分、可信可控，缺一即停。</a:t>
              </a:r>
            </a:p>
          </p:txBody>
        </p:sp>
      </p:grpSp>
      <p:grpSp>
        <p:nvGrpSpPr>
          <p:cNvPr id="35" name="EasySlides Component: evidence_03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9" name="Rectangle 29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84CC16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84CC16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4D7C0F"/>
                  </a:solidFill>
                  <a:latin typeface="Arial"/>
                  <a:ea typeface="Microsoft YaHei"/>
                  <a:cs typeface="Arial"/>
                </a:rPr>
                <a:t>怎么用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在 DataAgent 中跑通 assembler.py 对</a:t>
              </a:r>
            </a:p>
          </p:txBody>
        </p:sp>
      </p:grpSp>
      <p:grpSp>
        <p:nvGrpSpPr>
          <p:cNvPr id="39" name="EasySlides Component: synthesis"/>
          <p:cNvGrpSpPr/>
          <p:nvPr/>
        </p:nvGrpSpPr>
        <p:grpSpPr>
          <a:xfrm>
            <a:off x="495300" y="1285875"/>
            <a:ext cx="11201400" cy="714375"/>
            <a:chOff x="495300" y="1285875"/>
            <a:chExt cx="11201400" cy="714375"/>
          </a:xfrm>
        </p:grpSpPr>
        <p:sp>
          <p:nvSpPr>
            <p:cNvPr id="36" name="Rectangle 36"/>
            <p:cNvSpPr/>
            <p:nvPr/>
          </p:nvSpPr>
          <p:spPr>
            <a:xfrm>
              <a:off x="495300" y="1285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4D7C0F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95300" y="1285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76300" y="1419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能讲给同事听懂，才算真正掌握</a:t>
              </a:r>
            </a:p>
          </p:txBody>
        </p:sp>
      </p:grp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4D7C0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9525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0239375" y="1905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43000" y="2333625"/>
            <a:ext cx="9906000" cy="857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4200" b="1" dirty="0">
                <a:solidFill>
                  <a:srgbClr val="4D7C0F"/>
                </a:solidFill>
                <a:latin typeface="Arial"/>
                <a:ea typeface="Microsoft YaHei"/>
                <a:cs typeface="Arial"/>
              </a:rPr>
              <a:t>本章小结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809750" y="3238500"/>
            <a:ext cx="857250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0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动态上下文装配与预算：让不同 Step 只看到最</a:t>
            </a:r>
          </a:p>
        </p:txBody>
      </p:sp>
      <p:sp>
        <p:nvSpPr>
          <p:cNvPr id="8" name="Line 8"/>
          <p:cNvSpPr/>
          <p:nvPr/>
        </p:nvSpPr>
        <p:spPr>
          <a:xfrm>
            <a:off x="4381500" y="3857625"/>
            <a:ext cx="3429000" cy="9525"/>
          </a:xfrm>
          <a:custGeom>
            <a:avLst/>
            <a:gdLst/>
            <a:ahLst/>
            <a:cxnLst/>
            <a:rect l="l" t="t" r="r" b="b"/>
            <a:pathLst>
              <a:path w="3429000" h="9525">
                <a:moveTo>
                  <a:pt x="0" y="0"/>
                </a:moveTo>
                <a:lnTo>
                  <a:pt x="3429000" y="0"/>
                </a:lnTo>
              </a:path>
            </a:pathLst>
          </a:custGeom>
          <a:noFill/>
          <a:ln w="19050">
            <a:solidFill>
              <a:srgbClr val="84CC16"/>
            </a:solidFill>
          </a:ln>
        </p:spPr>
      </p:sp>
      <p:sp>
        <p:nvSpPr>
          <p:cNvPr id="9" name="Ellipse 9"/>
          <p:cNvSpPr/>
          <p:nvPr/>
        </p:nvSpPr>
        <p:spPr>
          <a:xfrm>
            <a:off x="6048375" y="3810000"/>
            <a:ext cx="95250" cy="95250"/>
          </a:xfrm>
          <a:prstGeom prst="ellipse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10" name="Rectangle 10"/>
          <p:cNvSpPr/>
          <p:nvPr/>
        </p:nvSpPr>
        <p:spPr>
          <a:xfrm>
            <a:off x="3429000" y="4238625"/>
            <a:ext cx="5334000" cy="1238250"/>
          </a:xfrm>
          <a:prstGeom prst="roundRect">
            <a:avLst>
              <a:gd name="adj" fmla="val 3077"/>
            </a:avLst>
          </a:prstGeom>
          <a:solidFill>
            <a:srgbClr val="F7FAEC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3619500" y="4476750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给 DataAgent 注入跨租户上下文，验证硬性过滤兜底且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000500" y="4838700"/>
            <a:ext cx="41910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20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第23讲 · 上下文治理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619500" y="5124450"/>
            <a:ext cx="49530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20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企业级Agent工程架构实战营</a:t>
            </a:r>
          </a:p>
        </p:txBody>
      </p:sp>
      <p:sp>
        <p:nvSpPr>
          <p:cNvPr id="14" name="Rectangle 14"/>
          <p:cNvSpPr/>
          <p:nvPr/>
        </p:nvSpPr>
        <p:spPr>
          <a:xfrm>
            <a:off x="0" y="6334125"/>
            <a:ext cx="12192000" cy="523875"/>
          </a:xfrm>
          <a:prstGeom prst="rect">
            <a:avLst/>
          </a:prstGeom>
          <a:solidFill>
            <a:srgbClr val="F7FAEC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3619500" y="6486525"/>
            <a:ext cx="495300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课程复现资料 · 可公开分享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763250" y="6486525"/>
            <a:ext cx="85725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67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