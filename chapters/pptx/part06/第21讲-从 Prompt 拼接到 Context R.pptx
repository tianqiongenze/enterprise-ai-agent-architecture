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Default Extension="png" ContentType="image/png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5ec00001b8225321.png"/>
</Relationships>
</file>

<file path=ppt/slides/_rels/slide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878d16261a41db8c.png"/>
</Relationships>
</file>

<file path=ppt/slides/_rels/slide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d3f2242664a501c4.png"/>
</Relationships>
</file>

<file path=ppt/slides/_rels/slide1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7d6ffdc5bd570d6a.png"/>
</Relationships>
</file>

<file path=ppt/slides/_rels/slide1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1842534de85fee82.png"/>
</Relationships>
</file>

<file path=ppt/slides/_rels/slide1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337a453c6b08d10a.png"/>
</Relationships>
</file>

<file path=ppt/slides/_rels/slide2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7d76b7d1837b02d4.png"/>
</Relationships>
</file>

<file path=ppt/slides/_rels/slide2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28f621709fda006a.png"/>
</Relationships>
</file>

<file path=ppt/slides/_rels/slide2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128f3c12b8dbabaa.png"/>
</Relationships>
</file>

<file path=ppt/slides/_rels/slide3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58be5248fdb97904.png"/>
</Relationships>
</file>

<file path=ppt/slides/_rels/slide3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fa68173da9881ce4.png"/>
</Relationships>
</file>

<file path=ppt/slides/_rels/slide3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ba3aba50c1d9c14d.png"/>
</Relationships>
</file>

<file path=ppt/slides/_rels/slide4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97ecadd0e52066b4.png"/>
</Relationships>
</file>

<file path=ppt/slides/_rels/slide4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3e69c701f0c07aca.png"/>
</Relationships>
</file>

<file path=ppt/slides/_rels/slide4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18efd8ce21433ae9.png"/>
</Relationships>
</file>

<file path=ppt/slides/_rels/slide5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b1cb66eb543c2014.png"/>
</Relationships>
</file>

<file path=ppt/slides/_rels/slide5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c9f1d6aa028ee469.png"/>
</Relationships>
</file>

<file path=ppt/slides/_rels/slide6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95250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9525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10239375" y="1905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143000" y="2571750"/>
            <a:ext cx="9906000" cy="952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4200" b="1" dirty="0">
                <a:solidFill>
                  <a:srgbClr val="4D7C0F"/>
                </a:solidFill>
                <a:latin typeface="Arial"/>
                <a:ea typeface="Microsoft YaHei"/>
                <a:cs typeface="Arial"/>
              </a:rPr>
              <a:t>从 Prompt 拼接到 Context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809750" y="3600450"/>
            <a:ext cx="8572500" cy="476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2025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上下文治理 · 深度教学讲义</a:t>
            </a:r>
          </a:p>
        </p:txBody>
      </p:sp>
      <p:sp>
        <p:nvSpPr>
          <p:cNvPr id="8" name="Line 8"/>
          <p:cNvSpPr/>
          <p:nvPr/>
        </p:nvSpPr>
        <p:spPr>
          <a:xfrm>
            <a:off x="4000500" y="4333875"/>
            <a:ext cx="4191000" cy="9525"/>
          </a:xfrm>
          <a:custGeom>
            <a:avLst/>
            <a:gdLst/>
            <a:ahLst/>
            <a:cxnLst/>
            <a:rect l="l" t="t" r="r" b="b"/>
            <a:pathLst>
              <a:path w="4191000" h="9525">
                <a:moveTo>
                  <a:pt x="0" y="0"/>
                </a:moveTo>
                <a:lnTo>
                  <a:pt x="4191000" y="0"/>
                </a:lnTo>
              </a:path>
            </a:pathLst>
          </a:custGeom>
          <a:noFill/>
          <a:ln w="19050">
            <a:solidFill>
              <a:srgbClr val="84CC16"/>
            </a:solidFill>
          </a:ln>
        </p:spPr>
      </p:sp>
      <p:sp>
        <p:nvSpPr>
          <p:cNvPr id="9" name="Ellipse 9"/>
          <p:cNvSpPr/>
          <p:nvPr/>
        </p:nvSpPr>
        <p:spPr>
          <a:xfrm>
            <a:off x="6048375" y="4286250"/>
            <a:ext cx="95250" cy="95250"/>
          </a:xfrm>
          <a:prstGeom prst="ellipse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714750" y="4714875"/>
            <a:ext cx="4762500" cy="4000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725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企业级Agent工程架构实战营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3714750" y="5105400"/>
            <a:ext cx="4762500" cy="3333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425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第21讲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2952750" y="5486400"/>
            <a:ext cx="62865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3" name="Rectangle 13"/>
          <p:cNvSpPr/>
          <p:nvPr/>
        </p:nvSpPr>
        <p:spPr>
          <a:xfrm>
            <a:off x="0" y="6334125"/>
            <a:ext cx="12192000" cy="523875"/>
          </a:xfrm>
          <a:prstGeom prst="rect">
            <a:avLst/>
          </a:prstGeom>
          <a:solidFill>
            <a:srgbClr val="F7FAEC"/>
          </a:solidFill>
          <a:ln>
            <a:noFill/>
          </a:ln>
        </p:spPr>
      </p:sp>
      <p:sp>
        <p:nvSpPr>
          <p:cNvPr id="14" name="TextBox 14"/>
          <p:cNvSpPr txBox="1"/>
          <p:nvPr/>
        </p:nvSpPr>
        <p:spPr>
          <a:xfrm>
            <a:off x="4381500" y="6486525"/>
            <a:ext cx="342900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2026-09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54330" y="211455"/>
            <a:ext cx="703555" cy="4267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目录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0239375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grpSp>
        <p:nvGrpSpPr>
          <p:cNvPr id="31" name="Group 31"/>
          <p:cNvGrpSpPr/>
          <p:nvPr/>
        </p:nvGrpSpPr>
        <p:grpSpPr>
          <a:xfrm>
            <a:off x="762000" y="1095375"/>
            <a:ext cx="10668000" cy="2952750"/>
            <a:chOff x="762000" y="1095375"/>
            <a:chExt cx="10668000" cy="2952750"/>
          </a:xfrm>
        </p:grpSpPr>
        <p:sp>
          <p:nvSpPr>
            <p:cNvPr id="7" name="Rectangle 7"/>
            <p:cNvSpPr/>
            <p:nvPr/>
          </p:nvSpPr>
          <p:spPr>
            <a:xfrm>
              <a:off x="762000" y="1095375"/>
              <a:ext cx="5143500" cy="857250"/>
            </a:xfrm>
            <a:prstGeom prst="roundRect">
              <a:avLst>
                <a:gd name="adj" fmla="val 4444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8" name="Rectangle 8"/>
            <p:cNvSpPr/>
            <p:nvPr/>
          </p:nvSpPr>
          <p:spPr>
            <a:xfrm>
              <a:off x="762000" y="1095375"/>
              <a:ext cx="57150" cy="857250"/>
            </a:xfrm>
            <a:prstGeom prst="rect">
              <a:avLst/>
            </a:prstGeom>
            <a:solidFill>
              <a:srgbClr val="4D7C0F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1093470" y="1264920"/>
              <a:ext cx="469666" cy="487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40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771650" y="1190625"/>
              <a:ext cx="38100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72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概念详解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143000" y="1600200"/>
              <a:ext cx="4286250" cy="2667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0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核心概念定义与边界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6286500" y="1095375"/>
              <a:ext cx="5143500" cy="857250"/>
            </a:xfrm>
            <a:prstGeom prst="roundRect">
              <a:avLst>
                <a:gd name="adj" fmla="val 4444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3" name="Rectangle 13"/>
            <p:cNvSpPr/>
            <p:nvPr/>
          </p:nvSpPr>
          <p:spPr>
            <a:xfrm>
              <a:off x="6286500" y="1095375"/>
              <a:ext cx="57150" cy="857250"/>
            </a:xfrm>
            <a:prstGeom prst="rect">
              <a:avLst/>
            </a:prstGeom>
            <a:solidFill>
              <a:srgbClr val="4D7C0F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6617970" y="1264920"/>
              <a:ext cx="469666" cy="487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40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7296150" y="1190625"/>
              <a:ext cx="38100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72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机制与图解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6667500" y="1600200"/>
              <a:ext cx="4286250" cy="2667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0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运行机制与图解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762000" y="2238375"/>
              <a:ext cx="5143500" cy="857250"/>
            </a:xfrm>
            <a:prstGeom prst="roundRect">
              <a:avLst>
                <a:gd name="adj" fmla="val 4444"/>
              </a:avLst>
            </a:prstGeom>
            <a:solidFill>
              <a:srgbClr val="F7FAEC"/>
            </a:solidFill>
            <a:ln>
              <a:noFill/>
            </a:ln>
          </p:spPr>
        </p:sp>
        <p:sp>
          <p:nvSpPr>
            <p:cNvPr id="18" name="Rectangle 18"/>
            <p:cNvSpPr/>
            <p:nvPr/>
          </p:nvSpPr>
          <p:spPr>
            <a:xfrm>
              <a:off x="762000" y="2238375"/>
              <a:ext cx="57150" cy="857250"/>
            </a:xfrm>
            <a:prstGeom prst="rect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1093470" y="2407920"/>
              <a:ext cx="469666" cy="487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40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1771650" y="2333625"/>
              <a:ext cx="38100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72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代码实现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1143000" y="2743200"/>
              <a:ext cx="4286250" cy="2667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0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仓库真实代码三切面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6286500" y="2238375"/>
              <a:ext cx="5143500" cy="857250"/>
            </a:xfrm>
            <a:prstGeom prst="roundRect">
              <a:avLst>
                <a:gd name="adj" fmla="val 4444"/>
              </a:avLst>
            </a:prstGeom>
            <a:solidFill>
              <a:srgbClr val="F7FAEC"/>
            </a:solidFill>
            <a:ln>
              <a:noFill/>
            </a:ln>
          </p:spPr>
        </p:sp>
        <p:sp>
          <p:nvSpPr>
            <p:cNvPr id="23" name="Rectangle 23"/>
            <p:cNvSpPr/>
            <p:nvPr/>
          </p:nvSpPr>
          <p:spPr>
            <a:xfrm>
              <a:off x="6286500" y="2238375"/>
              <a:ext cx="57150" cy="857250"/>
            </a:xfrm>
            <a:prstGeom prst="rect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6617970" y="2407920"/>
              <a:ext cx="469666" cy="487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40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04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296150" y="2333625"/>
              <a:ext cx="38100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72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应用实践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6667500" y="2743200"/>
              <a:ext cx="4286250" cy="2667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0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落地步骤与场景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762000" y="3381375"/>
              <a:ext cx="5143500" cy="666750"/>
            </a:xfrm>
            <a:prstGeom prst="roundRect">
              <a:avLst>
                <a:gd name="adj" fmla="val 5714"/>
              </a:avLst>
            </a:prstGeom>
            <a:noFill/>
            <a:ln w="9525">
              <a:solidFill>
                <a:srgbClr val="E0EDC8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952500" y="3524250"/>
              <a:ext cx="4762500" cy="3619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275" dirty="0">
                  <a:solidFill>
                    <a:srgbClr val="6B7C8F"/>
                  </a:solidFill>
                  <a:latin typeface="Arial"/>
                  <a:ea typeface="Microsoft YaHei"/>
                  <a:cs typeface="Arial"/>
                </a:rPr>
                <a:t>陷阱与排查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6286500" y="3381375"/>
              <a:ext cx="5143500" cy="666750"/>
            </a:xfrm>
            <a:prstGeom prst="roundRect">
              <a:avLst>
                <a:gd name="adj" fmla="val 5714"/>
              </a:avLst>
            </a:prstGeom>
            <a:noFill/>
            <a:ln w="9525">
              <a:solidFill>
                <a:srgbClr val="E0EDC8"/>
              </a:solidFill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6477000" y="3524250"/>
              <a:ext cx="4762500" cy="3619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275" dirty="0">
                  <a:solidFill>
                    <a:srgbClr val="6B7C8F"/>
                  </a:solidFill>
                  <a:latin typeface="Arial"/>
                  <a:ea typeface="Microsoft YaHei"/>
                  <a:cs typeface="Arial"/>
                </a:rPr>
                <a:t>优化拓展</a:t>
              </a:r>
            </a:p>
          </p:txBody>
        </p:sp>
      </p:grpSp>
      <p:sp>
        <p:nvSpPr>
          <p:cNvPr id="32" name="Line 32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33" name="TextBox 33"/>
          <p:cNvSpPr txBox="1"/>
          <p:nvPr/>
        </p:nvSpPr>
        <p:spPr>
          <a:xfrm>
            <a:off x="10763250" y="6486525"/>
            <a:ext cx="85725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84CC16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21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学习目标 / Lernziele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1) 能解释来源的机制；2) 能对比权限的取舍；3) 能跑通 assembler.py 对应测试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从 Prompt 拼接到 Context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84CC16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04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概念详解：来源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「来源」指每条内容的来源。在企业级语境下，它同时约束接口契约、生命周期与治理边界，而不只是一个名词。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从 Prompt 拼接到 Context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05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定义与内涵：来源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把来源讲透：是什么、不是什么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05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定义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「来源」指每条内容的来源。在企业级语境下，它同时约束接口契约、生命周期与治理边界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说明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说明维度：每条内容的来源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要点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要点维度：每条内容的来源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4D7C0F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上下文即决策环境：最小充分、可信可控，缺一即停。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06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机制图解：来源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一图看懂运行机制与数据流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06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7FAEC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「来源」的运行机制分三步：输入契约校验 → 核心转换执行 → 结果验证与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关键环节：契约→执行→验证→留痕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落点：仓库验证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7FAEC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图：来源 的机制与数据流（flow_v 视角）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07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深入原理：来源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正确姿势 vs 常见误用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07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正确姿势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正确姿势：先定义「来源」的契约与不变量，再谈实现；所有旁路都必须被审计。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契约先行，证据留痕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常见误用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常见误用：把「来源」当成一次性胶水代码，没有版本、没有度量、没有回滚路径。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无版本/无度量/无回滚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4D7C0F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治理视角：权限先于相关性，硬过滤不可被排序绕过。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08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代码契约：来源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契约切面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08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7FAEC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文件：assembler.py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切面：契约——先读接口再读实现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7FAEC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代码：assembler.py · 契约（概念1 来源）</a:t>
              </a:r>
            </a:p>
          </p:txBody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09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代码实现：来源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实现切面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09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7FAEC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文件：assembler.py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切面：实现——先读接口再读实现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7FAEC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代码：assembler.py · 实现（概念1 来源）</a:t>
              </a:r>
            </a:p>
          </p:txBody>
        </p:sp>
      </p:grp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10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应用实践：来源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三步落地：闭环→灰度→放开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10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最小闭环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把「来源」落到业务：先小流量灰度验证效果与成本，再逐步放开租户范围。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灰度验证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小流量对照基线，观察效果/成本/时延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逐步放开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按租户/场景分批，异常即回滚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4D7C0F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案例视角：指标口径注入与跨租户泄漏的防御实测。</a:t>
              </a:r>
            </a:p>
          </p:txBody>
        </p:sp>
      </p:grp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陷阱与排查：来源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症状→根因→处置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11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4D7C0F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症状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根因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处置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「来源」典型故障：静默失败—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缺少验证/预算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验真+预算上限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结果不可解释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 Trace 留痕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接入统一 Trace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效果悄悄退化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无回归基线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评测+回归门禁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先止血，再根因，最后沉淀为回归用例</a:t>
              </a:r>
            </a:p>
          </p:txBody>
        </p:sp>
      </p:grp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工程决策：来源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候选方案 × 取舍（ADR）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12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4D7C0F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方案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代价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结论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直连实现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快但耦合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Demo 可用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平台化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前期成本高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生产首选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保持简单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能力上限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按场景取舍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「来源」的选型以证据与约束为准</a:t>
              </a:r>
            </a:p>
          </p:txBody>
        </p:sp>
      </p:grp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13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优化拓展：来源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三个可持续优化抓手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13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「来源」优化一：把人工经验固化为资产（规则/Skill/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「来源」优化二：建立基线对照（关闭/盲选/受控三组）证明增量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7FAEC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经验固化为规则/Skill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7FAEC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对照实验证明增量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7FAEC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观测化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Trace/Baseline 先行</a:t>
              </a:r>
            </a:p>
          </p:txBody>
        </p:sp>
      </p:grp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84CC16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14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概念详解：权限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对「权限」的正确定位是：角色/租户掩码；它是可观测、可治理、可演进的稳定工程对象。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从 Prompt 拼接到 Context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定义与内涵：权限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把权限讲透：是什么、不是什么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15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定义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对「权限」的正确定位是：角色/租户掩码；它是可观测、可治理、可演进的稳定工程对象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说明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说明维度：角色/租户掩码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要点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要点维度：角色/租户掩码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4D7C0F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上下文即决策环境：最小充分、可信可控，缺一即停。</a:t>
              </a:r>
            </a:p>
          </p:txBody>
        </p:sp>
      </p:grp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机制图解：权限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一图看懂运行机制与数据流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16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7FAEC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从数据流看「权限」：上游产出受控载荷，经 assembler.py 中的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关键环节：契约→执行→验证→留痕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落点：仓库验证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7FAEC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图：权限 的机制与数据流（cycle 视角）</a:t>
              </a:r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17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深入原理：权限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正确姿势 vs 常见误用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17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正确姿势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正确姿势：把「权限」的决策依据落成证据（Trace/Eval），而不是凭经验拍板。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契约先行，证据留痕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常见误用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常见误用：用相关性绕过「权限」的硬性过滤，短期省事，长期必然越权或漂移。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无版本/无度量/无回滚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4D7C0F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治理视角：权限先于相关性，硬过滤不可被排序绕过。</a:t>
              </a:r>
            </a:p>
          </p:txBody>
        </p:sp>
      </p:grp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18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代码契约：权限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契约切面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18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7FAEC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文件：assembler.py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切面：契约——先读接口再读实现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7FAEC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代码：assembler.py · 契约（概念2 权限）</a:t>
              </a:r>
            </a:p>
          </p:txBody>
        </p:sp>
      </p:grp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19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代码实现：权限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实现切面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19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7FAEC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文件：assembler.py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切面：实现——先读接口再读实现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7FAEC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代码：assembler.py · 实现（概念2 权限）</a:t>
              </a:r>
            </a:p>
          </p:txBody>
        </p:sp>
      </p:grp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20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应用实践：权限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三步落地：闭环→灰度→放开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20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最小闭环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「权限」的应用入口在本课程 DataAgent：跑通对应 pytest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灰度验证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小流量对照基线，观察效果/成本/时延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逐步放开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按租户/场景分批，异常即回滚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4D7C0F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案例视角：指标口径注入与跨租户泄漏的防御实测。</a:t>
              </a:r>
            </a:p>
          </p:txBody>
        </p:sp>
      </p:grp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陷阱与排查：权限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症状→根因→处置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21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4D7C0F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症状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根因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处置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「权限」典型故障：成本失控—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缺少验证/预算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验真+预算上限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结果不可解释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 Trace 留痕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接入统一 Trace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效果悄悄退化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无回归基线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评测+回归门禁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先止血，再根因，最后沉淀为回归用例</a:t>
              </a:r>
            </a:p>
          </p:txBody>
        </p:sp>
      </p:grp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工程决策：权限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候选方案 × 取舍（ADR）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22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4D7C0F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方案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代价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结论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直连实现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快但耦合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Demo 可用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平台化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前期成本高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生产首选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保持简单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能力上限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按场景取舍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「权限」的选型以证据与约束为准</a:t>
              </a:r>
            </a:p>
          </p:txBody>
        </p:sp>
      </p:grp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23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优化拓展：权限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三个可持续优化抓手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23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「权限」优化一：把人工经验固化为资产（规则/Skill/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「权限」优化二：建立基线对照（关闭/盲选/受控三组）证明增量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7FAEC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经验固化为规则/Skill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7FAEC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对照实验证明增量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7FAEC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观测化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Trace/Baseline 先行</a:t>
              </a:r>
            </a:p>
          </p:txBody>
        </p:sp>
      </p:grp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84CC16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24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概念详解：可信度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「可信度」的本质是trust 等级。理解它的关键是分清模型能做的与系统必须兜底的。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从 Prompt 拼接到 Context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定义与内涵：可信度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把可信度讲透：是什么、不是什么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25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定义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「可信度」的本质是trust 等级。理解它的关键是分清模型能做的与系统必须兜底的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说明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说明维度：trust 等级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要点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要点维度：trust 等级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4D7C0F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上下文即决策环境：最小充分、可信可控，缺一即停。</a:t>
              </a:r>
            </a:p>
          </p:txBody>
        </p:sp>
      </p:grp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机制图解：可信度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一图看懂运行机制与数据流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26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7FAEC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「可信度」的机制核心是解耦：策略与执行分离、状态与过程分离、权限与相关性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关键环节：契约→执行→验证→留痕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落点：仓库验证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7FAEC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图：可信度 的机制与数据流（layers 视角）</a:t>
              </a:r>
            </a:p>
          </p:txBody>
        </p:sp>
      </p:grp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27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深入原理：可信度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正确姿势 vs 常见误用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27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正确姿势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正确姿势：为「可信度」设置显式预算与停止条件，宁可慢一点，不可失控。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契约先行，证据留痕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常见误用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常见误用：只在 Demo 里验证「可信度」的正常路径，故障注入一跑就现出原形。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无版本/无度量/无回滚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4D7C0F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治理视角：权限先于相关性，硬过滤不可被排序绕过。</a:t>
              </a:r>
            </a:p>
          </p:txBody>
        </p:sp>
      </p:grp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28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代码契约：可信度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契约切面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28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7FAEC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文件：assembler.py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切面：契约——先读接口再读实现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7FAEC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代码：assembler.py · 契约（概念3 可信度）</a:t>
              </a:r>
            </a:p>
          </p:txBody>
        </p:sp>
      </p:grp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29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代码实现：可信度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实现切面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29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7FAEC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文件：assembler.py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切面：实现——先读接口再读实现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7FAEC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代码：assembler.py · 实现（概念3 可信度）</a:t>
              </a:r>
            </a:p>
          </p:txBody>
        </p:sp>
      </p:grp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30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应用实践：可信度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三步落地：闭环→灰度→放开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30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最小闭环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上线「可信度」前自检三问：失败会怎样？谁能审计？回滚要多久？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灰度验证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小流量对照基线，观察效果/成本/时延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逐步放开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按租户/场景分批，异常即回滚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4D7C0F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案例视角：指标口径注入与跨租户泄漏的防御实测。</a:t>
              </a:r>
            </a:p>
          </p:txBody>
        </p:sp>
      </p:grp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陷阱与排查：可信度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症状→根因→处置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31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4D7C0F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症状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根因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处置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「可信度」典型故障：上下文漂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缺少验证/预算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验真+预算上限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结果不可解释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 Trace 留痕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接入统一 Trace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效果悄悄退化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无回归基线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评测+回归门禁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先止血，再根因，最后沉淀为回归用例</a:t>
              </a:r>
            </a:p>
          </p:txBody>
        </p:sp>
      </p:grp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工程决策：可信度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候选方案 × 取舍（ADR）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32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4D7C0F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方案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代价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结论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直连实现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快但耦合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Demo 可用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平台化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前期成本高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生产首选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保持简单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能力上限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按场景取舍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「可信度」的选型以证据与约束为准</a:t>
              </a:r>
            </a:p>
          </p:txBody>
        </p:sp>
      </p:grp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33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优化拓展：可信度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三个可持续优化抓手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33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「可信度」优化一：把人工经验固化为资产（规则/Skill/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「可信度」优化二：建立基线对照（关闭/盲选/受控三组）证明增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7FAEC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经验固化为规则/Skill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7FAEC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对照实验证明增量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7FAEC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观测化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Trace/Baseline 先行</a:t>
              </a:r>
            </a:p>
          </p:txBody>
        </p:sp>
      </p:grp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84CC16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34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概念详解：生命周期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把「生命周期」当工程对象看：ttl/有效性。它有明确的输入契约、失败语义与度量口径。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从 Prompt 拼接到 Context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定义与内涵：生命周期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把生命周期讲透：是什么、不是什么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35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定义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把「生命周期」当工程对象看：ttl/有效性。它有明确的输入契约、失败语义与度量口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说明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说明维度：ttl/有效性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要点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要点维度：ttl/有效性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4D7C0F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上下文即决策环境：最小充分、可信可控，缺一即停。</a:t>
              </a:r>
            </a:p>
          </p:txBody>
        </p:sp>
      </p:grp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机制图解：生命周期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一图看懂运行机制与数据流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36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7FAEC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「生命周期」之所以可靠，是因为它把不确定性关进笼子：预算、超时、重试、审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关键环节：契约→执行→验证→留痕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落点：仓库验证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7FAEC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图：生命周期 的机制与数据流（hub 视角）</a:t>
              </a:r>
            </a:p>
          </p:txBody>
        </p:sp>
      </p:grp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37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深入原理：生命周期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正确姿势 vs 常见误用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37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正确姿势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正确姿势：先定义「生命周期」的契约与不变量，再谈实现；所有旁路都必须被审计。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契约先行，证据留痕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常见误用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常见误用：把「生命周期」当成一次性胶水代码，没有版本、没有度量、没有回滚路径。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无版本/无度量/无回滚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4D7C0F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治理视角：权限先于相关性，硬过滤不可被排序绕过。</a:t>
              </a:r>
            </a:p>
          </p:txBody>
        </p:sp>
      </p:grp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38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代码契约：生命周期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契约切面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38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7FAEC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文件：assembler.py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切面：契约——先读接口再读实现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7FAEC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代码：assembler.py · 契约（概念4 生命周期）</a:t>
              </a:r>
            </a:p>
          </p:txBody>
        </p:sp>
      </p:grp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39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代码实现：生命周期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实现切面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39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7FAEC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文件：assembler.py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切面：实现——先读接口再读实现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7FAEC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代码：assembler.py · 实现（概念4 生命周期）</a:t>
              </a:r>
            </a:p>
          </p:txBody>
        </p:sp>
      </p:grp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40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应用实践：生命周期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三步落地：闭环→灰度→放开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40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最小闭环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把「生命周期」落到业务：先小流量灰度验证效果与成本，再逐步放开租户范围。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灰度验证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小流量对照基线，观察效果/成本/时延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逐步放开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按租户/场景分批，异常即回滚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4D7C0F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案例视角：指标口径注入与跨租户泄漏的防御实测。</a:t>
              </a:r>
            </a:p>
          </p:txBody>
        </p:sp>
      </p:grp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陷阱与排查：生命周期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症状→根因→处置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41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4D7C0F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症状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根因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处置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「生命周期」典型故障：静默失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缺少验证/预算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验真+预算上限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结果不可解释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 Trace 留痕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接入统一 Trace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效果悄悄退化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无回归基线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评测+回归门禁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先止血，再根因，最后沉淀为回归用例</a:t>
              </a:r>
            </a:p>
          </p:txBody>
        </p:sp>
      </p:grp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工程决策：生命周期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候选方案 × 取舍（ADR）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42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4D7C0F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方案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代价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结论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直连实现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快但耦合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Demo 可用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平台化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前期成本高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生产首选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保持简单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能力上限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按场景取舍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「生命周期」的选型以证据与约束为准</a:t>
              </a:r>
            </a:p>
          </p:txBody>
        </p:sp>
      </p:grp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43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优化拓展：生命周期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三个可持续优化抓手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43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「生命周期」优化一：把人工经验固化为资产（规则/Skill/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「生命周期」优化二：建立基线对照（关闭/盲选/受控三组）证明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7FAEC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经验固化为规则/Skill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7FAEC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对照实验证明增量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7FAEC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观测化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Trace/Baseline 先行</a:t>
              </a:r>
            </a:p>
          </p:txBody>
        </p:sp>
      </p:grp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84CC16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44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概念详解：版本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「版本」指内容版本。在企业级语境下，它同时约束接口契约、生命周期与治理边界，而不只是一个名词。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从 Prompt 拼接到 Context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定义与内涵：版本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把版本讲透：是什么、不是什么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45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定义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「版本」指内容版本。在企业级语境下，它同时约束接口契约、生命周期与治理边界，而不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说明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说明维度：内容版本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要点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要点维度：内容版本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4D7C0F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上下文即决策环境：最小充分、可信可控，缺一即停。</a:t>
              </a:r>
            </a:p>
          </p:txBody>
        </p:sp>
      </p:grp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机制图解：版本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一图看懂运行机制与数据流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46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7FAEC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「版本」的运行机制分三步：输入契约校验 → 核心转换执行 → 结果验证与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关键环节：契约→执行→验证→留痕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落点：仓库验证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7FAEC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图：版本 的机制与数据流（flow_v 视角）</a:t>
              </a:r>
            </a:p>
          </p:txBody>
        </p:sp>
      </p:grp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47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深入原理：版本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正确姿势 vs 常见误用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47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正确姿势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正确姿势：把「版本」的决策依据落成证据（Trace/Eval），而不是凭经验拍板。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契约先行，证据留痕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常见误用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常见误用：用相关性绕过「版本」的硬性过滤，短期省事，长期必然越权或漂移。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无版本/无度量/无回滚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4D7C0F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治理视角：权限先于相关性，硬过滤不可被排序绕过。</a:t>
              </a:r>
            </a:p>
          </p:txBody>
        </p:sp>
      </p:grp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48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代码契约：版本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契约切面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48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7FAEC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文件：assembler.py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切面：契约——先读接口再读实现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7FAEC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代码：assembler.py · 契约（概念5 版本）</a:t>
              </a:r>
            </a:p>
          </p:txBody>
        </p:sp>
      </p:grp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49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代码实现：版本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实现切面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49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7FAEC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文件：assembler.py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切面：实现——先读接口再读实现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7FAEC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代码：assembler.py · 实现（概念5 版本）</a:t>
              </a:r>
            </a:p>
          </p:txBody>
        </p:sp>
      </p:grp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50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应用实践：版本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三步落地：闭环→灰度→放开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50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最小闭环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「版本」的应用入口在本课程 DataAgent：跑通对应 pytest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灰度验证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小流量对照基线，观察效果/成本/时延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逐步放开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按租户/场景分批，异常即回滚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4D7C0F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案例视角：指标口径注入与跨租户泄漏的防御实测。</a:t>
              </a:r>
            </a:p>
          </p:txBody>
        </p:sp>
      </p:grp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陷阱与排查：版本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症状→根因→处置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51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4D7C0F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症状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根因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处置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「版本」典型故障：成本失控—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缺少验证/预算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验真+预算上限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结果不可解释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 Trace 留痕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接入统一 Trace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效果悄悄退化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无回归基线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评测+回归门禁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先止血，再根因，最后沉淀为回归用例</a:t>
              </a:r>
            </a:p>
          </p:txBody>
        </p:sp>
      </p:grp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工程决策：版本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候选方案 × 取舍（ADR）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52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4D7C0F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方案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代价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结论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直连实现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快但耦合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Demo 可用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平台化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前期成本高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生产首选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保持简单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能力上限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按场景取舍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「版本」的选型以证据与约束为准</a:t>
              </a:r>
            </a:p>
          </p:txBody>
        </p:sp>
      </p:grp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53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优化拓展：版本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三个可持续优化抓手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53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「版本」优化一：把人工经验固化为资产（规则/Skill/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「版本」优化二：建立基线对照（关闭/盲选/受控三组）证明增量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7FAEC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经验固化为规则/Skill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7FAEC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对照实验证明增量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7FAEC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观测化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Trace/Baseline 先行</a:t>
              </a:r>
            </a:p>
          </p:txBody>
        </p:sp>
      </p:grp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54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本章知识图谱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概念之间的结构关系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54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7FAEC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核心：来源、权限、可信度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关系：输入→机制→治理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全部概念见讲义表格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7FAEC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图：本章概念关系（中心辐射视角）</a:t>
              </a:r>
            </a:p>
          </p:txBody>
        </p:sp>
      </p:grp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84CC16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55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应用与实战指南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从理解到落地：场景、步骤与检查清单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从 Prompt 拼接到 Context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实战路线图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三步从 Demo 到生产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56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场景选择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选高频、可验证、低风险场景切入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契约先行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定义输入/输出/错误语义与验收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评测护航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建数据集与评分卡再动 Prompt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4D7C0F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案例视角：指标口径注入与跨租户泄漏的防御实测。</a:t>
              </a:r>
            </a:p>
          </p:txBody>
        </p:sp>
      </p:grp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57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典型应用场景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场景→做法→收益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57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4D7C0F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场景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做法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收益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经营诊断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自主分析闭环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结论可解释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数据查询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只读网关+权限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安全合规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行动执行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审批+幂等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风险可控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场景选择决定治理强度，按风险分级</a:t>
              </a:r>
            </a:p>
          </p:txBody>
        </p:sp>
      </p:grp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58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落地检查清单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上线前逐项打勾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58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功能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核心链路全绿；故障注入通过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质量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三层评测达标；回归门禁通过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安全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权限/审计/幂等/回滚就绪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4D7C0F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GO/NO-GO 由硬门槛决定，不由均分决定</a:t>
              </a:r>
            </a:p>
          </p:txBody>
        </p:sp>
      </p:grp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84CC16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59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优化与拓展指南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让系统随模型共同进化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从 Prompt 拼接到 Context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60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优化方向对照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短期补丁 vs 长期资产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60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短期补丁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改 Prompt 救火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局部 if-else 兜底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人工盯梢排查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经验留在个人脑中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长期资产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规则/Skill/Eval 沉淀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统一 Runtime 治理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Trace+Baseline 驱动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资产随组织复用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4D7C0F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延伸阅读：Context Decision Trace 与上下文故障分类。</a:t>
              </a:r>
            </a:p>
          </p:txBody>
        </p:sp>
      </p:grp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61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拓展学习地图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三层次进阶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61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体系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把本讲机制放进企业级全景图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贯通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与前后讲次的接口互相印证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7FAEC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向上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架构与治理体系化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7FAEC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向深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Runtime 与可靠性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7FAEC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向外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多 Agent 与平台化</a:t>
              </a:r>
            </a:p>
          </p:txBody>
        </p:sp>
      </p:grp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62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演进路线图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本讲在能力阶梯上的位置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62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7FAEC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当前：本讲机制已可运行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下一站：与相邻模块协同治理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长期：固化为组织级资产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7FAEC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图：从本讲机制到组织资产的演进路径</a:t>
              </a:r>
            </a:p>
          </p:txBody>
        </p:sp>
      </p:grp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84CC16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63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治理与常见陷阱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企业级红线与审计要点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从 Prompt 拼接到 Context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64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企业级红线清单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红线→后果→防护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64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4D7C0F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红线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后果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防护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越权访问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数据泄漏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硬过滤+审计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未审批副作用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业务事故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审批+幂等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不可回放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无法追责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Trace+Checkpoint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红线一票否决，不允许带病上线</a:t>
              </a:r>
            </a:p>
          </p:txBody>
        </p:sp>
      </p:grp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84CC16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65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复习与考核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把本讲装进长期记忆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从 Prompt 拼接到 Context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66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复习要点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三个必答题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66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是什么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来源的定义与边界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为什么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上下文即决策环境：最小充分、可信可控，缺一即停。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怎么用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在 DataAgent 中跑通 assembler.py 对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4D7C0F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能讲给同事听懂，才算真正掌握</a:t>
              </a:r>
            </a:p>
          </p:txBody>
        </p:sp>
      </p:grp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95250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9525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10239375" y="1905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143000" y="2333625"/>
            <a:ext cx="9906000" cy="857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4200" b="1" dirty="0">
                <a:solidFill>
                  <a:srgbClr val="4D7C0F"/>
                </a:solidFill>
                <a:latin typeface="Arial"/>
                <a:ea typeface="Microsoft YaHei"/>
                <a:cs typeface="Arial"/>
              </a:rPr>
              <a:t>本章小结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809750" y="3238500"/>
            <a:ext cx="8572500" cy="4000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0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从 Prompt 拼接到 Context</a:t>
            </a:r>
          </a:p>
        </p:txBody>
      </p:sp>
      <p:sp>
        <p:nvSpPr>
          <p:cNvPr id="8" name="Line 8"/>
          <p:cNvSpPr/>
          <p:nvPr/>
        </p:nvSpPr>
        <p:spPr>
          <a:xfrm>
            <a:off x="4381500" y="3857625"/>
            <a:ext cx="3429000" cy="9525"/>
          </a:xfrm>
          <a:custGeom>
            <a:avLst/>
            <a:gdLst/>
            <a:ahLst/>
            <a:cxnLst/>
            <a:rect l="l" t="t" r="r" b="b"/>
            <a:pathLst>
              <a:path w="3429000" h="9525">
                <a:moveTo>
                  <a:pt x="0" y="0"/>
                </a:moveTo>
                <a:lnTo>
                  <a:pt x="3429000" y="0"/>
                </a:lnTo>
              </a:path>
            </a:pathLst>
          </a:custGeom>
          <a:noFill/>
          <a:ln w="19050">
            <a:solidFill>
              <a:srgbClr val="84CC16"/>
            </a:solidFill>
          </a:ln>
        </p:spPr>
      </p:sp>
      <p:sp>
        <p:nvSpPr>
          <p:cNvPr id="9" name="Ellipse 9"/>
          <p:cNvSpPr/>
          <p:nvPr/>
        </p:nvSpPr>
        <p:spPr>
          <a:xfrm>
            <a:off x="6048375" y="3810000"/>
            <a:ext cx="95250" cy="95250"/>
          </a:xfrm>
          <a:prstGeom prst="ellipse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10" name="Rectangle 10"/>
          <p:cNvSpPr/>
          <p:nvPr/>
        </p:nvSpPr>
        <p:spPr>
          <a:xfrm>
            <a:off x="3429000" y="4238625"/>
            <a:ext cx="5334000" cy="1238250"/>
          </a:xfrm>
          <a:prstGeom prst="roundRect">
            <a:avLst>
              <a:gd name="adj" fmla="val 3077"/>
            </a:avLst>
          </a:prstGeom>
          <a:solidFill>
            <a:srgbClr val="F7FAEC"/>
          </a:solidFill>
          <a:ln>
            <a:noFill/>
          </a:ln>
        </p:spPr>
      </p:sp>
      <p:sp>
        <p:nvSpPr>
          <p:cNvPr id="11" name="TextBox 11"/>
          <p:cNvSpPr txBox="1"/>
          <p:nvPr/>
        </p:nvSpPr>
        <p:spPr>
          <a:xfrm>
            <a:off x="3619500" y="4476750"/>
            <a:ext cx="49530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为每个决策步骤定义 must-see / may-see /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4000500" y="4838700"/>
            <a:ext cx="419100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20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第21讲 · 上下文治理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3619500" y="5124450"/>
            <a:ext cx="495300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20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企业级Agent工程架构实战营</a:t>
            </a:r>
          </a:p>
        </p:txBody>
      </p:sp>
      <p:sp>
        <p:nvSpPr>
          <p:cNvPr id="14" name="Rectangle 14"/>
          <p:cNvSpPr/>
          <p:nvPr/>
        </p:nvSpPr>
        <p:spPr>
          <a:xfrm>
            <a:off x="0" y="6334125"/>
            <a:ext cx="12192000" cy="523875"/>
          </a:xfrm>
          <a:prstGeom prst="rect">
            <a:avLst/>
          </a:prstGeom>
          <a:solidFill>
            <a:srgbClr val="F7FAEC"/>
          </a:solidFill>
          <a:ln>
            <a:noFill/>
          </a:ln>
        </p:spPr>
      </p:sp>
      <p:sp>
        <p:nvSpPr>
          <p:cNvPr id="15" name="TextBox 15"/>
          <p:cNvSpPr txBox="1"/>
          <p:nvPr/>
        </p:nvSpPr>
        <p:spPr>
          <a:xfrm>
            <a:off x="3619500" y="6486525"/>
            <a:ext cx="495300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课程复现资料 · 可公开分享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0763250" y="6486525"/>
            <a:ext cx="85725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67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