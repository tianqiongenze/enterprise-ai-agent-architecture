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76eb8f3d0aa5766.png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a005be101f8ffce6.png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cb6a3c5f6f55c603.png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0d5c0b52dea2bd91.png"/>
</Relationships>
</file>

<file path=ppt/slides/_rels/slide1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f5bd31f1879d276c.png"/>
</Relationships>
</file>

<file path=ppt/slides/_rels/slide2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7c8a6d49c484ada4.png"/>
</Relationships>
</file>

<file path=ppt/slides/_rels/slide2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2d9d55f026077827.png"/>
</Relationships>
</file>

<file path=ppt/slides/_rels/slide3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42d0983d30c0d25.png"/>
</Relationships>
</file>

<file path=ppt/slides/_rels/slide3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b977c5ef971b62eb.png"/>
</Relationships>
</file>

<file path=ppt/slides/_rels/slide3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2c511a39e02cf57.png"/>
</Relationships>
</file>

<file path=ppt/slides/_rels/slide4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8f82f690e20593b.png"/>
</Relationships>
</file>

<file path=ppt/slides/_rels/slide4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4c3fbfee7e9556f.png"/>
</Relationships>
</file>

<file path=ppt/slides/_rels/slide4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7e1158f1dfc0f999.png"/>
</Relationships>
</file>

<file path=ppt/slides/_rels/slide5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0980f3b73429781e.png"/>
</Relationships>
</file>

<file path=ppt/slides/_rels/slide5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d86738b67d75c626.png"/>
</Relationships>
</file>

<file path=ppt/slides/_rels/slide5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61262b8e20c78059.png"/>
</Relationships>
</file>

<file path=ppt/slides/_rels/slide6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0bf7ce077068355f.png"/>
</Relationships>
</file>

<file path=ppt/slides/_rels/slide7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571750"/>
            <a:ext cx="9906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4D7C0F"/>
                </a:solidFill>
                <a:latin typeface="Arial"/>
                <a:ea typeface="Microsoft YaHei"/>
                <a:cs typeface="Arial"/>
              </a:rPr>
              <a:t>经营语义上下文：让 DataAgent 先理解指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600450"/>
            <a:ext cx="857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20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上下文治理 · 深度教学讲义</a:t>
            </a:r>
          </a:p>
        </p:txBody>
      </p:sp>
      <p:sp>
        <p:nvSpPr>
          <p:cNvPr id="8" name="Line 8"/>
          <p:cNvSpPr/>
          <p:nvPr/>
        </p:nvSpPr>
        <p:spPr>
          <a:xfrm>
            <a:off x="4000500" y="4333875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9050">
            <a:solidFill>
              <a:srgbClr val="84CC16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4286250"/>
            <a:ext cx="95250" cy="95250"/>
          </a:xfrm>
          <a:prstGeom prst="ellipse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714750" y="4714875"/>
            <a:ext cx="476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725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14750" y="5105400"/>
            <a:ext cx="476250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4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第22讲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52750" y="5486400"/>
            <a:ext cx="6286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3" name="Rectangle 13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7FAEC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381500" y="6486525"/>
            <a:ext cx="3429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2026-09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70355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目录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39375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762000" y="1095375"/>
            <a:ext cx="10668000" cy="2952750"/>
            <a:chOff x="762000" y="1095375"/>
            <a:chExt cx="10668000" cy="2952750"/>
          </a:xfrm>
        </p:grpSpPr>
        <p:sp>
          <p:nvSpPr>
            <p:cNvPr id="7" name="Rectangle 7"/>
            <p:cNvSpPr/>
            <p:nvPr/>
          </p:nvSpPr>
          <p:spPr>
            <a:xfrm>
              <a:off x="762000" y="1095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095375"/>
              <a:ext cx="57150" cy="857250"/>
            </a:xfrm>
            <a:prstGeom prst="rect">
              <a:avLst/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93470" y="1264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71650" y="1190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概念详解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43000" y="1600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核心概念定义与边界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286500" y="1095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286500" y="1095375"/>
              <a:ext cx="57150" cy="857250"/>
            </a:xfrm>
            <a:prstGeom prst="rect">
              <a:avLst/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0" y="1264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296150" y="1190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机制与图解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67500" y="1600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运行机制与图解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2238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F7FAEC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62000" y="2238375"/>
              <a:ext cx="57150" cy="857250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93470" y="2407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71650" y="2333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代码实现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43000" y="2743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仓库真实代码三切面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286500" y="2238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F7FAEC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86500" y="2238375"/>
              <a:ext cx="57150" cy="857250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617970" y="2407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96150" y="2333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应用实践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67500" y="2743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落地步骤与场景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62000" y="3381375"/>
              <a:ext cx="5143500" cy="666750"/>
            </a:xfrm>
            <a:prstGeom prst="roundRect">
              <a:avLst>
                <a:gd name="adj" fmla="val 5714"/>
              </a:avLst>
            </a:prstGeom>
            <a:noFill/>
            <a:ln w="9525">
              <a:solidFill>
                <a:srgbClr val="E0EDC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52500" y="3524250"/>
              <a:ext cx="4762500" cy="3619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275" dirty="0">
                  <a:solidFill>
                    <a:srgbClr val="6B7C8F"/>
                  </a:solidFill>
                  <a:latin typeface="Arial"/>
                  <a:ea typeface="Microsoft YaHei"/>
                  <a:cs typeface="Arial"/>
                </a:rPr>
                <a:t>陷阱与排查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286500" y="3381375"/>
              <a:ext cx="5143500" cy="666750"/>
            </a:xfrm>
            <a:prstGeom prst="roundRect">
              <a:avLst>
                <a:gd name="adj" fmla="val 5714"/>
              </a:avLst>
            </a:prstGeom>
            <a:noFill/>
            <a:ln w="9525">
              <a:solidFill>
                <a:srgbClr val="E0EDC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77000" y="3524250"/>
              <a:ext cx="4762500" cy="3619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275" dirty="0">
                  <a:solidFill>
                    <a:srgbClr val="6B7C8F"/>
                  </a:solidFill>
                  <a:latin typeface="Arial"/>
                  <a:ea typeface="Microsoft YaHei"/>
                  <a:cs typeface="Arial"/>
                </a:rPr>
                <a:t>优化拓展</a:t>
              </a:r>
            </a:p>
          </p:txBody>
        </p:sp>
      </p:grpSp>
      <p:sp>
        <p:nvSpPr>
          <p:cNvPr id="32" name="Line 32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0763250" y="6486525"/>
            <a:ext cx="8572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4CC16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22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学习目标 / Lernziele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1) 能解释Metric的机制；2) 能对比alias的取舍；3) 能跑通 analytics.py 对应测试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经营语义上下文：让 DataAgent 先理解指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4CC16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概念详解：Metric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「Metric」指指标权威定义。在企业级语境下，它同时约束接口契约、生命周期与治理边界，而不只是一个名词。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经营语义上下文：让 DataAgent 先理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定义与内涵：Metric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把Metric讲透：是什么、不是什么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「Metric」指指标权威定义。在企业级语境下，它同时约束接口契约、生命周期与治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作用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作用维度：指标权威定义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要点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要点维度：指标权威定义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上下文即决策环境：最小充分、可信可控，缺一即停。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机制图解：Metric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「Metric」的运行机制分三步：输入契约校验 → 核心转换执行 → 结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7FA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图：Metric 的机制与数据流（flow_v 视角）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深入原理：Metric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正确姿势：先定义「Metric」的契约与不变量，再谈实现；所有旁路都必须被审计。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常见误用：把「Metric」当成一次性胶水代码，没有版本、没有度量、没有回滚路径。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治理视角：权限先于相关性，硬过滤不可被排序绕过。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代码契约：Metric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契约切面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文件：analytics.py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切面：契约——先读接口再读实现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7FA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代码：analytics.py · 契约（概念1 Metric）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代码实现：Metric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实现切面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文件：analytics.py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切面：实现——先读接口再读实现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7FA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代码：analytics.py · 实现（概念1 Metric）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应用实践：Metric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把「Metric」落到业务：先小流量灰度验证效果与成本，再逐步放开租户范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案例视角：指标口径注入与跨租户泄漏的防御实测。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陷阱与排查：Metric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「Metric」典型故障：静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工程决策：Metric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直连实现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快但耦合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Demo 可用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「Metric」的选型以证据与约束为准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生产化：Metric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企业级落地三机制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阶段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机制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审计/落点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中断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ApprovalPending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waiting_approval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决议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decided_by/at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approve/reject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恢复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pre_approved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succeeded/canceled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HITL：中断-审批-恢复 全真实落库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企业治理：Metric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三项已闭合边界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认证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未认证401/越权403（LAN实测）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queued→running→终态全落库（LAN实测）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JWT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HS256+四角色RBAC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Pulsar/Redis Worker落库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审批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HITL 中断-恢复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优化拓展：Metric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「Metric」优化一：把人工经验固化为资产（规则/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「Metric」优化二：建立基线对照（关闭/盲选/受控三组）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4CC16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概念详解：alias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对「alias」的正确定位是：自然语言映射；它是可观测、可治理、可演进的稳定工程对象。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经营语义上下文：让 DataAgent 先理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定义与内涵：alias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把alias讲透：是什么、不是什么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17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对「alias」的正确定位是：自然语言映射；它是可观测、可治理、可演进的稳定工程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作用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作用维度：自然语言映射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要点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要点维度：自然语言映射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上下文即决策环境：最小充分、可信可控，缺一即停。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机制图解：alias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18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从数据流看「alias」：上游产出受控载荷，经 analytics.py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7FA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图：alias 的机制与数据流（cycle 视角）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深入原理：alias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19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正确姿势：把「alias」的决策依据落成证据（Trace/Eval），而不是凭经验拍板。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常见误用：用相关性绕过「alias」的硬性过滤，短期省事，长期必然越权或漂移。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治理视角：权限先于相关性，硬过滤不可被排序绕过。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代码契约：alias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契约切面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20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文件：analytics.py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切面：契约——先读接口再读实现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7FA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代码：analytics.py · 契约（概念2 alias）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代码实现：alias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实现切面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21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文件：analytics.py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切面：实现——先读接口再读实现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7FA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代码：analytics.py · 实现（概念2 alias）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应用实践：alias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22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「alias」的应用入口在本课程 DataAgent：跑通对应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案例视角：指标口径注入与跨租户泄漏的防御实测。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陷阱与排查：alias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23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「alias」典型故障：成本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工程决策：alias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24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直连实现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快但耦合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Demo 可用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「alias」的选型以证据与约束为准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生产化：alias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企业级落地三机制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25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阶段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机制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审计/落点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中断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ApprovalPending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waiting_approval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决议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decided_by/at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approve/reject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恢复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pre_approved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succeeded/canceled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HITL：中断-审批-恢复 全真实落库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企业治理：alias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三项已闭合边界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26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认证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未认证401/越权403（LAN实测）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queued→running→终态全落库（LAN实测）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JWT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HS256+四角色RBAC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Pulsar/Redis Worker落库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审批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HITL 中断-恢复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优化拓展：alias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27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「alias」优化一：把人工经验固化为资产（规则/Skill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「alias」优化二：建立基线对照（关闭/盲选/受控三组）证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4CC16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28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概念详解：粒度/时态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「粒度/时态」的本质是粒度/时间语义。理解它的关键是分清模型能做的与系统必须兜底的。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经营语义上下文：让 DataAgent 先理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定义与内涵：粒度/时态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把粒度/时态讲透：是什么、不是什么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29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「粒度/时态」的本质是粒度/时间语义。理解它的关键是分清模型能做的与系统必须兜底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作用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作用维度：粒度/时间语义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要点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要点维度：粒度/时间语义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上下文即决策环境：最小充分、可信可控，缺一即停。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机制图解：粒度/时态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30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「粒度/时态」的机制核心是解耦：策略与执行分离、状态与过程分离、权限与相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7FA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图：粒度/时态 的机制与数据流（layers 视角）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深入原理：粒度/时态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31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正确姿势：为「粒度/时态」设置显式预算与停止条件，宁可慢一点，不可失控。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常见误用：只在 Demo 里验证「粒度/时态」的正常路径，故障注入一跑就现出原形。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治理视角：权限先于相关性，硬过滤不可被排序绕过。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代码契约：粒度/时态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契约切面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32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文件：analytics.py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切面：契约——先读接口再读实现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7FA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代码：analytics.py · 契约（概念3 粒度/时态）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代码实现：粒度/时态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实现切面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33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文件：analytics.py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切面：实现——先读接口再读实现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7FA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代码：analytics.py · 实现（概念3 粒度/时态）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应用实践：粒度/时态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34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上线「粒度/时态」前自检三问：失败会怎样？谁能审计？回滚要多久？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案例视角：指标口径注入与跨租户泄漏的防御实测。</a:t>
              </a: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陷阱与排查：粒度/时态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35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「粒度/时态」典型故障：上下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工程决策：粒度/时态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36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直连实现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快但耦合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Demo 可用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「粒度/时态」的选型以证据与约束为准</a:t>
              </a: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生产化：粒度/时态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企业级落地三机制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37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阶段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机制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审计/落点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中断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ApprovalPending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waiting_approval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决议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decided_by/at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approve/reject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恢复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pre_approved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succeeded/canceled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HITL：中断-审批-恢复 全真实落库</a:t>
              </a: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企业治理：粒度/时态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三项已闭合边界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38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认证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未认证401/越权403（LAN实测）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queued→running→终态全落库（LAN实测）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JWT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HS256+四角色RBAC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Pulsar/Redis Worker落库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审批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HITL 中断-恢复</a:t>
              </a: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优化拓展：粒度/时态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39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「粒度/时态」优化一：把人工经验固化为资产（规则/Skill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「粒度/时态」优化二：建立基线对照（关闭/盲选/受控三组）证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4CC16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40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概念详解：catalog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把「catalog」当工程对象看：数据血缘。它有明确的输入契约、失败语义与度量口径。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经营语义上下文：让 DataAgent 先理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定义与内涵：catalog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把catalog讲透：是什么、不是什么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41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把「catalog」当工程对象看：数据血缘。它有明确的输入契约、失败语义与度量口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作用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作用维度：数据血缘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要点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要点维度：数据血缘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上下文即决策环境：最小充分、可信可控，缺一即停。</a:t>
              </a: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机制图解：catalog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42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「catalog」之所以可靠，是因为它把不确定性关进笼子：预算、超时、重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7FA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图：catalog 的机制与数据流（hub 视角）</a:t>
              </a: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深入原理：catalog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43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正确姿势：先定义「catalog」的契约与不变量，再谈实现；所有旁路都必须被审计。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常见误用：把「catalog」当成一次性胶水代码，没有版本、没有度量、没有回滚路径。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治理视角：权限先于相关性，硬过滤不可被排序绕过。</a:t>
              </a: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代码契约：catalog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契约切面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44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文件：analytics.py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切面：契约——先读接口再读实现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7FA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代码：analytics.py · 契约（概念4 catalog）</a:t>
              </a: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代码实现：catalog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实现切面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45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文件：analytics.py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切面：实现——先读接口再读实现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7FA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代码：analytics.py · 实现（概念4 catalog）</a:t>
              </a: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应用实践：catalog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46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把「catalog」落到业务：先小流量灰度验证效果与成本，再逐步放开租户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案例视角：指标口径注入与跨租户泄漏的防御实测。</a:t>
              </a: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陷阱与排查：catalog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47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「catalog」典型故障：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工程决策：catalog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48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直连实现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快但耦合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Demo 可用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「catalog」的选型以证据与约束为准</a:t>
              </a:r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生产化：catalog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企业级落地三机制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49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阶段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机制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审计/落点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中断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ApprovalPending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waiting_approval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决议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decided_by/at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approve/reject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恢复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pre_approved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succeeded/canceled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HITL：中断-审批-恢复 全真实落库</a:t>
              </a:r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企业治理：catalog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三项已闭合边界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50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认证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未认证401/越权403（LAN实测）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queued→running→终态全落库（LAN实测）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JWT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HS256+四角色RBAC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Pulsar/Redis Worker落库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审批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HITL 中断-恢复</a:t>
              </a:r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优化拓展：catalog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51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「catalog」优化一：把人工经验固化为资产（规则/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「catalog」优化二：建立基线对照（关闭/盲选/受控三组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4CC16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52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概念详解：permission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「permission」指权限先于相关。在企业级语境下，它同时约束接口契约、生命周期与治理边界，而不只是一个名词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经营语义上下文：让 DataAgent 先理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定义与内涵：permission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把permission讲透：是什么、不是什么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53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「permission」指权限先于相关。在企业级语境下，它同时约束接口契约、生命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作用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作用维度：权限先于相关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要点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要点维度：权限先于相关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上下文即决策环境：最小充分、可信可控，缺一即停。</a:t>
              </a:r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机制图解：permission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54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「permission」的运行机制分三步：输入契约校验 → 核心转换执行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7FA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图：permission 的机制与数据流（flow_v 视角）</a:t>
              </a:r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深入原理：permission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55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正确姿势：把「permission」的决策依据落成证据（Trace/Eval），而不是凭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常见误用：用相关性绕过「permission」的硬性过滤，短期省事，长期必然越权或漂移。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治理视角：权限先于相关性，硬过滤不可被排序绕过。</a:t>
              </a:r>
            </a:p>
          </p:txBody>
        </p: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代码契约：permission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契约切面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56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文件：analytics.py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切面：契约——先读接口再读实现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7FA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代码：analytics.py · 契约（概念5 permission）</a:t>
              </a:r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代码实现：permission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实现切面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57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文件：analytics.py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切面：实现——先读接口再读实现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7FA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代码：analytics.py · 实现（概念5 permission）</a:t>
              </a:r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应用实践：permission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58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「permission」的应用入口在本课程 DataAgent：跑通对应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案例视角：指标口径注入与跨租户泄漏的防御实测。</a:t>
              </a:r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陷阱与排查：permission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59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「permission」典型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工程决策：permission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60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直连实现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快但耦合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Demo 可用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「permission」的选型以证据与约</a:t>
              </a:r>
            </a:p>
          </p:txBody>
        </p:sp>
      </p:grp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生产化：permission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企业级落地三机制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61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阶段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机制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审计/落点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中断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ApprovalPending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waiting_approval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决议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decided_by/at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approve/reject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恢复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pre_approved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succeeded/canceled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HITL：中断-审批-恢复 全真实落库</a:t>
              </a:r>
            </a:p>
          </p:txBody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企业治理：permission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三项已闭合边界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62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认证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未认证401/越权403（LAN实测）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queued→running→终态全落库（LAN实测）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JWT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HS256+四角色RBAC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Pulsar/Redis Worker落库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审批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HITL 中断-恢复</a:t>
              </a:r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优化拓展：permission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63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「permission」优化一：把人工经验固化为资产（规则/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「permission」优化二：建立基线对照（关闭/盲选/受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本章知识图谱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概念之间的结构关系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64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核心：Metric、alias、粒度/时态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关系：输入→机制→治理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全部概念见讲义表格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7FA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图：本章概念关系（中心辐射视角）</a:t>
              </a:r>
            </a:p>
          </p:txBody>
        </p:sp>
      </p:grp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4CC16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65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应用与实战指南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从理解到落地：场景、步骤与检查清单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经营语义上下文：让 DataAgent 先理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实战路线图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三步从 Demo 到生产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66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场景选择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选高频、可验证、低风险场景切入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契约先行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定义输入/输出/错误语义与验收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评测护航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建数据集与评分卡再动 Prompt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案例视角：指标口径注入与跨租户泄漏的防御实测。</a:t>
              </a:r>
            </a:p>
          </p:txBody>
        </p:sp>
      </p:grp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典型应用场景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场景→做法→收益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67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场景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做法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收益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经营诊断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自主分析闭环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结论可解释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数据查询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只读网关+权限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安全合规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行动执行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审批+幂等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风险可控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场景选择决定治理强度，按风险分级</a:t>
              </a:r>
            </a:p>
          </p:txBody>
        </p:sp>
      </p:grp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落地检查清单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上线前逐项打勾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68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功能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核心链路全绿；故障注入通过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质量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三层评测达标；回归门禁通过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安全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权限/审计/幂等/回滚就绪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GO/NO-GO 由硬门槛决定，不由均分决定</a:t>
              </a:r>
            </a:p>
          </p:txBody>
        </p:sp>
      </p:grp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4CC16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69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优化与拓展指南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让系统随模型共同进化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经营语义上下文：让 DataAgent 先理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70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优化方向对照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短期补丁 vs 长期资产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70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短期补丁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改 Prompt 救火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局部 if-else 兜底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人工盯梢排查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经验留在个人脑中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长期资产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规则/Skill/Eval 沉淀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统一 Runtime 治理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Trace+Baseline 驱动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资产随组织复用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延伸阅读：Context Decision Trace 与上下文故障分类。</a:t>
              </a:r>
            </a:p>
          </p:txBody>
        </p:sp>
      </p:grp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71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拓展学习地图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三层次进阶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71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体系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把本讲机制放进企业级全景图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贯通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与前后讲次的接口互相印证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向上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架构与治理体系化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向深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Runtime 与可靠性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向外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多 Agent 与平台化</a:t>
              </a:r>
            </a:p>
          </p:txBody>
        </p:sp>
      </p:grp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72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演进路线图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本讲在能力阶梯上的位置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72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当前：本讲机制已可运行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下一站：与相邻模块协同治理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长期：固化为组织级资产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7FA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图：从本讲机制到组织资产的演进路径</a:t>
              </a:r>
            </a:p>
          </p:txBody>
        </p:sp>
      </p:grp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4CC16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73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治理与常见陷阱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企业级红线与审计要点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经营语义上下文：让 DataAgent 先理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74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企业级红线清单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红线→后果→防护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74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红线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后果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防护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越权访问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数据泄漏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硬过滤+审计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未审批副作用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业务事故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审批+幂等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不可回放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无法追责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Trace+Checkpoint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红线一票否决，不允许带病上线</a:t>
              </a:r>
            </a:p>
          </p:txBody>
        </p:sp>
      </p:grp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4CC16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75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复习与考核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把本讲装进长期记忆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经营语义上下文：让 DataAgent 先理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76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复习要点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三个必答题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76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是什么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Metric的定义与边界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为什么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上下文即决策环境：最小充分、可信可控，缺一即停。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怎么用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在 DataAgent 中跑通 analytics.py 对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能讲给同事听懂，才算真正掌握</a:t>
              </a:r>
            </a:p>
          </p:txBody>
        </p:sp>
      </p:grp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333625"/>
            <a:ext cx="99060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4D7C0F"/>
                </a:solidFill>
                <a:latin typeface="Arial"/>
                <a:ea typeface="Microsoft YaHei"/>
                <a:cs typeface="Arial"/>
              </a:rPr>
              <a:t>本章小结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238500"/>
            <a:ext cx="857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经营语义上下文：让 DataAgent 先理解指</a:t>
            </a:r>
          </a:p>
        </p:txBody>
      </p:sp>
      <p:sp>
        <p:nvSpPr>
          <p:cNvPr id="8" name="Line 8"/>
          <p:cNvSpPr/>
          <p:nvPr/>
        </p:nvSpPr>
        <p:spPr>
          <a:xfrm>
            <a:off x="4381500" y="3857625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19050">
            <a:solidFill>
              <a:srgbClr val="84CC16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3810000"/>
            <a:ext cx="95250" cy="9525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3429000" y="4238625"/>
            <a:ext cx="5334000" cy="1238250"/>
          </a:xfrm>
          <a:prstGeom prst="roundRect">
            <a:avLst>
              <a:gd name="adj" fmla="val 3077"/>
            </a:avLst>
          </a:prstGeom>
          <a:solidFill>
            <a:srgbClr val="F7FAEC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619500" y="447675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为 DataAgent 新增一个指标（退款率），定义口径、别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00500" y="4838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第22讲 · 上下文治理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19500" y="512445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4" name="Rectangle 14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7FAEC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3619500" y="6486525"/>
            <a:ext cx="4953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课程复现资料 · 可公开分享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763250" y="6486525"/>
            <a:ext cx="8572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77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