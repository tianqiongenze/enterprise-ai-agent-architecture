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Default Extension="png" ContentType="image/png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  <p:sldId id="307" r:id="rId58"/>
    <p:sldId id="308" r:id="rId59"/>
    <p:sldId id="309" r:id="rId60"/>
    <p:sldId id="310" r:id="rId61"/>
    <p:sldId id="311" r:id="rId62"/>
    <p:sldId id="312" r:id="rId63"/>
    <p:sldId id="313" r:id="rId64"/>
    <p:sldId id="314" r:id="rId65"/>
    <p:sldId id="315" r:id="rId66"/>
    <p:sldId id="316" r:id="rId67"/>
    <p:sldId id="317" r:id="rId68"/>
    <p:sldId id="318" r:id="rId69"/>
    <p:sldId id="319" r:id="rId70"/>
    <p:sldId id="320" r:id="rId71"/>
    <p:sldId id="321" r:id="rId72"/>
    <p:sldId id="322" r:id="rId73"/>
    <p:sldId id="323" r:id="rId74"/>
    <p:sldId id="324" r:id="rId75"/>
    <p:sldId id="325" r:id="rId76"/>
    <p:sldId id="326" r:id="rId77"/>
    <p:sldId id="327" r:id="rId78"/>
    <p:sldId id="328" r:id="rId79"/>
    <p:sldId id="329" r:id="rId80"/>
    <p:sldId id="330" r:id="rId81"/>
    <p:sldId id="331" r:id="rId82"/>
    <p:sldId id="332" r:id="rId83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Relationship Id="rId54" Type="http://schemas.openxmlformats.org/officeDocument/2006/relationships/slide" Target="slides/slide48.xml"/><Relationship Id="rId55" Type="http://schemas.openxmlformats.org/officeDocument/2006/relationships/slide" Target="slides/slide49.xml"/><Relationship Id="rId56" Type="http://schemas.openxmlformats.org/officeDocument/2006/relationships/slide" Target="slides/slide50.xml"/><Relationship Id="rId57" Type="http://schemas.openxmlformats.org/officeDocument/2006/relationships/slide" Target="slides/slide51.xml"/><Relationship Id="rId58" Type="http://schemas.openxmlformats.org/officeDocument/2006/relationships/slide" Target="slides/slide52.xml"/><Relationship Id="rId59" Type="http://schemas.openxmlformats.org/officeDocument/2006/relationships/slide" Target="slides/slide53.xml"/><Relationship Id="rId60" Type="http://schemas.openxmlformats.org/officeDocument/2006/relationships/slide" Target="slides/slide54.xml"/><Relationship Id="rId61" Type="http://schemas.openxmlformats.org/officeDocument/2006/relationships/slide" Target="slides/slide55.xml"/><Relationship Id="rId62" Type="http://schemas.openxmlformats.org/officeDocument/2006/relationships/slide" Target="slides/slide56.xml"/><Relationship Id="rId63" Type="http://schemas.openxmlformats.org/officeDocument/2006/relationships/slide" Target="slides/slide57.xml"/><Relationship Id="rId64" Type="http://schemas.openxmlformats.org/officeDocument/2006/relationships/slide" Target="slides/slide58.xml"/><Relationship Id="rId65" Type="http://schemas.openxmlformats.org/officeDocument/2006/relationships/slide" Target="slides/slide59.xml"/><Relationship Id="rId66" Type="http://schemas.openxmlformats.org/officeDocument/2006/relationships/slide" Target="slides/slide60.xml"/><Relationship Id="rId67" Type="http://schemas.openxmlformats.org/officeDocument/2006/relationships/slide" Target="slides/slide61.xml"/><Relationship Id="rId68" Type="http://schemas.openxmlformats.org/officeDocument/2006/relationships/slide" Target="slides/slide62.xml"/><Relationship Id="rId69" Type="http://schemas.openxmlformats.org/officeDocument/2006/relationships/slide" Target="slides/slide63.xml"/><Relationship Id="rId70" Type="http://schemas.openxmlformats.org/officeDocument/2006/relationships/slide" Target="slides/slide64.xml"/><Relationship Id="rId71" Type="http://schemas.openxmlformats.org/officeDocument/2006/relationships/slide" Target="slides/slide65.xml"/><Relationship Id="rId72" Type="http://schemas.openxmlformats.org/officeDocument/2006/relationships/slide" Target="slides/slide66.xml"/><Relationship Id="rId73" Type="http://schemas.openxmlformats.org/officeDocument/2006/relationships/slide" Target="slides/slide67.xml"/><Relationship Id="rId74" Type="http://schemas.openxmlformats.org/officeDocument/2006/relationships/slide" Target="slides/slide68.xml"/><Relationship Id="rId75" Type="http://schemas.openxmlformats.org/officeDocument/2006/relationships/slide" Target="slides/slide69.xml"/><Relationship Id="rId76" Type="http://schemas.openxmlformats.org/officeDocument/2006/relationships/slide" Target="slides/slide70.xml"/><Relationship Id="rId77" Type="http://schemas.openxmlformats.org/officeDocument/2006/relationships/slide" Target="slides/slide71.xml"/><Relationship Id="rId78" Type="http://schemas.openxmlformats.org/officeDocument/2006/relationships/slide" Target="slides/slide72.xml"/><Relationship Id="rId79" Type="http://schemas.openxmlformats.org/officeDocument/2006/relationships/slide" Target="slides/slide73.xml"/><Relationship Id="rId80" Type="http://schemas.openxmlformats.org/officeDocument/2006/relationships/slide" Target="slides/slide74.xml"/><Relationship Id="rId81" Type="http://schemas.openxmlformats.org/officeDocument/2006/relationships/slide" Target="slides/slide75.xml"/><Relationship Id="rId82" Type="http://schemas.openxmlformats.org/officeDocument/2006/relationships/slide" Target="slides/slide76.xml"/><Relationship Id="rId83" Type="http://schemas.openxmlformats.org/officeDocument/2006/relationships/slide" Target="slides/slide7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_rels/slide2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_rels/slide3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_rels/slide4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_rels/slide5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_rels/slide6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image" Target="../media/image_649480bf42d2f17c.png"/>
</Relationships>
</file>

<file path=ppt/slides/_rels/slide7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_rels/slide8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image" Target="../media/image_3e904f7c3c99484d.png"/>
</Relationships>
</file>

<file path=ppt/slides/_rels/slide9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image" Target="../media/image_38ad5cb5ae413cd0.png"/>
</Relationships>
</file>

<file path=ppt/slides/_rels/slide10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_rels/slide11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_rels/slide12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_rels/slide13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_rels/slide14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_rels/slide15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_rels/slide16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_rels/slide17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_rels/slide18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image" Target="../media/image_124ffe5fc2a3048d.png"/>
</Relationships>
</file>

<file path=ppt/slides/_rels/slide19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_rels/slide20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image" Target="../media/image_4cf2ae12c5b94381.png"/>
</Relationships>
</file>

<file path=ppt/slides/_rels/slide21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image" Target="../media/image_f8f6e89b88d16aee.png"/>
</Relationships>
</file>

<file path=ppt/slides/_rels/slide22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_rels/slide23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_rels/slide24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_rels/slide25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_rels/slide26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_rels/slide27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_rels/slide28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_rels/slide29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_rels/slide30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image" Target="../media/image_e0a711f575f26248.png"/>
</Relationships>
</file>

<file path=ppt/slides/_rels/slide31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_rels/slide32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image" Target="../media/image_7d6c7b98bdd798b6.png"/>
</Relationships>
</file>

<file path=ppt/slides/_rels/slide33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image" Target="../media/image_5f98af87489652b6.png"/>
</Relationships>
</file>

<file path=ppt/slides/_rels/slide34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_rels/slide35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_rels/slide36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_rels/slide37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_rels/slide38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_rels/slide39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_rels/slide40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_rels/slide41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_rels/slide42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image" Target="../media/image_4fafbce023187c1a.png"/>
</Relationships>
</file>

<file path=ppt/slides/_rels/slide43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_rels/slide44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image" Target="../media/image_2f21b774e4bd00e6.png"/>
</Relationships>
</file>

<file path=ppt/slides/_rels/slide45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image" Target="../media/image_ee9c5699d25a097e.png"/>
</Relationships>
</file>

<file path=ppt/slides/_rels/slide46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_rels/slide47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_rels/slide48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_rels/slide49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_rels/slide50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_rels/slide51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_rels/slide52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_rels/slide53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_rels/slide54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image" Target="../media/image_311932cb7fc0b8a2.png"/>
</Relationships>
</file>

<file path=ppt/slides/_rels/slide55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_rels/slide56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image" Target="../media/image_33397eec58ab6a31.png"/>
</Relationships>
</file>

<file path=ppt/slides/_rels/slide57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image" Target="../media/image_8c1c19fa128e0138.png"/>
</Relationships>
</file>

<file path=ppt/slides/_rels/slide58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_rels/slide59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_rels/slide60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_rels/slide61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_rels/slide62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_rels/slide63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_rels/slide64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image" Target="../media/image_81548eb7e76c4987.png"/>
</Relationships>
</file>

<file path=ppt/slides/_rels/slide65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_rels/slide66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_rels/slide67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_rels/slide68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_rels/slide69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_rels/slide70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_rels/slide71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_rels/slide72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image" Target="../media/image_4d238fc050c65d30.png"/>
</Relationships>
</file>

<file path=ppt/slides/_rels/slide73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_rels/slide74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_rels/slide75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_rels/slide76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_rels/slide77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952500"/>
          </a:xfrm>
          <a:prstGeom prst="rect">
            <a:avLst/>
          </a:prstGeom>
          <a:solidFill>
            <a:srgbClr val="0E7490"/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0"/>
            <a:ext cx="57150" cy="952500"/>
          </a:xfrm>
          <a:prstGeom prst="rect">
            <a:avLst/>
          </a:prstGeom>
          <a:solidFill>
            <a:srgbClr val="CC0000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10239375" y="190500"/>
            <a:ext cx="1619250" cy="5143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3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DataAgent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143000" y="2571750"/>
            <a:ext cx="9906000" cy="9525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4200" b="1" dirty="0">
                <a:solidFill>
                  <a:srgbClr val="0E7490"/>
                </a:solidFill>
                <a:latin typeface="Arial"/>
                <a:ea typeface="Microsoft YaHei"/>
                <a:cs typeface="Arial"/>
              </a:rPr>
              <a:t>Agent Runtime 的混合架构选型与设计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809750" y="3600450"/>
            <a:ext cx="8572500" cy="4762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2025" dirty="0">
                <a:solidFill>
                  <a:srgbClr val="52657A"/>
                </a:solidFill>
                <a:latin typeface="Arial"/>
                <a:ea typeface="Microsoft YaHei"/>
                <a:cs typeface="Arial"/>
              </a:rPr>
              <a:t>Agent Runtime · 深度教学讲义</a:t>
            </a:r>
          </a:p>
        </p:txBody>
      </p:sp>
      <p:sp>
        <p:nvSpPr>
          <p:cNvPr id="8" name="Line 8"/>
          <p:cNvSpPr/>
          <p:nvPr/>
        </p:nvSpPr>
        <p:spPr>
          <a:xfrm>
            <a:off x="4000500" y="4333875"/>
            <a:ext cx="4191000" cy="9525"/>
          </a:xfrm>
          <a:custGeom>
            <a:avLst/>
            <a:gdLst/>
            <a:ahLst/>
            <a:cxnLst/>
            <a:rect l="l" t="t" r="r" b="b"/>
            <a:pathLst>
              <a:path w="4191000" h="9525">
                <a:moveTo>
                  <a:pt x="0" y="0"/>
                </a:moveTo>
                <a:lnTo>
                  <a:pt x="4191000" y="0"/>
                </a:lnTo>
              </a:path>
            </a:pathLst>
          </a:custGeom>
          <a:noFill/>
          <a:ln w="19050">
            <a:solidFill>
              <a:srgbClr val="06B6D4"/>
            </a:solidFill>
          </a:ln>
        </p:spPr>
      </p:sp>
      <p:sp>
        <p:nvSpPr>
          <p:cNvPr id="9" name="Ellipse 9"/>
          <p:cNvSpPr/>
          <p:nvPr/>
        </p:nvSpPr>
        <p:spPr>
          <a:xfrm>
            <a:off x="6048375" y="4286250"/>
            <a:ext cx="95250" cy="95250"/>
          </a:xfrm>
          <a:prstGeom prst="ellipse">
            <a:avLst/>
          </a:prstGeom>
          <a:solidFill>
            <a:srgbClr val="06B6D4"/>
          </a:solidFill>
          <a:ln>
            <a:noFill/>
          </a:ln>
        </p:spPr>
      </p:sp>
      <p:sp>
        <p:nvSpPr>
          <p:cNvPr id="10" name="TextBox 10"/>
          <p:cNvSpPr txBox="1"/>
          <p:nvPr/>
        </p:nvSpPr>
        <p:spPr>
          <a:xfrm>
            <a:off x="3714750" y="4714875"/>
            <a:ext cx="4762500" cy="4000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725" dirty="0">
                <a:solidFill>
                  <a:srgbClr val="26384A"/>
                </a:solidFill>
                <a:latin typeface="Arial"/>
                <a:ea typeface="Microsoft YaHei"/>
                <a:cs typeface="Arial"/>
              </a:rPr>
              <a:t>企业级Agent工程架构实战营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3714750" y="5105400"/>
            <a:ext cx="4762500" cy="33337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425" dirty="0">
                <a:solidFill>
                  <a:srgbClr val="52657A"/>
                </a:solidFill>
                <a:latin typeface="Arial"/>
                <a:ea typeface="Microsoft YaHei"/>
                <a:cs typeface="Arial"/>
              </a:rPr>
              <a:t>第15讲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2952750" y="5486400"/>
            <a:ext cx="6286500" cy="304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350" dirty="0">
                <a:solidFill>
                  <a:srgbClr val="52657A"/>
                </a:solidFill>
                <a:latin typeface="Arial"/>
                <a:ea typeface="Microsoft YaHei"/>
                <a:cs typeface="Arial"/>
              </a:rPr>
              <a:t>Agent Runtime</a:t>
            </a:r>
          </a:p>
        </p:txBody>
      </p:sp>
      <p:sp>
        <p:nvSpPr>
          <p:cNvPr id="13" name="Rectangle 13"/>
          <p:cNvSpPr/>
          <p:nvPr/>
        </p:nvSpPr>
        <p:spPr>
          <a:xfrm>
            <a:off x="0" y="6334125"/>
            <a:ext cx="12192000" cy="523875"/>
          </a:xfrm>
          <a:prstGeom prst="rect">
            <a:avLst/>
          </a:prstGeom>
          <a:solidFill>
            <a:srgbClr val="F0F9FC"/>
          </a:solidFill>
          <a:ln>
            <a:noFill/>
          </a:ln>
        </p:spPr>
      </p:sp>
      <p:sp>
        <p:nvSpPr>
          <p:cNvPr id="14" name="TextBox 14"/>
          <p:cNvSpPr txBox="1"/>
          <p:nvPr/>
        </p:nvSpPr>
        <p:spPr>
          <a:xfrm>
            <a:off x="4381500" y="6486525"/>
            <a:ext cx="3429000" cy="23812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05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2026-09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666750"/>
          </a:xfrm>
          <a:prstGeom prst="rect">
            <a:avLst/>
          </a:prstGeom>
          <a:solidFill>
            <a:srgbClr val="0E7490"/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0"/>
            <a:ext cx="57150" cy="666750"/>
          </a:xfrm>
          <a:prstGeom prst="rect">
            <a:avLst/>
          </a:prstGeom>
          <a:solidFill>
            <a:srgbClr val="CC0000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354330" y="211455"/>
            <a:ext cx="703555" cy="4267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1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目录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0239375" y="76200"/>
            <a:ext cx="1619250" cy="5143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3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DataAgent</a:t>
            </a:r>
          </a:p>
        </p:txBody>
      </p:sp>
      <p:grpSp>
        <p:nvGrpSpPr>
          <p:cNvPr id="31" name="Group 31"/>
          <p:cNvGrpSpPr/>
          <p:nvPr/>
        </p:nvGrpSpPr>
        <p:grpSpPr>
          <a:xfrm>
            <a:off x="762000" y="1095375"/>
            <a:ext cx="10668000" cy="2952750"/>
            <a:chOff x="762000" y="1095375"/>
            <a:chExt cx="10668000" cy="2952750"/>
          </a:xfrm>
        </p:grpSpPr>
        <p:sp>
          <p:nvSpPr>
            <p:cNvPr id="7" name="Rectangle 7"/>
            <p:cNvSpPr/>
            <p:nvPr/>
          </p:nvSpPr>
          <p:spPr>
            <a:xfrm>
              <a:off x="762000" y="1095375"/>
              <a:ext cx="5143500" cy="857250"/>
            </a:xfrm>
            <a:prstGeom prst="roundRect">
              <a:avLst>
                <a:gd name="adj" fmla="val 4444"/>
              </a:avLst>
            </a:prstGeom>
            <a:solidFill>
              <a:srgbClr val="E8F4FC"/>
            </a:solidFill>
            <a:ln>
              <a:noFill/>
            </a:ln>
          </p:spPr>
        </p:sp>
        <p:sp>
          <p:nvSpPr>
            <p:cNvPr id="8" name="Rectangle 8"/>
            <p:cNvSpPr/>
            <p:nvPr/>
          </p:nvSpPr>
          <p:spPr>
            <a:xfrm>
              <a:off x="762000" y="1095375"/>
              <a:ext cx="57150" cy="857250"/>
            </a:xfrm>
            <a:prstGeom prst="rect">
              <a:avLst/>
            </a:prstGeom>
            <a:solidFill>
              <a:srgbClr val="0E7490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1093470" y="1264920"/>
              <a:ext cx="469666" cy="4876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rgbClr val="0E7490"/>
                  </a:solidFill>
                  <a:latin typeface="Arial"/>
                  <a:ea typeface="Microsoft YaHei"/>
                  <a:cs typeface="Arial"/>
                </a:rPr>
                <a:t>01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1771650" y="1190625"/>
              <a:ext cx="38100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725" b="1" dirty="0">
                  <a:solidFill>
                    <a:srgbClr val="0E7490"/>
                  </a:solidFill>
                  <a:latin typeface="Arial"/>
                  <a:ea typeface="Microsoft YaHei"/>
                  <a:cs typeface="Arial"/>
                </a:rPr>
                <a:t>概念详解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1143000" y="1600200"/>
              <a:ext cx="4286250" cy="2667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050" dirty="0">
                  <a:solidFill>
                    <a:srgbClr val="52657A"/>
                  </a:solidFill>
                  <a:latin typeface="Arial"/>
                  <a:ea typeface="Microsoft YaHei"/>
                  <a:cs typeface="Arial"/>
                </a:rPr>
                <a:t>核心概念定义与边界</a:t>
              </a:r>
            </a:p>
          </p:txBody>
        </p:sp>
        <p:sp>
          <p:nvSpPr>
            <p:cNvPr id="12" name="Rectangle 12"/>
            <p:cNvSpPr/>
            <p:nvPr/>
          </p:nvSpPr>
          <p:spPr>
            <a:xfrm>
              <a:off x="6286500" y="1095375"/>
              <a:ext cx="5143500" cy="857250"/>
            </a:xfrm>
            <a:prstGeom prst="roundRect">
              <a:avLst>
                <a:gd name="adj" fmla="val 4444"/>
              </a:avLst>
            </a:prstGeom>
            <a:solidFill>
              <a:srgbClr val="E8F4FC"/>
            </a:solidFill>
            <a:ln>
              <a:noFill/>
            </a:ln>
          </p:spPr>
        </p:sp>
        <p:sp>
          <p:nvSpPr>
            <p:cNvPr id="13" name="Rectangle 13"/>
            <p:cNvSpPr/>
            <p:nvPr/>
          </p:nvSpPr>
          <p:spPr>
            <a:xfrm>
              <a:off x="6286500" y="1095375"/>
              <a:ext cx="57150" cy="857250"/>
            </a:xfrm>
            <a:prstGeom prst="rect">
              <a:avLst/>
            </a:prstGeom>
            <a:solidFill>
              <a:srgbClr val="0E7490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6617970" y="1264920"/>
              <a:ext cx="469666" cy="4876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rgbClr val="0E7490"/>
                  </a:solidFill>
                  <a:latin typeface="Arial"/>
                  <a:ea typeface="Microsoft YaHei"/>
                  <a:cs typeface="Arial"/>
                </a:rPr>
                <a:t>02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7296150" y="1190625"/>
              <a:ext cx="38100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725" b="1" dirty="0">
                  <a:solidFill>
                    <a:srgbClr val="0E7490"/>
                  </a:solidFill>
                  <a:latin typeface="Arial"/>
                  <a:ea typeface="Microsoft YaHei"/>
                  <a:cs typeface="Arial"/>
                </a:rPr>
                <a:t>机制与图解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6667500" y="1600200"/>
              <a:ext cx="4286250" cy="2667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050" dirty="0">
                  <a:solidFill>
                    <a:srgbClr val="52657A"/>
                  </a:solidFill>
                  <a:latin typeface="Arial"/>
                  <a:ea typeface="Microsoft YaHei"/>
                  <a:cs typeface="Arial"/>
                </a:rPr>
                <a:t>运行机制与图解</a:t>
              </a:r>
            </a:p>
          </p:txBody>
        </p:sp>
        <p:sp>
          <p:nvSpPr>
            <p:cNvPr id="17" name="Rectangle 17"/>
            <p:cNvSpPr/>
            <p:nvPr/>
          </p:nvSpPr>
          <p:spPr>
            <a:xfrm>
              <a:off x="762000" y="2238375"/>
              <a:ext cx="5143500" cy="857250"/>
            </a:xfrm>
            <a:prstGeom prst="roundRect">
              <a:avLst>
                <a:gd name="adj" fmla="val 4444"/>
              </a:avLst>
            </a:prstGeom>
            <a:solidFill>
              <a:srgbClr val="F0F9FC"/>
            </a:solidFill>
            <a:ln>
              <a:noFill/>
            </a:ln>
          </p:spPr>
        </p:sp>
        <p:sp>
          <p:nvSpPr>
            <p:cNvPr id="18" name="Rectangle 18"/>
            <p:cNvSpPr/>
            <p:nvPr/>
          </p:nvSpPr>
          <p:spPr>
            <a:xfrm>
              <a:off x="762000" y="2238375"/>
              <a:ext cx="57150" cy="857250"/>
            </a:xfrm>
            <a:prstGeom prst="rect">
              <a:avLst/>
            </a:prstGeom>
            <a:solidFill>
              <a:srgbClr val="06B6D4"/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1093470" y="2407920"/>
              <a:ext cx="469666" cy="4876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rgbClr val="0E7490"/>
                  </a:solidFill>
                  <a:latin typeface="Arial"/>
                  <a:ea typeface="Microsoft YaHei"/>
                  <a:cs typeface="Arial"/>
                </a:rPr>
                <a:t>03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1771650" y="2333625"/>
              <a:ext cx="38100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725" b="1" dirty="0">
                  <a:solidFill>
                    <a:srgbClr val="0E7490"/>
                  </a:solidFill>
                  <a:latin typeface="Arial"/>
                  <a:ea typeface="Microsoft YaHei"/>
                  <a:cs typeface="Arial"/>
                </a:rPr>
                <a:t>代码实现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1143000" y="2743200"/>
              <a:ext cx="4286250" cy="2667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050" dirty="0">
                  <a:solidFill>
                    <a:srgbClr val="52657A"/>
                  </a:solidFill>
                  <a:latin typeface="Arial"/>
                  <a:ea typeface="Microsoft YaHei"/>
                  <a:cs typeface="Arial"/>
                </a:rPr>
                <a:t>仓库真实代码三切面</a:t>
              </a:r>
            </a:p>
          </p:txBody>
        </p:sp>
        <p:sp>
          <p:nvSpPr>
            <p:cNvPr id="22" name="Rectangle 22"/>
            <p:cNvSpPr/>
            <p:nvPr/>
          </p:nvSpPr>
          <p:spPr>
            <a:xfrm>
              <a:off x="6286500" y="2238375"/>
              <a:ext cx="5143500" cy="857250"/>
            </a:xfrm>
            <a:prstGeom prst="roundRect">
              <a:avLst>
                <a:gd name="adj" fmla="val 4444"/>
              </a:avLst>
            </a:prstGeom>
            <a:solidFill>
              <a:srgbClr val="F0F9FC"/>
            </a:solidFill>
            <a:ln>
              <a:noFill/>
            </a:ln>
          </p:spPr>
        </p:sp>
        <p:sp>
          <p:nvSpPr>
            <p:cNvPr id="23" name="Rectangle 23"/>
            <p:cNvSpPr/>
            <p:nvPr/>
          </p:nvSpPr>
          <p:spPr>
            <a:xfrm>
              <a:off x="6286500" y="2238375"/>
              <a:ext cx="57150" cy="857250"/>
            </a:xfrm>
            <a:prstGeom prst="rect">
              <a:avLst/>
            </a:prstGeom>
            <a:solidFill>
              <a:srgbClr val="06B6D4"/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6617970" y="2407920"/>
              <a:ext cx="469666" cy="4876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rgbClr val="0E7490"/>
                  </a:solidFill>
                  <a:latin typeface="Arial"/>
                  <a:ea typeface="Microsoft YaHei"/>
                  <a:cs typeface="Arial"/>
                </a:rPr>
                <a:t>04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7296150" y="2333625"/>
              <a:ext cx="38100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725" b="1" dirty="0">
                  <a:solidFill>
                    <a:srgbClr val="0E7490"/>
                  </a:solidFill>
                  <a:latin typeface="Arial"/>
                  <a:ea typeface="Microsoft YaHei"/>
                  <a:cs typeface="Arial"/>
                </a:rPr>
                <a:t>应用实践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6667500" y="2743200"/>
              <a:ext cx="4286250" cy="2667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050" dirty="0">
                  <a:solidFill>
                    <a:srgbClr val="52657A"/>
                  </a:solidFill>
                  <a:latin typeface="Arial"/>
                  <a:ea typeface="Microsoft YaHei"/>
                  <a:cs typeface="Arial"/>
                </a:rPr>
                <a:t>落地步骤与场景</a:t>
              </a:r>
            </a:p>
          </p:txBody>
        </p:sp>
        <p:sp>
          <p:nvSpPr>
            <p:cNvPr id="27" name="Rectangle 27"/>
            <p:cNvSpPr/>
            <p:nvPr/>
          </p:nvSpPr>
          <p:spPr>
            <a:xfrm>
              <a:off x="762000" y="3381375"/>
              <a:ext cx="5143500" cy="666750"/>
            </a:xfrm>
            <a:prstGeom prst="roundRect">
              <a:avLst>
                <a:gd name="adj" fmla="val 5714"/>
              </a:avLst>
            </a:prstGeom>
            <a:noFill/>
            <a:ln w="9525">
              <a:solidFill>
                <a:srgbClr val="C8E6EF"/>
              </a:solidFill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952500" y="3524250"/>
              <a:ext cx="4762500" cy="36195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275" dirty="0">
                  <a:solidFill>
                    <a:srgbClr val="6B7C8F"/>
                  </a:solidFill>
                  <a:latin typeface="Arial"/>
                  <a:ea typeface="Microsoft YaHei"/>
                  <a:cs typeface="Arial"/>
                </a:rPr>
                <a:t>陷阱与排查</a:t>
              </a:r>
            </a:p>
          </p:txBody>
        </p:sp>
        <p:sp>
          <p:nvSpPr>
            <p:cNvPr id="29" name="Rectangle 29"/>
            <p:cNvSpPr/>
            <p:nvPr/>
          </p:nvSpPr>
          <p:spPr>
            <a:xfrm>
              <a:off x="6286500" y="3381375"/>
              <a:ext cx="5143500" cy="666750"/>
            </a:xfrm>
            <a:prstGeom prst="roundRect">
              <a:avLst>
                <a:gd name="adj" fmla="val 5714"/>
              </a:avLst>
            </a:prstGeom>
            <a:noFill/>
            <a:ln w="9525">
              <a:solidFill>
                <a:srgbClr val="C8E6EF"/>
              </a:solidFill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6477000" y="3524250"/>
              <a:ext cx="4762500" cy="36195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275" dirty="0">
                  <a:solidFill>
                    <a:srgbClr val="6B7C8F"/>
                  </a:solidFill>
                  <a:latin typeface="Arial"/>
                  <a:ea typeface="Microsoft YaHei"/>
                  <a:cs typeface="Arial"/>
                </a:rPr>
                <a:t>优化拓展</a:t>
              </a:r>
            </a:p>
          </p:txBody>
        </p:sp>
      </p:grpSp>
      <p:sp>
        <p:nvSpPr>
          <p:cNvPr id="32" name="Line 32"/>
          <p:cNvSpPr/>
          <p:nvPr/>
        </p:nvSpPr>
        <p:spPr>
          <a:xfrm>
            <a:off x="381000" y="6334125"/>
            <a:ext cx="11430000" cy="9525"/>
          </a:xfrm>
          <a:custGeom>
            <a:avLst/>
            <a:gdLst/>
            <a:ahLst/>
            <a:cxnLst/>
            <a:rect l="l" t="t" r="r" b="b"/>
            <a:pathLst>
              <a:path w="11430000" h="9525">
                <a:moveTo>
                  <a:pt x="0" y="0"/>
                </a:moveTo>
                <a:lnTo>
                  <a:pt x="11430000" y="0"/>
                </a:lnTo>
              </a:path>
            </a:pathLst>
          </a:custGeom>
          <a:noFill/>
          <a:ln w="9525">
            <a:solidFill>
              <a:srgbClr val="E8F4FC"/>
            </a:solidFill>
          </a:ln>
        </p:spPr>
      </p:sp>
      <p:sp>
        <p:nvSpPr>
          <p:cNvPr id="33" name="TextBox 33"/>
          <p:cNvSpPr txBox="1"/>
          <p:nvPr/>
        </p:nvSpPr>
        <p:spPr>
          <a:xfrm>
            <a:off x="10763250" y="6486525"/>
            <a:ext cx="857250" cy="23812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05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E7490"/>
          </a:solidFill>
          <a:ln>
            <a:noFill/>
          </a:ln>
        </p:spPr>
      </p:sp>
      <p:sp>
        <p:nvSpPr>
          <p:cNvPr id="3" name="Freeform 3"/>
          <p:cNvSpPr/>
          <p:nvPr/>
        </p:nvSpPr>
        <p:spPr>
          <a:xfrm>
            <a:off x="5715000" y="0"/>
            <a:ext cx="6477000" cy="6858000"/>
          </a:xfrm>
          <a:custGeom>
            <a:avLst/>
            <a:gdLst/>
            <a:ahLst/>
            <a:cxnLst/>
            <a:rect l="l" t="t" r="r" b="b"/>
            <a:pathLst>
              <a:path w="6477000" h="6858000">
                <a:moveTo>
                  <a:pt x="1905000" y="0"/>
                </a:moveTo>
                <a:lnTo>
                  <a:pt x="6477000" y="0"/>
                </a:lnTo>
                <a:lnTo>
                  <a:pt x="6477000" y="6858000"/>
                </a:lnTo>
                <a:lnTo>
                  <a:pt x="0" y="6858000"/>
                </a:lnTo>
                <a:close/>
              </a:path>
            </a:pathLst>
          </a:custGeom>
          <a:solidFill>
            <a:srgbClr val="06B6D4">
              <a:alpha val="20000"/>
            </a:srgbClr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2286000"/>
            <a:ext cx="114300" cy="2286000"/>
          </a:xfrm>
          <a:prstGeom prst="rect">
            <a:avLst/>
          </a:prstGeom>
          <a:solidFill>
            <a:srgbClr val="CC0000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476250" y="2095500"/>
            <a:ext cx="2952750" cy="31432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8750" b="1" dirty="0">
                <a:solidFill>
                  <a:srgbClr val="FFFFFF">
                    <a:alphaMod val="10000"/>
                  </a:srgbClr>
                </a:solidFill>
                <a:latin typeface="Arial"/>
                <a:ea typeface="Microsoft YaHei"/>
                <a:cs typeface="Arial"/>
              </a:rPr>
              <a:t>15</a:t>
            </a:r>
          </a:p>
        </p:txBody>
      </p:sp>
      <p:sp>
        <p:nvSpPr>
          <p:cNvPr id="6" name="Line 6"/>
          <p:cNvSpPr/>
          <p:nvPr/>
        </p:nvSpPr>
        <p:spPr>
          <a:xfrm>
            <a:off x="3619500" y="2505075"/>
            <a:ext cx="1143000" cy="9525"/>
          </a:xfrm>
          <a:custGeom>
            <a:avLst/>
            <a:gdLst/>
            <a:ahLst/>
            <a:cxnLst/>
            <a:rect l="l" t="t" r="r" b="b"/>
            <a:pathLst>
              <a:path w="1143000" h="9525">
                <a:moveTo>
                  <a:pt x="0" y="0"/>
                </a:moveTo>
                <a:lnTo>
                  <a:pt x="1143000" y="0"/>
                </a:lnTo>
              </a:path>
            </a:pathLst>
          </a:custGeom>
          <a:noFill/>
          <a:ln w="57150">
            <a:solidFill>
              <a:srgbClr val="CC0000"/>
            </a:solidFill>
          </a:ln>
        </p:spPr>
      </p:sp>
      <p:sp>
        <p:nvSpPr>
          <p:cNvPr id="7" name="TextBox 7"/>
          <p:cNvSpPr txBox="1"/>
          <p:nvPr/>
        </p:nvSpPr>
        <p:spPr>
          <a:xfrm>
            <a:off x="3619500" y="2667000"/>
            <a:ext cx="7429500" cy="8763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42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学习目标 / Lernziele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3619500" y="3648075"/>
            <a:ext cx="7620000" cy="4191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1800" dirty="0">
                <a:solidFill>
                  <a:srgbClr val="E8F4FC"/>
                </a:solidFill>
                <a:latin typeface="Arial"/>
                <a:ea typeface="Microsoft YaHei"/>
                <a:cs typeface="Arial"/>
              </a:rPr>
              <a:t>1) 能解释单 Loop的机制；2) 能对比固定的取舍；3) 能跑通 workflow.py 对应测试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6762750" y="6286500"/>
            <a:ext cx="4095750" cy="2857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r"/>
            <a:r>
              <a:rPr lang="zh-CN" sz="1200" dirty="0">
                <a:solidFill>
                  <a:srgbClr val="FFFFFF">
                    <a:alphaMod val="55000"/>
                  </a:srgbClr>
                </a:solidFill>
                <a:latin typeface="Arial"/>
                <a:ea typeface="Microsoft YaHei"/>
                <a:cs typeface="Arial"/>
              </a:rPr>
              <a:t>Agent Runtime 的混合架构选型与设计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E7490"/>
          </a:solidFill>
          <a:ln>
            <a:noFill/>
          </a:ln>
        </p:spPr>
      </p:sp>
      <p:sp>
        <p:nvSpPr>
          <p:cNvPr id="3" name="Freeform 3"/>
          <p:cNvSpPr/>
          <p:nvPr/>
        </p:nvSpPr>
        <p:spPr>
          <a:xfrm>
            <a:off x="5715000" y="0"/>
            <a:ext cx="6477000" cy="6858000"/>
          </a:xfrm>
          <a:custGeom>
            <a:avLst/>
            <a:gdLst/>
            <a:ahLst/>
            <a:cxnLst/>
            <a:rect l="l" t="t" r="r" b="b"/>
            <a:pathLst>
              <a:path w="6477000" h="6858000">
                <a:moveTo>
                  <a:pt x="1905000" y="0"/>
                </a:moveTo>
                <a:lnTo>
                  <a:pt x="6477000" y="0"/>
                </a:lnTo>
                <a:lnTo>
                  <a:pt x="6477000" y="6858000"/>
                </a:lnTo>
                <a:lnTo>
                  <a:pt x="0" y="6858000"/>
                </a:lnTo>
                <a:close/>
              </a:path>
            </a:pathLst>
          </a:custGeom>
          <a:solidFill>
            <a:srgbClr val="06B6D4">
              <a:alpha val="20000"/>
            </a:srgbClr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2286000"/>
            <a:ext cx="114300" cy="2286000"/>
          </a:xfrm>
          <a:prstGeom prst="rect">
            <a:avLst/>
          </a:prstGeom>
          <a:solidFill>
            <a:srgbClr val="CC0000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476250" y="2095500"/>
            <a:ext cx="2952750" cy="31432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8750" b="1" dirty="0">
                <a:solidFill>
                  <a:srgbClr val="FFFFFF">
                    <a:alphaMod val="10000"/>
                  </a:srgbClr>
                </a:solidFill>
                <a:latin typeface="Arial"/>
                <a:ea typeface="Microsoft YaHei"/>
                <a:cs typeface="Arial"/>
              </a:rPr>
              <a:t>04</a:t>
            </a:r>
          </a:p>
        </p:txBody>
      </p:sp>
      <p:sp>
        <p:nvSpPr>
          <p:cNvPr id="6" name="Line 6"/>
          <p:cNvSpPr/>
          <p:nvPr/>
        </p:nvSpPr>
        <p:spPr>
          <a:xfrm>
            <a:off x="3619500" y="2505075"/>
            <a:ext cx="1143000" cy="9525"/>
          </a:xfrm>
          <a:custGeom>
            <a:avLst/>
            <a:gdLst/>
            <a:ahLst/>
            <a:cxnLst/>
            <a:rect l="l" t="t" r="r" b="b"/>
            <a:pathLst>
              <a:path w="1143000" h="9525">
                <a:moveTo>
                  <a:pt x="0" y="0"/>
                </a:moveTo>
                <a:lnTo>
                  <a:pt x="1143000" y="0"/>
                </a:lnTo>
              </a:path>
            </a:pathLst>
          </a:custGeom>
          <a:noFill/>
          <a:ln w="57150">
            <a:solidFill>
              <a:srgbClr val="CC0000"/>
            </a:solidFill>
          </a:ln>
        </p:spPr>
      </p:sp>
      <p:sp>
        <p:nvSpPr>
          <p:cNvPr id="7" name="TextBox 7"/>
          <p:cNvSpPr txBox="1"/>
          <p:nvPr/>
        </p:nvSpPr>
        <p:spPr>
          <a:xfrm>
            <a:off x="3619500" y="2667000"/>
            <a:ext cx="7429500" cy="8763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42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概念详解：单 Loop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3619500" y="3648075"/>
            <a:ext cx="7620000" cy="4191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1800" dirty="0">
                <a:solidFill>
                  <a:srgbClr val="E8F4FC"/>
                </a:solidFill>
                <a:latin typeface="Arial"/>
                <a:ea typeface="Microsoft YaHei"/>
                <a:cs typeface="Arial"/>
              </a:rPr>
              <a:t>「单 Loop」指简单探索。在企业级语境下，它同时约束接口契约、生命周期与治理边界，而不只是一个名词。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6762750" y="6286500"/>
            <a:ext cx="4095750" cy="2857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r"/>
            <a:r>
              <a:rPr lang="zh-CN" sz="1200" dirty="0">
                <a:solidFill>
                  <a:srgbClr val="FFFFFF">
                    <a:alphaMod val="55000"/>
                  </a:srgbClr>
                </a:solidFill>
                <a:latin typeface="Arial"/>
                <a:ea typeface="Microsoft YaHei"/>
                <a:cs typeface="Arial"/>
              </a:rPr>
              <a:t>Agent Runtime 的混合架构选型与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666750"/>
          </a:xfrm>
          <a:prstGeom prst="rect">
            <a:avLst/>
          </a:prstGeom>
          <a:solidFill>
            <a:srgbClr val="0E7490"/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0"/>
            <a:ext cx="57150" cy="666750"/>
          </a:xfrm>
          <a:prstGeom prst="rect">
            <a:avLst/>
          </a:prstGeom>
          <a:solidFill>
            <a:srgbClr val="CC0000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381000" y="123825"/>
            <a:ext cx="762000" cy="4000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1275" b="1" dirty="0">
                <a:solidFill>
                  <a:srgbClr val="9FD3FF"/>
                </a:solidFill>
                <a:latin typeface="Arial"/>
                <a:ea typeface="Microsoft YaHei"/>
                <a:cs typeface="Arial"/>
              </a:rPr>
              <a:t>05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257300" y="95250"/>
            <a:ext cx="8096250" cy="457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21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定义与内涵：单 Loop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0001250" y="76200"/>
            <a:ext cx="1619250" cy="5143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3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DataAgent</a:t>
            </a:r>
          </a:p>
        </p:txBody>
      </p:sp>
      <p:sp>
        <p:nvSpPr>
          <p:cNvPr id="8" name="Rectangle 8"/>
          <p:cNvSpPr/>
          <p:nvPr/>
        </p:nvSpPr>
        <p:spPr>
          <a:xfrm>
            <a:off x="0" y="666750"/>
            <a:ext cx="12192000" cy="476250"/>
          </a:xfrm>
          <a:prstGeom prst="rect">
            <a:avLst/>
          </a:prstGeom>
          <a:solidFill>
            <a:srgbClr val="E8F4FC"/>
          </a:solidFill>
          <a:ln>
            <a:noFill/>
          </a:ln>
        </p:spPr>
      </p:sp>
      <p:sp>
        <p:nvSpPr>
          <p:cNvPr id="9" name="Rectangle 9"/>
          <p:cNvSpPr/>
          <p:nvPr/>
        </p:nvSpPr>
        <p:spPr>
          <a:xfrm>
            <a:off x="0" y="666750"/>
            <a:ext cx="57150" cy="476250"/>
          </a:xfrm>
          <a:prstGeom prst="rect">
            <a:avLst/>
          </a:prstGeom>
          <a:solidFill>
            <a:srgbClr val="06B6D4"/>
          </a:solidFill>
          <a:ln>
            <a:noFill/>
          </a:ln>
        </p:spPr>
      </p:sp>
      <p:sp>
        <p:nvSpPr>
          <p:cNvPr id="10" name="TextBox 10"/>
          <p:cNvSpPr txBox="1"/>
          <p:nvPr/>
        </p:nvSpPr>
        <p:spPr>
          <a:xfrm>
            <a:off x="381000" y="714375"/>
            <a:ext cx="10001250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1350" dirty="0">
                <a:solidFill>
                  <a:srgbClr val="26384A"/>
                </a:solidFill>
                <a:latin typeface="Arial"/>
                <a:ea typeface="Microsoft YaHei"/>
                <a:cs typeface="Arial"/>
              </a:rPr>
              <a:t>把单 Loop讲透：是什么、不是什么</a:t>
            </a:r>
          </a:p>
        </p:txBody>
      </p:sp>
      <p:sp>
        <p:nvSpPr>
          <p:cNvPr id="11" name="Line 11"/>
          <p:cNvSpPr/>
          <p:nvPr/>
        </p:nvSpPr>
        <p:spPr>
          <a:xfrm>
            <a:off x="381000" y="6334125"/>
            <a:ext cx="11430000" cy="9525"/>
          </a:xfrm>
          <a:custGeom>
            <a:avLst/>
            <a:gdLst/>
            <a:ahLst/>
            <a:cxnLst/>
            <a:rect l="l" t="t" r="r" b="b"/>
            <a:pathLst>
              <a:path w="11430000" h="9525">
                <a:moveTo>
                  <a:pt x="0" y="0"/>
                </a:moveTo>
                <a:lnTo>
                  <a:pt x="11430000" y="0"/>
                </a:lnTo>
              </a:path>
            </a:pathLst>
          </a:custGeom>
          <a:noFill/>
          <a:ln w="9525">
            <a:solidFill>
              <a:srgbClr val="E8F4FC"/>
            </a:solidFill>
          </a:ln>
        </p:spPr>
      </p:sp>
      <p:sp>
        <p:nvSpPr>
          <p:cNvPr id="12" name="TextBox 12"/>
          <p:cNvSpPr txBox="1"/>
          <p:nvPr/>
        </p:nvSpPr>
        <p:spPr>
          <a:xfrm>
            <a:off x="381000" y="6477000"/>
            <a:ext cx="4953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课程第15讲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4381500" y="6477000"/>
            <a:ext cx="3429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Agent Runtime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0763250" y="6457950"/>
            <a:ext cx="857250" cy="266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050" dirty="0">
                <a:solidFill>
                  <a:srgbClr val="52657A"/>
                </a:solidFill>
                <a:latin typeface="Arial"/>
                <a:ea typeface="Microsoft YaHei"/>
                <a:cs typeface="Arial"/>
              </a:rPr>
              <a:t>05</a:t>
            </a:r>
          </a:p>
        </p:txBody>
      </p:sp>
      <p:grpSp>
        <p:nvGrpSpPr>
          <p:cNvPr id="21" name="EasySlides Component: evidence_01"/>
          <p:cNvGrpSpPr/>
          <p:nvPr/>
        </p:nvGrpSpPr>
        <p:grpSpPr>
          <a:xfrm>
            <a:off x="495300" y="2095500"/>
            <a:ext cx="11201400" cy="1285875"/>
            <a:chOff x="495300" y="2095500"/>
            <a:chExt cx="11201400" cy="1285875"/>
          </a:xfrm>
        </p:grpSpPr>
        <p:sp>
          <p:nvSpPr>
            <p:cNvPr id="15" name="Rectangle 15"/>
            <p:cNvSpPr/>
            <p:nvPr/>
          </p:nvSpPr>
          <p:spPr>
            <a:xfrm>
              <a:off x="495300" y="2095500"/>
              <a:ext cx="11201400" cy="1285875"/>
            </a:xfrm>
            <a:prstGeom prst="roundRect">
              <a:avLst>
                <a:gd name="adj" fmla="val 2963"/>
              </a:avLst>
            </a:prstGeom>
            <a:solidFill>
              <a:srgbClr val="FFFFFF"/>
            </a:solidFill>
            <a:ln w="11430">
              <a:solidFill>
                <a:srgbClr val="B8C7D6"/>
              </a:solidFill>
            </a:ln>
          </p:spPr>
        </p:sp>
        <p:sp>
          <p:nvSpPr>
            <p:cNvPr id="16" name="Rectangle 16"/>
            <p:cNvSpPr/>
            <p:nvPr/>
          </p:nvSpPr>
          <p:spPr>
            <a:xfrm>
              <a:off x="495300" y="2095500"/>
              <a:ext cx="76200" cy="1285875"/>
            </a:xfrm>
            <a:prstGeom prst="roundRect">
              <a:avLst>
                <a:gd name="adj" fmla="val 50000"/>
              </a:avLst>
            </a:prstGeom>
            <a:solidFill>
              <a:srgbClr val="06B6D4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733425" y="2543175"/>
              <a:ext cx="438150" cy="5238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650" b="1" dirty="0">
                  <a:solidFill>
                    <a:srgbClr val="06B6D4"/>
                  </a:solidFill>
                  <a:latin typeface="Arial"/>
                  <a:ea typeface="Microsoft YaHei"/>
                  <a:cs typeface="Arial"/>
                </a:rPr>
                <a:t>01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1447800" y="2324100"/>
              <a:ext cx="2667000" cy="78105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575" b="1" dirty="0">
                  <a:solidFill>
                    <a:srgbClr val="0E7490"/>
                  </a:solidFill>
                  <a:latin typeface="Arial"/>
                  <a:ea typeface="Microsoft YaHei"/>
                  <a:cs typeface="Arial"/>
                </a:rPr>
                <a:t>定义</a:t>
              </a:r>
            </a:p>
          </p:txBody>
        </p:sp>
        <p:sp>
          <p:nvSpPr>
            <p:cNvPr id="19" name="Line 19"/>
            <p:cNvSpPr/>
            <p:nvPr/>
          </p:nvSpPr>
          <p:spPr>
            <a:xfrm>
              <a:off x="4362450" y="2324100"/>
              <a:ext cx="9525" cy="828675"/>
            </a:xfrm>
            <a:custGeom>
              <a:avLst/>
              <a:gdLst/>
              <a:ahLst/>
              <a:cxnLst/>
              <a:rect l="l" t="t" r="r" b="b"/>
              <a:pathLst>
                <a:path w="9525" h="828675">
                  <a:moveTo>
                    <a:pt x="0" y="0"/>
                  </a:moveTo>
                  <a:lnTo>
                    <a:pt x="0" y="828675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4686300" y="2324100"/>
              <a:ext cx="6572250" cy="78105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425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「单 Loop」指简单探索。在企业级语境下，它同时约束接口契约、生命周期与治理边</a:t>
              </a:r>
            </a:p>
          </p:txBody>
        </p:sp>
      </p:grpSp>
      <p:grpSp>
        <p:nvGrpSpPr>
          <p:cNvPr id="28" name="EasySlides Component: evidence_02"/>
          <p:cNvGrpSpPr/>
          <p:nvPr/>
        </p:nvGrpSpPr>
        <p:grpSpPr>
          <a:xfrm>
            <a:off x="495300" y="3571875"/>
            <a:ext cx="11201400" cy="1285875"/>
            <a:chOff x="495300" y="3571875"/>
            <a:chExt cx="11201400" cy="1285875"/>
          </a:xfrm>
        </p:grpSpPr>
        <p:sp>
          <p:nvSpPr>
            <p:cNvPr id="22" name="Rectangle 22"/>
            <p:cNvSpPr/>
            <p:nvPr/>
          </p:nvSpPr>
          <p:spPr>
            <a:xfrm>
              <a:off x="495300" y="3571875"/>
              <a:ext cx="11201400" cy="1285875"/>
            </a:xfrm>
            <a:prstGeom prst="roundRect">
              <a:avLst>
                <a:gd name="adj" fmla="val 2963"/>
              </a:avLst>
            </a:prstGeom>
            <a:solidFill>
              <a:srgbClr val="FFFFFF"/>
            </a:solidFill>
            <a:ln w="11430">
              <a:solidFill>
                <a:srgbClr val="B8C7D6"/>
              </a:solidFill>
            </a:ln>
          </p:spPr>
        </p:sp>
        <p:sp>
          <p:nvSpPr>
            <p:cNvPr id="23" name="Rectangle 23"/>
            <p:cNvSpPr/>
            <p:nvPr/>
          </p:nvSpPr>
          <p:spPr>
            <a:xfrm>
              <a:off x="495300" y="3571875"/>
              <a:ext cx="76200" cy="1285875"/>
            </a:xfrm>
            <a:prstGeom prst="roundRect">
              <a:avLst>
                <a:gd name="adj" fmla="val 50000"/>
              </a:avLst>
            </a:prstGeom>
            <a:solidFill>
              <a:srgbClr val="06B6D4"/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733425" y="4019550"/>
              <a:ext cx="438150" cy="5238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650" b="1" dirty="0">
                  <a:solidFill>
                    <a:srgbClr val="06B6D4"/>
                  </a:solidFill>
                  <a:latin typeface="Arial"/>
                  <a:ea typeface="Microsoft YaHei"/>
                  <a:cs typeface="Arial"/>
                </a:rPr>
                <a:t>02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1447800" y="3800475"/>
              <a:ext cx="2667000" cy="78105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575" b="1" dirty="0">
                  <a:solidFill>
                    <a:srgbClr val="0E7490"/>
                  </a:solidFill>
                  <a:latin typeface="Arial"/>
                  <a:ea typeface="Microsoft YaHei"/>
                  <a:cs typeface="Arial"/>
                </a:rPr>
                <a:t>何时选</a:t>
              </a:r>
            </a:p>
          </p:txBody>
        </p:sp>
        <p:sp>
          <p:nvSpPr>
            <p:cNvPr id="26" name="Line 26"/>
            <p:cNvSpPr/>
            <p:nvPr/>
          </p:nvSpPr>
          <p:spPr>
            <a:xfrm>
              <a:off x="4362450" y="3800475"/>
              <a:ext cx="9525" cy="828675"/>
            </a:xfrm>
            <a:custGeom>
              <a:avLst/>
              <a:gdLst/>
              <a:ahLst/>
              <a:cxnLst/>
              <a:rect l="l" t="t" r="r" b="b"/>
              <a:pathLst>
                <a:path w="9525" h="828675">
                  <a:moveTo>
                    <a:pt x="0" y="0"/>
                  </a:moveTo>
                  <a:lnTo>
                    <a:pt x="0" y="828675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4686300" y="3800475"/>
              <a:ext cx="6572250" cy="78105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425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何时选维度：简单探索</a:t>
              </a:r>
            </a:p>
          </p:txBody>
        </p:sp>
      </p:grpSp>
      <p:grpSp>
        <p:nvGrpSpPr>
          <p:cNvPr id="35" name="EasySlides Component: evidence_03"/>
          <p:cNvGrpSpPr/>
          <p:nvPr/>
        </p:nvGrpSpPr>
        <p:grpSpPr>
          <a:xfrm>
            <a:off x="495300" y="4905375"/>
            <a:ext cx="11201400" cy="1285875"/>
            <a:chOff x="495300" y="4905375"/>
            <a:chExt cx="11201400" cy="1285875"/>
          </a:xfrm>
        </p:grpSpPr>
        <p:sp>
          <p:nvSpPr>
            <p:cNvPr id="29" name="Rectangle 29"/>
            <p:cNvSpPr/>
            <p:nvPr/>
          </p:nvSpPr>
          <p:spPr>
            <a:xfrm>
              <a:off x="495300" y="4905375"/>
              <a:ext cx="11201400" cy="1285875"/>
            </a:xfrm>
            <a:prstGeom prst="roundRect">
              <a:avLst>
                <a:gd name="adj" fmla="val 2963"/>
              </a:avLst>
            </a:prstGeom>
            <a:solidFill>
              <a:srgbClr val="FFFFFF"/>
            </a:solidFill>
            <a:ln w="11430">
              <a:solidFill>
                <a:srgbClr val="B8C7D6"/>
              </a:solidFill>
            </a:ln>
          </p:spPr>
        </p:sp>
        <p:sp>
          <p:nvSpPr>
            <p:cNvPr id="30" name="Rectangle 30"/>
            <p:cNvSpPr/>
            <p:nvPr/>
          </p:nvSpPr>
          <p:spPr>
            <a:xfrm>
              <a:off x="495300" y="4905375"/>
              <a:ext cx="76200" cy="1285875"/>
            </a:xfrm>
            <a:prstGeom prst="roundRect">
              <a:avLst>
                <a:gd name="adj" fmla="val 50000"/>
              </a:avLst>
            </a:prstGeom>
            <a:solidFill>
              <a:srgbClr val="06B6D4"/>
            </a:solidFill>
            <a:ln>
              <a:noFill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733425" y="5353050"/>
              <a:ext cx="438150" cy="5238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650" b="1" dirty="0">
                  <a:solidFill>
                    <a:srgbClr val="06B6D4"/>
                  </a:solidFill>
                  <a:latin typeface="Arial"/>
                  <a:ea typeface="Microsoft YaHei"/>
                  <a:cs typeface="Arial"/>
                </a:rPr>
                <a:t>03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1447800" y="5133975"/>
              <a:ext cx="2667000" cy="78105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575" b="1" dirty="0">
                  <a:solidFill>
                    <a:srgbClr val="0E7490"/>
                  </a:solidFill>
                  <a:latin typeface="Arial"/>
                  <a:ea typeface="Microsoft YaHei"/>
                  <a:cs typeface="Arial"/>
                </a:rPr>
                <a:t>要点</a:t>
              </a:r>
            </a:p>
          </p:txBody>
        </p:sp>
        <p:sp>
          <p:nvSpPr>
            <p:cNvPr id="33" name="Line 33"/>
            <p:cNvSpPr/>
            <p:nvPr/>
          </p:nvSpPr>
          <p:spPr>
            <a:xfrm>
              <a:off x="4362450" y="5133975"/>
              <a:ext cx="9525" cy="828675"/>
            </a:xfrm>
            <a:custGeom>
              <a:avLst/>
              <a:gdLst/>
              <a:ahLst/>
              <a:cxnLst/>
              <a:rect l="l" t="t" r="r" b="b"/>
              <a:pathLst>
                <a:path w="9525" h="828675">
                  <a:moveTo>
                    <a:pt x="0" y="0"/>
                  </a:moveTo>
                  <a:lnTo>
                    <a:pt x="0" y="828675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4686300" y="5133975"/>
              <a:ext cx="6572250" cy="78105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425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要点维度：简单探索</a:t>
              </a:r>
            </a:p>
          </p:txBody>
        </p:sp>
      </p:grpSp>
      <p:grpSp>
        <p:nvGrpSpPr>
          <p:cNvPr id="39" name="EasySlides Component: synthesis"/>
          <p:cNvGrpSpPr/>
          <p:nvPr/>
        </p:nvGrpSpPr>
        <p:grpSpPr>
          <a:xfrm>
            <a:off x="495300" y="1285875"/>
            <a:ext cx="11201400" cy="714375"/>
            <a:chOff x="495300" y="1285875"/>
            <a:chExt cx="11201400" cy="714375"/>
          </a:xfrm>
        </p:grpSpPr>
        <p:sp>
          <p:nvSpPr>
            <p:cNvPr id="36" name="Rectangle 36"/>
            <p:cNvSpPr/>
            <p:nvPr/>
          </p:nvSpPr>
          <p:spPr>
            <a:xfrm>
              <a:off x="495300" y="1285875"/>
              <a:ext cx="11201400" cy="714375"/>
            </a:xfrm>
            <a:prstGeom prst="roundRect">
              <a:avLst>
                <a:gd name="adj" fmla="val 5333"/>
              </a:avLst>
            </a:prstGeom>
            <a:solidFill>
              <a:srgbClr val="0E7490"/>
            </a:solidFill>
            <a:ln>
              <a:noFill/>
            </a:ln>
          </p:spPr>
        </p:sp>
        <p:sp>
          <p:nvSpPr>
            <p:cNvPr id="37" name="Rectangle 37"/>
            <p:cNvSpPr/>
            <p:nvPr/>
          </p:nvSpPr>
          <p:spPr>
            <a:xfrm>
              <a:off x="495300" y="1285875"/>
              <a:ext cx="76200" cy="714375"/>
            </a:xfrm>
            <a:prstGeom prst="roundRect">
              <a:avLst>
                <a:gd name="adj" fmla="val 50000"/>
              </a:avLst>
            </a:prstGeom>
            <a:solidFill>
              <a:srgbClr val="CC0000"/>
            </a:solidFill>
            <a:ln>
              <a:noFill/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876300" y="1419225"/>
              <a:ext cx="10439400" cy="4476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65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自主与流程的混合编排：Harness 负责探索，Workflow 负责收口。</a:t>
              </a:r>
            </a:p>
          </p:txBody>
        </p:sp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666750"/>
          </a:xfrm>
          <a:prstGeom prst="rect">
            <a:avLst/>
          </a:prstGeom>
          <a:solidFill>
            <a:srgbClr val="0E7490"/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0"/>
            <a:ext cx="57150" cy="666750"/>
          </a:xfrm>
          <a:prstGeom prst="rect">
            <a:avLst/>
          </a:prstGeom>
          <a:solidFill>
            <a:srgbClr val="CC0000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381000" y="123825"/>
            <a:ext cx="762000" cy="4000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1275" b="1" dirty="0">
                <a:solidFill>
                  <a:srgbClr val="9FD3FF"/>
                </a:solidFill>
                <a:latin typeface="Arial"/>
                <a:ea typeface="Microsoft YaHei"/>
                <a:cs typeface="Arial"/>
              </a:rPr>
              <a:t>06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257300" y="95250"/>
            <a:ext cx="8096250" cy="457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21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机制图解：单 Loop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0001250" y="76200"/>
            <a:ext cx="1619250" cy="5143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3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DataAgent</a:t>
            </a:r>
          </a:p>
        </p:txBody>
      </p:sp>
      <p:sp>
        <p:nvSpPr>
          <p:cNvPr id="8" name="Rectangle 8"/>
          <p:cNvSpPr/>
          <p:nvPr/>
        </p:nvSpPr>
        <p:spPr>
          <a:xfrm>
            <a:off x="0" y="666750"/>
            <a:ext cx="12192000" cy="476250"/>
          </a:xfrm>
          <a:prstGeom prst="rect">
            <a:avLst/>
          </a:prstGeom>
          <a:solidFill>
            <a:srgbClr val="E8F4FC"/>
          </a:solidFill>
          <a:ln>
            <a:noFill/>
          </a:ln>
        </p:spPr>
      </p:sp>
      <p:sp>
        <p:nvSpPr>
          <p:cNvPr id="9" name="Rectangle 9"/>
          <p:cNvSpPr/>
          <p:nvPr/>
        </p:nvSpPr>
        <p:spPr>
          <a:xfrm>
            <a:off x="0" y="666750"/>
            <a:ext cx="57150" cy="476250"/>
          </a:xfrm>
          <a:prstGeom prst="rect">
            <a:avLst/>
          </a:prstGeom>
          <a:solidFill>
            <a:srgbClr val="06B6D4"/>
          </a:solidFill>
          <a:ln>
            <a:noFill/>
          </a:ln>
        </p:spPr>
      </p:sp>
      <p:sp>
        <p:nvSpPr>
          <p:cNvPr id="10" name="TextBox 10"/>
          <p:cNvSpPr txBox="1"/>
          <p:nvPr/>
        </p:nvSpPr>
        <p:spPr>
          <a:xfrm>
            <a:off x="381000" y="714375"/>
            <a:ext cx="10001250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1350" dirty="0">
                <a:solidFill>
                  <a:srgbClr val="26384A"/>
                </a:solidFill>
                <a:latin typeface="Arial"/>
                <a:ea typeface="Microsoft YaHei"/>
                <a:cs typeface="Arial"/>
              </a:rPr>
              <a:t>一图看懂运行机制与数据流</a:t>
            </a:r>
          </a:p>
        </p:txBody>
      </p:sp>
      <p:sp>
        <p:nvSpPr>
          <p:cNvPr id="11" name="Line 11"/>
          <p:cNvSpPr/>
          <p:nvPr/>
        </p:nvSpPr>
        <p:spPr>
          <a:xfrm>
            <a:off x="381000" y="6334125"/>
            <a:ext cx="11430000" cy="9525"/>
          </a:xfrm>
          <a:custGeom>
            <a:avLst/>
            <a:gdLst/>
            <a:ahLst/>
            <a:cxnLst/>
            <a:rect l="l" t="t" r="r" b="b"/>
            <a:pathLst>
              <a:path w="11430000" h="9525">
                <a:moveTo>
                  <a:pt x="0" y="0"/>
                </a:moveTo>
                <a:lnTo>
                  <a:pt x="11430000" y="0"/>
                </a:lnTo>
              </a:path>
            </a:pathLst>
          </a:custGeom>
          <a:noFill/>
          <a:ln w="9525">
            <a:solidFill>
              <a:srgbClr val="E8F4FC"/>
            </a:solidFill>
          </a:ln>
        </p:spPr>
      </p:sp>
      <p:sp>
        <p:nvSpPr>
          <p:cNvPr id="12" name="TextBox 12"/>
          <p:cNvSpPr txBox="1"/>
          <p:nvPr/>
        </p:nvSpPr>
        <p:spPr>
          <a:xfrm>
            <a:off x="381000" y="6477000"/>
            <a:ext cx="4953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课程第15讲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4381500" y="6477000"/>
            <a:ext cx="3429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Agent Runtime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0763250" y="6457950"/>
            <a:ext cx="857250" cy="266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050" dirty="0">
                <a:solidFill>
                  <a:srgbClr val="52657A"/>
                </a:solidFill>
                <a:latin typeface="Arial"/>
                <a:ea typeface="Microsoft YaHei"/>
                <a:cs typeface="Arial"/>
              </a:rPr>
              <a:t>06</a:t>
            </a:r>
          </a:p>
        </p:txBody>
      </p:sp>
      <p:grpSp>
        <p:nvGrpSpPr>
          <p:cNvPr id="26" name="EasySlides Component: evidence"/>
          <p:cNvGrpSpPr/>
          <p:nvPr/>
        </p:nvGrpSpPr>
        <p:grpSpPr>
          <a:xfrm>
            <a:off x="7124700" y="1285875"/>
            <a:ext cx="4572000" cy="4905375"/>
            <a:chOff x="7124700" y="1285875"/>
            <a:chExt cx="4572000" cy="4905375"/>
          </a:xfrm>
        </p:grpSpPr>
        <p:sp>
          <p:nvSpPr>
            <p:cNvPr id="15" name="Rectangle 15"/>
            <p:cNvSpPr/>
            <p:nvPr/>
          </p:nvSpPr>
          <p:spPr>
            <a:xfrm>
              <a:off x="7124700" y="1285875"/>
              <a:ext cx="4572000" cy="4905375"/>
            </a:xfrm>
            <a:prstGeom prst="roundRect">
              <a:avLst>
                <a:gd name="adj" fmla="val 833"/>
              </a:avLst>
            </a:prstGeom>
            <a:solidFill>
              <a:srgbClr val="F0F9FC"/>
            </a:solidFill>
            <a:ln w="11430">
              <a:solidFill>
                <a:srgbClr val="B8C7D6"/>
              </a:solidFill>
            </a:ln>
          </p:spPr>
        </p:sp>
        <p:sp>
          <p:nvSpPr>
            <p:cNvPr id="16" name="Rectangle 16"/>
            <p:cNvSpPr/>
            <p:nvPr/>
          </p:nvSpPr>
          <p:spPr>
            <a:xfrm>
              <a:off x="7124700" y="1285875"/>
              <a:ext cx="76200" cy="4905375"/>
            </a:xfrm>
            <a:prstGeom prst="rect">
              <a:avLst/>
            </a:prstGeom>
            <a:solidFill>
              <a:srgbClr val="06B6D4"/>
            </a:solidFill>
            <a:ln>
              <a:noFill/>
            </a:ln>
          </p:spPr>
        </p:sp>
        <p:sp>
          <p:nvSpPr>
            <p:cNvPr id="17" name="Rectangle 17"/>
            <p:cNvSpPr/>
            <p:nvPr/>
          </p:nvSpPr>
          <p:spPr>
            <a:xfrm>
              <a:off x="7391400" y="1552575"/>
              <a:ext cx="4038600" cy="1257300"/>
            </a:xfrm>
            <a:prstGeom prst="roundRect">
              <a:avLst>
                <a:gd name="adj" fmla="val 1515"/>
              </a:avLst>
            </a:prstGeom>
            <a:solidFill>
              <a:srgbClr val="FFFFFF"/>
            </a:solidFill>
            <a:ln w="9525">
              <a:solidFill>
                <a:srgbClr val="D4E2EE"/>
              </a:solidFill>
            </a:ln>
          </p:spPr>
        </p:sp>
        <p:sp>
          <p:nvSpPr>
            <p:cNvPr id="18" name="Rectangle 18"/>
            <p:cNvSpPr/>
            <p:nvPr/>
          </p:nvSpPr>
          <p:spPr>
            <a:xfrm>
              <a:off x="7391400" y="3105150"/>
              <a:ext cx="4038600" cy="1257300"/>
            </a:xfrm>
            <a:prstGeom prst="roundRect">
              <a:avLst>
                <a:gd name="adj" fmla="val 1515"/>
              </a:avLst>
            </a:prstGeom>
            <a:solidFill>
              <a:srgbClr val="FFFFFF"/>
            </a:solidFill>
            <a:ln w="9525">
              <a:solidFill>
                <a:srgbClr val="D4E2EE"/>
              </a:solidFill>
            </a:ln>
          </p:spPr>
        </p:sp>
        <p:sp>
          <p:nvSpPr>
            <p:cNvPr id="19" name="Rectangle 19"/>
            <p:cNvSpPr/>
            <p:nvPr/>
          </p:nvSpPr>
          <p:spPr>
            <a:xfrm>
              <a:off x="7391400" y="4657725"/>
              <a:ext cx="4038600" cy="1257300"/>
            </a:xfrm>
            <a:prstGeom prst="roundRect">
              <a:avLst>
                <a:gd name="adj" fmla="val 1515"/>
              </a:avLst>
            </a:prstGeom>
            <a:solidFill>
              <a:srgbClr val="FFFFFF"/>
            </a:solidFill>
            <a:ln w="9525">
              <a:solidFill>
                <a:srgbClr val="D4E2EE"/>
              </a:solidFill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7605712" y="1745456"/>
              <a:ext cx="220156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06B6D4"/>
                  </a:solidFill>
                  <a:latin typeface="Arial"/>
                  <a:ea typeface="Microsoft YaHei"/>
                  <a:cs typeface="Arial"/>
                </a:rPr>
                <a:t>01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7605712" y="3298031"/>
              <a:ext cx="220156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06B6D4"/>
                  </a:solidFill>
                  <a:latin typeface="Arial"/>
                  <a:ea typeface="Microsoft YaHei"/>
                  <a:cs typeface="Arial"/>
                </a:rPr>
                <a:t>02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7605712" y="4850606"/>
              <a:ext cx="220156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CC0000"/>
                  </a:solidFill>
                  <a:latin typeface="Arial"/>
                  <a:ea typeface="Microsoft YaHei"/>
                  <a:cs typeface="Arial"/>
                </a:rPr>
                <a:t>03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7848600" y="1819275"/>
              <a:ext cx="3314700" cy="7239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425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「单 Loop」的运行机制分三步：输入契约校验 → 核心转换执行 → 结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7848600" y="3371850"/>
              <a:ext cx="3314700" cy="7239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425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关键环节：契约→执行→验证→留痕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7848600" y="4924425"/>
              <a:ext cx="3314700" cy="7239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425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落点：仓库验证</a:t>
              </a:r>
            </a:p>
          </p:txBody>
        </p:sp>
      </p:grpSp>
      <p:grpSp>
        <p:nvGrpSpPr>
          <p:cNvPr id="32" name="EasySlides Component: figure"/>
          <p:cNvGrpSpPr/>
          <p:nvPr/>
        </p:nvGrpSpPr>
        <p:grpSpPr>
          <a:xfrm>
            <a:off x="495300" y="1285875"/>
            <a:ext cx="6400800" cy="4905375"/>
            <a:chOff x="495300" y="1285875"/>
            <a:chExt cx="6400800" cy="4905375"/>
          </a:xfrm>
        </p:grpSpPr>
        <p:sp>
          <p:nvSpPr>
            <p:cNvPr id="27" name="Rectangle 27"/>
            <p:cNvSpPr/>
            <p:nvPr/>
          </p:nvSpPr>
          <p:spPr>
            <a:xfrm>
              <a:off x="495300" y="1285875"/>
              <a:ext cx="6400800" cy="4905375"/>
            </a:xfrm>
            <a:prstGeom prst="roundRect">
              <a:avLst>
                <a:gd name="adj" fmla="val 777"/>
              </a:avLst>
            </a:prstGeom>
            <a:solidFill>
              <a:srgbClr val="FFFFFF"/>
            </a:solidFill>
            <a:ln w="11430">
              <a:solidFill>
                <a:srgbClr val="B8C7D6"/>
              </a:solidFill>
            </a:ln>
          </p:spPr>
        </p:sp>
        <p:sp>
          <p:nvSpPr>
            <p:cNvPr id="28" name="Rectangle 28"/>
            <p:cNvSpPr/>
            <p:nvPr/>
          </p:nvSpPr>
          <p:spPr>
            <a:xfrm>
              <a:off x="647700" y="1438275"/>
              <a:ext cx="6096000" cy="3905250"/>
            </a:xfrm>
            <a:prstGeom prst="roundRect">
              <a:avLst>
                <a:gd name="adj" fmla="val 488"/>
              </a:avLst>
            </a:prstGeom>
            <a:solidFill>
              <a:srgbClr val="F0F9FC"/>
            </a:solidFill>
            <a:ln w="9525">
              <a:solidFill>
                <a:srgbClr val="D4E2EE"/>
              </a:solidFill>
            </a:ln>
          </p:spPr>
        </p:sp>
        <p:pic>
          <p:nvPicPr>
            <p:cNvPr id="29" name="Image 29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647700" y="1605643"/>
              <a:ext cx="6096000" cy="3570514"/>
            </a:xfrm>
            <a:prstGeom prst="rect">
              <a:avLst/>
            </a:prstGeom>
          </p:spPr>
        </p:pic>
        <p:sp>
          <p:nvSpPr>
            <p:cNvPr id="30" name="Line 30"/>
            <p:cNvSpPr/>
            <p:nvPr/>
          </p:nvSpPr>
          <p:spPr>
            <a:xfrm>
              <a:off x="723900" y="5534025"/>
              <a:ext cx="5943600" cy="9525"/>
            </a:xfrm>
            <a:custGeom>
              <a:avLst/>
              <a:gdLst/>
              <a:ahLst/>
              <a:cxnLst/>
              <a:rect l="l" t="t" r="r" b="b"/>
              <a:pathLst>
                <a:path w="5943600" h="9525">
                  <a:moveTo>
                    <a:pt x="0" y="0"/>
                  </a:moveTo>
                  <a:lnTo>
                    <a:pt x="5943600" y="0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800100" y="5610225"/>
              <a:ext cx="5791200" cy="4572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350" dirty="0">
                  <a:solidFill>
                    <a:srgbClr val="52657A"/>
                  </a:solidFill>
                  <a:latin typeface="Arial"/>
                  <a:ea typeface="Microsoft YaHei"/>
                  <a:cs typeface="Arial"/>
                </a:rPr>
                <a:t>图：单 Loop 的机制与数据流（flow_v 视角）</a:t>
              </a:r>
            </a:p>
          </p:txBody>
        </p:sp>
      </p:grp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666750"/>
          </a:xfrm>
          <a:prstGeom prst="rect">
            <a:avLst/>
          </a:prstGeom>
          <a:solidFill>
            <a:srgbClr val="0E7490"/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0"/>
            <a:ext cx="57150" cy="666750"/>
          </a:xfrm>
          <a:prstGeom prst="rect">
            <a:avLst/>
          </a:prstGeom>
          <a:solidFill>
            <a:srgbClr val="CC0000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381000" y="123825"/>
            <a:ext cx="762000" cy="4000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1275" b="1" dirty="0">
                <a:solidFill>
                  <a:srgbClr val="9FD3FF"/>
                </a:solidFill>
                <a:latin typeface="Arial"/>
                <a:ea typeface="Microsoft YaHei"/>
                <a:cs typeface="Arial"/>
              </a:rPr>
              <a:t>07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257300" y="95250"/>
            <a:ext cx="8096250" cy="457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21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深入原理：单 Loop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0001250" y="76200"/>
            <a:ext cx="1619250" cy="5143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3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DataAgent</a:t>
            </a:r>
          </a:p>
        </p:txBody>
      </p:sp>
      <p:sp>
        <p:nvSpPr>
          <p:cNvPr id="8" name="Rectangle 8"/>
          <p:cNvSpPr/>
          <p:nvPr/>
        </p:nvSpPr>
        <p:spPr>
          <a:xfrm>
            <a:off x="0" y="666750"/>
            <a:ext cx="12192000" cy="476250"/>
          </a:xfrm>
          <a:prstGeom prst="rect">
            <a:avLst/>
          </a:prstGeom>
          <a:solidFill>
            <a:srgbClr val="E8F4FC"/>
          </a:solidFill>
          <a:ln>
            <a:noFill/>
          </a:ln>
        </p:spPr>
      </p:sp>
      <p:sp>
        <p:nvSpPr>
          <p:cNvPr id="9" name="Rectangle 9"/>
          <p:cNvSpPr/>
          <p:nvPr/>
        </p:nvSpPr>
        <p:spPr>
          <a:xfrm>
            <a:off x="0" y="666750"/>
            <a:ext cx="57150" cy="476250"/>
          </a:xfrm>
          <a:prstGeom prst="rect">
            <a:avLst/>
          </a:prstGeom>
          <a:solidFill>
            <a:srgbClr val="06B6D4"/>
          </a:solidFill>
          <a:ln>
            <a:noFill/>
          </a:ln>
        </p:spPr>
      </p:sp>
      <p:sp>
        <p:nvSpPr>
          <p:cNvPr id="10" name="TextBox 10"/>
          <p:cNvSpPr txBox="1"/>
          <p:nvPr/>
        </p:nvSpPr>
        <p:spPr>
          <a:xfrm>
            <a:off x="381000" y="714375"/>
            <a:ext cx="10001250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1350" dirty="0">
                <a:solidFill>
                  <a:srgbClr val="26384A"/>
                </a:solidFill>
                <a:latin typeface="Arial"/>
                <a:ea typeface="Microsoft YaHei"/>
                <a:cs typeface="Arial"/>
              </a:rPr>
              <a:t>正确姿势 vs 常见误用</a:t>
            </a:r>
          </a:p>
        </p:txBody>
      </p:sp>
      <p:sp>
        <p:nvSpPr>
          <p:cNvPr id="11" name="Line 11"/>
          <p:cNvSpPr/>
          <p:nvPr/>
        </p:nvSpPr>
        <p:spPr>
          <a:xfrm>
            <a:off x="381000" y="6334125"/>
            <a:ext cx="11430000" cy="9525"/>
          </a:xfrm>
          <a:custGeom>
            <a:avLst/>
            <a:gdLst/>
            <a:ahLst/>
            <a:cxnLst/>
            <a:rect l="l" t="t" r="r" b="b"/>
            <a:pathLst>
              <a:path w="11430000" h="9525">
                <a:moveTo>
                  <a:pt x="0" y="0"/>
                </a:moveTo>
                <a:lnTo>
                  <a:pt x="11430000" y="0"/>
                </a:lnTo>
              </a:path>
            </a:pathLst>
          </a:custGeom>
          <a:noFill/>
          <a:ln w="9525">
            <a:solidFill>
              <a:srgbClr val="E8F4FC"/>
            </a:solidFill>
          </a:ln>
        </p:spPr>
      </p:sp>
      <p:sp>
        <p:nvSpPr>
          <p:cNvPr id="12" name="TextBox 12"/>
          <p:cNvSpPr txBox="1"/>
          <p:nvPr/>
        </p:nvSpPr>
        <p:spPr>
          <a:xfrm>
            <a:off x="381000" y="6477000"/>
            <a:ext cx="4953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课程第15讲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4381500" y="6477000"/>
            <a:ext cx="3429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Agent Runtime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0763250" y="6457950"/>
            <a:ext cx="857250" cy="266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050" dirty="0">
                <a:solidFill>
                  <a:srgbClr val="52657A"/>
                </a:solidFill>
                <a:latin typeface="Arial"/>
                <a:ea typeface="Microsoft YaHei"/>
                <a:cs typeface="Arial"/>
              </a:rPr>
              <a:t>07</a:t>
            </a:r>
          </a:p>
        </p:txBody>
      </p:sp>
      <p:grpSp>
        <p:nvGrpSpPr>
          <p:cNvPr id="22" name="EasySlides Component: left"/>
          <p:cNvGrpSpPr/>
          <p:nvPr/>
        </p:nvGrpSpPr>
        <p:grpSpPr>
          <a:xfrm>
            <a:off x="495300" y="1285875"/>
            <a:ext cx="5410200" cy="4000500"/>
            <a:chOff x="495300" y="1285875"/>
            <a:chExt cx="5410200" cy="4000500"/>
          </a:xfrm>
        </p:grpSpPr>
        <p:sp>
          <p:nvSpPr>
            <p:cNvPr id="15" name="Rectangle 15"/>
            <p:cNvSpPr/>
            <p:nvPr/>
          </p:nvSpPr>
          <p:spPr>
            <a:xfrm>
              <a:off x="495300" y="1285875"/>
              <a:ext cx="5410200" cy="4000500"/>
            </a:xfrm>
            <a:prstGeom prst="roundRect">
              <a:avLst>
                <a:gd name="adj" fmla="val 952"/>
              </a:avLst>
            </a:prstGeom>
            <a:solidFill>
              <a:srgbClr val="FFFFFF"/>
            </a:solidFill>
            <a:ln w="11430">
              <a:solidFill>
                <a:srgbClr val="B8C7D6"/>
              </a:solidFill>
            </a:ln>
          </p:spPr>
        </p:sp>
        <p:sp>
          <p:nvSpPr>
            <p:cNvPr id="16" name="Rectangle 16"/>
            <p:cNvSpPr/>
            <p:nvPr/>
          </p:nvSpPr>
          <p:spPr>
            <a:xfrm>
              <a:off x="495300" y="1285875"/>
              <a:ext cx="5410200" cy="609600"/>
            </a:xfrm>
            <a:prstGeom prst="roundRect">
              <a:avLst>
                <a:gd name="adj" fmla="val 6250"/>
              </a:avLst>
            </a:prstGeom>
            <a:solidFill>
              <a:srgbClr val="E8F4FC"/>
            </a:solidFill>
            <a:ln>
              <a:noFill/>
            </a:ln>
          </p:spPr>
        </p:sp>
        <p:sp>
          <p:nvSpPr>
            <p:cNvPr id="17" name="Rectangle 17"/>
            <p:cNvSpPr/>
            <p:nvPr/>
          </p:nvSpPr>
          <p:spPr>
            <a:xfrm>
              <a:off x="495300" y="1285875"/>
              <a:ext cx="57150" cy="609600"/>
            </a:xfrm>
            <a:prstGeom prst="rect">
              <a:avLst/>
            </a:prstGeom>
            <a:solidFill>
              <a:srgbClr val="06B6D4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800100" y="1419225"/>
              <a:ext cx="4800600" cy="3429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725" b="1" dirty="0">
                  <a:solidFill>
                    <a:srgbClr val="0E7490"/>
                  </a:solidFill>
                  <a:latin typeface="Arial"/>
                  <a:ea typeface="Microsoft YaHei"/>
                  <a:cs typeface="Arial"/>
                </a:rPr>
                <a:t>正确姿势</a:t>
              </a:r>
            </a:p>
          </p:txBody>
        </p:sp>
        <p:sp>
          <p:nvSpPr>
            <p:cNvPr id="19" name="Line 19"/>
            <p:cNvSpPr/>
            <p:nvPr/>
          </p:nvSpPr>
          <p:spPr>
            <a:xfrm>
              <a:off x="800100" y="2276475"/>
              <a:ext cx="4800600" cy="9525"/>
            </a:xfrm>
            <a:custGeom>
              <a:avLst/>
              <a:gdLst/>
              <a:ahLst/>
              <a:cxnLst/>
              <a:rect l="l" t="t" r="r" b="b"/>
              <a:pathLst>
                <a:path w="4800600" h="9525">
                  <a:moveTo>
                    <a:pt x="0" y="0"/>
                  </a:moveTo>
                  <a:lnTo>
                    <a:pt x="4800600" y="0"/>
                  </a:lnTo>
                </a:path>
              </a:pathLst>
            </a:custGeom>
            <a:noFill/>
            <a:ln w="19050">
              <a:solidFill>
                <a:srgbClr val="D4E2EE"/>
              </a:solidFill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1028700" y="2505075"/>
              <a:ext cx="4343400" cy="20955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650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正确姿势：先定义「单 Loop」的契约与不变量，再谈实现；所有旁路都必须被审计。</a:t>
              </a:r>
            </a:p>
            <a:p>
              <a:pPr algn="l"/>
              <a:r>
                <a:rPr lang="zh-CN" sz="1650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契约先行，证据留痕</a:t>
              </a:r>
            </a:p>
          </p:txBody>
        </p:sp>
        <p:sp>
          <p:nvSpPr>
            <p:cNvPr id="21" name="Line 21"/>
            <p:cNvSpPr/>
            <p:nvPr/>
          </p:nvSpPr>
          <p:spPr>
            <a:xfrm>
              <a:off x="800100" y="4905375"/>
              <a:ext cx="4800600" cy="9525"/>
            </a:xfrm>
            <a:custGeom>
              <a:avLst/>
              <a:gdLst/>
              <a:ahLst/>
              <a:cxnLst/>
              <a:rect l="l" t="t" r="r" b="b"/>
              <a:pathLst>
                <a:path w="4800600" h="9525">
                  <a:moveTo>
                    <a:pt x="0" y="0"/>
                  </a:moveTo>
                  <a:lnTo>
                    <a:pt x="4800600" y="0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</p:grpSp>
      <p:grpSp>
        <p:nvGrpSpPr>
          <p:cNvPr id="30" name="EasySlides Component: right"/>
          <p:cNvGrpSpPr/>
          <p:nvPr/>
        </p:nvGrpSpPr>
        <p:grpSpPr>
          <a:xfrm>
            <a:off x="6286500" y="1285875"/>
            <a:ext cx="5410200" cy="4000500"/>
            <a:chOff x="6286500" y="1285875"/>
            <a:chExt cx="5410200" cy="4000500"/>
          </a:xfrm>
        </p:grpSpPr>
        <p:sp>
          <p:nvSpPr>
            <p:cNvPr id="23" name="Rectangle 23"/>
            <p:cNvSpPr/>
            <p:nvPr/>
          </p:nvSpPr>
          <p:spPr>
            <a:xfrm>
              <a:off x="6286500" y="1285875"/>
              <a:ext cx="5410200" cy="4000500"/>
            </a:xfrm>
            <a:prstGeom prst="roundRect">
              <a:avLst>
                <a:gd name="adj" fmla="val 952"/>
              </a:avLst>
            </a:prstGeom>
            <a:solidFill>
              <a:srgbClr val="FFFFFF"/>
            </a:solidFill>
            <a:ln w="11430">
              <a:solidFill>
                <a:srgbClr val="B8C7D6"/>
              </a:solidFill>
            </a:ln>
          </p:spPr>
        </p:sp>
        <p:sp>
          <p:nvSpPr>
            <p:cNvPr id="24" name="Rectangle 24"/>
            <p:cNvSpPr/>
            <p:nvPr/>
          </p:nvSpPr>
          <p:spPr>
            <a:xfrm>
              <a:off x="6286500" y="1285875"/>
              <a:ext cx="5410200" cy="609600"/>
            </a:xfrm>
            <a:prstGeom prst="roundRect">
              <a:avLst>
                <a:gd name="adj" fmla="val 6250"/>
              </a:avLst>
            </a:prstGeom>
            <a:solidFill>
              <a:srgbClr val="E8F4FC"/>
            </a:solidFill>
            <a:ln>
              <a:noFill/>
            </a:ln>
          </p:spPr>
        </p:sp>
        <p:sp>
          <p:nvSpPr>
            <p:cNvPr id="25" name="Rectangle 25"/>
            <p:cNvSpPr/>
            <p:nvPr/>
          </p:nvSpPr>
          <p:spPr>
            <a:xfrm>
              <a:off x="6286500" y="1285875"/>
              <a:ext cx="57150" cy="609600"/>
            </a:xfrm>
            <a:prstGeom prst="rect">
              <a:avLst/>
            </a:prstGeom>
            <a:solidFill>
              <a:srgbClr val="06B6D4"/>
            </a:solidFill>
            <a:ln>
              <a:noFill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6591300" y="1419225"/>
              <a:ext cx="4800600" cy="3429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725" b="1" dirty="0">
                  <a:solidFill>
                    <a:srgbClr val="0E7490"/>
                  </a:solidFill>
                  <a:latin typeface="Arial"/>
                  <a:ea typeface="Microsoft YaHei"/>
                  <a:cs typeface="Arial"/>
                </a:rPr>
                <a:t>常见误用</a:t>
              </a:r>
            </a:p>
          </p:txBody>
        </p:sp>
        <p:sp>
          <p:nvSpPr>
            <p:cNvPr id="27" name="Line 27"/>
            <p:cNvSpPr/>
            <p:nvPr/>
          </p:nvSpPr>
          <p:spPr>
            <a:xfrm>
              <a:off x="6591300" y="2276475"/>
              <a:ext cx="4800600" cy="9525"/>
            </a:xfrm>
            <a:custGeom>
              <a:avLst/>
              <a:gdLst/>
              <a:ahLst/>
              <a:cxnLst/>
              <a:rect l="l" t="t" r="r" b="b"/>
              <a:pathLst>
                <a:path w="4800600" h="9525">
                  <a:moveTo>
                    <a:pt x="0" y="0"/>
                  </a:moveTo>
                  <a:lnTo>
                    <a:pt x="4800600" y="0"/>
                  </a:lnTo>
                </a:path>
              </a:pathLst>
            </a:custGeom>
            <a:noFill/>
            <a:ln w="19050">
              <a:solidFill>
                <a:srgbClr val="D4E2EE"/>
              </a:solidFill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6819900" y="2505075"/>
              <a:ext cx="4343400" cy="20955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650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常见误用：把「单 Loop」当成一次性胶水代码，没有版本、没有度量、没有回滚路径。</a:t>
              </a:r>
            </a:p>
            <a:p>
              <a:pPr algn="l"/>
              <a:r>
                <a:rPr lang="zh-CN" sz="1650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无版本/无度量/无回滚</a:t>
              </a:r>
            </a:p>
          </p:txBody>
        </p:sp>
        <p:sp>
          <p:nvSpPr>
            <p:cNvPr id="29" name="Line 29"/>
            <p:cNvSpPr/>
            <p:nvPr/>
          </p:nvSpPr>
          <p:spPr>
            <a:xfrm>
              <a:off x="6591300" y="4905375"/>
              <a:ext cx="4800600" cy="9525"/>
            </a:xfrm>
            <a:custGeom>
              <a:avLst/>
              <a:gdLst/>
              <a:ahLst/>
              <a:cxnLst/>
              <a:rect l="l" t="t" r="r" b="b"/>
              <a:pathLst>
                <a:path w="4800600" h="9525">
                  <a:moveTo>
                    <a:pt x="0" y="0"/>
                  </a:moveTo>
                  <a:lnTo>
                    <a:pt x="4800600" y="0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</p:grpSp>
      <p:grpSp>
        <p:nvGrpSpPr>
          <p:cNvPr id="34" name="EasySlides Component: synthesis"/>
          <p:cNvGrpSpPr/>
          <p:nvPr/>
        </p:nvGrpSpPr>
        <p:grpSpPr>
          <a:xfrm>
            <a:off x="495300" y="5476875"/>
            <a:ext cx="11201400" cy="714375"/>
            <a:chOff x="495300" y="5476875"/>
            <a:chExt cx="11201400" cy="714375"/>
          </a:xfrm>
        </p:grpSpPr>
        <p:sp>
          <p:nvSpPr>
            <p:cNvPr id="31" name="Rectangle 31"/>
            <p:cNvSpPr/>
            <p:nvPr/>
          </p:nvSpPr>
          <p:spPr>
            <a:xfrm>
              <a:off x="495300" y="5476875"/>
              <a:ext cx="11201400" cy="714375"/>
            </a:xfrm>
            <a:prstGeom prst="roundRect">
              <a:avLst>
                <a:gd name="adj" fmla="val 5333"/>
              </a:avLst>
            </a:prstGeom>
            <a:solidFill>
              <a:srgbClr val="0E7490"/>
            </a:solidFill>
            <a:ln>
              <a:noFill/>
            </a:ln>
          </p:spPr>
        </p:sp>
        <p:sp>
          <p:nvSpPr>
            <p:cNvPr id="32" name="Rectangle 32"/>
            <p:cNvSpPr/>
            <p:nvPr/>
          </p:nvSpPr>
          <p:spPr>
            <a:xfrm>
              <a:off x="495300" y="5476875"/>
              <a:ext cx="76200" cy="714375"/>
            </a:xfrm>
            <a:prstGeom prst="roundRect">
              <a:avLst>
                <a:gd name="adj" fmla="val 50000"/>
              </a:avLst>
            </a:prstGeom>
            <a:solidFill>
              <a:srgbClr val="CC0000"/>
            </a:solidFill>
            <a:ln>
              <a:noFill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876300" y="5610225"/>
              <a:ext cx="10439400" cy="4476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65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治理视角：控制权矩阵与自主性预算划定行动边界。</a:t>
              </a:r>
            </a:p>
          </p:txBody>
        </p:sp>
      </p:grp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666750"/>
          </a:xfrm>
          <a:prstGeom prst="rect">
            <a:avLst/>
          </a:prstGeom>
          <a:solidFill>
            <a:srgbClr val="0E7490"/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0"/>
            <a:ext cx="57150" cy="666750"/>
          </a:xfrm>
          <a:prstGeom prst="rect">
            <a:avLst/>
          </a:prstGeom>
          <a:solidFill>
            <a:srgbClr val="CC0000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381000" y="123825"/>
            <a:ext cx="762000" cy="4000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1275" b="1" dirty="0">
                <a:solidFill>
                  <a:srgbClr val="9FD3FF"/>
                </a:solidFill>
                <a:latin typeface="Arial"/>
                <a:ea typeface="Microsoft YaHei"/>
                <a:cs typeface="Arial"/>
              </a:rPr>
              <a:t>08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257300" y="95250"/>
            <a:ext cx="8096250" cy="457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21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代码契约：单 Loop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0001250" y="76200"/>
            <a:ext cx="1619250" cy="5143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3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DataAgent</a:t>
            </a:r>
          </a:p>
        </p:txBody>
      </p:sp>
      <p:sp>
        <p:nvSpPr>
          <p:cNvPr id="8" name="Rectangle 8"/>
          <p:cNvSpPr/>
          <p:nvPr/>
        </p:nvSpPr>
        <p:spPr>
          <a:xfrm>
            <a:off x="0" y="666750"/>
            <a:ext cx="12192000" cy="476250"/>
          </a:xfrm>
          <a:prstGeom prst="rect">
            <a:avLst/>
          </a:prstGeom>
          <a:solidFill>
            <a:srgbClr val="E8F4FC"/>
          </a:solidFill>
          <a:ln>
            <a:noFill/>
          </a:ln>
        </p:spPr>
      </p:sp>
      <p:sp>
        <p:nvSpPr>
          <p:cNvPr id="9" name="Rectangle 9"/>
          <p:cNvSpPr/>
          <p:nvPr/>
        </p:nvSpPr>
        <p:spPr>
          <a:xfrm>
            <a:off x="0" y="666750"/>
            <a:ext cx="57150" cy="476250"/>
          </a:xfrm>
          <a:prstGeom prst="rect">
            <a:avLst/>
          </a:prstGeom>
          <a:solidFill>
            <a:srgbClr val="06B6D4"/>
          </a:solidFill>
          <a:ln>
            <a:noFill/>
          </a:ln>
        </p:spPr>
      </p:sp>
      <p:sp>
        <p:nvSpPr>
          <p:cNvPr id="10" name="TextBox 10"/>
          <p:cNvSpPr txBox="1"/>
          <p:nvPr/>
        </p:nvSpPr>
        <p:spPr>
          <a:xfrm>
            <a:off x="381000" y="714375"/>
            <a:ext cx="10001250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1350" dirty="0">
                <a:solidFill>
                  <a:srgbClr val="26384A"/>
                </a:solidFill>
                <a:latin typeface="Arial"/>
                <a:ea typeface="Microsoft YaHei"/>
                <a:cs typeface="Arial"/>
              </a:rPr>
              <a:t>仓库真实代码 · 契约切面</a:t>
            </a:r>
          </a:p>
        </p:txBody>
      </p:sp>
      <p:sp>
        <p:nvSpPr>
          <p:cNvPr id="11" name="Line 11"/>
          <p:cNvSpPr/>
          <p:nvPr/>
        </p:nvSpPr>
        <p:spPr>
          <a:xfrm>
            <a:off x="381000" y="6334125"/>
            <a:ext cx="11430000" cy="9525"/>
          </a:xfrm>
          <a:custGeom>
            <a:avLst/>
            <a:gdLst/>
            <a:ahLst/>
            <a:cxnLst/>
            <a:rect l="l" t="t" r="r" b="b"/>
            <a:pathLst>
              <a:path w="11430000" h="9525">
                <a:moveTo>
                  <a:pt x="0" y="0"/>
                </a:moveTo>
                <a:lnTo>
                  <a:pt x="11430000" y="0"/>
                </a:lnTo>
              </a:path>
            </a:pathLst>
          </a:custGeom>
          <a:noFill/>
          <a:ln w="9525">
            <a:solidFill>
              <a:srgbClr val="E8F4FC"/>
            </a:solidFill>
          </a:ln>
        </p:spPr>
      </p:sp>
      <p:sp>
        <p:nvSpPr>
          <p:cNvPr id="12" name="TextBox 12"/>
          <p:cNvSpPr txBox="1"/>
          <p:nvPr/>
        </p:nvSpPr>
        <p:spPr>
          <a:xfrm>
            <a:off x="381000" y="6477000"/>
            <a:ext cx="4953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课程第15讲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4381500" y="6477000"/>
            <a:ext cx="3429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Agent Runtime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0763250" y="6457950"/>
            <a:ext cx="857250" cy="266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050" dirty="0">
                <a:solidFill>
                  <a:srgbClr val="52657A"/>
                </a:solidFill>
                <a:latin typeface="Arial"/>
                <a:ea typeface="Microsoft YaHei"/>
                <a:cs typeface="Arial"/>
              </a:rPr>
              <a:t>08</a:t>
            </a:r>
          </a:p>
        </p:txBody>
      </p:sp>
      <p:grpSp>
        <p:nvGrpSpPr>
          <p:cNvPr id="26" name="EasySlides Component: evidence"/>
          <p:cNvGrpSpPr/>
          <p:nvPr/>
        </p:nvGrpSpPr>
        <p:grpSpPr>
          <a:xfrm>
            <a:off x="7124700" y="1285875"/>
            <a:ext cx="4572000" cy="4905375"/>
            <a:chOff x="7124700" y="1285875"/>
            <a:chExt cx="4572000" cy="4905375"/>
          </a:xfrm>
        </p:grpSpPr>
        <p:sp>
          <p:nvSpPr>
            <p:cNvPr id="15" name="Rectangle 15"/>
            <p:cNvSpPr/>
            <p:nvPr/>
          </p:nvSpPr>
          <p:spPr>
            <a:xfrm>
              <a:off x="7124700" y="1285875"/>
              <a:ext cx="4572000" cy="4905375"/>
            </a:xfrm>
            <a:prstGeom prst="roundRect">
              <a:avLst>
                <a:gd name="adj" fmla="val 833"/>
              </a:avLst>
            </a:prstGeom>
            <a:solidFill>
              <a:srgbClr val="F0F9FC"/>
            </a:solidFill>
            <a:ln w="11430">
              <a:solidFill>
                <a:srgbClr val="B8C7D6"/>
              </a:solidFill>
            </a:ln>
          </p:spPr>
        </p:sp>
        <p:sp>
          <p:nvSpPr>
            <p:cNvPr id="16" name="Rectangle 16"/>
            <p:cNvSpPr/>
            <p:nvPr/>
          </p:nvSpPr>
          <p:spPr>
            <a:xfrm>
              <a:off x="7124700" y="1285875"/>
              <a:ext cx="76200" cy="4905375"/>
            </a:xfrm>
            <a:prstGeom prst="rect">
              <a:avLst/>
            </a:prstGeom>
            <a:solidFill>
              <a:srgbClr val="06B6D4"/>
            </a:solidFill>
            <a:ln>
              <a:noFill/>
            </a:ln>
          </p:spPr>
        </p:sp>
        <p:sp>
          <p:nvSpPr>
            <p:cNvPr id="17" name="Rectangle 17"/>
            <p:cNvSpPr/>
            <p:nvPr/>
          </p:nvSpPr>
          <p:spPr>
            <a:xfrm>
              <a:off x="7391400" y="1552575"/>
              <a:ext cx="4038600" cy="1257300"/>
            </a:xfrm>
            <a:prstGeom prst="roundRect">
              <a:avLst>
                <a:gd name="adj" fmla="val 1515"/>
              </a:avLst>
            </a:prstGeom>
            <a:solidFill>
              <a:srgbClr val="FFFFFF"/>
            </a:solidFill>
            <a:ln w="9525">
              <a:solidFill>
                <a:srgbClr val="D4E2EE"/>
              </a:solidFill>
            </a:ln>
          </p:spPr>
        </p:sp>
        <p:sp>
          <p:nvSpPr>
            <p:cNvPr id="18" name="Rectangle 18"/>
            <p:cNvSpPr/>
            <p:nvPr/>
          </p:nvSpPr>
          <p:spPr>
            <a:xfrm>
              <a:off x="7391400" y="3105150"/>
              <a:ext cx="4038600" cy="1257300"/>
            </a:xfrm>
            <a:prstGeom prst="roundRect">
              <a:avLst>
                <a:gd name="adj" fmla="val 1515"/>
              </a:avLst>
            </a:prstGeom>
            <a:solidFill>
              <a:srgbClr val="FFFFFF"/>
            </a:solidFill>
            <a:ln w="9525">
              <a:solidFill>
                <a:srgbClr val="D4E2EE"/>
              </a:solidFill>
            </a:ln>
          </p:spPr>
        </p:sp>
        <p:sp>
          <p:nvSpPr>
            <p:cNvPr id="19" name="Rectangle 19"/>
            <p:cNvSpPr/>
            <p:nvPr/>
          </p:nvSpPr>
          <p:spPr>
            <a:xfrm>
              <a:off x="7391400" y="4657725"/>
              <a:ext cx="4038600" cy="1257300"/>
            </a:xfrm>
            <a:prstGeom prst="roundRect">
              <a:avLst>
                <a:gd name="adj" fmla="val 1515"/>
              </a:avLst>
            </a:prstGeom>
            <a:solidFill>
              <a:srgbClr val="FFFFFF"/>
            </a:solidFill>
            <a:ln w="9525">
              <a:solidFill>
                <a:srgbClr val="D4E2EE"/>
              </a:solidFill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7605712" y="1745456"/>
              <a:ext cx="220156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06B6D4"/>
                  </a:solidFill>
                  <a:latin typeface="Arial"/>
                  <a:ea typeface="Microsoft YaHei"/>
                  <a:cs typeface="Arial"/>
                </a:rPr>
                <a:t>01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7605712" y="3298031"/>
              <a:ext cx="220156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06B6D4"/>
                  </a:solidFill>
                  <a:latin typeface="Arial"/>
                  <a:ea typeface="Microsoft YaHei"/>
                  <a:cs typeface="Arial"/>
                </a:rPr>
                <a:t>02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7605712" y="4850606"/>
              <a:ext cx="220156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CC0000"/>
                  </a:solidFill>
                  <a:latin typeface="Arial"/>
                  <a:ea typeface="Microsoft YaHei"/>
                  <a:cs typeface="Arial"/>
                </a:rPr>
                <a:t>03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7848600" y="1819275"/>
              <a:ext cx="3314700" cy="7239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425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文件：workflow.py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7848600" y="3371850"/>
              <a:ext cx="3314700" cy="7239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425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切面：契约——先读接口再读实现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7848600" y="4924425"/>
              <a:ext cx="3314700" cy="7239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425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测试见 tests/ 目录</a:t>
              </a:r>
            </a:p>
          </p:txBody>
        </p:sp>
      </p:grpSp>
      <p:grpSp>
        <p:nvGrpSpPr>
          <p:cNvPr id="32" name="EasySlides Component: figure"/>
          <p:cNvGrpSpPr/>
          <p:nvPr/>
        </p:nvGrpSpPr>
        <p:grpSpPr>
          <a:xfrm>
            <a:off x="495300" y="1285875"/>
            <a:ext cx="6400800" cy="4905375"/>
            <a:chOff x="495300" y="1285875"/>
            <a:chExt cx="6400800" cy="4905375"/>
          </a:xfrm>
        </p:grpSpPr>
        <p:sp>
          <p:nvSpPr>
            <p:cNvPr id="27" name="Rectangle 27"/>
            <p:cNvSpPr/>
            <p:nvPr/>
          </p:nvSpPr>
          <p:spPr>
            <a:xfrm>
              <a:off x="495300" y="1285875"/>
              <a:ext cx="6400800" cy="4905375"/>
            </a:xfrm>
            <a:prstGeom prst="roundRect">
              <a:avLst>
                <a:gd name="adj" fmla="val 777"/>
              </a:avLst>
            </a:prstGeom>
            <a:solidFill>
              <a:srgbClr val="FFFFFF"/>
            </a:solidFill>
            <a:ln w="11430">
              <a:solidFill>
                <a:srgbClr val="B8C7D6"/>
              </a:solidFill>
            </a:ln>
          </p:spPr>
        </p:sp>
        <p:sp>
          <p:nvSpPr>
            <p:cNvPr id="28" name="Rectangle 28"/>
            <p:cNvSpPr/>
            <p:nvPr/>
          </p:nvSpPr>
          <p:spPr>
            <a:xfrm>
              <a:off x="647700" y="1438275"/>
              <a:ext cx="6096000" cy="3905250"/>
            </a:xfrm>
            <a:prstGeom prst="roundRect">
              <a:avLst>
                <a:gd name="adj" fmla="val 488"/>
              </a:avLst>
            </a:prstGeom>
            <a:solidFill>
              <a:srgbClr val="F0F9FC"/>
            </a:solidFill>
            <a:ln w="9525">
              <a:solidFill>
                <a:srgbClr val="D4E2EE"/>
              </a:solidFill>
            </a:ln>
          </p:spPr>
        </p:sp>
        <p:pic>
          <p:nvPicPr>
            <p:cNvPr id="29" name="Image 29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647700" y="1605643"/>
              <a:ext cx="6096000" cy="3570514"/>
            </a:xfrm>
            <a:prstGeom prst="rect">
              <a:avLst/>
            </a:prstGeom>
          </p:spPr>
        </p:pic>
        <p:sp>
          <p:nvSpPr>
            <p:cNvPr id="30" name="Line 30"/>
            <p:cNvSpPr/>
            <p:nvPr/>
          </p:nvSpPr>
          <p:spPr>
            <a:xfrm>
              <a:off x="723900" y="5534025"/>
              <a:ext cx="5943600" cy="9525"/>
            </a:xfrm>
            <a:custGeom>
              <a:avLst/>
              <a:gdLst/>
              <a:ahLst/>
              <a:cxnLst/>
              <a:rect l="l" t="t" r="r" b="b"/>
              <a:pathLst>
                <a:path w="5943600" h="9525">
                  <a:moveTo>
                    <a:pt x="0" y="0"/>
                  </a:moveTo>
                  <a:lnTo>
                    <a:pt x="5943600" y="0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800100" y="5610225"/>
              <a:ext cx="5791200" cy="4572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350" dirty="0">
                  <a:solidFill>
                    <a:srgbClr val="52657A"/>
                  </a:solidFill>
                  <a:latin typeface="Arial"/>
                  <a:ea typeface="Microsoft YaHei"/>
                  <a:cs typeface="Arial"/>
                </a:rPr>
                <a:t>代码：workflow.py · 契约（概念1 单 Loop）</a:t>
              </a:r>
            </a:p>
          </p:txBody>
        </p:sp>
      </p:grp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666750"/>
          </a:xfrm>
          <a:prstGeom prst="rect">
            <a:avLst/>
          </a:prstGeom>
          <a:solidFill>
            <a:srgbClr val="0E7490"/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0"/>
            <a:ext cx="57150" cy="666750"/>
          </a:xfrm>
          <a:prstGeom prst="rect">
            <a:avLst/>
          </a:prstGeom>
          <a:solidFill>
            <a:srgbClr val="CC0000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381000" y="123825"/>
            <a:ext cx="762000" cy="4000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1275" b="1" dirty="0">
                <a:solidFill>
                  <a:srgbClr val="9FD3FF"/>
                </a:solidFill>
                <a:latin typeface="Arial"/>
                <a:ea typeface="Microsoft YaHei"/>
                <a:cs typeface="Arial"/>
              </a:rPr>
              <a:t>09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257300" y="95250"/>
            <a:ext cx="8096250" cy="457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21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代码实现：单 Loop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0001250" y="76200"/>
            <a:ext cx="1619250" cy="5143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3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DataAgent</a:t>
            </a:r>
          </a:p>
        </p:txBody>
      </p:sp>
      <p:sp>
        <p:nvSpPr>
          <p:cNvPr id="8" name="Rectangle 8"/>
          <p:cNvSpPr/>
          <p:nvPr/>
        </p:nvSpPr>
        <p:spPr>
          <a:xfrm>
            <a:off x="0" y="666750"/>
            <a:ext cx="12192000" cy="476250"/>
          </a:xfrm>
          <a:prstGeom prst="rect">
            <a:avLst/>
          </a:prstGeom>
          <a:solidFill>
            <a:srgbClr val="E8F4FC"/>
          </a:solidFill>
          <a:ln>
            <a:noFill/>
          </a:ln>
        </p:spPr>
      </p:sp>
      <p:sp>
        <p:nvSpPr>
          <p:cNvPr id="9" name="Rectangle 9"/>
          <p:cNvSpPr/>
          <p:nvPr/>
        </p:nvSpPr>
        <p:spPr>
          <a:xfrm>
            <a:off x="0" y="666750"/>
            <a:ext cx="57150" cy="476250"/>
          </a:xfrm>
          <a:prstGeom prst="rect">
            <a:avLst/>
          </a:prstGeom>
          <a:solidFill>
            <a:srgbClr val="06B6D4"/>
          </a:solidFill>
          <a:ln>
            <a:noFill/>
          </a:ln>
        </p:spPr>
      </p:sp>
      <p:sp>
        <p:nvSpPr>
          <p:cNvPr id="10" name="TextBox 10"/>
          <p:cNvSpPr txBox="1"/>
          <p:nvPr/>
        </p:nvSpPr>
        <p:spPr>
          <a:xfrm>
            <a:off x="381000" y="714375"/>
            <a:ext cx="10001250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1350" dirty="0">
                <a:solidFill>
                  <a:srgbClr val="26384A"/>
                </a:solidFill>
                <a:latin typeface="Arial"/>
                <a:ea typeface="Microsoft YaHei"/>
                <a:cs typeface="Arial"/>
              </a:rPr>
              <a:t>仓库真实代码 · 实现切面</a:t>
            </a:r>
          </a:p>
        </p:txBody>
      </p:sp>
      <p:sp>
        <p:nvSpPr>
          <p:cNvPr id="11" name="Line 11"/>
          <p:cNvSpPr/>
          <p:nvPr/>
        </p:nvSpPr>
        <p:spPr>
          <a:xfrm>
            <a:off x="381000" y="6334125"/>
            <a:ext cx="11430000" cy="9525"/>
          </a:xfrm>
          <a:custGeom>
            <a:avLst/>
            <a:gdLst/>
            <a:ahLst/>
            <a:cxnLst/>
            <a:rect l="l" t="t" r="r" b="b"/>
            <a:pathLst>
              <a:path w="11430000" h="9525">
                <a:moveTo>
                  <a:pt x="0" y="0"/>
                </a:moveTo>
                <a:lnTo>
                  <a:pt x="11430000" y="0"/>
                </a:lnTo>
              </a:path>
            </a:pathLst>
          </a:custGeom>
          <a:noFill/>
          <a:ln w="9525">
            <a:solidFill>
              <a:srgbClr val="E8F4FC"/>
            </a:solidFill>
          </a:ln>
        </p:spPr>
      </p:sp>
      <p:sp>
        <p:nvSpPr>
          <p:cNvPr id="12" name="TextBox 12"/>
          <p:cNvSpPr txBox="1"/>
          <p:nvPr/>
        </p:nvSpPr>
        <p:spPr>
          <a:xfrm>
            <a:off x="381000" y="6477000"/>
            <a:ext cx="4953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课程第15讲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4381500" y="6477000"/>
            <a:ext cx="3429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Agent Runtime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0763250" y="6457950"/>
            <a:ext cx="857250" cy="266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050" dirty="0">
                <a:solidFill>
                  <a:srgbClr val="52657A"/>
                </a:solidFill>
                <a:latin typeface="Arial"/>
                <a:ea typeface="Microsoft YaHei"/>
                <a:cs typeface="Arial"/>
              </a:rPr>
              <a:t>09</a:t>
            </a:r>
          </a:p>
        </p:txBody>
      </p:sp>
      <p:grpSp>
        <p:nvGrpSpPr>
          <p:cNvPr id="26" name="EasySlides Component: evidence"/>
          <p:cNvGrpSpPr/>
          <p:nvPr/>
        </p:nvGrpSpPr>
        <p:grpSpPr>
          <a:xfrm>
            <a:off x="7124700" y="1285875"/>
            <a:ext cx="4572000" cy="4905375"/>
            <a:chOff x="7124700" y="1285875"/>
            <a:chExt cx="4572000" cy="4905375"/>
          </a:xfrm>
        </p:grpSpPr>
        <p:sp>
          <p:nvSpPr>
            <p:cNvPr id="15" name="Rectangle 15"/>
            <p:cNvSpPr/>
            <p:nvPr/>
          </p:nvSpPr>
          <p:spPr>
            <a:xfrm>
              <a:off x="7124700" y="1285875"/>
              <a:ext cx="4572000" cy="4905375"/>
            </a:xfrm>
            <a:prstGeom prst="roundRect">
              <a:avLst>
                <a:gd name="adj" fmla="val 833"/>
              </a:avLst>
            </a:prstGeom>
            <a:solidFill>
              <a:srgbClr val="F0F9FC"/>
            </a:solidFill>
            <a:ln w="11430">
              <a:solidFill>
                <a:srgbClr val="B8C7D6"/>
              </a:solidFill>
            </a:ln>
          </p:spPr>
        </p:sp>
        <p:sp>
          <p:nvSpPr>
            <p:cNvPr id="16" name="Rectangle 16"/>
            <p:cNvSpPr/>
            <p:nvPr/>
          </p:nvSpPr>
          <p:spPr>
            <a:xfrm>
              <a:off x="7124700" y="1285875"/>
              <a:ext cx="76200" cy="4905375"/>
            </a:xfrm>
            <a:prstGeom prst="rect">
              <a:avLst/>
            </a:prstGeom>
            <a:solidFill>
              <a:srgbClr val="06B6D4"/>
            </a:solidFill>
            <a:ln>
              <a:noFill/>
            </a:ln>
          </p:spPr>
        </p:sp>
        <p:sp>
          <p:nvSpPr>
            <p:cNvPr id="17" name="Rectangle 17"/>
            <p:cNvSpPr/>
            <p:nvPr/>
          </p:nvSpPr>
          <p:spPr>
            <a:xfrm>
              <a:off x="7391400" y="1552575"/>
              <a:ext cx="4038600" cy="1257300"/>
            </a:xfrm>
            <a:prstGeom prst="roundRect">
              <a:avLst>
                <a:gd name="adj" fmla="val 1515"/>
              </a:avLst>
            </a:prstGeom>
            <a:solidFill>
              <a:srgbClr val="FFFFFF"/>
            </a:solidFill>
            <a:ln w="9525">
              <a:solidFill>
                <a:srgbClr val="D4E2EE"/>
              </a:solidFill>
            </a:ln>
          </p:spPr>
        </p:sp>
        <p:sp>
          <p:nvSpPr>
            <p:cNvPr id="18" name="Rectangle 18"/>
            <p:cNvSpPr/>
            <p:nvPr/>
          </p:nvSpPr>
          <p:spPr>
            <a:xfrm>
              <a:off x="7391400" y="3105150"/>
              <a:ext cx="4038600" cy="1257300"/>
            </a:xfrm>
            <a:prstGeom prst="roundRect">
              <a:avLst>
                <a:gd name="adj" fmla="val 1515"/>
              </a:avLst>
            </a:prstGeom>
            <a:solidFill>
              <a:srgbClr val="FFFFFF"/>
            </a:solidFill>
            <a:ln w="9525">
              <a:solidFill>
                <a:srgbClr val="D4E2EE"/>
              </a:solidFill>
            </a:ln>
          </p:spPr>
        </p:sp>
        <p:sp>
          <p:nvSpPr>
            <p:cNvPr id="19" name="Rectangle 19"/>
            <p:cNvSpPr/>
            <p:nvPr/>
          </p:nvSpPr>
          <p:spPr>
            <a:xfrm>
              <a:off x="7391400" y="4657725"/>
              <a:ext cx="4038600" cy="1257300"/>
            </a:xfrm>
            <a:prstGeom prst="roundRect">
              <a:avLst>
                <a:gd name="adj" fmla="val 1515"/>
              </a:avLst>
            </a:prstGeom>
            <a:solidFill>
              <a:srgbClr val="FFFFFF"/>
            </a:solidFill>
            <a:ln w="9525">
              <a:solidFill>
                <a:srgbClr val="D4E2EE"/>
              </a:solidFill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7605712" y="1745456"/>
              <a:ext cx="220156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06B6D4"/>
                  </a:solidFill>
                  <a:latin typeface="Arial"/>
                  <a:ea typeface="Microsoft YaHei"/>
                  <a:cs typeface="Arial"/>
                </a:rPr>
                <a:t>01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7605712" y="3298031"/>
              <a:ext cx="220156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06B6D4"/>
                  </a:solidFill>
                  <a:latin typeface="Arial"/>
                  <a:ea typeface="Microsoft YaHei"/>
                  <a:cs typeface="Arial"/>
                </a:rPr>
                <a:t>02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7605712" y="4850606"/>
              <a:ext cx="220156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CC0000"/>
                  </a:solidFill>
                  <a:latin typeface="Arial"/>
                  <a:ea typeface="Microsoft YaHei"/>
                  <a:cs typeface="Arial"/>
                </a:rPr>
                <a:t>03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7848600" y="1819275"/>
              <a:ext cx="3314700" cy="7239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425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文件：workflow.py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7848600" y="3371850"/>
              <a:ext cx="3314700" cy="7239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425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切面：实现——先读接口再读实现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7848600" y="4924425"/>
              <a:ext cx="3314700" cy="7239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425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测试见 tests/ 目录</a:t>
              </a:r>
            </a:p>
          </p:txBody>
        </p:sp>
      </p:grpSp>
      <p:grpSp>
        <p:nvGrpSpPr>
          <p:cNvPr id="32" name="EasySlides Component: figure"/>
          <p:cNvGrpSpPr/>
          <p:nvPr/>
        </p:nvGrpSpPr>
        <p:grpSpPr>
          <a:xfrm>
            <a:off x="495300" y="1285875"/>
            <a:ext cx="6400800" cy="4905375"/>
            <a:chOff x="495300" y="1285875"/>
            <a:chExt cx="6400800" cy="4905375"/>
          </a:xfrm>
        </p:grpSpPr>
        <p:sp>
          <p:nvSpPr>
            <p:cNvPr id="27" name="Rectangle 27"/>
            <p:cNvSpPr/>
            <p:nvPr/>
          </p:nvSpPr>
          <p:spPr>
            <a:xfrm>
              <a:off x="495300" y="1285875"/>
              <a:ext cx="6400800" cy="4905375"/>
            </a:xfrm>
            <a:prstGeom prst="roundRect">
              <a:avLst>
                <a:gd name="adj" fmla="val 777"/>
              </a:avLst>
            </a:prstGeom>
            <a:solidFill>
              <a:srgbClr val="FFFFFF"/>
            </a:solidFill>
            <a:ln w="11430">
              <a:solidFill>
                <a:srgbClr val="B8C7D6"/>
              </a:solidFill>
            </a:ln>
          </p:spPr>
        </p:sp>
        <p:sp>
          <p:nvSpPr>
            <p:cNvPr id="28" name="Rectangle 28"/>
            <p:cNvSpPr/>
            <p:nvPr/>
          </p:nvSpPr>
          <p:spPr>
            <a:xfrm>
              <a:off x="647700" y="1438275"/>
              <a:ext cx="6096000" cy="3905250"/>
            </a:xfrm>
            <a:prstGeom prst="roundRect">
              <a:avLst>
                <a:gd name="adj" fmla="val 488"/>
              </a:avLst>
            </a:prstGeom>
            <a:solidFill>
              <a:srgbClr val="F0F9FC"/>
            </a:solidFill>
            <a:ln w="9525">
              <a:solidFill>
                <a:srgbClr val="D4E2EE"/>
              </a:solidFill>
            </a:ln>
          </p:spPr>
        </p:sp>
        <p:pic>
          <p:nvPicPr>
            <p:cNvPr id="29" name="Image 29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647700" y="1605643"/>
              <a:ext cx="6096000" cy="3570514"/>
            </a:xfrm>
            <a:prstGeom prst="rect">
              <a:avLst/>
            </a:prstGeom>
          </p:spPr>
        </p:pic>
        <p:sp>
          <p:nvSpPr>
            <p:cNvPr id="30" name="Line 30"/>
            <p:cNvSpPr/>
            <p:nvPr/>
          </p:nvSpPr>
          <p:spPr>
            <a:xfrm>
              <a:off x="723900" y="5534025"/>
              <a:ext cx="5943600" cy="9525"/>
            </a:xfrm>
            <a:custGeom>
              <a:avLst/>
              <a:gdLst/>
              <a:ahLst/>
              <a:cxnLst/>
              <a:rect l="l" t="t" r="r" b="b"/>
              <a:pathLst>
                <a:path w="5943600" h="9525">
                  <a:moveTo>
                    <a:pt x="0" y="0"/>
                  </a:moveTo>
                  <a:lnTo>
                    <a:pt x="5943600" y="0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800100" y="5610225"/>
              <a:ext cx="5791200" cy="4572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350" dirty="0">
                  <a:solidFill>
                    <a:srgbClr val="52657A"/>
                  </a:solidFill>
                  <a:latin typeface="Arial"/>
                  <a:ea typeface="Microsoft YaHei"/>
                  <a:cs typeface="Arial"/>
                </a:rPr>
                <a:t>代码：workflow.py · 实现（概念1 单 Loop）</a:t>
              </a:r>
            </a:p>
          </p:txBody>
        </p:sp>
      </p:grp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666750"/>
          </a:xfrm>
          <a:prstGeom prst="rect">
            <a:avLst/>
          </a:prstGeom>
          <a:solidFill>
            <a:srgbClr val="0E7490"/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0"/>
            <a:ext cx="57150" cy="666750"/>
          </a:xfrm>
          <a:prstGeom prst="rect">
            <a:avLst/>
          </a:prstGeom>
          <a:solidFill>
            <a:srgbClr val="CC0000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381000" y="123825"/>
            <a:ext cx="762000" cy="4000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1275" b="1" dirty="0">
                <a:solidFill>
                  <a:srgbClr val="9FD3FF"/>
                </a:solidFill>
                <a:latin typeface="Arial"/>
                <a:ea typeface="Microsoft YaHei"/>
                <a:cs typeface="Arial"/>
              </a:rPr>
              <a:t>10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257300" y="95250"/>
            <a:ext cx="8096250" cy="457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21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应用实践：单 Loop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0001250" y="76200"/>
            <a:ext cx="1619250" cy="5143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3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DataAgent</a:t>
            </a:r>
          </a:p>
        </p:txBody>
      </p:sp>
      <p:sp>
        <p:nvSpPr>
          <p:cNvPr id="8" name="Rectangle 8"/>
          <p:cNvSpPr/>
          <p:nvPr/>
        </p:nvSpPr>
        <p:spPr>
          <a:xfrm>
            <a:off x="0" y="666750"/>
            <a:ext cx="12192000" cy="476250"/>
          </a:xfrm>
          <a:prstGeom prst="rect">
            <a:avLst/>
          </a:prstGeom>
          <a:solidFill>
            <a:srgbClr val="E8F4FC"/>
          </a:solidFill>
          <a:ln>
            <a:noFill/>
          </a:ln>
        </p:spPr>
      </p:sp>
      <p:sp>
        <p:nvSpPr>
          <p:cNvPr id="9" name="Rectangle 9"/>
          <p:cNvSpPr/>
          <p:nvPr/>
        </p:nvSpPr>
        <p:spPr>
          <a:xfrm>
            <a:off x="0" y="666750"/>
            <a:ext cx="57150" cy="476250"/>
          </a:xfrm>
          <a:prstGeom prst="rect">
            <a:avLst/>
          </a:prstGeom>
          <a:solidFill>
            <a:srgbClr val="06B6D4"/>
          </a:solidFill>
          <a:ln>
            <a:noFill/>
          </a:ln>
        </p:spPr>
      </p:sp>
      <p:sp>
        <p:nvSpPr>
          <p:cNvPr id="10" name="TextBox 10"/>
          <p:cNvSpPr txBox="1"/>
          <p:nvPr/>
        </p:nvSpPr>
        <p:spPr>
          <a:xfrm>
            <a:off x="381000" y="714375"/>
            <a:ext cx="10001250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1350" dirty="0">
                <a:solidFill>
                  <a:srgbClr val="26384A"/>
                </a:solidFill>
                <a:latin typeface="Arial"/>
                <a:ea typeface="Microsoft YaHei"/>
                <a:cs typeface="Arial"/>
              </a:rPr>
              <a:t>三步落地：闭环→灰度→放开</a:t>
            </a:r>
          </a:p>
        </p:txBody>
      </p:sp>
      <p:sp>
        <p:nvSpPr>
          <p:cNvPr id="11" name="Line 11"/>
          <p:cNvSpPr/>
          <p:nvPr/>
        </p:nvSpPr>
        <p:spPr>
          <a:xfrm>
            <a:off x="381000" y="6334125"/>
            <a:ext cx="11430000" cy="9525"/>
          </a:xfrm>
          <a:custGeom>
            <a:avLst/>
            <a:gdLst/>
            <a:ahLst/>
            <a:cxnLst/>
            <a:rect l="l" t="t" r="r" b="b"/>
            <a:pathLst>
              <a:path w="11430000" h="9525">
                <a:moveTo>
                  <a:pt x="0" y="0"/>
                </a:moveTo>
                <a:lnTo>
                  <a:pt x="11430000" y="0"/>
                </a:lnTo>
              </a:path>
            </a:pathLst>
          </a:custGeom>
          <a:noFill/>
          <a:ln w="9525">
            <a:solidFill>
              <a:srgbClr val="E8F4FC"/>
            </a:solidFill>
          </a:ln>
        </p:spPr>
      </p:sp>
      <p:sp>
        <p:nvSpPr>
          <p:cNvPr id="12" name="TextBox 12"/>
          <p:cNvSpPr txBox="1"/>
          <p:nvPr/>
        </p:nvSpPr>
        <p:spPr>
          <a:xfrm>
            <a:off x="381000" y="6477000"/>
            <a:ext cx="4953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课程第15讲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4381500" y="6477000"/>
            <a:ext cx="3429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Agent Runtime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0763250" y="6457950"/>
            <a:ext cx="857250" cy="266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050" dirty="0">
                <a:solidFill>
                  <a:srgbClr val="52657A"/>
                </a:solidFill>
                <a:latin typeface="Arial"/>
                <a:ea typeface="Microsoft YaHei"/>
                <a:cs typeface="Arial"/>
              </a:rPr>
              <a:t>10</a:t>
            </a:r>
          </a:p>
        </p:txBody>
      </p:sp>
      <p:grpSp>
        <p:nvGrpSpPr>
          <p:cNvPr id="22" name="EasySlides Component: step_01"/>
          <p:cNvGrpSpPr/>
          <p:nvPr/>
        </p:nvGrpSpPr>
        <p:grpSpPr>
          <a:xfrm>
            <a:off x="495300" y="1285875"/>
            <a:ext cx="3505200" cy="3476625"/>
            <a:chOff x="495300" y="1285875"/>
            <a:chExt cx="3505200" cy="3476625"/>
          </a:xfrm>
        </p:grpSpPr>
        <p:sp>
          <p:nvSpPr>
            <p:cNvPr id="15" name="Rectangle 15"/>
            <p:cNvSpPr/>
            <p:nvPr/>
          </p:nvSpPr>
          <p:spPr>
            <a:xfrm>
              <a:off x="495300" y="1285875"/>
              <a:ext cx="3505200" cy="3476625"/>
            </a:xfrm>
            <a:prstGeom prst="roundRect">
              <a:avLst>
                <a:gd name="adj" fmla="val 1096"/>
              </a:avLst>
            </a:prstGeom>
            <a:solidFill>
              <a:srgbClr val="FFFFFF"/>
            </a:solidFill>
            <a:ln w="11430">
              <a:solidFill>
                <a:srgbClr val="B8C7D6"/>
              </a:solidFill>
            </a:ln>
          </p:spPr>
        </p:sp>
        <p:sp>
          <p:nvSpPr>
            <p:cNvPr id="16" name="Ellipse 16"/>
            <p:cNvSpPr/>
            <p:nvPr/>
          </p:nvSpPr>
          <p:spPr>
            <a:xfrm>
              <a:off x="695325" y="1495425"/>
              <a:ext cx="476250" cy="476250"/>
            </a:xfrm>
            <a:prstGeom prst="ellipse">
              <a:avLst/>
            </a:prstGeom>
            <a:solidFill>
              <a:srgbClr val="06B6D4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714375" y="1504950"/>
              <a:ext cx="438150" cy="4572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35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1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1314450" y="1524000"/>
              <a:ext cx="2324100" cy="42862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650" b="1" dirty="0">
                  <a:solidFill>
                    <a:srgbClr val="0E7490"/>
                  </a:solidFill>
                  <a:latin typeface="Arial"/>
                  <a:ea typeface="Microsoft YaHei"/>
                  <a:cs typeface="Arial"/>
                </a:rPr>
                <a:t>最小闭环</a:t>
              </a:r>
            </a:p>
          </p:txBody>
        </p:sp>
        <p:sp>
          <p:nvSpPr>
            <p:cNvPr id="19" name="Line 19"/>
            <p:cNvSpPr/>
            <p:nvPr/>
          </p:nvSpPr>
          <p:spPr>
            <a:xfrm>
              <a:off x="800100" y="2181225"/>
              <a:ext cx="2895600" cy="9525"/>
            </a:xfrm>
            <a:custGeom>
              <a:avLst/>
              <a:gdLst/>
              <a:ahLst/>
              <a:cxnLst/>
              <a:rect l="l" t="t" r="r" b="b"/>
              <a:pathLst>
                <a:path w="2895600" h="9525">
                  <a:moveTo>
                    <a:pt x="0" y="0"/>
                  </a:moveTo>
                  <a:lnTo>
                    <a:pt x="2895600" y="0"/>
                  </a:lnTo>
                </a:path>
              </a:pathLst>
            </a:custGeom>
            <a:noFill/>
            <a:ln w="19050">
              <a:solidFill>
                <a:srgbClr val="D4E2EE"/>
              </a:solidFill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952500" y="2476500"/>
              <a:ext cx="2590800" cy="16668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500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把「单 Loop」落到业务：先小流量灰度验证效果与成本，再逐步放开租户范</a:t>
              </a:r>
            </a:p>
          </p:txBody>
        </p:sp>
        <p:sp>
          <p:nvSpPr>
            <p:cNvPr id="21" name="Rectangle 21"/>
            <p:cNvSpPr/>
            <p:nvPr/>
          </p:nvSpPr>
          <p:spPr>
            <a:xfrm>
              <a:off x="800100" y="4391025"/>
              <a:ext cx="762000" cy="66675"/>
            </a:xfrm>
            <a:prstGeom prst="rect">
              <a:avLst/>
            </a:prstGeom>
            <a:solidFill>
              <a:srgbClr val="CC0000"/>
            </a:solidFill>
            <a:ln>
              <a:noFill/>
            </a:ln>
          </p:spPr>
        </p:sp>
      </p:grpSp>
      <p:grpSp>
        <p:nvGrpSpPr>
          <p:cNvPr id="30" name="EasySlides Component: step_02"/>
          <p:cNvGrpSpPr/>
          <p:nvPr/>
        </p:nvGrpSpPr>
        <p:grpSpPr>
          <a:xfrm>
            <a:off x="4343400" y="1285875"/>
            <a:ext cx="3505200" cy="3476625"/>
            <a:chOff x="4343400" y="1285875"/>
            <a:chExt cx="3505200" cy="3476625"/>
          </a:xfrm>
        </p:grpSpPr>
        <p:sp>
          <p:nvSpPr>
            <p:cNvPr id="23" name="Rectangle 23"/>
            <p:cNvSpPr/>
            <p:nvPr/>
          </p:nvSpPr>
          <p:spPr>
            <a:xfrm>
              <a:off x="4343400" y="1285875"/>
              <a:ext cx="3505200" cy="3476625"/>
            </a:xfrm>
            <a:prstGeom prst="roundRect">
              <a:avLst>
                <a:gd name="adj" fmla="val 1096"/>
              </a:avLst>
            </a:prstGeom>
            <a:solidFill>
              <a:srgbClr val="FFFFFF"/>
            </a:solidFill>
            <a:ln w="11430">
              <a:solidFill>
                <a:srgbClr val="B8C7D6"/>
              </a:solidFill>
            </a:ln>
          </p:spPr>
        </p:sp>
        <p:sp>
          <p:nvSpPr>
            <p:cNvPr id="24" name="Ellipse 24"/>
            <p:cNvSpPr/>
            <p:nvPr/>
          </p:nvSpPr>
          <p:spPr>
            <a:xfrm>
              <a:off x="4543425" y="1495425"/>
              <a:ext cx="476250" cy="476250"/>
            </a:xfrm>
            <a:prstGeom prst="ellipse">
              <a:avLst/>
            </a:prstGeom>
            <a:solidFill>
              <a:srgbClr val="06B6D4"/>
            </a:solidFill>
            <a:ln>
              <a:noFill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4562475" y="1504950"/>
              <a:ext cx="438150" cy="4572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35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2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5162550" y="1524000"/>
              <a:ext cx="2324100" cy="42862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650" b="1" dirty="0">
                  <a:solidFill>
                    <a:srgbClr val="0E7490"/>
                  </a:solidFill>
                  <a:latin typeface="Arial"/>
                  <a:ea typeface="Microsoft YaHei"/>
                  <a:cs typeface="Arial"/>
                </a:rPr>
                <a:t>灰度验证</a:t>
              </a:r>
            </a:p>
          </p:txBody>
        </p:sp>
        <p:sp>
          <p:nvSpPr>
            <p:cNvPr id="27" name="Line 27"/>
            <p:cNvSpPr/>
            <p:nvPr/>
          </p:nvSpPr>
          <p:spPr>
            <a:xfrm>
              <a:off x="4648200" y="2181225"/>
              <a:ext cx="2895600" cy="9525"/>
            </a:xfrm>
            <a:custGeom>
              <a:avLst/>
              <a:gdLst/>
              <a:ahLst/>
              <a:cxnLst/>
              <a:rect l="l" t="t" r="r" b="b"/>
              <a:pathLst>
                <a:path w="2895600" h="9525">
                  <a:moveTo>
                    <a:pt x="0" y="0"/>
                  </a:moveTo>
                  <a:lnTo>
                    <a:pt x="2895600" y="0"/>
                  </a:lnTo>
                </a:path>
              </a:pathLst>
            </a:custGeom>
            <a:noFill/>
            <a:ln w="19050">
              <a:solidFill>
                <a:srgbClr val="D4E2EE"/>
              </a:solidFill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4800600" y="2476500"/>
              <a:ext cx="2590800" cy="16668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500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小流量对照基线，观察效果/成本/时延</a:t>
              </a:r>
            </a:p>
          </p:txBody>
        </p:sp>
        <p:sp>
          <p:nvSpPr>
            <p:cNvPr id="29" name="Rectangle 29"/>
            <p:cNvSpPr/>
            <p:nvPr/>
          </p:nvSpPr>
          <p:spPr>
            <a:xfrm>
              <a:off x="4648200" y="4391025"/>
              <a:ext cx="762000" cy="66675"/>
            </a:xfrm>
            <a:prstGeom prst="rect">
              <a:avLst/>
            </a:prstGeom>
            <a:solidFill>
              <a:srgbClr val="CC0000"/>
            </a:solidFill>
            <a:ln>
              <a:noFill/>
            </a:ln>
          </p:spPr>
        </p:sp>
      </p:grpSp>
      <p:grpSp>
        <p:nvGrpSpPr>
          <p:cNvPr id="38" name="EasySlides Component: step_03"/>
          <p:cNvGrpSpPr/>
          <p:nvPr/>
        </p:nvGrpSpPr>
        <p:grpSpPr>
          <a:xfrm>
            <a:off x="8191500" y="1285875"/>
            <a:ext cx="3505200" cy="3476625"/>
            <a:chOff x="8191500" y="1285875"/>
            <a:chExt cx="3505200" cy="3476625"/>
          </a:xfrm>
        </p:grpSpPr>
        <p:sp>
          <p:nvSpPr>
            <p:cNvPr id="31" name="Rectangle 31"/>
            <p:cNvSpPr/>
            <p:nvPr/>
          </p:nvSpPr>
          <p:spPr>
            <a:xfrm>
              <a:off x="8191500" y="1285875"/>
              <a:ext cx="3505200" cy="3476625"/>
            </a:xfrm>
            <a:prstGeom prst="roundRect">
              <a:avLst>
                <a:gd name="adj" fmla="val 1096"/>
              </a:avLst>
            </a:prstGeom>
            <a:solidFill>
              <a:srgbClr val="FFFFFF"/>
            </a:solidFill>
            <a:ln w="11430">
              <a:solidFill>
                <a:srgbClr val="B8C7D6"/>
              </a:solidFill>
            </a:ln>
          </p:spPr>
        </p:sp>
        <p:sp>
          <p:nvSpPr>
            <p:cNvPr id="32" name="Ellipse 32"/>
            <p:cNvSpPr/>
            <p:nvPr/>
          </p:nvSpPr>
          <p:spPr>
            <a:xfrm>
              <a:off x="8391525" y="1495425"/>
              <a:ext cx="476250" cy="476250"/>
            </a:xfrm>
            <a:prstGeom prst="ellipse">
              <a:avLst/>
            </a:prstGeom>
            <a:solidFill>
              <a:srgbClr val="06B6D4"/>
            </a:solidFill>
            <a:ln>
              <a:noFill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8410575" y="1504950"/>
              <a:ext cx="438150" cy="4572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35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3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9010650" y="1524000"/>
              <a:ext cx="2324100" cy="42862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650" b="1" dirty="0">
                  <a:solidFill>
                    <a:srgbClr val="0E7490"/>
                  </a:solidFill>
                  <a:latin typeface="Arial"/>
                  <a:ea typeface="Microsoft YaHei"/>
                  <a:cs typeface="Arial"/>
                </a:rPr>
                <a:t>逐步放开</a:t>
              </a:r>
            </a:p>
          </p:txBody>
        </p:sp>
        <p:sp>
          <p:nvSpPr>
            <p:cNvPr id="35" name="Line 35"/>
            <p:cNvSpPr/>
            <p:nvPr/>
          </p:nvSpPr>
          <p:spPr>
            <a:xfrm>
              <a:off x="8496300" y="2181225"/>
              <a:ext cx="2895600" cy="9525"/>
            </a:xfrm>
            <a:custGeom>
              <a:avLst/>
              <a:gdLst/>
              <a:ahLst/>
              <a:cxnLst/>
              <a:rect l="l" t="t" r="r" b="b"/>
              <a:pathLst>
                <a:path w="2895600" h="9525">
                  <a:moveTo>
                    <a:pt x="0" y="0"/>
                  </a:moveTo>
                  <a:lnTo>
                    <a:pt x="2895600" y="0"/>
                  </a:lnTo>
                </a:path>
              </a:pathLst>
            </a:custGeom>
            <a:noFill/>
            <a:ln w="19050">
              <a:solidFill>
                <a:srgbClr val="D4E2EE"/>
              </a:solidFill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8648700" y="2476500"/>
              <a:ext cx="2590800" cy="16668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500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按租户/场景分批，异常即回滚</a:t>
              </a:r>
            </a:p>
          </p:txBody>
        </p:sp>
        <p:sp>
          <p:nvSpPr>
            <p:cNvPr id="37" name="Rectangle 37"/>
            <p:cNvSpPr/>
            <p:nvPr/>
          </p:nvSpPr>
          <p:spPr>
            <a:xfrm>
              <a:off x="8496300" y="4391025"/>
              <a:ext cx="762000" cy="66675"/>
            </a:xfrm>
            <a:prstGeom prst="rect">
              <a:avLst/>
            </a:prstGeom>
            <a:solidFill>
              <a:srgbClr val="CC0000"/>
            </a:solidFill>
            <a:ln>
              <a:noFill/>
            </a:ln>
          </p:spPr>
        </p:sp>
      </p:grpSp>
      <p:grpSp>
        <p:nvGrpSpPr>
          <p:cNvPr id="42" name="EasySlides Component: synthesis"/>
          <p:cNvGrpSpPr/>
          <p:nvPr/>
        </p:nvGrpSpPr>
        <p:grpSpPr>
          <a:xfrm>
            <a:off x="495300" y="5476875"/>
            <a:ext cx="11201400" cy="714375"/>
            <a:chOff x="495300" y="5476875"/>
            <a:chExt cx="11201400" cy="714375"/>
          </a:xfrm>
        </p:grpSpPr>
        <p:sp>
          <p:nvSpPr>
            <p:cNvPr id="39" name="Rectangle 39"/>
            <p:cNvSpPr/>
            <p:nvPr/>
          </p:nvSpPr>
          <p:spPr>
            <a:xfrm>
              <a:off x="495300" y="5476875"/>
              <a:ext cx="11201400" cy="714375"/>
            </a:xfrm>
            <a:prstGeom prst="roundRect">
              <a:avLst>
                <a:gd name="adj" fmla="val 5333"/>
              </a:avLst>
            </a:prstGeom>
            <a:solidFill>
              <a:srgbClr val="0E7490"/>
            </a:solidFill>
            <a:ln>
              <a:noFill/>
            </a:ln>
          </p:spPr>
        </p:sp>
        <p:sp>
          <p:nvSpPr>
            <p:cNvPr id="40" name="Rectangle 40"/>
            <p:cNvSpPr/>
            <p:nvPr/>
          </p:nvSpPr>
          <p:spPr>
            <a:xfrm>
              <a:off x="495300" y="5476875"/>
              <a:ext cx="76200" cy="714375"/>
            </a:xfrm>
            <a:prstGeom prst="roundRect">
              <a:avLst>
                <a:gd name="adj" fmla="val 50000"/>
              </a:avLst>
            </a:prstGeom>
            <a:solidFill>
              <a:srgbClr val="CC0000"/>
            </a:solidFill>
            <a:ln>
              <a:noFill/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876300" y="5610225"/>
              <a:ext cx="10439400" cy="4476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65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案例视角：预算审批链路的审批-幂等-验真闭环实测。</a:t>
              </a:r>
            </a:p>
          </p:txBody>
        </p:sp>
      </p:grp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666750"/>
          </a:xfrm>
          <a:prstGeom prst="rect">
            <a:avLst/>
          </a:prstGeom>
          <a:solidFill>
            <a:srgbClr val="0E7490"/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0"/>
            <a:ext cx="57150" cy="666750"/>
          </a:xfrm>
          <a:prstGeom prst="rect">
            <a:avLst/>
          </a:prstGeom>
          <a:solidFill>
            <a:srgbClr val="CC0000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381000" y="123825"/>
            <a:ext cx="762000" cy="4000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1275" b="1" dirty="0">
                <a:solidFill>
                  <a:srgbClr val="9FD3FF"/>
                </a:solidFill>
                <a:latin typeface="Arial"/>
                <a:ea typeface="Microsoft YaHei"/>
                <a:cs typeface="Arial"/>
              </a:rPr>
              <a:t>11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257300" y="95250"/>
            <a:ext cx="8096250" cy="457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21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陷阱与排查：单 Loop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0001250" y="76200"/>
            <a:ext cx="1619250" cy="5143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3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DataAgent</a:t>
            </a:r>
          </a:p>
        </p:txBody>
      </p:sp>
      <p:sp>
        <p:nvSpPr>
          <p:cNvPr id="8" name="Rectangle 8"/>
          <p:cNvSpPr/>
          <p:nvPr/>
        </p:nvSpPr>
        <p:spPr>
          <a:xfrm>
            <a:off x="0" y="666750"/>
            <a:ext cx="12192000" cy="476250"/>
          </a:xfrm>
          <a:prstGeom prst="rect">
            <a:avLst/>
          </a:prstGeom>
          <a:solidFill>
            <a:srgbClr val="E8F4FC"/>
          </a:solidFill>
          <a:ln>
            <a:noFill/>
          </a:ln>
        </p:spPr>
      </p:sp>
      <p:sp>
        <p:nvSpPr>
          <p:cNvPr id="9" name="Rectangle 9"/>
          <p:cNvSpPr/>
          <p:nvPr/>
        </p:nvSpPr>
        <p:spPr>
          <a:xfrm>
            <a:off x="0" y="666750"/>
            <a:ext cx="57150" cy="476250"/>
          </a:xfrm>
          <a:prstGeom prst="rect">
            <a:avLst/>
          </a:prstGeom>
          <a:solidFill>
            <a:srgbClr val="06B6D4"/>
          </a:solidFill>
          <a:ln>
            <a:noFill/>
          </a:ln>
        </p:spPr>
      </p:sp>
      <p:sp>
        <p:nvSpPr>
          <p:cNvPr id="10" name="TextBox 10"/>
          <p:cNvSpPr txBox="1"/>
          <p:nvPr/>
        </p:nvSpPr>
        <p:spPr>
          <a:xfrm>
            <a:off x="381000" y="714375"/>
            <a:ext cx="10001250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1350" dirty="0">
                <a:solidFill>
                  <a:srgbClr val="26384A"/>
                </a:solidFill>
                <a:latin typeface="Arial"/>
                <a:ea typeface="Microsoft YaHei"/>
                <a:cs typeface="Arial"/>
              </a:rPr>
              <a:t>症状→根因→处置</a:t>
            </a:r>
          </a:p>
        </p:txBody>
      </p:sp>
      <p:sp>
        <p:nvSpPr>
          <p:cNvPr id="11" name="Line 11"/>
          <p:cNvSpPr/>
          <p:nvPr/>
        </p:nvSpPr>
        <p:spPr>
          <a:xfrm>
            <a:off x="381000" y="6334125"/>
            <a:ext cx="11430000" cy="9525"/>
          </a:xfrm>
          <a:custGeom>
            <a:avLst/>
            <a:gdLst/>
            <a:ahLst/>
            <a:cxnLst/>
            <a:rect l="l" t="t" r="r" b="b"/>
            <a:pathLst>
              <a:path w="11430000" h="9525">
                <a:moveTo>
                  <a:pt x="0" y="0"/>
                </a:moveTo>
                <a:lnTo>
                  <a:pt x="11430000" y="0"/>
                </a:lnTo>
              </a:path>
            </a:pathLst>
          </a:custGeom>
          <a:noFill/>
          <a:ln w="9525">
            <a:solidFill>
              <a:srgbClr val="E8F4FC"/>
            </a:solidFill>
          </a:ln>
        </p:spPr>
      </p:sp>
      <p:sp>
        <p:nvSpPr>
          <p:cNvPr id="12" name="TextBox 12"/>
          <p:cNvSpPr txBox="1"/>
          <p:nvPr/>
        </p:nvSpPr>
        <p:spPr>
          <a:xfrm>
            <a:off x="381000" y="6477000"/>
            <a:ext cx="4953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课程第15讲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4381500" y="6477000"/>
            <a:ext cx="3429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Agent Runtime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0763250" y="6457950"/>
            <a:ext cx="857250" cy="266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050" dirty="0">
                <a:solidFill>
                  <a:srgbClr val="52657A"/>
                </a:solidFill>
                <a:latin typeface="Arial"/>
                <a:ea typeface="Microsoft YaHei"/>
                <a:cs typeface="Arial"/>
              </a:rPr>
              <a:t>11</a:t>
            </a:r>
          </a:p>
        </p:txBody>
      </p:sp>
      <p:grpSp>
        <p:nvGrpSpPr>
          <p:cNvPr id="38" name="EasySlides Component: matrix"/>
          <p:cNvGrpSpPr/>
          <p:nvPr/>
        </p:nvGrpSpPr>
        <p:grpSpPr>
          <a:xfrm>
            <a:off x="495300" y="1285875"/>
            <a:ext cx="11201400" cy="4905375"/>
            <a:chOff x="495300" y="1285875"/>
            <a:chExt cx="11201400" cy="4905375"/>
          </a:xfrm>
        </p:grpSpPr>
        <p:sp>
          <p:nvSpPr>
            <p:cNvPr id="15" name="Rectangle 15"/>
            <p:cNvSpPr/>
            <p:nvPr/>
          </p:nvSpPr>
          <p:spPr>
            <a:xfrm>
              <a:off x="495300" y="1285875"/>
              <a:ext cx="11201400" cy="4905375"/>
            </a:xfrm>
            <a:prstGeom prst="roundRect">
              <a:avLst>
                <a:gd name="adj" fmla="val 777"/>
              </a:avLst>
            </a:prstGeom>
            <a:solidFill>
              <a:srgbClr val="FFFFFF"/>
            </a:solidFill>
            <a:ln w="11430">
              <a:solidFill>
                <a:srgbClr val="B8C7D6"/>
              </a:solidFill>
            </a:ln>
          </p:spPr>
        </p:sp>
        <p:sp>
          <p:nvSpPr>
            <p:cNvPr id="16" name="Rectangle 16"/>
            <p:cNvSpPr/>
            <p:nvPr/>
          </p:nvSpPr>
          <p:spPr>
            <a:xfrm>
              <a:off x="495300" y="1285875"/>
              <a:ext cx="11201400" cy="647700"/>
            </a:xfrm>
            <a:prstGeom prst="roundRect">
              <a:avLst>
                <a:gd name="adj" fmla="val 5882"/>
              </a:avLst>
            </a:prstGeom>
            <a:solidFill>
              <a:srgbClr val="0E7490"/>
            </a:solidFill>
            <a:ln>
              <a:noFill/>
            </a:ln>
          </p:spPr>
        </p:sp>
        <p:sp>
          <p:nvSpPr>
            <p:cNvPr id="17" name="Line 17"/>
            <p:cNvSpPr/>
            <p:nvPr/>
          </p:nvSpPr>
          <p:spPr>
            <a:xfrm>
              <a:off x="4229100" y="1285875"/>
              <a:ext cx="9525" cy="4143375"/>
            </a:xfrm>
            <a:custGeom>
              <a:avLst/>
              <a:gdLst/>
              <a:ahLst/>
              <a:cxnLst/>
              <a:rect l="l" t="t" r="r" b="b"/>
              <a:pathLst>
                <a:path w="9525" h="4143375">
                  <a:moveTo>
                    <a:pt x="0" y="0"/>
                  </a:moveTo>
                  <a:lnTo>
                    <a:pt x="0" y="4143375"/>
                  </a:lnTo>
                </a:path>
              </a:pathLst>
            </a:custGeom>
            <a:noFill/>
            <a:ln w="9525">
              <a:solidFill>
                <a:srgbClr val="B8C7D6"/>
              </a:solidFill>
            </a:ln>
          </p:spPr>
        </p:sp>
        <p:sp>
          <p:nvSpPr>
            <p:cNvPr id="18" name="Line 18"/>
            <p:cNvSpPr/>
            <p:nvPr/>
          </p:nvSpPr>
          <p:spPr>
            <a:xfrm>
              <a:off x="7962900" y="1285875"/>
              <a:ext cx="9525" cy="4143375"/>
            </a:xfrm>
            <a:custGeom>
              <a:avLst/>
              <a:gdLst/>
              <a:ahLst/>
              <a:cxnLst/>
              <a:rect l="l" t="t" r="r" b="b"/>
              <a:pathLst>
                <a:path w="9525" h="4143375">
                  <a:moveTo>
                    <a:pt x="0" y="0"/>
                  </a:moveTo>
                  <a:lnTo>
                    <a:pt x="0" y="4143375"/>
                  </a:lnTo>
                </a:path>
              </a:pathLst>
            </a:custGeom>
            <a:noFill/>
            <a:ln w="9525">
              <a:solidFill>
                <a:srgbClr val="B8C7D6"/>
              </a:solidFill>
            </a:ln>
          </p:spPr>
        </p:sp>
        <p:sp>
          <p:nvSpPr>
            <p:cNvPr id="19" name="Line 19"/>
            <p:cNvSpPr/>
            <p:nvPr/>
          </p:nvSpPr>
          <p:spPr>
            <a:xfrm>
              <a:off x="495300" y="1933575"/>
              <a:ext cx="11201400" cy="9525"/>
            </a:xfrm>
            <a:custGeom>
              <a:avLst/>
              <a:gdLst/>
              <a:ahLst/>
              <a:cxnLst/>
              <a:rect l="l" t="t" r="r" b="b"/>
              <a:pathLst>
                <a:path w="11201400" h="9525">
                  <a:moveTo>
                    <a:pt x="0" y="0"/>
                  </a:moveTo>
                  <a:lnTo>
                    <a:pt x="11201400" y="0"/>
                  </a:lnTo>
                </a:path>
              </a:pathLst>
            </a:custGeom>
            <a:noFill/>
            <a:ln w="9525">
              <a:solidFill>
                <a:srgbClr val="B8C7D6"/>
              </a:solidFill>
            </a:ln>
          </p:spPr>
        </p:sp>
        <p:sp>
          <p:nvSpPr>
            <p:cNvPr id="20" name="Line 20"/>
            <p:cNvSpPr/>
            <p:nvPr/>
          </p:nvSpPr>
          <p:spPr>
            <a:xfrm>
              <a:off x="495300" y="3095625"/>
              <a:ext cx="11201400" cy="9525"/>
            </a:xfrm>
            <a:custGeom>
              <a:avLst/>
              <a:gdLst/>
              <a:ahLst/>
              <a:cxnLst/>
              <a:rect l="l" t="t" r="r" b="b"/>
              <a:pathLst>
                <a:path w="11201400" h="9525">
                  <a:moveTo>
                    <a:pt x="0" y="0"/>
                  </a:moveTo>
                  <a:lnTo>
                    <a:pt x="11201400" y="0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21" name="Line 21"/>
            <p:cNvSpPr/>
            <p:nvPr/>
          </p:nvSpPr>
          <p:spPr>
            <a:xfrm>
              <a:off x="495300" y="4257675"/>
              <a:ext cx="11201400" cy="9525"/>
            </a:xfrm>
            <a:custGeom>
              <a:avLst/>
              <a:gdLst/>
              <a:ahLst/>
              <a:cxnLst/>
              <a:rect l="l" t="t" r="r" b="b"/>
              <a:pathLst>
                <a:path w="11201400" h="9525">
                  <a:moveTo>
                    <a:pt x="0" y="0"/>
                  </a:moveTo>
                  <a:lnTo>
                    <a:pt x="11201400" y="0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22" name="Line 22"/>
            <p:cNvSpPr/>
            <p:nvPr/>
          </p:nvSpPr>
          <p:spPr>
            <a:xfrm>
              <a:off x="495300" y="5429250"/>
              <a:ext cx="11201400" cy="9525"/>
            </a:xfrm>
            <a:custGeom>
              <a:avLst/>
              <a:gdLst/>
              <a:ahLst/>
              <a:cxnLst/>
              <a:rect l="l" t="t" r="r" b="b"/>
              <a:pathLst>
                <a:path w="11201400" h="9525">
                  <a:moveTo>
                    <a:pt x="0" y="0"/>
                  </a:moveTo>
                  <a:lnTo>
                    <a:pt x="11201400" y="0"/>
                  </a:lnTo>
                </a:path>
              </a:pathLst>
            </a:custGeom>
            <a:noFill/>
            <a:ln w="9525">
              <a:solidFill>
                <a:srgbClr val="B8C7D6"/>
              </a:solidFill>
            </a:ln>
          </p:spPr>
        </p:sp>
        <p:grpSp>
          <p:nvGrpSpPr>
            <p:cNvPr id="26" name="Group 26"/>
            <p:cNvGrpSpPr/>
            <p:nvPr/>
          </p:nvGrpSpPr>
          <p:grpSpPr>
            <a:xfrm>
              <a:off x="704850" y="1428750"/>
              <a:ext cx="10782300" cy="361950"/>
              <a:chOff x="704850" y="1428750"/>
              <a:chExt cx="10782300" cy="361950"/>
            </a:xfrm>
          </p:grpSpPr>
          <p:sp>
            <p:nvSpPr>
              <p:cNvPr id="23" name="TextBox 23"/>
              <p:cNvSpPr txBox="1"/>
              <p:nvPr/>
            </p:nvSpPr>
            <p:spPr>
              <a:xfrm>
                <a:off x="704850" y="1428750"/>
                <a:ext cx="3314700" cy="3619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575" b="1" dirty="0">
                    <a:solidFill>
                      <a:srgbClr val="FFFFFF"/>
                    </a:solidFill>
                    <a:latin typeface="Arial"/>
                    <a:ea typeface="Microsoft YaHei"/>
                    <a:cs typeface="Arial"/>
                  </a:rPr>
                  <a:t>症状</a:t>
                </a:r>
              </a:p>
            </p:txBody>
          </p:sp>
          <p:sp>
            <p:nvSpPr>
              <p:cNvPr id="24" name="TextBox 24"/>
              <p:cNvSpPr txBox="1"/>
              <p:nvPr/>
            </p:nvSpPr>
            <p:spPr>
              <a:xfrm>
                <a:off x="4438650" y="1428750"/>
                <a:ext cx="3314700" cy="3619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575" b="1" dirty="0">
                    <a:solidFill>
                      <a:srgbClr val="FFFFFF"/>
                    </a:solidFill>
                    <a:latin typeface="Arial"/>
                    <a:ea typeface="Microsoft YaHei"/>
                    <a:cs typeface="Arial"/>
                  </a:rPr>
                  <a:t>根因</a:t>
                </a:r>
              </a:p>
            </p:txBody>
          </p:sp>
          <p:sp>
            <p:nvSpPr>
              <p:cNvPr id="25" name="TextBox 25"/>
              <p:cNvSpPr txBox="1"/>
              <p:nvPr/>
            </p:nvSpPr>
            <p:spPr>
              <a:xfrm>
                <a:off x="8172450" y="1428750"/>
                <a:ext cx="3314700" cy="3619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575" b="1" dirty="0">
                    <a:solidFill>
                      <a:srgbClr val="FFFFFF"/>
                    </a:solidFill>
                    <a:latin typeface="Arial"/>
                    <a:ea typeface="Microsoft YaHei"/>
                    <a:cs typeface="Arial"/>
                  </a:rPr>
                  <a:t>处置</a:t>
                </a:r>
              </a:p>
            </p:txBody>
          </p:sp>
        </p:grpSp>
        <p:grpSp>
          <p:nvGrpSpPr>
            <p:cNvPr id="36" name="Group 36"/>
            <p:cNvGrpSpPr/>
            <p:nvPr/>
          </p:nvGrpSpPr>
          <p:grpSpPr>
            <a:xfrm>
              <a:off x="723900" y="2105025"/>
              <a:ext cx="10744200" cy="3086100"/>
              <a:chOff x="723900" y="2105025"/>
              <a:chExt cx="10744200" cy="3086100"/>
            </a:xfrm>
          </p:grpSpPr>
          <p:sp>
            <p:nvSpPr>
              <p:cNvPr id="27" name="TextBox 27"/>
              <p:cNvSpPr txBox="1"/>
              <p:nvPr/>
            </p:nvSpPr>
            <p:spPr>
              <a:xfrm>
                <a:off x="723900" y="210502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「单 Loop」典型故障：静</a:t>
                </a:r>
              </a:p>
            </p:txBody>
          </p:sp>
          <p:sp>
            <p:nvSpPr>
              <p:cNvPr id="28" name="TextBox 28"/>
              <p:cNvSpPr txBox="1"/>
              <p:nvPr/>
            </p:nvSpPr>
            <p:spPr>
              <a:xfrm>
                <a:off x="4457700" y="210502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缺少验证/预算</a:t>
                </a:r>
              </a:p>
            </p:txBody>
          </p:sp>
          <p:sp>
            <p:nvSpPr>
              <p:cNvPr id="29" name="TextBox 29"/>
              <p:cNvSpPr txBox="1"/>
              <p:nvPr/>
            </p:nvSpPr>
            <p:spPr>
              <a:xfrm>
                <a:off x="8191500" y="210502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验真+预算上限</a:t>
                </a:r>
              </a:p>
            </p:txBody>
          </p:sp>
          <p:sp>
            <p:nvSpPr>
              <p:cNvPr id="30" name="TextBox 30"/>
              <p:cNvSpPr txBox="1"/>
              <p:nvPr/>
            </p:nvSpPr>
            <p:spPr>
              <a:xfrm>
                <a:off x="723900" y="326707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结果不可解释</a:t>
                </a:r>
              </a:p>
            </p:txBody>
          </p:sp>
          <p:sp>
            <p:nvSpPr>
              <p:cNvPr id="31" name="TextBox 31"/>
              <p:cNvSpPr txBox="1"/>
              <p:nvPr/>
            </p:nvSpPr>
            <p:spPr>
              <a:xfrm>
                <a:off x="4457700" y="326707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无 Trace 留痕</a:t>
                </a:r>
              </a:p>
            </p:txBody>
          </p:sp>
          <p:sp>
            <p:nvSpPr>
              <p:cNvPr id="32" name="TextBox 32"/>
              <p:cNvSpPr txBox="1"/>
              <p:nvPr/>
            </p:nvSpPr>
            <p:spPr>
              <a:xfrm>
                <a:off x="8191500" y="326707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接入统一 Trace</a:t>
                </a:r>
              </a:p>
            </p:txBody>
          </p:sp>
          <p:sp>
            <p:nvSpPr>
              <p:cNvPr id="33" name="TextBox 33"/>
              <p:cNvSpPr txBox="1"/>
              <p:nvPr/>
            </p:nvSpPr>
            <p:spPr>
              <a:xfrm>
                <a:off x="723900" y="442912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效果悄悄退化</a:t>
                </a:r>
              </a:p>
            </p:txBody>
          </p:sp>
          <p:sp>
            <p:nvSpPr>
              <p:cNvPr id="34" name="TextBox 34"/>
              <p:cNvSpPr txBox="1"/>
              <p:nvPr/>
            </p:nvSpPr>
            <p:spPr>
              <a:xfrm>
                <a:off x="4457700" y="442912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无回归基线</a:t>
                </a:r>
              </a:p>
            </p:txBody>
          </p:sp>
          <p:sp>
            <p:nvSpPr>
              <p:cNvPr id="35" name="TextBox 35"/>
              <p:cNvSpPr txBox="1"/>
              <p:nvPr/>
            </p:nvSpPr>
            <p:spPr>
              <a:xfrm>
                <a:off x="8191500" y="442912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评测+回归门禁</a:t>
                </a:r>
              </a:p>
            </p:txBody>
          </p:sp>
        </p:grpSp>
        <p:sp>
          <p:nvSpPr>
            <p:cNvPr id="37" name="TextBox 37"/>
            <p:cNvSpPr txBox="1"/>
            <p:nvPr/>
          </p:nvSpPr>
          <p:spPr>
            <a:xfrm>
              <a:off x="828675" y="5581650"/>
              <a:ext cx="10534650" cy="4191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500" b="1" dirty="0">
                  <a:solidFill>
                    <a:srgbClr val="0E7490"/>
                  </a:solidFill>
                  <a:latin typeface="Arial"/>
                  <a:ea typeface="Microsoft YaHei"/>
                  <a:cs typeface="Arial"/>
                </a:rPr>
                <a:t>先止血，再根因，最后沉淀为回归用例</a:t>
              </a:r>
            </a:p>
          </p:txBody>
        </p:sp>
      </p:grp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666750"/>
          </a:xfrm>
          <a:prstGeom prst="rect">
            <a:avLst/>
          </a:prstGeom>
          <a:solidFill>
            <a:srgbClr val="0E7490"/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0"/>
            <a:ext cx="57150" cy="666750"/>
          </a:xfrm>
          <a:prstGeom prst="rect">
            <a:avLst/>
          </a:prstGeom>
          <a:solidFill>
            <a:srgbClr val="CC0000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381000" y="123825"/>
            <a:ext cx="762000" cy="4000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1275" b="1" dirty="0">
                <a:solidFill>
                  <a:srgbClr val="9FD3FF"/>
                </a:solidFill>
                <a:latin typeface="Arial"/>
                <a:ea typeface="Microsoft YaHei"/>
                <a:cs typeface="Arial"/>
              </a:rPr>
              <a:t>12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257300" y="95250"/>
            <a:ext cx="8096250" cy="457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21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工程决策：单 Loop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0001250" y="76200"/>
            <a:ext cx="1619250" cy="5143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3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DataAgent</a:t>
            </a:r>
          </a:p>
        </p:txBody>
      </p:sp>
      <p:sp>
        <p:nvSpPr>
          <p:cNvPr id="8" name="Rectangle 8"/>
          <p:cNvSpPr/>
          <p:nvPr/>
        </p:nvSpPr>
        <p:spPr>
          <a:xfrm>
            <a:off x="0" y="666750"/>
            <a:ext cx="12192000" cy="476250"/>
          </a:xfrm>
          <a:prstGeom prst="rect">
            <a:avLst/>
          </a:prstGeom>
          <a:solidFill>
            <a:srgbClr val="E8F4FC"/>
          </a:solidFill>
          <a:ln>
            <a:noFill/>
          </a:ln>
        </p:spPr>
      </p:sp>
      <p:sp>
        <p:nvSpPr>
          <p:cNvPr id="9" name="Rectangle 9"/>
          <p:cNvSpPr/>
          <p:nvPr/>
        </p:nvSpPr>
        <p:spPr>
          <a:xfrm>
            <a:off x="0" y="666750"/>
            <a:ext cx="57150" cy="476250"/>
          </a:xfrm>
          <a:prstGeom prst="rect">
            <a:avLst/>
          </a:prstGeom>
          <a:solidFill>
            <a:srgbClr val="06B6D4"/>
          </a:solidFill>
          <a:ln>
            <a:noFill/>
          </a:ln>
        </p:spPr>
      </p:sp>
      <p:sp>
        <p:nvSpPr>
          <p:cNvPr id="10" name="TextBox 10"/>
          <p:cNvSpPr txBox="1"/>
          <p:nvPr/>
        </p:nvSpPr>
        <p:spPr>
          <a:xfrm>
            <a:off x="381000" y="714375"/>
            <a:ext cx="10001250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1350" dirty="0">
                <a:solidFill>
                  <a:srgbClr val="26384A"/>
                </a:solidFill>
                <a:latin typeface="Arial"/>
                <a:ea typeface="Microsoft YaHei"/>
                <a:cs typeface="Arial"/>
              </a:rPr>
              <a:t>候选方案 × 取舍（ADR）</a:t>
            </a:r>
          </a:p>
        </p:txBody>
      </p:sp>
      <p:sp>
        <p:nvSpPr>
          <p:cNvPr id="11" name="Line 11"/>
          <p:cNvSpPr/>
          <p:nvPr/>
        </p:nvSpPr>
        <p:spPr>
          <a:xfrm>
            <a:off x="381000" y="6334125"/>
            <a:ext cx="11430000" cy="9525"/>
          </a:xfrm>
          <a:custGeom>
            <a:avLst/>
            <a:gdLst/>
            <a:ahLst/>
            <a:cxnLst/>
            <a:rect l="l" t="t" r="r" b="b"/>
            <a:pathLst>
              <a:path w="11430000" h="9525">
                <a:moveTo>
                  <a:pt x="0" y="0"/>
                </a:moveTo>
                <a:lnTo>
                  <a:pt x="11430000" y="0"/>
                </a:lnTo>
              </a:path>
            </a:pathLst>
          </a:custGeom>
          <a:noFill/>
          <a:ln w="9525">
            <a:solidFill>
              <a:srgbClr val="E8F4FC"/>
            </a:solidFill>
          </a:ln>
        </p:spPr>
      </p:sp>
      <p:sp>
        <p:nvSpPr>
          <p:cNvPr id="12" name="TextBox 12"/>
          <p:cNvSpPr txBox="1"/>
          <p:nvPr/>
        </p:nvSpPr>
        <p:spPr>
          <a:xfrm>
            <a:off x="381000" y="6477000"/>
            <a:ext cx="4953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课程第15讲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4381500" y="6477000"/>
            <a:ext cx="3429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Agent Runtime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0763250" y="6457950"/>
            <a:ext cx="857250" cy="266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050" dirty="0">
                <a:solidFill>
                  <a:srgbClr val="52657A"/>
                </a:solidFill>
                <a:latin typeface="Arial"/>
                <a:ea typeface="Microsoft YaHei"/>
                <a:cs typeface="Arial"/>
              </a:rPr>
              <a:t>12</a:t>
            </a:r>
          </a:p>
        </p:txBody>
      </p:sp>
      <p:grpSp>
        <p:nvGrpSpPr>
          <p:cNvPr id="38" name="EasySlides Component: matrix"/>
          <p:cNvGrpSpPr/>
          <p:nvPr/>
        </p:nvGrpSpPr>
        <p:grpSpPr>
          <a:xfrm>
            <a:off x="495300" y="1285875"/>
            <a:ext cx="11201400" cy="4905375"/>
            <a:chOff x="495300" y="1285875"/>
            <a:chExt cx="11201400" cy="4905375"/>
          </a:xfrm>
        </p:grpSpPr>
        <p:sp>
          <p:nvSpPr>
            <p:cNvPr id="15" name="Rectangle 15"/>
            <p:cNvSpPr/>
            <p:nvPr/>
          </p:nvSpPr>
          <p:spPr>
            <a:xfrm>
              <a:off x="495300" y="1285875"/>
              <a:ext cx="11201400" cy="4905375"/>
            </a:xfrm>
            <a:prstGeom prst="roundRect">
              <a:avLst>
                <a:gd name="adj" fmla="val 777"/>
              </a:avLst>
            </a:prstGeom>
            <a:solidFill>
              <a:srgbClr val="FFFFFF"/>
            </a:solidFill>
            <a:ln w="11430">
              <a:solidFill>
                <a:srgbClr val="B8C7D6"/>
              </a:solidFill>
            </a:ln>
          </p:spPr>
        </p:sp>
        <p:sp>
          <p:nvSpPr>
            <p:cNvPr id="16" name="Rectangle 16"/>
            <p:cNvSpPr/>
            <p:nvPr/>
          </p:nvSpPr>
          <p:spPr>
            <a:xfrm>
              <a:off x="495300" y="1285875"/>
              <a:ext cx="11201400" cy="647700"/>
            </a:xfrm>
            <a:prstGeom prst="roundRect">
              <a:avLst>
                <a:gd name="adj" fmla="val 5882"/>
              </a:avLst>
            </a:prstGeom>
            <a:solidFill>
              <a:srgbClr val="0E7490"/>
            </a:solidFill>
            <a:ln>
              <a:noFill/>
            </a:ln>
          </p:spPr>
        </p:sp>
        <p:sp>
          <p:nvSpPr>
            <p:cNvPr id="17" name="Line 17"/>
            <p:cNvSpPr/>
            <p:nvPr/>
          </p:nvSpPr>
          <p:spPr>
            <a:xfrm>
              <a:off x="4229100" y="1285875"/>
              <a:ext cx="9525" cy="4143375"/>
            </a:xfrm>
            <a:custGeom>
              <a:avLst/>
              <a:gdLst/>
              <a:ahLst/>
              <a:cxnLst/>
              <a:rect l="l" t="t" r="r" b="b"/>
              <a:pathLst>
                <a:path w="9525" h="4143375">
                  <a:moveTo>
                    <a:pt x="0" y="0"/>
                  </a:moveTo>
                  <a:lnTo>
                    <a:pt x="0" y="4143375"/>
                  </a:lnTo>
                </a:path>
              </a:pathLst>
            </a:custGeom>
            <a:noFill/>
            <a:ln w="9525">
              <a:solidFill>
                <a:srgbClr val="B8C7D6"/>
              </a:solidFill>
            </a:ln>
          </p:spPr>
        </p:sp>
        <p:sp>
          <p:nvSpPr>
            <p:cNvPr id="18" name="Line 18"/>
            <p:cNvSpPr/>
            <p:nvPr/>
          </p:nvSpPr>
          <p:spPr>
            <a:xfrm>
              <a:off x="7962900" y="1285875"/>
              <a:ext cx="9525" cy="4143375"/>
            </a:xfrm>
            <a:custGeom>
              <a:avLst/>
              <a:gdLst/>
              <a:ahLst/>
              <a:cxnLst/>
              <a:rect l="l" t="t" r="r" b="b"/>
              <a:pathLst>
                <a:path w="9525" h="4143375">
                  <a:moveTo>
                    <a:pt x="0" y="0"/>
                  </a:moveTo>
                  <a:lnTo>
                    <a:pt x="0" y="4143375"/>
                  </a:lnTo>
                </a:path>
              </a:pathLst>
            </a:custGeom>
            <a:noFill/>
            <a:ln w="9525">
              <a:solidFill>
                <a:srgbClr val="B8C7D6"/>
              </a:solidFill>
            </a:ln>
          </p:spPr>
        </p:sp>
        <p:sp>
          <p:nvSpPr>
            <p:cNvPr id="19" name="Line 19"/>
            <p:cNvSpPr/>
            <p:nvPr/>
          </p:nvSpPr>
          <p:spPr>
            <a:xfrm>
              <a:off x="495300" y="1933575"/>
              <a:ext cx="11201400" cy="9525"/>
            </a:xfrm>
            <a:custGeom>
              <a:avLst/>
              <a:gdLst/>
              <a:ahLst/>
              <a:cxnLst/>
              <a:rect l="l" t="t" r="r" b="b"/>
              <a:pathLst>
                <a:path w="11201400" h="9525">
                  <a:moveTo>
                    <a:pt x="0" y="0"/>
                  </a:moveTo>
                  <a:lnTo>
                    <a:pt x="11201400" y="0"/>
                  </a:lnTo>
                </a:path>
              </a:pathLst>
            </a:custGeom>
            <a:noFill/>
            <a:ln w="9525">
              <a:solidFill>
                <a:srgbClr val="B8C7D6"/>
              </a:solidFill>
            </a:ln>
          </p:spPr>
        </p:sp>
        <p:sp>
          <p:nvSpPr>
            <p:cNvPr id="20" name="Line 20"/>
            <p:cNvSpPr/>
            <p:nvPr/>
          </p:nvSpPr>
          <p:spPr>
            <a:xfrm>
              <a:off x="495300" y="3095625"/>
              <a:ext cx="11201400" cy="9525"/>
            </a:xfrm>
            <a:custGeom>
              <a:avLst/>
              <a:gdLst/>
              <a:ahLst/>
              <a:cxnLst/>
              <a:rect l="l" t="t" r="r" b="b"/>
              <a:pathLst>
                <a:path w="11201400" h="9525">
                  <a:moveTo>
                    <a:pt x="0" y="0"/>
                  </a:moveTo>
                  <a:lnTo>
                    <a:pt x="11201400" y="0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21" name="Line 21"/>
            <p:cNvSpPr/>
            <p:nvPr/>
          </p:nvSpPr>
          <p:spPr>
            <a:xfrm>
              <a:off x="495300" y="4257675"/>
              <a:ext cx="11201400" cy="9525"/>
            </a:xfrm>
            <a:custGeom>
              <a:avLst/>
              <a:gdLst/>
              <a:ahLst/>
              <a:cxnLst/>
              <a:rect l="l" t="t" r="r" b="b"/>
              <a:pathLst>
                <a:path w="11201400" h="9525">
                  <a:moveTo>
                    <a:pt x="0" y="0"/>
                  </a:moveTo>
                  <a:lnTo>
                    <a:pt x="11201400" y="0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22" name="Line 22"/>
            <p:cNvSpPr/>
            <p:nvPr/>
          </p:nvSpPr>
          <p:spPr>
            <a:xfrm>
              <a:off x="495300" y="5429250"/>
              <a:ext cx="11201400" cy="9525"/>
            </a:xfrm>
            <a:custGeom>
              <a:avLst/>
              <a:gdLst/>
              <a:ahLst/>
              <a:cxnLst/>
              <a:rect l="l" t="t" r="r" b="b"/>
              <a:pathLst>
                <a:path w="11201400" h="9525">
                  <a:moveTo>
                    <a:pt x="0" y="0"/>
                  </a:moveTo>
                  <a:lnTo>
                    <a:pt x="11201400" y="0"/>
                  </a:lnTo>
                </a:path>
              </a:pathLst>
            </a:custGeom>
            <a:noFill/>
            <a:ln w="9525">
              <a:solidFill>
                <a:srgbClr val="B8C7D6"/>
              </a:solidFill>
            </a:ln>
          </p:spPr>
        </p:sp>
        <p:grpSp>
          <p:nvGrpSpPr>
            <p:cNvPr id="26" name="Group 26"/>
            <p:cNvGrpSpPr/>
            <p:nvPr/>
          </p:nvGrpSpPr>
          <p:grpSpPr>
            <a:xfrm>
              <a:off x="704850" y="1428750"/>
              <a:ext cx="10782300" cy="361950"/>
              <a:chOff x="704850" y="1428750"/>
              <a:chExt cx="10782300" cy="361950"/>
            </a:xfrm>
          </p:grpSpPr>
          <p:sp>
            <p:nvSpPr>
              <p:cNvPr id="23" name="TextBox 23"/>
              <p:cNvSpPr txBox="1"/>
              <p:nvPr/>
            </p:nvSpPr>
            <p:spPr>
              <a:xfrm>
                <a:off x="704850" y="1428750"/>
                <a:ext cx="3314700" cy="3619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575" b="1" dirty="0">
                    <a:solidFill>
                      <a:srgbClr val="FFFFFF"/>
                    </a:solidFill>
                    <a:latin typeface="Arial"/>
                    <a:ea typeface="Microsoft YaHei"/>
                    <a:cs typeface="Arial"/>
                  </a:rPr>
                  <a:t>方案</a:t>
                </a:r>
              </a:p>
            </p:txBody>
          </p:sp>
          <p:sp>
            <p:nvSpPr>
              <p:cNvPr id="24" name="TextBox 24"/>
              <p:cNvSpPr txBox="1"/>
              <p:nvPr/>
            </p:nvSpPr>
            <p:spPr>
              <a:xfrm>
                <a:off x="4438650" y="1428750"/>
                <a:ext cx="3314700" cy="3619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575" b="1" dirty="0">
                    <a:solidFill>
                      <a:srgbClr val="FFFFFF"/>
                    </a:solidFill>
                    <a:latin typeface="Arial"/>
                    <a:ea typeface="Microsoft YaHei"/>
                    <a:cs typeface="Arial"/>
                  </a:rPr>
                  <a:t>代价</a:t>
                </a:r>
              </a:p>
            </p:txBody>
          </p:sp>
          <p:sp>
            <p:nvSpPr>
              <p:cNvPr id="25" name="TextBox 25"/>
              <p:cNvSpPr txBox="1"/>
              <p:nvPr/>
            </p:nvSpPr>
            <p:spPr>
              <a:xfrm>
                <a:off x="8172450" y="1428750"/>
                <a:ext cx="3314700" cy="3619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575" b="1" dirty="0">
                    <a:solidFill>
                      <a:srgbClr val="FFFFFF"/>
                    </a:solidFill>
                    <a:latin typeface="Arial"/>
                    <a:ea typeface="Microsoft YaHei"/>
                    <a:cs typeface="Arial"/>
                  </a:rPr>
                  <a:t>结论</a:t>
                </a:r>
              </a:p>
            </p:txBody>
          </p:sp>
        </p:grpSp>
        <p:grpSp>
          <p:nvGrpSpPr>
            <p:cNvPr id="36" name="Group 36"/>
            <p:cNvGrpSpPr/>
            <p:nvPr/>
          </p:nvGrpSpPr>
          <p:grpSpPr>
            <a:xfrm>
              <a:off x="723900" y="2105025"/>
              <a:ext cx="10744200" cy="3086100"/>
              <a:chOff x="723900" y="2105025"/>
              <a:chExt cx="10744200" cy="3086100"/>
            </a:xfrm>
          </p:grpSpPr>
          <p:sp>
            <p:nvSpPr>
              <p:cNvPr id="27" name="TextBox 27"/>
              <p:cNvSpPr txBox="1"/>
              <p:nvPr/>
            </p:nvSpPr>
            <p:spPr>
              <a:xfrm>
                <a:off x="723900" y="210502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直连实现</a:t>
                </a:r>
              </a:p>
            </p:txBody>
          </p:sp>
          <p:sp>
            <p:nvSpPr>
              <p:cNvPr id="28" name="TextBox 28"/>
              <p:cNvSpPr txBox="1"/>
              <p:nvPr/>
            </p:nvSpPr>
            <p:spPr>
              <a:xfrm>
                <a:off x="4457700" y="210502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快但耦合</a:t>
                </a:r>
              </a:p>
            </p:txBody>
          </p:sp>
          <p:sp>
            <p:nvSpPr>
              <p:cNvPr id="29" name="TextBox 29"/>
              <p:cNvSpPr txBox="1"/>
              <p:nvPr/>
            </p:nvSpPr>
            <p:spPr>
              <a:xfrm>
                <a:off x="8191500" y="210502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Demo 可用</a:t>
                </a:r>
              </a:p>
            </p:txBody>
          </p:sp>
          <p:sp>
            <p:nvSpPr>
              <p:cNvPr id="30" name="TextBox 30"/>
              <p:cNvSpPr txBox="1"/>
              <p:nvPr/>
            </p:nvSpPr>
            <p:spPr>
              <a:xfrm>
                <a:off x="723900" y="326707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平台化</a:t>
                </a:r>
              </a:p>
            </p:txBody>
          </p:sp>
          <p:sp>
            <p:nvSpPr>
              <p:cNvPr id="31" name="TextBox 31"/>
              <p:cNvSpPr txBox="1"/>
              <p:nvPr/>
            </p:nvSpPr>
            <p:spPr>
              <a:xfrm>
                <a:off x="4457700" y="326707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前期成本高</a:t>
                </a:r>
              </a:p>
            </p:txBody>
          </p:sp>
          <p:sp>
            <p:nvSpPr>
              <p:cNvPr id="32" name="TextBox 32"/>
              <p:cNvSpPr txBox="1"/>
              <p:nvPr/>
            </p:nvSpPr>
            <p:spPr>
              <a:xfrm>
                <a:off x="8191500" y="326707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生产首选</a:t>
                </a:r>
              </a:p>
            </p:txBody>
          </p:sp>
          <p:sp>
            <p:nvSpPr>
              <p:cNvPr id="33" name="TextBox 33"/>
              <p:cNvSpPr txBox="1"/>
              <p:nvPr/>
            </p:nvSpPr>
            <p:spPr>
              <a:xfrm>
                <a:off x="723900" y="442912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保持简单</a:t>
                </a:r>
              </a:p>
            </p:txBody>
          </p:sp>
          <p:sp>
            <p:nvSpPr>
              <p:cNvPr id="34" name="TextBox 34"/>
              <p:cNvSpPr txBox="1"/>
              <p:nvPr/>
            </p:nvSpPr>
            <p:spPr>
              <a:xfrm>
                <a:off x="4457700" y="442912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能力上限</a:t>
                </a:r>
              </a:p>
            </p:txBody>
          </p:sp>
          <p:sp>
            <p:nvSpPr>
              <p:cNvPr id="35" name="TextBox 35"/>
              <p:cNvSpPr txBox="1"/>
              <p:nvPr/>
            </p:nvSpPr>
            <p:spPr>
              <a:xfrm>
                <a:off x="8191500" y="442912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按场景取舍</a:t>
                </a:r>
              </a:p>
            </p:txBody>
          </p:sp>
        </p:grpSp>
        <p:sp>
          <p:nvSpPr>
            <p:cNvPr id="37" name="TextBox 37"/>
            <p:cNvSpPr txBox="1"/>
            <p:nvPr/>
          </p:nvSpPr>
          <p:spPr>
            <a:xfrm>
              <a:off x="828675" y="5581650"/>
              <a:ext cx="10534650" cy="4191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500" b="1" dirty="0">
                  <a:solidFill>
                    <a:srgbClr val="0E7490"/>
                  </a:solidFill>
                  <a:latin typeface="Arial"/>
                  <a:ea typeface="Microsoft YaHei"/>
                  <a:cs typeface="Arial"/>
                </a:rPr>
                <a:t>「单 Loop」的选型以证据与约束为准</a:t>
              </a:r>
            </a:p>
          </p:txBody>
        </p:sp>
      </p:grp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666750"/>
          </a:xfrm>
          <a:prstGeom prst="rect">
            <a:avLst/>
          </a:prstGeom>
          <a:solidFill>
            <a:srgbClr val="0E7490"/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0"/>
            <a:ext cx="57150" cy="666750"/>
          </a:xfrm>
          <a:prstGeom prst="rect">
            <a:avLst/>
          </a:prstGeom>
          <a:solidFill>
            <a:srgbClr val="CC0000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381000" y="123825"/>
            <a:ext cx="762000" cy="4000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1275" b="1" dirty="0">
                <a:solidFill>
                  <a:srgbClr val="9FD3FF"/>
                </a:solidFill>
                <a:latin typeface="Arial"/>
                <a:ea typeface="Microsoft YaHei"/>
                <a:cs typeface="Arial"/>
              </a:rPr>
              <a:t>13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257300" y="95250"/>
            <a:ext cx="8096250" cy="457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21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生产化：单 Loop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0001250" y="76200"/>
            <a:ext cx="1619250" cy="5143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3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DataAgent</a:t>
            </a:r>
          </a:p>
        </p:txBody>
      </p:sp>
      <p:sp>
        <p:nvSpPr>
          <p:cNvPr id="8" name="Rectangle 8"/>
          <p:cNvSpPr/>
          <p:nvPr/>
        </p:nvSpPr>
        <p:spPr>
          <a:xfrm>
            <a:off x="0" y="666750"/>
            <a:ext cx="12192000" cy="476250"/>
          </a:xfrm>
          <a:prstGeom prst="rect">
            <a:avLst/>
          </a:prstGeom>
          <a:solidFill>
            <a:srgbClr val="E8F4FC"/>
          </a:solidFill>
          <a:ln>
            <a:noFill/>
          </a:ln>
        </p:spPr>
      </p:sp>
      <p:sp>
        <p:nvSpPr>
          <p:cNvPr id="9" name="Rectangle 9"/>
          <p:cNvSpPr/>
          <p:nvPr/>
        </p:nvSpPr>
        <p:spPr>
          <a:xfrm>
            <a:off x="0" y="666750"/>
            <a:ext cx="57150" cy="476250"/>
          </a:xfrm>
          <a:prstGeom prst="rect">
            <a:avLst/>
          </a:prstGeom>
          <a:solidFill>
            <a:srgbClr val="06B6D4"/>
          </a:solidFill>
          <a:ln>
            <a:noFill/>
          </a:ln>
        </p:spPr>
      </p:sp>
      <p:sp>
        <p:nvSpPr>
          <p:cNvPr id="10" name="TextBox 10"/>
          <p:cNvSpPr txBox="1"/>
          <p:nvPr/>
        </p:nvSpPr>
        <p:spPr>
          <a:xfrm>
            <a:off x="381000" y="714375"/>
            <a:ext cx="10001250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1350" dirty="0">
                <a:solidFill>
                  <a:srgbClr val="26384A"/>
                </a:solidFill>
                <a:latin typeface="Arial"/>
                <a:ea typeface="Microsoft YaHei"/>
                <a:cs typeface="Arial"/>
              </a:rPr>
              <a:t>企业级落地三机制</a:t>
            </a:r>
          </a:p>
        </p:txBody>
      </p:sp>
      <p:sp>
        <p:nvSpPr>
          <p:cNvPr id="11" name="Line 11"/>
          <p:cNvSpPr/>
          <p:nvPr/>
        </p:nvSpPr>
        <p:spPr>
          <a:xfrm>
            <a:off x="381000" y="6334125"/>
            <a:ext cx="11430000" cy="9525"/>
          </a:xfrm>
          <a:custGeom>
            <a:avLst/>
            <a:gdLst/>
            <a:ahLst/>
            <a:cxnLst/>
            <a:rect l="l" t="t" r="r" b="b"/>
            <a:pathLst>
              <a:path w="11430000" h="9525">
                <a:moveTo>
                  <a:pt x="0" y="0"/>
                </a:moveTo>
                <a:lnTo>
                  <a:pt x="11430000" y="0"/>
                </a:lnTo>
              </a:path>
            </a:pathLst>
          </a:custGeom>
          <a:noFill/>
          <a:ln w="9525">
            <a:solidFill>
              <a:srgbClr val="E8F4FC"/>
            </a:solidFill>
          </a:ln>
        </p:spPr>
      </p:sp>
      <p:sp>
        <p:nvSpPr>
          <p:cNvPr id="12" name="TextBox 12"/>
          <p:cNvSpPr txBox="1"/>
          <p:nvPr/>
        </p:nvSpPr>
        <p:spPr>
          <a:xfrm>
            <a:off x="381000" y="6477000"/>
            <a:ext cx="4953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课程第15讲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4381500" y="6477000"/>
            <a:ext cx="3429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Agent Runtime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0763250" y="6457950"/>
            <a:ext cx="857250" cy="266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050" dirty="0">
                <a:solidFill>
                  <a:srgbClr val="52657A"/>
                </a:solidFill>
                <a:latin typeface="Arial"/>
                <a:ea typeface="Microsoft YaHei"/>
                <a:cs typeface="Arial"/>
              </a:rPr>
              <a:t>13</a:t>
            </a:r>
          </a:p>
        </p:txBody>
      </p:sp>
      <p:grpSp>
        <p:nvGrpSpPr>
          <p:cNvPr id="38" name="EasySlides Component: matrix"/>
          <p:cNvGrpSpPr/>
          <p:nvPr/>
        </p:nvGrpSpPr>
        <p:grpSpPr>
          <a:xfrm>
            <a:off x="495300" y="1285875"/>
            <a:ext cx="11201400" cy="4905375"/>
            <a:chOff x="495300" y="1285875"/>
            <a:chExt cx="11201400" cy="4905375"/>
          </a:xfrm>
        </p:grpSpPr>
        <p:sp>
          <p:nvSpPr>
            <p:cNvPr id="15" name="Rectangle 15"/>
            <p:cNvSpPr/>
            <p:nvPr/>
          </p:nvSpPr>
          <p:spPr>
            <a:xfrm>
              <a:off x="495300" y="1285875"/>
              <a:ext cx="11201400" cy="4905375"/>
            </a:xfrm>
            <a:prstGeom prst="roundRect">
              <a:avLst>
                <a:gd name="adj" fmla="val 777"/>
              </a:avLst>
            </a:prstGeom>
            <a:solidFill>
              <a:srgbClr val="FFFFFF"/>
            </a:solidFill>
            <a:ln w="11430">
              <a:solidFill>
                <a:srgbClr val="B8C7D6"/>
              </a:solidFill>
            </a:ln>
          </p:spPr>
        </p:sp>
        <p:sp>
          <p:nvSpPr>
            <p:cNvPr id="16" name="Rectangle 16"/>
            <p:cNvSpPr/>
            <p:nvPr/>
          </p:nvSpPr>
          <p:spPr>
            <a:xfrm>
              <a:off x="495300" y="1285875"/>
              <a:ext cx="11201400" cy="647700"/>
            </a:xfrm>
            <a:prstGeom prst="roundRect">
              <a:avLst>
                <a:gd name="adj" fmla="val 5882"/>
              </a:avLst>
            </a:prstGeom>
            <a:solidFill>
              <a:srgbClr val="0E7490"/>
            </a:solidFill>
            <a:ln>
              <a:noFill/>
            </a:ln>
          </p:spPr>
        </p:sp>
        <p:sp>
          <p:nvSpPr>
            <p:cNvPr id="17" name="Line 17"/>
            <p:cNvSpPr/>
            <p:nvPr/>
          </p:nvSpPr>
          <p:spPr>
            <a:xfrm>
              <a:off x="4229100" y="1285875"/>
              <a:ext cx="9525" cy="4143375"/>
            </a:xfrm>
            <a:custGeom>
              <a:avLst/>
              <a:gdLst/>
              <a:ahLst/>
              <a:cxnLst/>
              <a:rect l="l" t="t" r="r" b="b"/>
              <a:pathLst>
                <a:path w="9525" h="4143375">
                  <a:moveTo>
                    <a:pt x="0" y="0"/>
                  </a:moveTo>
                  <a:lnTo>
                    <a:pt x="0" y="4143375"/>
                  </a:lnTo>
                </a:path>
              </a:pathLst>
            </a:custGeom>
            <a:noFill/>
            <a:ln w="9525">
              <a:solidFill>
                <a:srgbClr val="B8C7D6"/>
              </a:solidFill>
            </a:ln>
          </p:spPr>
        </p:sp>
        <p:sp>
          <p:nvSpPr>
            <p:cNvPr id="18" name="Line 18"/>
            <p:cNvSpPr/>
            <p:nvPr/>
          </p:nvSpPr>
          <p:spPr>
            <a:xfrm>
              <a:off x="7962900" y="1285875"/>
              <a:ext cx="9525" cy="4143375"/>
            </a:xfrm>
            <a:custGeom>
              <a:avLst/>
              <a:gdLst/>
              <a:ahLst/>
              <a:cxnLst/>
              <a:rect l="l" t="t" r="r" b="b"/>
              <a:pathLst>
                <a:path w="9525" h="4143375">
                  <a:moveTo>
                    <a:pt x="0" y="0"/>
                  </a:moveTo>
                  <a:lnTo>
                    <a:pt x="0" y="4143375"/>
                  </a:lnTo>
                </a:path>
              </a:pathLst>
            </a:custGeom>
            <a:noFill/>
            <a:ln w="9525">
              <a:solidFill>
                <a:srgbClr val="B8C7D6"/>
              </a:solidFill>
            </a:ln>
          </p:spPr>
        </p:sp>
        <p:sp>
          <p:nvSpPr>
            <p:cNvPr id="19" name="Line 19"/>
            <p:cNvSpPr/>
            <p:nvPr/>
          </p:nvSpPr>
          <p:spPr>
            <a:xfrm>
              <a:off x="495300" y="1933575"/>
              <a:ext cx="11201400" cy="9525"/>
            </a:xfrm>
            <a:custGeom>
              <a:avLst/>
              <a:gdLst/>
              <a:ahLst/>
              <a:cxnLst/>
              <a:rect l="l" t="t" r="r" b="b"/>
              <a:pathLst>
                <a:path w="11201400" h="9525">
                  <a:moveTo>
                    <a:pt x="0" y="0"/>
                  </a:moveTo>
                  <a:lnTo>
                    <a:pt x="11201400" y="0"/>
                  </a:lnTo>
                </a:path>
              </a:pathLst>
            </a:custGeom>
            <a:noFill/>
            <a:ln w="9525">
              <a:solidFill>
                <a:srgbClr val="B8C7D6"/>
              </a:solidFill>
            </a:ln>
          </p:spPr>
        </p:sp>
        <p:sp>
          <p:nvSpPr>
            <p:cNvPr id="20" name="Line 20"/>
            <p:cNvSpPr/>
            <p:nvPr/>
          </p:nvSpPr>
          <p:spPr>
            <a:xfrm>
              <a:off x="495300" y="3095625"/>
              <a:ext cx="11201400" cy="9525"/>
            </a:xfrm>
            <a:custGeom>
              <a:avLst/>
              <a:gdLst/>
              <a:ahLst/>
              <a:cxnLst/>
              <a:rect l="l" t="t" r="r" b="b"/>
              <a:pathLst>
                <a:path w="11201400" h="9525">
                  <a:moveTo>
                    <a:pt x="0" y="0"/>
                  </a:moveTo>
                  <a:lnTo>
                    <a:pt x="11201400" y="0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21" name="Line 21"/>
            <p:cNvSpPr/>
            <p:nvPr/>
          </p:nvSpPr>
          <p:spPr>
            <a:xfrm>
              <a:off x="495300" y="4257675"/>
              <a:ext cx="11201400" cy="9525"/>
            </a:xfrm>
            <a:custGeom>
              <a:avLst/>
              <a:gdLst/>
              <a:ahLst/>
              <a:cxnLst/>
              <a:rect l="l" t="t" r="r" b="b"/>
              <a:pathLst>
                <a:path w="11201400" h="9525">
                  <a:moveTo>
                    <a:pt x="0" y="0"/>
                  </a:moveTo>
                  <a:lnTo>
                    <a:pt x="11201400" y="0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22" name="Line 22"/>
            <p:cNvSpPr/>
            <p:nvPr/>
          </p:nvSpPr>
          <p:spPr>
            <a:xfrm>
              <a:off x="495300" y="5429250"/>
              <a:ext cx="11201400" cy="9525"/>
            </a:xfrm>
            <a:custGeom>
              <a:avLst/>
              <a:gdLst/>
              <a:ahLst/>
              <a:cxnLst/>
              <a:rect l="l" t="t" r="r" b="b"/>
              <a:pathLst>
                <a:path w="11201400" h="9525">
                  <a:moveTo>
                    <a:pt x="0" y="0"/>
                  </a:moveTo>
                  <a:lnTo>
                    <a:pt x="11201400" y="0"/>
                  </a:lnTo>
                </a:path>
              </a:pathLst>
            </a:custGeom>
            <a:noFill/>
            <a:ln w="9525">
              <a:solidFill>
                <a:srgbClr val="B8C7D6"/>
              </a:solidFill>
            </a:ln>
          </p:spPr>
        </p:sp>
        <p:grpSp>
          <p:nvGrpSpPr>
            <p:cNvPr id="26" name="Group 26"/>
            <p:cNvGrpSpPr/>
            <p:nvPr/>
          </p:nvGrpSpPr>
          <p:grpSpPr>
            <a:xfrm>
              <a:off x="704850" y="1428750"/>
              <a:ext cx="10782300" cy="361950"/>
              <a:chOff x="704850" y="1428750"/>
              <a:chExt cx="10782300" cy="361950"/>
            </a:xfrm>
          </p:grpSpPr>
          <p:sp>
            <p:nvSpPr>
              <p:cNvPr id="23" name="TextBox 23"/>
              <p:cNvSpPr txBox="1"/>
              <p:nvPr/>
            </p:nvSpPr>
            <p:spPr>
              <a:xfrm>
                <a:off x="704850" y="1428750"/>
                <a:ext cx="3314700" cy="3619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575" b="1" dirty="0">
                    <a:solidFill>
                      <a:srgbClr val="FFFFFF"/>
                    </a:solidFill>
                    <a:latin typeface="Arial"/>
                    <a:ea typeface="Microsoft YaHei"/>
                    <a:cs typeface="Arial"/>
                  </a:rPr>
                  <a:t>阶段</a:t>
                </a:r>
              </a:p>
            </p:txBody>
          </p:sp>
          <p:sp>
            <p:nvSpPr>
              <p:cNvPr id="24" name="TextBox 24"/>
              <p:cNvSpPr txBox="1"/>
              <p:nvPr/>
            </p:nvSpPr>
            <p:spPr>
              <a:xfrm>
                <a:off x="4438650" y="1428750"/>
                <a:ext cx="3314700" cy="3619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575" b="1" dirty="0">
                    <a:solidFill>
                      <a:srgbClr val="FFFFFF"/>
                    </a:solidFill>
                    <a:latin typeface="Arial"/>
                    <a:ea typeface="Microsoft YaHei"/>
                    <a:cs typeface="Arial"/>
                  </a:rPr>
                  <a:t>机制</a:t>
                </a:r>
              </a:p>
            </p:txBody>
          </p:sp>
          <p:sp>
            <p:nvSpPr>
              <p:cNvPr id="25" name="TextBox 25"/>
              <p:cNvSpPr txBox="1"/>
              <p:nvPr/>
            </p:nvSpPr>
            <p:spPr>
              <a:xfrm>
                <a:off x="8172450" y="1428750"/>
                <a:ext cx="3314700" cy="3619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575" b="1" dirty="0">
                    <a:solidFill>
                      <a:srgbClr val="FFFFFF"/>
                    </a:solidFill>
                    <a:latin typeface="Arial"/>
                    <a:ea typeface="Microsoft YaHei"/>
                    <a:cs typeface="Arial"/>
                  </a:rPr>
                  <a:t>审计/落点</a:t>
                </a:r>
              </a:p>
            </p:txBody>
          </p:sp>
        </p:grpSp>
        <p:grpSp>
          <p:nvGrpSpPr>
            <p:cNvPr id="36" name="Group 36"/>
            <p:cNvGrpSpPr/>
            <p:nvPr/>
          </p:nvGrpSpPr>
          <p:grpSpPr>
            <a:xfrm>
              <a:off x="723900" y="2105025"/>
              <a:ext cx="10744200" cy="3086100"/>
              <a:chOff x="723900" y="2105025"/>
              <a:chExt cx="10744200" cy="3086100"/>
            </a:xfrm>
          </p:grpSpPr>
          <p:sp>
            <p:nvSpPr>
              <p:cNvPr id="27" name="TextBox 27"/>
              <p:cNvSpPr txBox="1"/>
              <p:nvPr/>
            </p:nvSpPr>
            <p:spPr>
              <a:xfrm>
                <a:off x="723900" y="210502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中断</a:t>
                </a:r>
              </a:p>
            </p:txBody>
          </p:sp>
          <p:sp>
            <p:nvSpPr>
              <p:cNvPr id="28" name="TextBox 28"/>
              <p:cNvSpPr txBox="1"/>
              <p:nvPr/>
            </p:nvSpPr>
            <p:spPr>
              <a:xfrm>
                <a:off x="4457700" y="210502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ApprovalPending</a:t>
                </a:r>
              </a:p>
            </p:txBody>
          </p:sp>
          <p:sp>
            <p:nvSpPr>
              <p:cNvPr id="29" name="TextBox 29"/>
              <p:cNvSpPr txBox="1"/>
              <p:nvPr/>
            </p:nvSpPr>
            <p:spPr>
              <a:xfrm>
                <a:off x="8191500" y="210502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waiting_approval</a:t>
                </a:r>
              </a:p>
            </p:txBody>
          </p:sp>
          <p:sp>
            <p:nvSpPr>
              <p:cNvPr id="30" name="TextBox 30"/>
              <p:cNvSpPr txBox="1"/>
              <p:nvPr/>
            </p:nvSpPr>
            <p:spPr>
              <a:xfrm>
                <a:off x="723900" y="326707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决议</a:t>
                </a:r>
              </a:p>
            </p:txBody>
          </p:sp>
          <p:sp>
            <p:nvSpPr>
              <p:cNvPr id="31" name="TextBox 31"/>
              <p:cNvSpPr txBox="1"/>
              <p:nvPr/>
            </p:nvSpPr>
            <p:spPr>
              <a:xfrm>
                <a:off x="4457700" y="326707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decided_by/at</a:t>
                </a:r>
              </a:p>
            </p:txBody>
          </p:sp>
          <p:sp>
            <p:nvSpPr>
              <p:cNvPr id="32" name="TextBox 32"/>
              <p:cNvSpPr txBox="1"/>
              <p:nvPr/>
            </p:nvSpPr>
            <p:spPr>
              <a:xfrm>
                <a:off x="8191500" y="326707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approve/reject</a:t>
                </a:r>
              </a:p>
            </p:txBody>
          </p:sp>
          <p:sp>
            <p:nvSpPr>
              <p:cNvPr id="33" name="TextBox 33"/>
              <p:cNvSpPr txBox="1"/>
              <p:nvPr/>
            </p:nvSpPr>
            <p:spPr>
              <a:xfrm>
                <a:off x="723900" y="442912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恢复</a:t>
                </a:r>
              </a:p>
            </p:txBody>
          </p:sp>
          <p:sp>
            <p:nvSpPr>
              <p:cNvPr id="34" name="TextBox 34"/>
              <p:cNvSpPr txBox="1"/>
              <p:nvPr/>
            </p:nvSpPr>
            <p:spPr>
              <a:xfrm>
                <a:off x="4457700" y="442912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pre_approved</a:t>
                </a:r>
              </a:p>
            </p:txBody>
          </p:sp>
          <p:sp>
            <p:nvSpPr>
              <p:cNvPr id="35" name="TextBox 35"/>
              <p:cNvSpPr txBox="1"/>
              <p:nvPr/>
            </p:nvSpPr>
            <p:spPr>
              <a:xfrm>
                <a:off x="8191500" y="442912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succeeded/canceled</a:t>
                </a:r>
              </a:p>
            </p:txBody>
          </p:sp>
        </p:grpSp>
        <p:sp>
          <p:nvSpPr>
            <p:cNvPr id="37" name="TextBox 37"/>
            <p:cNvSpPr txBox="1"/>
            <p:nvPr/>
          </p:nvSpPr>
          <p:spPr>
            <a:xfrm>
              <a:off x="828675" y="5581650"/>
              <a:ext cx="10534650" cy="4191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500" b="1" dirty="0">
                  <a:solidFill>
                    <a:srgbClr val="0E7490"/>
                  </a:solidFill>
                  <a:latin typeface="Arial"/>
                  <a:ea typeface="Microsoft YaHei"/>
                  <a:cs typeface="Arial"/>
                </a:rPr>
                <a:t>HITL：中断-审批-恢复 全真实落库</a:t>
              </a:r>
            </a:p>
          </p:txBody>
        </p:sp>
      </p:grp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666750"/>
          </a:xfrm>
          <a:prstGeom prst="rect">
            <a:avLst/>
          </a:prstGeom>
          <a:solidFill>
            <a:srgbClr val="0E7490"/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0"/>
            <a:ext cx="57150" cy="666750"/>
          </a:xfrm>
          <a:prstGeom prst="rect">
            <a:avLst/>
          </a:prstGeom>
          <a:solidFill>
            <a:srgbClr val="CC0000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381000" y="123825"/>
            <a:ext cx="762000" cy="4000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1275" b="1" dirty="0">
                <a:solidFill>
                  <a:srgbClr val="9FD3FF"/>
                </a:solidFill>
                <a:latin typeface="Arial"/>
                <a:ea typeface="Microsoft YaHei"/>
                <a:cs typeface="Arial"/>
              </a:rPr>
              <a:t>14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257300" y="95250"/>
            <a:ext cx="8096250" cy="457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21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企业治理：单 Loop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0001250" y="76200"/>
            <a:ext cx="1619250" cy="5143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3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DataAgent</a:t>
            </a:r>
          </a:p>
        </p:txBody>
      </p:sp>
      <p:sp>
        <p:nvSpPr>
          <p:cNvPr id="8" name="Rectangle 8"/>
          <p:cNvSpPr/>
          <p:nvPr/>
        </p:nvSpPr>
        <p:spPr>
          <a:xfrm>
            <a:off x="0" y="666750"/>
            <a:ext cx="12192000" cy="476250"/>
          </a:xfrm>
          <a:prstGeom prst="rect">
            <a:avLst/>
          </a:prstGeom>
          <a:solidFill>
            <a:srgbClr val="E8F4FC"/>
          </a:solidFill>
          <a:ln>
            <a:noFill/>
          </a:ln>
        </p:spPr>
      </p:sp>
      <p:sp>
        <p:nvSpPr>
          <p:cNvPr id="9" name="Rectangle 9"/>
          <p:cNvSpPr/>
          <p:nvPr/>
        </p:nvSpPr>
        <p:spPr>
          <a:xfrm>
            <a:off x="0" y="666750"/>
            <a:ext cx="57150" cy="476250"/>
          </a:xfrm>
          <a:prstGeom prst="rect">
            <a:avLst/>
          </a:prstGeom>
          <a:solidFill>
            <a:srgbClr val="06B6D4"/>
          </a:solidFill>
          <a:ln>
            <a:noFill/>
          </a:ln>
        </p:spPr>
      </p:sp>
      <p:sp>
        <p:nvSpPr>
          <p:cNvPr id="10" name="TextBox 10"/>
          <p:cNvSpPr txBox="1"/>
          <p:nvPr/>
        </p:nvSpPr>
        <p:spPr>
          <a:xfrm>
            <a:off x="381000" y="714375"/>
            <a:ext cx="10001250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1350" dirty="0">
                <a:solidFill>
                  <a:srgbClr val="26384A"/>
                </a:solidFill>
                <a:latin typeface="Arial"/>
                <a:ea typeface="Microsoft YaHei"/>
                <a:cs typeface="Arial"/>
              </a:rPr>
              <a:t>三项已闭合边界</a:t>
            </a:r>
          </a:p>
        </p:txBody>
      </p:sp>
      <p:sp>
        <p:nvSpPr>
          <p:cNvPr id="11" name="Line 11"/>
          <p:cNvSpPr/>
          <p:nvPr/>
        </p:nvSpPr>
        <p:spPr>
          <a:xfrm>
            <a:off x="381000" y="6334125"/>
            <a:ext cx="11430000" cy="9525"/>
          </a:xfrm>
          <a:custGeom>
            <a:avLst/>
            <a:gdLst/>
            <a:ahLst/>
            <a:cxnLst/>
            <a:rect l="l" t="t" r="r" b="b"/>
            <a:pathLst>
              <a:path w="11430000" h="9525">
                <a:moveTo>
                  <a:pt x="0" y="0"/>
                </a:moveTo>
                <a:lnTo>
                  <a:pt x="11430000" y="0"/>
                </a:lnTo>
              </a:path>
            </a:pathLst>
          </a:custGeom>
          <a:noFill/>
          <a:ln w="9525">
            <a:solidFill>
              <a:srgbClr val="E8F4FC"/>
            </a:solidFill>
          </a:ln>
        </p:spPr>
      </p:sp>
      <p:sp>
        <p:nvSpPr>
          <p:cNvPr id="12" name="TextBox 12"/>
          <p:cNvSpPr txBox="1"/>
          <p:nvPr/>
        </p:nvSpPr>
        <p:spPr>
          <a:xfrm>
            <a:off x="381000" y="6477000"/>
            <a:ext cx="4953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课程第15讲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4381500" y="6477000"/>
            <a:ext cx="3429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Agent Runtime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0763250" y="6457950"/>
            <a:ext cx="857250" cy="266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050" dirty="0">
                <a:solidFill>
                  <a:srgbClr val="52657A"/>
                </a:solidFill>
                <a:latin typeface="Arial"/>
                <a:ea typeface="Microsoft YaHei"/>
                <a:cs typeface="Arial"/>
              </a:rPr>
              <a:t>14</a:t>
            </a:r>
          </a:p>
        </p:txBody>
      </p:sp>
      <p:grpSp>
        <p:nvGrpSpPr>
          <p:cNvPr id="21" name="EasySlides Component: evidence_01"/>
          <p:cNvGrpSpPr/>
          <p:nvPr/>
        </p:nvGrpSpPr>
        <p:grpSpPr>
          <a:xfrm>
            <a:off x="495300" y="3524250"/>
            <a:ext cx="11201400" cy="1285875"/>
            <a:chOff x="495300" y="3524250"/>
            <a:chExt cx="11201400" cy="1285875"/>
          </a:xfrm>
        </p:grpSpPr>
        <p:sp>
          <p:nvSpPr>
            <p:cNvPr id="15" name="Rectangle 15"/>
            <p:cNvSpPr/>
            <p:nvPr/>
          </p:nvSpPr>
          <p:spPr>
            <a:xfrm>
              <a:off x="495300" y="3524250"/>
              <a:ext cx="11201400" cy="1285875"/>
            </a:xfrm>
            <a:prstGeom prst="roundRect">
              <a:avLst>
                <a:gd name="adj" fmla="val 2963"/>
              </a:avLst>
            </a:prstGeom>
            <a:solidFill>
              <a:srgbClr val="FFFFFF"/>
            </a:solidFill>
            <a:ln w="11430">
              <a:solidFill>
                <a:srgbClr val="B8C7D6"/>
              </a:solidFill>
            </a:ln>
          </p:spPr>
        </p:sp>
        <p:sp>
          <p:nvSpPr>
            <p:cNvPr id="16" name="Rectangle 16"/>
            <p:cNvSpPr/>
            <p:nvPr/>
          </p:nvSpPr>
          <p:spPr>
            <a:xfrm>
              <a:off x="495300" y="3524250"/>
              <a:ext cx="76200" cy="1285875"/>
            </a:xfrm>
            <a:prstGeom prst="roundRect">
              <a:avLst>
                <a:gd name="adj" fmla="val 50000"/>
              </a:avLst>
            </a:prstGeom>
            <a:solidFill>
              <a:srgbClr val="06B6D4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733425" y="3971925"/>
              <a:ext cx="438150" cy="5238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650" b="1" dirty="0">
                  <a:solidFill>
                    <a:srgbClr val="06B6D4"/>
                  </a:solidFill>
                  <a:latin typeface="Arial"/>
                  <a:ea typeface="Microsoft YaHei"/>
                  <a:cs typeface="Arial"/>
                </a:rPr>
                <a:t>01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1447800" y="3752850"/>
              <a:ext cx="2667000" cy="78105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575" b="1" dirty="0">
                  <a:solidFill>
                    <a:srgbClr val="0E7490"/>
                  </a:solidFill>
                  <a:latin typeface="Arial"/>
                  <a:ea typeface="Microsoft YaHei"/>
                  <a:cs typeface="Arial"/>
                </a:rPr>
                <a:t>认证</a:t>
              </a:r>
            </a:p>
          </p:txBody>
        </p:sp>
        <p:sp>
          <p:nvSpPr>
            <p:cNvPr id="19" name="Line 19"/>
            <p:cNvSpPr/>
            <p:nvPr/>
          </p:nvSpPr>
          <p:spPr>
            <a:xfrm>
              <a:off x="4362450" y="3752850"/>
              <a:ext cx="9525" cy="828675"/>
            </a:xfrm>
            <a:custGeom>
              <a:avLst/>
              <a:gdLst/>
              <a:ahLst/>
              <a:cxnLst/>
              <a:rect l="l" t="t" r="r" b="b"/>
              <a:pathLst>
                <a:path w="9525" h="828675">
                  <a:moveTo>
                    <a:pt x="0" y="0"/>
                  </a:moveTo>
                  <a:lnTo>
                    <a:pt x="0" y="828675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4686300" y="3752850"/>
              <a:ext cx="6572250" cy="78105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425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未认证401/越权403（LAN实测）</a:t>
              </a:r>
            </a:p>
          </p:txBody>
        </p:sp>
      </p:grpSp>
      <p:grpSp>
        <p:nvGrpSpPr>
          <p:cNvPr id="28" name="EasySlides Component: evidence_02"/>
          <p:cNvGrpSpPr/>
          <p:nvPr/>
        </p:nvGrpSpPr>
        <p:grpSpPr>
          <a:xfrm>
            <a:off x="495300" y="4905375"/>
            <a:ext cx="11201400" cy="1285875"/>
            <a:chOff x="495300" y="4905375"/>
            <a:chExt cx="11201400" cy="1285875"/>
          </a:xfrm>
        </p:grpSpPr>
        <p:sp>
          <p:nvSpPr>
            <p:cNvPr id="22" name="Rectangle 22"/>
            <p:cNvSpPr/>
            <p:nvPr/>
          </p:nvSpPr>
          <p:spPr>
            <a:xfrm>
              <a:off x="495300" y="4905375"/>
              <a:ext cx="11201400" cy="1285875"/>
            </a:xfrm>
            <a:prstGeom prst="roundRect">
              <a:avLst>
                <a:gd name="adj" fmla="val 2963"/>
              </a:avLst>
            </a:prstGeom>
            <a:solidFill>
              <a:srgbClr val="FFFFFF"/>
            </a:solidFill>
            <a:ln w="11430">
              <a:solidFill>
                <a:srgbClr val="B8C7D6"/>
              </a:solidFill>
            </a:ln>
          </p:spPr>
        </p:sp>
        <p:sp>
          <p:nvSpPr>
            <p:cNvPr id="23" name="Rectangle 23"/>
            <p:cNvSpPr/>
            <p:nvPr/>
          </p:nvSpPr>
          <p:spPr>
            <a:xfrm>
              <a:off x="495300" y="4905375"/>
              <a:ext cx="76200" cy="1285875"/>
            </a:xfrm>
            <a:prstGeom prst="roundRect">
              <a:avLst>
                <a:gd name="adj" fmla="val 50000"/>
              </a:avLst>
            </a:prstGeom>
            <a:solidFill>
              <a:srgbClr val="06B6D4"/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733425" y="5353050"/>
              <a:ext cx="438150" cy="5238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650" b="1" dirty="0">
                  <a:solidFill>
                    <a:srgbClr val="06B6D4"/>
                  </a:solidFill>
                  <a:latin typeface="Arial"/>
                  <a:ea typeface="Microsoft YaHei"/>
                  <a:cs typeface="Arial"/>
                </a:rPr>
                <a:t>02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1447800" y="5133975"/>
              <a:ext cx="2667000" cy="78105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575" b="1" dirty="0">
                  <a:solidFill>
                    <a:srgbClr val="0E7490"/>
                  </a:solidFill>
                  <a:latin typeface="Arial"/>
                  <a:ea typeface="Microsoft YaHei"/>
                  <a:cs typeface="Arial"/>
                </a:rPr>
                <a:t>队列</a:t>
              </a:r>
            </a:p>
          </p:txBody>
        </p:sp>
        <p:sp>
          <p:nvSpPr>
            <p:cNvPr id="26" name="Line 26"/>
            <p:cNvSpPr/>
            <p:nvPr/>
          </p:nvSpPr>
          <p:spPr>
            <a:xfrm>
              <a:off x="4362450" y="5133975"/>
              <a:ext cx="9525" cy="828675"/>
            </a:xfrm>
            <a:custGeom>
              <a:avLst/>
              <a:gdLst/>
              <a:ahLst/>
              <a:cxnLst/>
              <a:rect l="l" t="t" r="r" b="b"/>
              <a:pathLst>
                <a:path w="9525" h="828675">
                  <a:moveTo>
                    <a:pt x="0" y="0"/>
                  </a:moveTo>
                  <a:lnTo>
                    <a:pt x="0" y="828675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4686300" y="5133975"/>
              <a:ext cx="6572250" cy="78105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425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queued→running→终态全落库（LAN实测）</a:t>
              </a:r>
            </a:p>
          </p:txBody>
        </p:sp>
      </p:grpSp>
      <p:grpSp>
        <p:nvGrpSpPr>
          <p:cNvPr id="34" name="EasySlides Component: metric_01"/>
          <p:cNvGrpSpPr/>
          <p:nvPr/>
        </p:nvGrpSpPr>
        <p:grpSpPr>
          <a:xfrm>
            <a:off x="495300" y="1285875"/>
            <a:ext cx="3505200" cy="1809750"/>
            <a:chOff x="495300" y="1285875"/>
            <a:chExt cx="3505200" cy="1809750"/>
          </a:xfrm>
        </p:grpSpPr>
        <p:sp>
          <p:nvSpPr>
            <p:cNvPr id="29" name="Rectangle 29"/>
            <p:cNvSpPr/>
            <p:nvPr/>
          </p:nvSpPr>
          <p:spPr>
            <a:xfrm>
              <a:off x="495300" y="1285875"/>
              <a:ext cx="3505200" cy="1809750"/>
            </a:xfrm>
            <a:prstGeom prst="roundRect">
              <a:avLst>
                <a:gd name="adj" fmla="val 2105"/>
              </a:avLst>
            </a:prstGeom>
            <a:solidFill>
              <a:srgbClr val="F0F9FC"/>
            </a:solidFill>
            <a:ln w="11430">
              <a:solidFill>
                <a:srgbClr val="B8C7D6"/>
              </a:solidFill>
            </a:ln>
          </p:spPr>
        </p:sp>
        <p:sp>
          <p:nvSpPr>
            <p:cNvPr id="30" name="Rectangle 30"/>
            <p:cNvSpPr/>
            <p:nvPr/>
          </p:nvSpPr>
          <p:spPr>
            <a:xfrm>
              <a:off x="495300" y="1285875"/>
              <a:ext cx="3505200" cy="66675"/>
            </a:xfrm>
            <a:prstGeom prst="roundRect">
              <a:avLst>
                <a:gd name="adj" fmla="val 50000"/>
              </a:avLst>
            </a:prstGeom>
            <a:solidFill>
              <a:srgbClr val="06B6D4"/>
            </a:solidFill>
            <a:ln>
              <a:noFill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762000" y="1619250"/>
              <a:ext cx="2971800" cy="7143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3150" b="1" dirty="0">
                  <a:solidFill>
                    <a:srgbClr val="0E7490"/>
                  </a:solidFill>
                  <a:latin typeface="Arial"/>
                  <a:ea typeface="Microsoft YaHei"/>
                  <a:cs typeface="Arial"/>
                </a:rPr>
                <a:t>JWT</a:t>
              </a:r>
            </a:p>
          </p:txBody>
        </p:sp>
        <p:sp>
          <p:nvSpPr>
            <p:cNvPr id="32" name="Line 32"/>
            <p:cNvSpPr/>
            <p:nvPr/>
          </p:nvSpPr>
          <p:spPr>
            <a:xfrm>
              <a:off x="990600" y="2476500"/>
              <a:ext cx="2514600" cy="9525"/>
            </a:xfrm>
            <a:custGeom>
              <a:avLst/>
              <a:gdLst/>
              <a:ahLst/>
              <a:cxnLst/>
              <a:rect l="l" t="t" r="r" b="b"/>
              <a:pathLst>
                <a:path w="2514600" h="9525">
                  <a:moveTo>
                    <a:pt x="0" y="0"/>
                  </a:moveTo>
                  <a:lnTo>
                    <a:pt x="2514600" y="0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762000" y="2562225"/>
              <a:ext cx="2971800" cy="3429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350" dirty="0">
                  <a:solidFill>
                    <a:srgbClr val="52657A"/>
                  </a:solidFill>
                  <a:latin typeface="Arial"/>
                  <a:ea typeface="Microsoft YaHei"/>
                  <a:cs typeface="Arial"/>
                </a:rPr>
                <a:t>HS256+四角色RBAC</a:t>
              </a:r>
            </a:p>
          </p:txBody>
        </p:sp>
      </p:grpSp>
      <p:grpSp>
        <p:nvGrpSpPr>
          <p:cNvPr id="40" name="EasySlides Component: metric_02"/>
          <p:cNvGrpSpPr/>
          <p:nvPr/>
        </p:nvGrpSpPr>
        <p:grpSpPr>
          <a:xfrm>
            <a:off x="4343400" y="1285875"/>
            <a:ext cx="3505200" cy="1809750"/>
            <a:chOff x="4343400" y="1285875"/>
            <a:chExt cx="3505200" cy="1809750"/>
          </a:xfrm>
        </p:grpSpPr>
        <p:sp>
          <p:nvSpPr>
            <p:cNvPr id="35" name="Rectangle 35"/>
            <p:cNvSpPr/>
            <p:nvPr/>
          </p:nvSpPr>
          <p:spPr>
            <a:xfrm>
              <a:off x="4343400" y="1285875"/>
              <a:ext cx="3505200" cy="1809750"/>
            </a:xfrm>
            <a:prstGeom prst="roundRect">
              <a:avLst>
                <a:gd name="adj" fmla="val 2105"/>
              </a:avLst>
            </a:prstGeom>
            <a:solidFill>
              <a:srgbClr val="F0F9FC"/>
            </a:solidFill>
            <a:ln w="11430">
              <a:solidFill>
                <a:srgbClr val="B8C7D6"/>
              </a:solidFill>
            </a:ln>
          </p:spPr>
        </p:sp>
        <p:sp>
          <p:nvSpPr>
            <p:cNvPr id="36" name="Rectangle 36"/>
            <p:cNvSpPr/>
            <p:nvPr/>
          </p:nvSpPr>
          <p:spPr>
            <a:xfrm>
              <a:off x="4343400" y="1285875"/>
              <a:ext cx="3505200" cy="66675"/>
            </a:xfrm>
            <a:prstGeom prst="roundRect">
              <a:avLst>
                <a:gd name="adj" fmla="val 50000"/>
              </a:avLst>
            </a:prstGeom>
            <a:solidFill>
              <a:srgbClr val="06B6D4"/>
            </a:solidFill>
            <a:ln>
              <a:noFill/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4610100" y="1619250"/>
              <a:ext cx="2971800" cy="7143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3150" b="1" dirty="0">
                  <a:solidFill>
                    <a:srgbClr val="0E7490"/>
                  </a:solidFill>
                  <a:latin typeface="Arial"/>
                  <a:ea typeface="Microsoft YaHei"/>
                  <a:cs typeface="Arial"/>
                </a:rPr>
                <a:t>队列</a:t>
              </a:r>
            </a:p>
          </p:txBody>
        </p:sp>
        <p:sp>
          <p:nvSpPr>
            <p:cNvPr id="38" name="Line 38"/>
            <p:cNvSpPr/>
            <p:nvPr/>
          </p:nvSpPr>
          <p:spPr>
            <a:xfrm>
              <a:off x="4838700" y="2476500"/>
              <a:ext cx="2514600" cy="9525"/>
            </a:xfrm>
            <a:custGeom>
              <a:avLst/>
              <a:gdLst/>
              <a:ahLst/>
              <a:cxnLst/>
              <a:rect l="l" t="t" r="r" b="b"/>
              <a:pathLst>
                <a:path w="2514600" h="9525">
                  <a:moveTo>
                    <a:pt x="0" y="0"/>
                  </a:moveTo>
                  <a:lnTo>
                    <a:pt x="2514600" y="0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4610100" y="2562225"/>
              <a:ext cx="2971800" cy="3429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350" dirty="0">
                  <a:solidFill>
                    <a:srgbClr val="52657A"/>
                  </a:solidFill>
                  <a:latin typeface="Arial"/>
                  <a:ea typeface="Microsoft YaHei"/>
                  <a:cs typeface="Arial"/>
                </a:rPr>
                <a:t>Pulsar/Redis Worker落库</a:t>
              </a:r>
            </a:p>
          </p:txBody>
        </p:sp>
      </p:grpSp>
      <p:grpSp>
        <p:nvGrpSpPr>
          <p:cNvPr id="46" name="EasySlides Component: metric_03"/>
          <p:cNvGrpSpPr/>
          <p:nvPr/>
        </p:nvGrpSpPr>
        <p:grpSpPr>
          <a:xfrm>
            <a:off x="8191500" y="1285875"/>
            <a:ext cx="3505200" cy="1809750"/>
            <a:chOff x="8191500" y="1285875"/>
            <a:chExt cx="3505200" cy="1809750"/>
          </a:xfrm>
        </p:grpSpPr>
        <p:sp>
          <p:nvSpPr>
            <p:cNvPr id="41" name="Rectangle 41"/>
            <p:cNvSpPr/>
            <p:nvPr/>
          </p:nvSpPr>
          <p:spPr>
            <a:xfrm>
              <a:off x="8191500" y="1285875"/>
              <a:ext cx="3505200" cy="1809750"/>
            </a:xfrm>
            <a:prstGeom prst="roundRect">
              <a:avLst>
                <a:gd name="adj" fmla="val 2105"/>
              </a:avLst>
            </a:prstGeom>
            <a:solidFill>
              <a:srgbClr val="F0F9FC"/>
            </a:solidFill>
            <a:ln w="11430">
              <a:solidFill>
                <a:srgbClr val="B8C7D6"/>
              </a:solidFill>
            </a:ln>
          </p:spPr>
        </p:sp>
        <p:sp>
          <p:nvSpPr>
            <p:cNvPr id="42" name="Rectangle 42"/>
            <p:cNvSpPr/>
            <p:nvPr/>
          </p:nvSpPr>
          <p:spPr>
            <a:xfrm>
              <a:off x="8191500" y="1285875"/>
              <a:ext cx="3505200" cy="66675"/>
            </a:xfrm>
            <a:prstGeom prst="roundRect">
              <a:avLst>
                <a:gd name="adj" fmla="val 50000"/>
              </a:avLst>
            </a:prstGeom>
            <a:solidFill>
              <a:srgbClr val="06B6D4"/>
            </a:solidFill>
            <a:ln>
              <a:noFill/>
            </a:ln>
          </p:spPr>
        </p:sp>
        <p:sp>
          <p:nvSpPr>
            <p:cNvPr id="43" name="TextBox 43"/>
            <p:cNvSpPr txBox="1"/>
            <p:nvPr/>
          </p:nvSpPr>
          <p:spPr>
            <a:xfrm>
              <a:off x="8458200" y="1619250"/>
              <a:ext cx="2971800" cy="7143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3150" b="1" dirty="0">
                  <a:solidFill>
                    <a:srgbClr val="0E7490"/>
                  </a:solidFill>
                  <a:latin typeface="Arial"/>
                  <a:ea typeface="Microsoft YaHei"/>
                  <a:cs typeface="Arial"/>
                </a:rPr>
                <a:t>审批</a:t>
              </a:r>
            </a:p>
          </p:txBody>
        </p:sp>
        <p:sp>
          <p:nvSpPr>
            <p:cNvPr id="44" name="Line 44"/>
            <p:cNvSpPr/>
            <p:nvPr/>
          </p:nvSpPr>
          <p:spPr>
            <a:xfrm>
              <a:off x="8686800" y="2476500"/>
              <a:ext cx="2514600" cy="9525"/>
            </a:xfrm>
            <a:custGeom>
              <a:avLst/>
              <a:gdLst/>
              <a:ahLst/>
              <a:cxnLst/>
              <a:rect l="l" t="t" r="r" b="b"/>
              <a:pathLst>
                <a:path w="2514600" h="9525">
                  <a:moveTo>
                    <a:pt x="0" y="0"/>
                  </a:moveTo>
                  <a:lnTo>
                    <a:pt x="2514600" y="0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45" name="TextBox 45"/>
            <p:cNvSpPr txBox="1"/>
            <p:nvPr/>
          </p:nvSpPr>
          <p:spPr>
            <a:xfrm>
              <a:off x="8458200" y="2562225"/>
              <a:ext cx="2971800" cy="3429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350" dirty="0">
                  <a:solidFill>
                    <a:srgbClr val="52657A"/>
                  </a:solidFill>
                  <a:latin typeface="Arial"/>
                  <a:ea typeface="Microsoft YaHei"/>
                  <a:cs typeface="Arial"/>
                </a:rPr>
                <a:t>HITL 中断-恢复</a:t>
              </a:r>
            </a:p>
          </p:txBody>
        </p:sp>
      </p:grp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666750"/>
          </a:xfrm>
          <a:prstGeom prst="rect">
            <a:avLst/>
          </a:prstGeom>
          <a:solidFill>
            <a:srgbClr val="0E7490"/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0"/>
            <a:ext cx="57150" cy="666750"/>
          </a:xfrm>
          <a:prstGeom prst="rect">
            <a:avLst/>
          </a:prstGeom>
          <a:solidFill>
            <a:srgbClr val="CC0000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381000" y="123825"/>
            <a:ext cx="762000" cy="4000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1275" b="1" dirty="0">
                <a:solidFill>
                  <a:srgbClr val="9FD3FF"/>
                </a:solidFill>
                <a:latin typeface="Arial"/>
                <a:ea typeface="Microsoft YaHei"/>
                <a:cs typeface="Arial"/>
              </a:rPr>
              <a:t>15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257300" y="95250"/>
            <a:ext cx="8096250" cy="457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21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优化拓展：单 Loop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0001250" y="76200"/>
            <a:ext cx="1619250" cy="5143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3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DataAgent</a:t>
            </a:r>
          </a:p>
        </p:txBody>
      </p:sp>
      <p:sp>
        <p:nvSpPr>
          <p:cNvPr id="8" name="Rectangle 8"/>
          <p:cNvSpPr/>
          <p:nvPr/>
        </p:nvSpPr>
        <p:spPr>
          <a:xfrm>
            <a:off x="0" y="666750"/>
            <a:ext cx="12192000" cy="476250"/>
          </a:xfrm>
          <a:prstGeom prst="rect">
            <a:avLst/>
          </a:prstGeom>
          <a:solidFill>
            <a:srgbClr val="E8F4FC"/>
          </a:solidFill>
          <a:ln>
            <a:noFill/>
          </a:ln>
        </p:spPr>
      </p:sp>
      <p:sp>
        <p:nvSpPr>
          <p:cNvPr id="9" name="Rectangle 9"/>
          <p:cNvSpPr/>
          <p:nvPr/>
        </p:nvSpPr>
        <p:spPr>
          <a:xfrm>
            <a:off x="0" y="666750"/>
            <a:ext cx="57150" cy="476250"/>
          </a:xfrm>
          <a:prstGeom prst="rect">
            <a:avLst/>
          </a:prstGeom>
          <a:solidFill>
            <a:srgbClr val="06B6D4"/>
          </a:solidFill>
          <a:ln>
            <a:noFill/>
          </a:ln>
        </p:spPr>
      </p:sp>
      <p:sp>
        <p:nvSpPr>
          <p:cNvPr id="10" name="TextBox 10"/>
          <p:cNvSpPr txBox="1"/>
          <p:nvPr/>
        </p:nvSpPr>
        <p:spPr>
          <a:xfrm>
            <a:off x="381000" y="714375"/>
            <a:ext cx="10001250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1350" dirty="0">
                <a:solidFill>
                  <a:srgbClr val="26384A"/>
                </a:solidFill>
                <a:latin typeface="Arial"/>
                <a:ea typeface="Microsoft YaHei"/>
                <a:cs typeface="Arial"/>
              </a:rPr>
              <a:t>三个可持续优化抓手</a:t>
            </a:r>
          </a:p>
        </p:txBody>
      </p:sp>
      <p:sp>
        <p:nvSpPr>
          <p:cNvPr id="11" name="Line 11"/>
          <p:cNvSpPr/>
          <p:nvPr/>
        </p:nvSpPr>
        <p:spPr>
          <a:xfrm>
            <a:off x="381000" y="6334125"/>
            <a:ext cx="11430000" cy="9525"/>
          </a:xfrm>
          <a:custGeom>
            <a:avLst/>
            <a:gdLst/>
            <a:ahLst/>
            <a:cxnLst/>
            <a:rect l="l" t="t" r="r" b="b"/>
            <a:pathLst>
              <a:path w="11430000" h="9525">
                <a:moveTo>
                  <a:pt x="0" y="0"/>
                </a:moveTo>
                <a:lnTo>
                  <a:pt x="11430000" y="0"/>
                </a:lnTo>
              </a:path>
            </a:pathLst>
          </a:custGeom>
          <a:noFill/>
          <a:ln w="9525">
            <a:solidFill>
              <a:srgbClr val="E8F4FC"/>
            </a:solidFill>
          </a:ln>
        </p:spPr>
      </p:sp>
      <p:sp>
        <p:nvSpPr>
          <p:cNvPr id="12" name="TextBox 12"/>
          <p:cNvSpPr txBox="1"/>
          <p:nvPr/>
        </p:nvSpPr>
        <p:spPr>
          <a:xfrm>
            <a:off x="381000" y="6477000"/>
            <a:ext cx="4953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课程第15讲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4381500" y="6477000"/>
            <a:ext cx="3429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Agent Runtime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0763250" y="6457950"/>
            <a:ext cx="857250" cy="266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050" dirty="0">
                <a:solidFill>
                  <a:srgbClr val="52657A"/>
                </a:solidFill>
                <a:latin typeface="Arial"/>
                <a:ea typeface="Microsoft YaHei"/>
                <a:cs typeface="Arial"/>
              </a:rPr>
              <a:t>15</a:t>
            </a:r>
          </a:p>
        </p:txBody>
      </p:sp>
      <p:grpSp>
        <p:nvGrpSpPr>
          <p:cNvPr id="21" name="EasySlides Component: evidence_01"/>
          <p:cNvGrpSpPr/>
          <p:nvPr/>
        </p:nvGrpSpPr>
        <p:grpSpPr>
          <a:xfrm>
            <a:off x="495300" y="3524250"/>
            <a:ext cx="11201400" cy="1285875"/>
            <a:chOff x="495300" y="3524250"/>
            <a:chExt cx="11201400" cy="1285875"/>
          </a:xfrm>
        </p:grpSpPr>
        <p:sp>
          <p:nvSpPr>
            <p:cNvPr id="15" name="Rectangle 15"/>
            <p:cNvSpPr/>
            <p:nvPr/>
          </p:nvSpPr>
          <p:spPr>
            <a:xfrm>
              <a:off x="495300" y="3524250"/>
              <a:ext cx="11201400" cy="1285875"/>
            </a:xfrm>
            <a:prstGeom prst="roundRect">
              <a:avLst>
                <a:gd name="adj" fmla="val 2963"/>
              </a:avLst>
            </a:prstGeom>
            <a:solidFill>
              <a:srgbClr val="FFFFFF"/>
            </a:solidFill>
            <a:ln w="11430">
              <a:solidFill>
                <a:srgbClr val="B8C7D6"/>
              </a:solidFill>
            </a:ln>
          </p:spPr>
        </p:sp>
        <p:sp>
          <p:nvSpPr>
            <p:cNvPr id="16" name="Rectangle 16"/>
            <p:cNvSpPr/>
            <p:nvPr/>
          </p:nvSpPr>
          <p:spPr>
            <a:xfrm>
              <a:off x="495300" y="3524250"/>
              <a:ext cx="76200" cy="1285875"/>
            </a:xfrm>
            <a:prstGeom prst="roundRect">
              <a:avLst>
                <a:gd name="adj" fmla="val 50000"/>
              </a:avLst>
            </a:prstGeom>
            <a:solidFill>
              <a:srgbClr val="06B6D4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733425" y="3971925"/>
              <a:ext cx="438150" cy="5238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650" b="1" dirty="0">
                  <a:solidFill>
                    <a:srgbClr val="06B6D4"/>
                  </a:solidFill>
                  <a:latin typeface="Arial"/>
                  <a:ea typeface="Microsoft YaHei"/>
                  <a:cs typeface="Arial"/>
                </a:rPr>
                <a:t>01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1447800" y="3752850"/>
              <a:ext cx="2667000" cy="78105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575" b="1" dirty="0">
                  <a:solidFill>
                    <a:srgbClr val="0E7490"/>
                  </a:solidFill>
                  <a:latin typeface="Arial"/>
                  <a:ea typeface="Microsoft YaHei"/>
                  <a:cs typeface="Arial"/>
                </a:rPr>
                <a:t>资产化</a:t>
              </a:r>
            </a:p>
          </p:txBody>
        </p:sp>
        <p:sp>
          <p:nvSpPr>
            <p:cNvPr id="19" name="Line 19"/>
            <p:cNvSpPr/>
            <p:nvPr/>
          </p:nvSpPr>
          <p:spPr>
            <a:xfrm>
              <a:off x="4362450" y="3752850"/>
              <a:ext cx="9525" cy="828675"/>
            </a:xfrm>
            <a:custGeom>
              <a:avLst/>
              <a:gdLst/>
              <a:ahLst/>
              <a:cxnLst/>
              <a:rect l="l" t="t" r="r" b="b"/>
              <a:pathLst>
                <a:path w="9525" h="828675">
                  <a:moveTo>
                    <a:pt x="0" y="0"/>
                  </a:moveTo>
                  <a:lnTo>
                    <a:pt x="0" y="828675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4686300" y="3752850"/>
              <a:ext cx="6572250" cy="78105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425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「单 Loop」优化一：把人工经验固化为资产（规则/</a:t>
              </a:r>
            </a:p>
          </p:txBody>
        </p:sp>
      </p:grpSp>
      <p:grpSp>
        <p:nvGrpSpPr>
          <p:cNvPr id="28" name="EasySlides Component: evidence_02"/>
          <p:cNvGrpSpPr/>
          <p:nvPr/>
        </p:nvGrpSpPr>
        <p:grpSpPr>
          <a:xfrm>
            <a:off x="495300" y="4905375"/>
            <a:ext cx="11201400" cy="1285875"/>
            <a:chOff x="495300" y="4905375"/>
            <a:chExt cx="11201400" cy="1285875"/>
          </a:xfrm>
        </p:grpSpPr>
        <p:sp>
          <p:nvSpPr>
            <p:cNvPr id="22" name="Rectangle 22"/>
            <p:cNvSpPr/>
            <p:nvPr/>
          </p:nvSpPr>
          <p:spPr>
            <a:xfrm>
              <a:off x="495300" y="4905375"/>
              <a:ext cx="11201400" cy="1285875"/>
            </a:xfrm>
            <a:prstGeom prst="roundRect">
              <a:avLst>
                <a:gd name="adj" fmla="val 2963"/>
              </a:avLst>
            </a:prstGeom>
            <a:solidFill>
              <a:srgbClr val="FFFFFF"/>
            </a:solidFill>
            <a:ln w="11430">
              <a:solidFill>
                <a:srgbClr val="B8C7D6"/>
              </a:solidFill>
            </a:ln>
          </p:spPr>
        </p:sp>
        <p:sp>
          <p:nvSpPr>
            <p:cNvPr id="23" name="Rectangle 23"/>
            <p:cNvSpPr/>
            <p:nvPr/>
          </p:nvSpPr>
          <p:spPr>
            <a:xfrm>
              <a:off x="495300" y="4905375"/>
              <a:ext cx="76200" cy="1285875"/>
            </a:xfrm>
            <a:prstGeom prst="roundRect">
              <a:avLst>
                <a:gd name="adj" fmla="val 50000"/>
              </a:avLst>
            </a:prstGeom>
            <a:solidFill>
              <a:srgbClr val="06B6D4"/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733425" y="5353050"/>
              <a:ext cx="438150" cy="5238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650" b="1" dirty="0">
                  <a:solidFill>
                    <a:srgbClr val="06B6D4"/>
                  </a:solidFill>
                  <a:latin typeface="Arial"/>
                  <a:ea typeface="Microsoft YaHei"/>
                  <a:cs typeface="Arial"/>
                </a:rPr>
                <a:t>02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1447800" y="5133975"/>
              <a:ext cx="2667000" cy="78105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575" b="1" dirty="0">
                  <a:solidFill>
                    <a:srgbClr val="0E7490"/>
                  </a:solidFill>
                  <a:latin typeface="Arial"/>
                  <a:ea typeface="Microsoft YaHei"/>
                  <a:cs typeface="Arial"/>
                </a:rPr>
                <a:t>基线化</a:t>
              </a:r>
            </a:p>
          </p:txBody>
        </p:sp>
        <p:sp>
          <p:nvSpPr>
            <p:cNvPr id="26" name="Line 26"/>
            <p:cNvSpPr/>
            <p:nvPr/>
          </p:nvSpPr>
          <p:spPr>
            <a:xfrm>
              <a:off x="4362450" y="5133975"/>
              <a:ext cx="9525" cy="828675"/>
            </a:xfrm>
            <a:custGeom>
              <a:avLst/>
              <a:gdLst/>
              <a:ahLst/>
              <a:cxnLst/>
              <a:rect l="l" t="t" r="r" b="b"/>
              <a:pathLst>
                <a:path w="9525" h="828675">
                  <a:moveTo>
                    <a:pt x="0" y="0"/>
                  </a:moveTo>
                  <a:lnTo>
                    <a:pt x="0" y="828675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4686300" y="5133975"/>
              <a:ext cx="6572250" cy="78105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425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「单 Loop」优化二：建立基线对照（关闭/盲选/受控三组）</a:t>
              </a:r>
            </a:p>
          </p:txBody>
        </p:sp>
      </p:grpSp>
      <p:grpSp>
        <p:nvGrpSpPr>
          <p:cNvPr id="34" name="EasySlides Component: metric_01"/>
          <p:cNvGrpSpPr/>
          <p:nvPr/>
        </p:nvGrpSpPr>
        <p:grpSpPr>
          <a:xfrm>
            <a:off x="495300" y="1285875"/>
            <a:ext cx="3505200" cy="1809750"/>
            <a:chOff x="495300" y="1285875"/>
            <a:chExt cx="3505200" cy="1809750"/>
          </a:xfrm>
        </p:grpSpPr>
        <p:sp>
          <p:nvSpPr>
            <p:cNvPr id="29" name="Rectangle 29"/>
            <p:cNvSpPr/>
            <p:nvPr/>
          </p:nvSpPr>
          <p:spPr>
            <a:xfrm>
              <a:off x="495300" y="1285875"/>
              <a:ext cx="3505200" cy="1809750"/>
            </a:xfrm>
            <a:prstGeom prst="roundRect">
              <a:avLst>
                <a:gd name="adj" fmla="val 2105"/>
              </a:avLst>
            </a:prstGeom>
            <a:solidFill>
              <a:srgbClr val="F0F9FC"/>
            </a:solidFill>
            <a:ln w="11430">
              <a:solidFill>
                <a:srgbClr val="B8C7D6"/>
              </a:solidFill>
            </a:ln>
          </p:spPr>
        </p:sp>
        <p:sp>
          <p:nvSpPr>
            <p:cNvPr id="30" name="Rectangle 30"/>
            <p:cNvSpPr/>
            <p:nvPr/>
          </p:nvSpPr>
          <p:spPr>
            <a:xfrm>
              <a:off x="495300" y="1285875"/>
              <a:ext cx="3505200" cy="66675"/>
            </a:xfrm>
            <a:prstGeom prst="roundRect">
              <a:avLst>
                <a:gd name="adj" fmla="val 50000"/>
              </a:avLst>
            </a:prstGeom>
            <a:solidFill>
              <a:srgbClr val="06B6D4"/>
            </a:solidFill>
            <a:ln>
              <a:noFill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762000" y="1619250"/>
              <a:ext cx="2971800" cy="7143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3150" b="1" dirty="0">
                  <a:solidFill>
                    <a:srgbClr val="0E7490"/>
                  </a:solidFill>
                  <a:latin typeface="Arial"/>
                  <a:ea typeface="Microsoft YaHei"/>
                  <a:cs typeface="Arial"/>
                </a:rPr>
                <a:t>资产化</a:t>
              </a:r>
            </a:p>
          </p:txBody>
        </p:sp>
        <p:sp>
          <p:nvSpPr>
            <p:cNvPr id="32" name="Line 32"/>
            <p:cNvSpPr/>
            <p:nvPr/>
          </p:nvSpPr>
          <p:spPr>
            <a:xfrm>
              <a:off x="990600" y="2476500"/>
              <a:ext cx="2514600" cy="9525"/>
            </a:xfrm>
            <a:custGeom>
              <a:avLst/>
              <a:gdLst/>
              <a:ahLst/>
              <a:cxnLst/>
              <a:rect l="l" t="t" r="r" b="b"/>
              <a:pathLst>
                <a:path w="2514600" h="9525">
                  <a:moveTo>
                    <a:pt x="0" y="0"/>
                  </a:moveTo>
                  <a:lnTo>
                    <a:pt x="2514600" y="0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762000" y="2562225"/>
              <a:ext cx="2971800" cy="3429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350" dirty="0">
                  <a:solidFill>
                    <a:srgbClr val="52657A"/>
                  </a:solidFill>
                  <a:latin typeface="Arial"/>
                  <a:ea typeface="Microsoft YaHei"/>
                  <a:cs typeface="Arial"/>
                </a:rPr>
                <a:t>经验固化为规则/Skill</a:t>
              </a:r>
            </a:p>
          </p:txBody>
        </p:sp>
      </p:grpSp>
      <p:grpSp>
        <p:nvGrpSpPr>
          <p:cNvPr id="40" name="EasySlides Component: metric_02"/>
          <p:cNvGrpSpPr/>
          <p:nvPr/>
        </p:nvGrpSpPr>
        <p:grpSpPr>
          <a:xfrm>
            <a:off x="4343400" y="1285875"/>
            <a:ext cx="3505200" cy="1809750"/>
            <a:chOff x="4343400" y="1285875"/>
            <a:chExt cx="3505200" cy="1809750"/>
          </a:xfrm>
        </p:grpSpPr>
        <p:sp>
          <p:nvSpPr>
            <p:cNvPr id="35" name="Rectangle 35"/>
            <p:cNvSpPr/>
            <p:nvPr/>
          </p:nvSpPr>
          <p:spPr>
            <a:xfrm>
              <a:off x="4343400" y="1285875"/>
              <a:ext cx="3505200" cy="1809750"/>
            </a:xfrm>
            <a:prstGeom prst="roundRect">
              <a:avLst>
                <a:gd name="adj" fmla="val 2105"/>
              </a:avLst>
            </a:prstGeom>
            <a:solidFill>
              <a:srgbClr val="F0F9FC"/>
            </a:solidFill>
            <a:ln w="11430">
              <a:solidFill>
                <a:srgbClr val="B8C7D6"/>
              </a:solidFill>
            </a:ln>
          </p:spPr>
        </p:sp>
        <p:sp>
          <p:nvSpPr>
            <p:cNvPr id="36" name="Rectangle 36"/>
            <p:cNvSpPr/>
            <p:nvPr/>
          </p:nvSpPr>
          <p:spPr>
            <a:xfrm>
              <a:off x="4343400" y="1285875"/>
              <a:ext cx="3505200" cy="66675"/>
            </a:xfrm>
            <a:prstGeom prst="roundRect">
              <a:avLst>
                <a:gd name="adj" fmla="val 50000"/>
              </a:avLst>
            </a:prstGeom>
            <a:solidFill>
              <a:srgbClr val="06B6D4"/>
            </a:solidFill>
            <a:ln>
              <a:noFill/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4610100" y="1619250"/>
              <a:ext cx="2971800" cy="7143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3150" b="1" dirty="0">
                  <a:solidFill>
                    <a:srgbClr val="0E7490"/>
                  </a:solidFill>
                  <a:latin typeface="Arial"/>
                  <a:ea typeface="Microsoft YaHei"/>
                  <a:cs typeface="Arial"/>
                </a:rPr>
                <a:t>基线化</a:t>
              </a:r>
            </a:p>
          </p:txBody>
        </p:sp>
        <p:sp>
          <p:nvSpPr>
            <p:cNvPr id="38" name="Line 38"/>
            <p:cNvSpPr/>
            <p:nvPr/>
          </p:nvSpPr>
          <p:spPr>
            <a:xfrm>
              <a:off x="4838700" y="2476500"/>
              <a:ext cx="2514600" cy="9525"/>
            </a:xfrm>
            <a:custGeom>
              <a:avLst/>
              <a:gdLst/>
              <a:ahLst/>
              <a:cxnLst/>
              <a:rect l="l" t="t" r="r" b="b"/>
              <a:pathLst>
                <a:path w="2514600" h="9525">
                  <a:moveTo>
                    <a:pt x="0" y="0"/>
                  </a:moveTo>
                  <a:lnTo>
                    <a:pt x="2514600" y="0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4610100" y="2562225"/>
              <a:ext cx="2971800" cy="3429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350" dirty="0">
                  <a:solidFill>
                    <a:srgbClr val="52657A"/>
                  </a:solidFill>
                  <a:latin typeface="Arial"/>
                  <a:ea typeface="Microsoft YaHei"/>
                  <a:cs typeface="Arial"/>
                </a:rPr>
                <a:t>对照实验证明增量</a:t>
              </a:r>
            </a:p>
          </p:txBody>
        </p:sp>
      </p:grpSp>
      <p:grpSp>
        <p:nvGrpSpPr>
          <p:cNvPr id="46" name="EasySlides Component: metric_03"/>
          <p:cNvGrpSpPr/>
          <p:nvPr/>
        </p:nvGrpSpPr>
        <p:grpSpPr>
          <a:xfrm>
            <a:off x="8191500" y="1285875"/>
            <a:ext cx="3505200" cy="1809750"/>
            <a:chOff x="8191500" y="1285875"/>
            <a:chExt cx="3505200" cy="1809750"/>
          </a:xfrm>
        </p:grpSpPr>
        <p:sp>
          <p:nvSpPr>
            <p:cNvPr id="41" name="Rectangle 41"/>
            <p:cNvSpPr/>
            <p:nvPr/>
          </p:nvSpPr>
          <p:spPr>
            <a:xfrm>
              <a:off x="8191500" y="1285875"/>
              <a:ext cx="3505200" cy="1809750"/>
            </a:xfrm>
            <a:prstGeom prst="roundRect">
              <a:avLst>
                <a:gd name="adj" fmla="val 2105"/>
              </a:avLst>
            </a:prstGeom>
            <a:solidFill>
              <a:srgbClr val="F0F9FC"/>
            </a:solidFill>
            <a:ln w="11430">
              <a:solidFill>
                <a:srgbClr val="B8C7D6"/>
              </a:solidFill>
            </a:ln>
          </p:spPr>
        </p:sp>
        <p:sp>
          <p:nvSpPr>
            <p:cNvPr id="42" name="Rectangle 42"/>
            <p:cNvSpPr/>
            <p:nvPr/>
          </p:nvSpPr>
          <p:spPr>
            <a:xfrm>
              <a:off x="8191500" y="1285875"/>
              <a:ext cx="3505200" cy="66675"/>
            </a:xfrm>
            <a:prstGeom prst="roundRect">
              <a:avLst>
                <a:gd name="adj" fmla="val 50000"/>
              </a:avLst>
            </a:prstGeom>
            <a:solidFill>
              <a:srgbClr val="06B6D4"/>
            </a:solidFill>
            <a:ln>
              <a:noFill/>
            </a:ln>
          </p:spPr>
        </p:sp>
        <p:sp>
          <p:nvSpPr>
            <p:cNvPr id="43" name="TextBox 43"/>
            <p:cNvSpPr txBox="1"/>
            <p:nvPr/>
          </p:nvSpPr>
          <p:spPr>
            <a:xfrm>
              <a:off x="8458200" y="1619250"/>
              <a:ext cx="2971800" cy="7143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3150" b="1" dirty="0">
                  <a:solidFill>
                    <a:srgbClr val="0E7490"/>
                  </a:solidFill>
                  <a:latin typeface="Arial"/>
                  <a:ea typeface="Microsoft YaHei"/>
                  <a:cs typeface="Arial"/>
                </a:rPr>
                <a:t>观测化</a:t>
              </a:r>
            </a:p>
          </p:txBody>
        </p:sp>
        <p:sp>
          <p:nvSpPr>
            <p:cNvPr id="44" name="Line 44"/>
            <p:cNvSpPr/>
            <p:nvPr/>
          </p:nvSpPr>
          <p:spPr>
            <a:xfrm>
              <a:off x="8686800" y="2476500"/>
              <a:ext cx="2514600" cy="9525"/>
            </a:xfrm>
            <a:custGeom>
              <a:avLst/>
              <a:gdLst/>
              <a:ahLst/>
              <a:cxnLst/>
              <a:rect l="l" t="t" r="r" b="b"/>
              <a:pathLst>
                <a:path w="2514600" h="9525">
                  <a:moveTo>
                    <a:pt x="0" y="0"/>
                  </a:moveTo>
                  <a:lnTo>
                    <a:pt x="2514600" y="0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45" name="TextBox 45"/>
            <p:cNvSpPr txBox="1"/>
            <p:nvPr/>
          </p:nvSpPr>
          <p:spPr>
            <a:xfrm>
              <a:off x="8458200" y="2562225"/>
              <a:ext cx="2971800" cy="3429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350" dirty="0">
                  <a:solidFill>
                    <a:srgbClr val="52657A"/>
                  </a:solidFill>
                  <a:latin typeface="Arial"/>
                  <a:ea typeface="Microsoft YaHei"/>
                  <a:cs typeface="Arial"/>
                </a:rPr>
                <a:t>Trace/Baseline 先行</a:t>
              </a:r>
            </a:p>
          </p:txBody>
        </p:sp>
      </p:grp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E7490"/>
          </a:solidFill>
          <a:ln>
            <a:noFill/>
          </a:ln>
        </p:spPr>
      </p:sp>
      <p:sp>
        <p:nvSpPr>
          <p:cNvPr id="3" name="Freeform 3"/>
          <p:cNvSpPr/>
          <p:nvPr/>
        </p:nvSpPr>
        <p:spPr>
          <a:xfrm>
            <a:off x="5715000" y="0"/>
            <a:ext cx="6477000" cy="6858000"/>
          </a:xfrm>
          <a:custGeom>
            <a:avLst/>
            <a:gdLst/>
            <a:ahLst/>
            <a:cxnLst/>
            <a:rect l="l" t="t" r="r" b="b"/>
            <a:pathLst>
              <a:path w="6477000" h="6858000">
                <a:moveTo>
                  <a:pt x="1905000" y="0"/>
                </a:moveTo>
                <a:lnTo>
                  <a:pt x="6477000" y="0"/>
                </a:lnTo>
                <a:lnTo>
                  <a:pt x="6477000" y="6858000"/>
                </a:lnTo>
                <a:lnTo>
                  <a:pt x="0" y="6858000"/>
                </a:lnTo>
                <a:close/>
              </a:path>
            </a:pathLst>
          </a:custGeom>
          <a:solidFill>
            <a:srgbClr val="06B6D4">
              <a:alpha val="20000"/>
            </a:srgbClr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2286000"/>
            <a:ext cx="114300" cy="2286000"/>
          </a:xfrm>
          <a:prstGeom prst="rect">
            <a:avLst/>
          </a:prstGeom>
          <a:solidFill>
            <a:srgbClr val="CC0000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476250" y="2095500"/>
            <a:ext cx="2952750" cy="31432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8750" b="1" dirty="0">
                <a:solidFill>
                  <a:srgbClr val="FFFFFF">
                    <a:alphaMod val="10000"/>
                  </a:srgbClr>
                </a:solidFill>
                <a:latin typeface="Arial"/>
                <a:ea typeface="Microsoft YaHei"/>
                <a:cs typeface="Arial"/>
              </a:rPr>
              <a:t>16</a:t>
            </a:r>
          </a:p>
        </p:txBody>
      </p:sp>
      <p:sp>
        <p:nvSpPr>
          <p:cNvPr id="6" name="Line 6"/>
          <p:cNvSpPr/>
          <p:nvPr/>
        </p:nvSpPr>
        <p:spPr>
          <a:xfrm>
            <a:off x="3619500" y="2505075"/>
            <a:ext cx="1143000" cy="9525"/>
          </a:xfrm>
          <a:custGeom>
            <a:avLst/>
            <a:gdLst/>
            <a:ahLst/>
            <a:cxnLst/>
            <a:rect l="l" t="t" r="r" b="b"/>
            <a:pathLst>
              <a:path w="1143000" h="9525">
                <a:moveTo>
                  <a:pt x="0" y="0"/>
                </a:moveTo>
                <a:lnTo>
                  <a:pt x="1143000" y="0"/>
                </a:lnTo>
              </a:path>
            </a:pathLst>
          </a:custGeom>
          <a:noFill/>
          <a:ln w="57150">
            <a:solidFill>
              <a:srgbClr val="CC0000"/>
            </a:solidFill>
          </a:ln>
        </p:spPr>
      </p:sp>
      <p:sp>
        <p:nvSpPr>
          <p:cNvPr id="7" name="TextBox 7"/>
          <p:cNvSpPr txBox="1"/>
          <p:nvPr/>
        </p:nvSpPr>
        <p:spPr>
          <a:xfrm>
            <a:off x="3619500" y="2667000"/>
            <a:ext cx="7429500" cy="8763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42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概念详解：固定 Workflow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3619500" y="3648075"/>
            <a:ext cx="7620000" cy="4191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1800" dirty="0">
                <a:solidFill>
                  <a:srgbClr val="E8F4FC"/>
                </a:solidFill>
                <a:latin typeface="Arial"/>
                <a:ea typeface="Microsoft YaHei"/>
                <a:cs typeface="Arial"/>
              </a:rPr>
              <a:t>对「固定 Workflow」的正确定位是：确定性/合规；它是可观测、可治理、可演进的稳定工程对象。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6762750" y="6286500"/>
            <a:ext cx="4095750" cy="2857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r"/>
            <a:r>
              <a:rPr lang="zh-CN" sz="1200" dirty="0">
                <a:solidFill>
                  <a:srgbClr val="FFFFFF">
                    <a:alphaMod val="55000"/>
                  </a:srgbClr>
                </a:solidFill>
                <a:latin typeface="Arial"/>
                <a:ea typeface="Microsoft YaHei"/>
                <a:cs typeface="Arial"/>
              </a:rPr>
              <a:t>Agent Runtime 的混合架构选型与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666750"/>
          </a:xfrm>
          <a:prstGeom prst="rect">
            <a:avLst/>
          </a:prstGeom>
          <a:solidFill>
            <a:srgbClr val="0E7490"/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0"/>
            <a:ext cx="57150" cy="666750"/>
          </a:xfrm>
          <a:prstGeom prst="rect">
            <a:avLst/>
          </a:prstGeom>
          <a:solidFill>
            <a:srgbClr val="CC0000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381000" y="123825"/>
            <a:ext cx="762000" cy="4000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1275" b="1" dirty="0">
                <a:solidFill>
                  <a:srgbClr val="9FD3FF"/>
                </a:solidFill>
                <a:latin typeface="Arial"/>
                <a:ea typeface="Microsoft YaHei"/>
                <a:cs typeface="Arial"/>
              </a:rPr>
              <a:t>17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257300" y="95250"/>
            <a:ext cx="8096250" cy="457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21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定义与内涵：固定 Workflow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0001250" y="76200"/>
            <a:ext cx="1619250" cy="5143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3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DataAgent</a:t>
            </a:r>
          </a:p>
        </p:txBody>
      </p:sp>
      <p:sp>
        <p:nvSpPr>
          <p:cNvPr id="8" name="Rectangle 8"/>
          <p:cNvSpPr/>
          <p:nvPr/>
        </p:nvSpPr>
        <p:spPr>
          <a:xfrm>
            <a:off x="0" y="666750"/>
            <a:ext cx="12192000" cy="476250"/>
          </a:xfrm>
          <a:prstGeom prst="rect">
            <a:avLst/>
          </a:prstGeom>
          <a:solidFill>
            <a:srgbClr val="E8F4FC"/>
          </a:solidFill>
          <a:ln>
            <a:noFill/>
          </a:ln>
        </p:spPr>
      </p:sp>
      <p:sp>
        <p:nvSpPr>
          <p:cNvPr id="9" name="Rectangle 9"/>
          <p:cNvSpPr/>
          <p:nvPr/>
        </p:nvSpPr>
        <p:spPr>
          <a:xfrm>
            <a:off x="0" y="666750"/>
            <a:ext cx="57150" cy="476250"/>
          </a:xfrm>
          <a:prstGeom prst="rect">
            <a:avLst/>
          </a:prstGeom>
          <a:solidFill>
            <a:srgbClr val="06B6D4"/>
          </a:solidFill>
          <a:ln>
            <a:noFill/>
          </a:ln>
        </p:spPr>
      </p:sp>
      <p:sp>
        <p:nvSpPr>
          <p:cNvPr id="10" name="TextBox 10"/>
          <p:cNvSpPr txBox="1"/>
          <p:nvPr/>
        </p:nvSpPr>
        <p:spPr>
          <a:xfrm>
            <a:off x="381000" y="714375"/>
            <a:ext cx="10001250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1350" dirty="0">
                <a:solidFill>
                  <a:srgbClr val="26384A"/>
                </a:solidFill>
                <a:latin typeface="Arial"/>
                <a:ea typeface="Microsoft YaHei"/>
                <a:cs typeface="Arial"/>
              </a:rPr>
              <a:t>把固定 Workflow讲透：是什么、不是什</a:t>
            </a:r>
          </a:p>
        </p:txBody>
      </p:sp>
      <p:sp>
        <p:nvSpPr>
          <p:cNvPr id="11" name="Line 11"/>
          <p:cNvSpPr/>
          <p:nvPr/>
        </p:nvSpPr>
        <p:spPr>
          <a:xfrm>
            <a:off x="381000" y="6334125"/>
            <a:ext cx="11430000" cy="9525"/>
          </a:xfrm>
          <a:custGeom>
            <a:avLst/>
            <a:gdLst/>
            <a:ahLst/>
            <a:cxnLst/>
            <a:rect l="l" t="t" r="r" b="b"/>
            <a:pathLst>
              <a:path w="11430000" h="9525">
                <a:moveTo>
                  <a:pt x="0" y="0"/>
                </a:moveTo>
                <a:lnTo>
                  <a:pt x="11430000" y="0"/>
                </a:lnTo>
              </a:path>
            </a:pathLst>
          </a:custGeom>
          <a:noFill/>
          <a:ln w="9525">
            <a:solidFill>
              <a:srgbClr val="E8F4FC"/>
            </a:solidFill>
          </a:ln>
        </p:spPr>
      </p:sp>
      <p:sp>
        <p:nvSpPr>
          <p:cNvPr id="12" name="TextBox 12"/>
          <p:cNvSpPr txBox="1"/>
          <p:nvPr/>
        </p:nvSpPr>
        <p:spPr>
          <a:xfrm>
            <a:off x="381000" y="6477000"/>
            <a:ext cx="4953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课程第15讲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4381500" y="6477000"/>
            <a:ext cx="3429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Agent Runtime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0763250" y="6457950"/>
            <a:ext cx="857250" cy="266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050" dirty="0">
                <a:solidFill>
                  <a:srgbClr val="52657A"/>
                </a:solidFill>
                <a:latin typeface="Arial"/>
                <a:ea typeface="Microsoft YaHei"/>
                <a:cs typeface="Arial"/>
              </a:rPr>
              <a:t>17</a:t>
            </a:r>
          </a:p>
        </p:txBody>
      </p:sp>
      <p:grpSp>
        <p:nvGrpSpPr>
          <p:cNvPr id="21" name="EasySlides Component: evidence_01"/>
          <p:cNvGrpSpPr/>
          <p:nvPr/>
        </p:nvGrpSpPr>
        <p:grpSpPr>
          <a:xfrm>
            <a:off x="495300" y="2095500"/>
            <a:ext cx="11201400" cy="1285875"/>
            <a:chOff x="495300" y="2095500"/>
            <a:chExt cx="11201400" cy="1285875"/>
          </a:xfrm>
        </p:grpSpPr>
        <p:sp>
          <p:nvSpPr>
            <p:cNvPr id="15" name="Rectangle 15"/>
            <p:cNvSpPr/>
            <p:nvPr/>
          </p:nvSpPr>
          <p:spPr>
            <a:xfrm>
              <a:off x="495300" y="2095500"/>
              <a:ext cx="11201400" cy="1285875"/>
            </a:xfrm>
            <a:prstGeom prst="roundRect">
              <a:avLst>
                <a:gd name="adj" fmla="val 2963"/>
              </a:avLst>
            </a:prstGeom>
            <a:solidFill>
              <a:srgbClr val="FFFFFF"/>
            </a:solidFill>
            <a:ln w="11430">
              <a:solidFill>
                <a:srgbClr val="B8C7D6"/>
              </a:solidFill>
            </a:ln>
          </p:spPr>
        </p:sp>
        <p:sp>
          <p:nvSpPr>
            <p:cNvPr id="16" name="Rectangle 16"/>
            <p:cNvSpPr/>
            <p:nvPr/>
          </p:nvSpPr>
          <p:spPr>
            <a:xfrm>
              <a:off x="495300" y="2095500"/>
              <a:ext cx="76200" cy="1285875"/>
            </a:xfrm>
            <a:prstGeom prst="roundRect">
              <a:avLst>
                <a:gd name="adj" fmla="val 50000"/>
              </a:avLst>
            </a:prstGeom>
            <a:solidFill>
              <a:srgbClr val="06B6D4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733425" y="2543175"/>
              <a:ext cx="438150" cy="5238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650" b="1" dirty="0">
                  <a:solidFill>
                    <a:srgbClr val="06B6D4"/>
                  </a:solidFill>
                  <a:latin typeface="Arial"/>
                  <a:ea typeface="Microsoft YaHei"/>
                  <a:cs typeface="Arial"/>
                </a:rPr>
                <a:t>01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1447800" y="2324100"/>
              <a:ext cx="2667000" cy="78105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575" b="1" dirty="0">
                  <a:solidFill>
                    <a:srgbClr val="0E7490"/>
                  </a:solidFill>
                  <a:latin typeface="Arial"/>
                  <a:ea typeface="Microsoft YaHei"/>
                  <a:cs typeface="Arial"/>
                </a:rPr>
                <a:t>定义</a:t>
              </a:r>
            </a:p>
          </p:txBody>
        </p:sp>
        <p:sp>
          <p:nvSpPr>
            <p:cNvPr id="19" name="Line 19"/>
            <p:cNvSpPr/>
            <p:nvPr/>
          </p:nvSpPr>
          <p:spPr>
            <a:xfrm>
              <a:off x="4362450" y="2324100"/>
              <a:ext cx="9525" cy="828675"/>
            </a:xfrm>
            <a:custGeom>
              <a:avLst/>
              <a:gdLst/>
              <a:ahLst/>
              <a:cxnLst/>
              <a:rect l="l" t="t" r="r" b="b"/>
              <a:pathLst>
                <a:path w="9525" h="828675">
                  <a:moveTo>
                    <a:pt x="0" y="0"/>
                  </a:moveTo>
                  <a:lnTo>
                    <a:pt x="0" y="828675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4686300" y="2324100"/>
              <a:ext cx="6572250" cy="78105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425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对「固定 Workflow」的正确定位是：确定性/合规；它是可观测、可治理、可演</a:t>
              </a:r>
            </a:p>
          </p:txBody>
        </p:sp>
      </p:grpSp>
      <p:grpSp>
        <p:nvGrpSpPr>
          <p:cNvPr id="28" name="EasySlides Component: evidence_02"/>
          <p:cNvGrpSpPr/>
          <p:nvPr/>
        </p:nvGrpSpPr>
        <p:grpSpPr>
          <a:xfrm>
            <a:off x="495300" y="3571875"/>
            <a:ext cx="11201400" cy="1285875"/>
            <a:chOff x="495300" y="3571875"/>
            <a:chExt cx="11201400" cy="1285875"/>
          </a:xfrm>
        </p:grpSpPr>
        <p:sp>
          <p:nvSpPr>
            <p:cNvPr id="22" name="Rectangle 22"/>
            <p:cNvSpPr/>
            <p:nvPr/>
          </p:nvSpPr>
          <p:spPr>
            <a:xfrm>
              <a:off x="495300" y="3571875"/>
              <a:ext cx="11201400" cy="1285875"/>
            </a:xfrm>
            <a:prstGeom prst="roundRect">
              <a:avLst>
                <a:gd name="adj" fmla="val 2963"/>
              </a:avLst>
            </a:prstGeom>
            <a:solidFill>
              <a:srgbClr val="FFFFFF"/>
            </a:solidFill>
            <a:ln w="11430">
              <a:solidFill>
                <a:srgbClr val="B8C7D6"/>
              </a:solidFill>
            </a:ln>
          </p:spPr>
        </p:sp>
        <p:sp>
          <p:nvSpPr>
            <p:cNvPr id="23" name="Rectangle 23"/>
            <p:cNvSpPr/>
            <p:nvPr/>
          </p:nvSpPr>
          <p:spPr>
            <a:xfrm>
              <a:off x="495300" y="3571875"/>
              <a:ext cx="76200" cy="1285875"/>
            </a:xfrm>
            <a:prstGeom prst="roundRect">
              <a:avLst>
                <a:gd name="adj" fmla="val 50000"/>
              </a:avLst>
            </a:prstGeom>
            <a:solidFill>
              <a:srgbClr val="06B6D4"/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733425" y="4019550"/>
              <a:ext cx="438150" cy="5238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650" b="1" dirty="0">
                  <a:solidFill>
                    <a:srgbClr val="06B6D4"/>
                  </a:solidFill>
                  <a:latin typeface="Arial"/>
                  <a:ea typeface="Microsoft YaHei"/>
                  <a:cs typeface="Arial"/>
                </a:rPr>
                <a:t>02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1447800" y="3800475"/>
              <a:ext cx="2667000" cy="78105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575" b="1" dirty="0">
                  <a:solidFill>
                    <a:srgbClr val="0E7490"/>
                  </a:solidFill>
                  <a:latin typeface="Arial"/>
                  <a:ea typeface="Microsoft YaHei"/>
                  <a:cs typeface="Arial"/>
                </a:rPr>
                <a:t>何时选</a:t>
              </a:r>
            </a:p>
          </p:txBody>
        </p:sp>
        <p:sp>
          <p:nvSpPr>
            <p:cNvPr id="26" name="Line 26"/>
            <p:cNvSpPr/>
            <p:nvPr/>
          </p:nvSpPr>
          <p:spPr>
            <a:xfrm>
              <a:off x="4362450" y="3800475"/>
              <a:ext cx="9525" cy="828675"/>
            </a:xfrm>
            <a:custGeom>
              <a:avLst/>
              <a:gdLst/>
              <a:ahLst/>
              <a:cxnLst/>
              <a:rect l="l" t="t" r="r" b="b"/>
              <a:pathLst>
                <a:path w="9525" h="828675">
                  <a:moveTo>
                    <a:pt x="0" y="0"/>
                  </a:moveTo>
                  <a:lnTo>
                    <a:pt x="0" y="828675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4686300" y="3800475"/>
              <a:ext cx="6572250" cy="78105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425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何时选维度：确定性/合规</a:t>
              </a:r>
            </a:p>
          </p:txBody>
        </p:sp>
      </p:grpSp>
      <p:grpSp>
        <p:nvGrpSpPr>
          <p:cNvPr id="35" name="EasySlides Component: evidence_03"/>
          <p:cNvGrpSpPr/>
          <p:nvPr/>
        </p:nvGrpSpPr>
        <p:grpSpPr>
          <a:xfrm>
            <a:off x="495300" y="4905375"/>
            <a:ext cx="11201400" cy="1285875"/>
            <a:chOff x="495300" y="4905375"/>
            <a:chExt cx="11201400" cy="1285875"/>
          </a:xfrm>
        </p:grpSpPr>
        <p:sp>
          <p:nvSpPr>
            <p:cNvPr id="29" name="Rectangle 29"/>
            <p:cNvSpPr/>
            <p:nvPr/>
          </p:nvSpPr>
          <p:spPr>
            <a:xfrm>
              <a:off x="495300" y="4905375"/>
              <a:ext cx="11201400" cy="1285875"/>
            </a:xfrm>
            <a:prstGeom prst="roundRect">
              <a:avLst>
                <a:gd name="adj" fmla="val 2963"/>
              </a:avLst>
            </a:prstGeom>
            <a:solidFill>
              <a:srgbClr val="FFFFFF"/>
            </a:solidFill>
            <a:ln w="11430">
              <a:solidFill>
                <a:srgbClr val="B8C7D6"/>
              </a:solidFill>
            </a:ln>
          </p:spPr>
        </p:sp>
        <p:sp>
          <p:nvSpPr>
            <p:cNvPr id="30" name="Rectangle 30"/>
            <p:cNvSpPr/>
            <p:nvPr/>
          </p:nvSpPr>
          <p:spPr>
            <a:xfrm>
              <a:off x="495300" y="4905375"/>
              <a:ext cx="76200" cy="1285875"/>
            </a:xfrm>
            <a:prstGeom prst="roundRect">
              <a:avLst>
                <a:gd name="adj" fmla="val 50000"/>
              </a:avLst>
            </a:prstGeom>
            <a:solidFill>
              <a:srgbClr val="06B6D4"/>
            </a:solidFill>
            <a:ln>
              <a:noFill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733425" y="5353050"/>
              <a:ext cx="438150" cy="5238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650" b="1" dirty="0">
                  <a:solidFill>
                    <a:srgbClr val="06B6D4"/>
                  </a:solidFill>
                  <a:latin typeface="Arial"/>
                  <a:ea typeface="Microsoft YaHei"/>
                  <a:cs typeface="Arial"/>
                </a:rPr>
                <a:t>03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1447800" y="5133975"/>
              <a:ext cx="2667000" cy="78105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575" b="1" dirty="0">
                  <a:solidFill>
                    <a:srgbClr val="0E7490"/>
                  </a:solidFill>
                  <a:latin typeface="Arial"/>
                  <a:ea typeface="Microsoft YaHei"/>
                  <a:cs typeface="Arial"/>
                </a:rPr>
                <a:t>要点</a:t>
              </a:r>
            </a:p>
          </p:txBody>
        </p:sp>
        <p:sp>
          <p:nvSpPr>
            <p:cNvPr id="33" name="Line 33"/>
            <p:cNvSpPr/>
            <p:nvPr/>
          </p:nvSpPr>
          <p:spPr>
            <a:xfrm>
              <a:off x="4362450" y="5133975"/>
              <a:ext cx="9525" cy="828675"/>
            </a:xfrm>
            <a:custGeom>
              <a:avLst/>
              <a:gdLst/>
              <a:ahLst/>
              <a:cxnLst/>
              <a:rect l="l" t="t" r="r" b="b"/>
              <a:pathLst>
                <a:path w="9525" h="828675">
                  <a:moveTo>
                    <a:pt x="0" y="0"/>
                  </a:moveTo>
                  <a:lnTo>
                    <a:pt x="0" y="828675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4686300" y="5133975"/>
              <a:ext cx="6572250" cy="78105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425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要点维度：确定性/合规</a:t>
              </a:r>
            </a:p>
          </p:txBody>
        </p:sp>
      </p:grpSp>
      <p:grpSp>
        <p:nvGrpSpPr>
          <p:cNvPr id="39" name="EasySlides Component: synthesis"/>
          <p:cNvGrpSpPr/>
          <p:nvPr/>
        </p:nvGrpSpPr>
        <p:grpSpPr>
          <a:xfrm>
            <a:off x="495300" y="1285875"/>
            <a:ext cx="11201400" cy="714375"/>
            <a:chOff x="495300" y="1285875"/>
            <a:chExt cx="11201400" cy="714375"/>
          </a:xfrm>
        </p:grpSpPr>
        <p:sp>
          <p:nvSpPr>
            <p:cNvPr id="36" name="Rectangle 36"/>
            <p:cNvSpPr/>
            <p:nvPr/>
          </p:nvSpPr>
          <p:spPr>
            <a:xfrm>
              <a:off x="495300" y="1285875"/>
              <a:ext cx="11201400" cy="714375"/>
            </a:xfrm>
            <a:prstGeom prst="roundRect">
              <a:avLst>
                <a:gd name="adj" fmla="val 5333"/>
              </a:avLst>
            </a:prstGeom>
            <a:solidFill>
              <a:srgbClr val="0E7490"/>
            </a:solidFill>
            <a:ln>
              <a:noFill/>
            </a:ln>
          </p:spPr>
        </p:sp>
        <p:sp>
          <p:nvSpPr>
            <p:cNvPr id="37" name="Rectangle 37"/>
            <p:cNvSpPr/>
            <p:nvPr/>
          </p:nvSpPr>
          <p:spPr>
            <a:xfrm>
              <a:off x="495300" y="1285875"/>
              <a:ext cx="76200" cy="714375"/>
            </a:xfrm>
            <a:prstGeom prst="roundRect">
              <a:avLst>
                <a:gd name="adj" fmla="val 50000"/>
              </a:avLst>
            </a:prstGeom>
            <a:solidFill>
              <a:srgbClr val="CC0000"/>
            </a:solidFill>
            <a:ln>
              <a:noFill/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876300" y="1419225"/>
              <a:ext cx="10439400" cy="4476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65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自主与流程的混合编排：Harness 负责探索，Workflow 负责收口。</a:t>
              </a:r>
            </a:p>
          </p:txBody>
        </p:sp>
      </p:grp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666750"/>
          </a:xfrm>
          <a:prstGeom prst="rect">
            <a:avLst/>
          </a:prstGeom>
          <a:solidFill>
            <a:srgbClr val="0E7490"/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0"/>
            <a:ext cx="57150" cy="666750"/>
          </a:xfrm>
          <a:prstGeom prst="rect">
            <a:avLst/>
          </a:prstGeom>
          <a:solidFill>
            <a:srgbClr val="CC0000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381000" y="123825"/>
            <a:ext cx="762000" cy="4000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1275" b="1" dirty="0">
                <a:solidFill>
                  <a:srgbClr val="9FD3FF"/>
                </a:solidFill>
                <a:latin typeface="Arial"/>
                <a:ea typeface="Microsoft YaHei"/>
                <a:cs typeface="Arial"/>
              </a:rPr>
              <a:t>18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257300" y="95250"/>
            <a:ext cx="8096250" cy="457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21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机制图解：固定 Workflow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0001250" y="76200"/>
            <a:ext cx="1619250" cy="5143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3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DataAgent</a:t>
            </a:r>
          </a:p>
        </p:txBody>
      </p:sp>
      <p:sp>
        <p:nvSpPr>
          <p:cNvPr id="8" name="Rectangle 8"/>
          <p:cNvSpPr/>
          <p:nvPr/>
        </p:nvSpPr>
        <p:spPr>
          <a:xfrm>
            <a:off x="0" y="666750"/>
            <a:ext cx="12192000" cy="476250"/>
          </a:xfrm>
          <a:prstGeom prst="rect">
            <a:avLst/>
          </a:prstGeom>
          <a:solidFill>
            <a:srgbClr val="E8F4FC"/>
          </a:solidFill>
          <a:ln>
            <a:noFill/>
          </a:ln>
        </p:spPr>
      </p:sp>
      <p:sp>
        <p:nvSpPr>
          <p:cNvPr id="9" name="Rectangle 9"/>
          <p:cNvSpPr/>
          <p:nvPr/>
        </p:nvSpPr>
        <p:spPr>
          <a:xfrm>
            <a:off x="0" y="666750"/>
            <a:ext cx="57150" cy="476250"/>
          </a:xfrm>
          <a:prstGeom prst="rect">
            <a:avLst/>
          </a:prstGeom>
          <a:solidFill>
            <a:srgbClr val="06B6D4"/>
          </a:solidFill>
          <a:ln>
            <a:noFill/>
          </a:ln>
        </p:spPr>
      </p:sp>
      <p:sp>
        <p:nvSpPr>
          <p:cNvPr id="10" name="TextBox 10"/>
          <p:cNvSpPr txBox="1"/>
          <p:nvPr/>
        </p:nvSpPr>
        <p:spPr>
          <a:xfrm>
            <a:off x="381000" y="714375"/>
            <a:ext cx="10001250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1350" dirty="0">
                <a:solidFill>
                  <a:srgbClr val="26384A"/>
                </a:solidFill>
                <a:latin typeface="Arial"/>
                <a:ea typeface="Microsoft YaHei"/>
                <a:cs typeface="Arial"/>
              </a:rPr>
              <a:t>一图看懂运行机制与数据流</a:t>
            </a:r>
          </a:p>
        </p:txBody>
      </p:sp>
      <p:sp>
        <p:nvSpPr>
          <p:cNvPr id="11" name="Line 11"/>
          <p:cNvSpPr/>
          <p:nvPr/>
        </p:nvSpPr>
        <p:spPr>
          <a:xfrm>
            <a:off x="381000" y="6334125"/>
            <a:ext cx="11430000" cy="9525"/>
          </a:xfrm>
          <a:custGeom>
            <a:avLst/>
            <a:gdLst/>
            <a:ahLst/>
            <a:cxnLst/>
            <a:rect l="l" t="t" r="r" b="b"/>
            <a:pathLst>
              <a:path w="11430000" h="9525">
                <a:moveTo>
                  <a:pt x="0" y="0"/>
                </a:moveTo>
                <a:lnTo>
                  <a:pt x="11430000" y="0"/>
                </a:lnTo>
              </a:path>
            </a:pathLst>
          </a:custGeom>
          <a:noFill/>
          <a:ln w="9525">
            <a:solidFill>
              <a:srgbClr val="E8F4FC"/>
            </a:solidFill>
          </a:ln>
        </p:spPr>
      </p:sp>
      <p:sp>
        <p:nvSpPr>
          <p:cNvPr id="12" name="TextBox 12"/>
          <p:cNvSpPr txBox="1"/>
          <p:nvPr/>
        </p:nvSpPr>
        <p:spPr>
          <a:xfrm>
            <a:off x="381000" y="6477000"/>
            <a:ext cx="4953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课程第15讲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4381500" y="6477000"/>
            <a:ext cx="3429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Agent Runtime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0763250" y="6457950"/>
            <a:ext cx="857250" cy="266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050" dirty="0">
                <a:solidFill>
                  <a:srgbClr val="52657A"/>
                </a:solidFill>
                <a:latin typeface="Arial"/>
                <a:ea typeface="Microsoft YaHei"/>
                <a:cs typeface="Arial"/>
              </a:rPr>
              <a:t>18</a:t>
            </a:r>
          </a:p>
        </p:txBody>
      </p:sp>
      <p:grpSp>
        <p:nvGrpSpPr>
          <p:cNvPr id="26" name="EasySlides Component: evidence"/>
          <p:cNvGrpSpPr/>
          <p:nvPr/>
        </p:nvGrpSpPr>
        <p:grpSpPr>
          <a:xfrm>
            <a:off x="7124700" y="1285875"/>
            <a:ext cx="4572000" cy="4905375"/>
            <a:chOff x="7124700" y="1285875"/>
            <a:chExt cx="4572000" cy="4905375"/>
          </a:xfrm>
        </p:grpSpPr>
        <p:sp>
          <p:nvSpPr>
            <p:cNvPr id="15" name="Rectangle 15"/>
            <p:cNvSpPr/>
            <p:nvPr/>
          </p:nvSpPr>
          <p:spPr>
            <a:xfrm>
              <a:off x="7124700" y="1285875"/>
              <a:ext cx="4572000" cy="4905375"/>
            </a:xfrm>
            <a:prstGeom prst="roundRect">
              <a:avLst>
                <a:gd name="adj" fmla="val 833"/>
              </a:avLst>
            </a:prstGeom>
            <a:solidFill>
              <a:srgbClr val="F0F9FC"/>
            </a:solidFill>
            <a:ln w="11430">
              <a:solidFill>
                <a:srgbClr val="B8C7D6"/>
              </a:solidFill>
            </a:ln>
          </p:spPr>
        </p:sp>
        <p:sp>
          <p:nvSpPr>
            <p:cNvPr id="16" name="Rectangle 16"/>
            <p:cNvSpPr/>
            <p:nvPr/>
          </p:nvSpPr>
          <p:spPr>
            <a:xfrm>
              <a:off x="7124700" y="1285875"/>
              <a:ext cx="76200" cy="4905375"/>
            </a:xfrm>
            <a:prstGeom prst="rect">
              <a:avLst/>
            </a:prstGeom>
            <a:solidFill>
              <a:srgbClr val="06B6D4"/>
            </a:solidFill>
            <a:ln>
              <a:noFill/>
            </a:ln>
          </p:spPr>
        </p:sp>
        <p:sp>
          <p:nvSpPr>
            <p:cNvPr id="17" name="Rectangle 17"/>
            <p:cNvSpPr/>
            <p:nvPr/>
          </p:nvSpPr>
          <p:spPr>
            <a:xfrm>
              <a:off x="7391400" y="1552575"/>
              <a:ext cx="4038600" cy="1257300"/>
            </a:xfrm>
            <a:prstGeom prst="roundRect">
              <a:avLst>
                <a:gd name="adj" fmla="val 1515"/>
              </a:avLst>
            </a:prstGeom>
            <a:solidFill>
              <a:srgbClr val="FFFFFF"/>
            </a:solidFill>
            <a:ln w="9525">
              <a:solidFill>
                <a:srgbClr val="D4E2EE"/>
              </a:solidFill>
            </a:ln>
          </p:spPr>
        </p:sp>
        <p:sp>
          <p:nvSpPr>
            <p:cNvPr id="18" name="Rectangle 18"/>
            <p:cNvSpPr/>
            <p:nvPr/>
          </p:nvSpPr>
          <p:spPr>
            <a:xfrm>
              <a:off x="7391400" y="3105150"/>
              <a:ext cx="4038600" cy="1257300"/>
            </a:xfrm>
            <a:prstGeom prst="roundRect">
              <a:avLst>
                <a:gd name="adj" fmla="val 1515"/>
              </a:avLst>
            </a:prstGeom>
            <a:solidFill>
              <a:srgbClr val="FFFFFF"/>
            </a:solidFill>
            <a:ln w="9525">
              <a:solidFill>
                <a:srgbClr val="D4E2EE"/>
              </a:solidFill>
            </a:ln>
          </p:spPr>
        </p:sp>
        <p:sp>
          <p:nvSpPr>
            <p:cNvPr id="19" name="Rectangle 19"/>
            <p:cNvSpPr/>
            <p:nvPr/>
          </p:nvSpPr>
          <p:spPr>
            <a:xfrm>
              <a:off x="7391400" y="4657725"/>
              <a:ext cx="4038600" cy="1257300"/>
            </a:xfrm>
            <a:prstGeom prst="roundRect">
              <a:avLst>
                <a:gd name="adj" fmla="val 1515"/>
              </a:avLst>
            </a:prstGeom>
            <a:solidFill>
              <a:srgbClr val="FFFFFF"/>
            </a:solidFill>
            <a:ln w="9525">
              <a:solidFill>
                <a:srgbClr val="D4E2EE"/>
              </a:solidFill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7605712" y="1745456"/>
              <a:ext cx="220156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06B6D4"/>
                  </a:solidFill>
                  <a:latin typeface="Arial"/>
                  <a:ea typeface="Microsoft YaHei"/>
                  <a:cs typeface="Arial"/>
                </a:rPr>
                <a:t>01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7605712" y="3298031"/>
              <a:ext cx="220156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06B6D4"/>
                  </a:solidFill>
                  <a:latin typeface="Arial"/>
                  <a:ea typeface="Microsoft YaHei"/>
                  <a:cs typeface="Arial"/>
                </a:rPr>
                <a:t>02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7605712" y="4850606"/>
              <a:ext cx="220156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CC0000"/>
                  </a:solidFill>
                  <a:latin typeface="Arial"/>
                  <a:ea typeface="Microsoft YaHei"/>
                  <a:cs typeface="Arial"/>
                </a:rPr>
                <a:t>03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7848600" y="1819275"/>
              <a:ext cx="3314700" cy="7239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425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从数据流看「固定 Workflow」：上游产出受控载荷，经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7848600" y="3371850"/>
              <a:ext cx="3314700" cy="7239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425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关键环节：契约→执行→验证→留痕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7848600" y="4924425"/>
              <a:ext cx="3314700" cy="7239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425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落点：仓库验证</a:t>
              </a:r>
            </a:p>
          </p:txBody>
        </p:sp>
      </p:grpSp>
      <p:grpSp>
        <p:nvGrpSpPr>
          <p:cNvPr id="32" name="EasySlides Component: figure"/>
          <p:cNvGrpSpPr/>
          <p:nvPr/>
        </p:nvGrpSpPr>
        <p:grpSpPr>
          <a:xfrm>
            <a:off x="495300" y="1285875"/>
            <a:ext cx="6400800" cy="4905375"/>
            <a:chOff x="495300" y="1285875"/>
            <a:chExt cx="6400800" cy="4905375"/>
          </a:xfrm>
        </p:grpSpPr>
        <p:sp>
          <p:nvSpPr>
            <p:cNvPr id="27" name="Rectangle 27"/>
            <p:cNvSpPr/>
            <p:nvPr/>
          </p:nvSpPr>
          <p:spPr>
            <a:xfrm>
              <a:off x="495300" y="1285875"/>
              <a:ext cx="6400800" cy="4905375"/>
            </a:xfrm>
            <a:prstGeom prst="roundRect">
              <a:avLst>
                <a:gd name="adj" fmla="val 777"/>
              </a:avLst>
            </a:prstGeom>
            <a:solidFill>
              <a:srgbClr val="FFFFFF"/>
            </a:solidFill>
            <a:ln w="11430">
              <a:solidFill>
                <a:srgbClr val="B8C7D6"/>
              </a:solidFill>
            </a:ln>
          </p:spPr>
        </p:sp>
        <p:sp>
          <p:nvSpPr>
            <p:cNvPr id="28" name="Rectangle 28"/>
            <p:cNvSpPr/>
            <p:nvPr/>
          </p:nvSpPr>
          <p:spPr>
            <a:xfrm>
              <a:off x="647700" y="1438275"/>
              <a:ext cx="6096000" cy="3905250"/>
            </a:xfrm>
            <a:prstGeom prst="roundRect">
              <a:avLst>
                <a:gd name="adj" fmla="val 488"/>
              </a:avLst>
            </a:prstGeom>
            <a:solidFill>
              <a:srgbClr val="F0F9FC"/>
            </a:solidFill>
            <a:ln w="9525">
              <a:solidFill>
                <a:srgbClr val="D4E2EE"/>
              </a:solidFill>
            </a:ln>
          </p:spPr>
        </p:sp>
        <p:pic>
          <p:nvPicPr>
            <p:cNvPr id="29" name="Image 29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647700" y="1605643"/>
              <a:ext cx="6096000" cy="3570514"/>
            </a:xfrm>
            <a:prstGeom prst="rect">
              <a:avLst/>
            </a:prstGeom>
          </p:spPr>
        </p:pic>
        <p:sp>
          <p:nvSpPr>
            <p:cNvPr id="30" name="Line 30"/>
            <p:cNvSpPr/>
            <p:nvPr/>
          </p:nvSpPr>
          <p:spPr>
            <a:xfrm>
              <a:off x="723900" y="5534025"/>
              <a:ext cx="5943600" cy="9525"/>
            </a:xfrm>
            <a:custGeom>
              <a:avLst/>
              <a:gdLst/>
              <a:ahLst/>
              <a:cxnLst/>
              <a:rect l="l" t="t" r="r" b="b"/>
              <a:pathLst>
                <a:path w="5943600" h="9525">
                  <a:moveTo>
                    <a:pt x="0" y="0"/>
                  </a:moveTo>
                  <a:lnTo>
                    <a:pt x="5943600" y="0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800100" y="5610225"/>
              <a:ext cx="5791200" cy="4572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350" dirty="0">
                  <a:solidFill>
                    <a:srgbClr val="52657A"/>
                  </a:solidFill>
                  <a:latin typeface="Arial"/>
                  <a:ea typeface="Microsoft YaHei"/>
                  <a:cs typeface="Arial"/>
                </a:rPr>
                <a:t>图：固定 Workflow 的机制与数据流（cycle 视角）</a:t>
              </a:r>
            </a:p>
          </p:txBody>
        </p:sp>
      </p:grp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666750"/>
          </a:xfrm>
          <a:prstGeom prst="rect">
            <a:avLst/>
          </a:prstGeom>
          <a:solidFill>
            <a:srgbClr val="0E7490"/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0"/>
            <a:ext cx="57150" cy="666750"/>
          </a:xfrm>
          <a:prstGeom prst="rect">
            <a:avLst/>
          </a:prstGeom>
          <a:solidFill>
            <a:srgbClr val="CC0000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381000" y="123825"/>
            <a:ext cx="762000" cy="4000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1275" b="1" dirty="0">
                <a:solidFill>
                  <a:srgbClr val="9FD3FF"/>
                </a:solidFill>
                <a:latin typeface="Arial"/>
                <a:ea typeface="Microsoft YaHei"/>
                <a:cs typeface="Arial"/>
              </a:rPr>
              <a:t>19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257300" y="95250"/>
            <a:ext cx="8096250" cy="457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21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深入原理：固定 Workflow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0001250" y="76200"/>
            <a:ext cx="1619250" cy="5143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3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DataAgent</a:t>
            </a:r>
          </a:p>
        </p:txBody>
      </p:sp>
      <p:sp>
        <p:nvSpPr>
          <p:cNvPr id="8" name="Rectangle 8"/>
          <p:cNvSpPr/>
          <p:nvPr/>
        </p:nvSpPr>
        <p:spPr>
          <a:xfrm>
            <a:off x="0" y="666750"/>
            <a:ext cx="12192000" cy="476250"/>
          </a:xfrm>
          <a:prstGeom prst="rect">
            <a:avLst/>
          </a:prstGeom>
          <a:solidFill>
            <a:srgbClr val="E8F4FC"/>
          </a:solidFill>
          <a:ln>
            <a:noFill/>
          </a:ln>
        </p:spPr>
      </p:sp>
      <p:sp>
        <p:nvSpPr>
          <p:cNvPr id="9" name="Rectangle 9"/>
          <p:cNvSpPr/>
          <p:nvPr/>
        </p:nvSpPr>
        <p:spPr>
          <a:xfrm>
            <a:off x="0" y="666750"/>
            <a:ext cx="57150" cy="476250"/>
          </a:xfrm>
          <a:prstGeom prst="rect">
            <a:avLst/>
          </a:prstGeom>
          <a:solidFill>
            <a:srgbClr val="06B6D4"/>
          </a:solidFill>
          <a:ln>
            <a:noFill/>
          </a:ln>
        </p:spPr>
      </p:sp>
      <p:sp>
        <p:nvSpPr>
          <p:cNvPr id="10" name="TextBox 10"/>
          <p:cNvSpPr txBox="1"/>
          <p:nvPr/>
        </p:nvSpPr>
        <p:spPr>
          <a:xfrm>
            <a:off x="381000" y="714375"/>
            <a:ext cx="10001250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1350" dirty="0">
                <a:solidFill>
                  <a:srgbClr val="26384A"/>
                </a:solidFill>
                <a:latin typeface="Arial"/>
                <a:ea typeface="Microsoft YaHei"/>
                <a:cs typeface="Arial"/>
              </a:rPr>
              <a:t>正确姿势 vs 常见误用</a:t>
            </a:r>
          </a:p>
        </p:txBody>
      </p:sp>
      <p:sp>
        <p:nvSpPr>
          <p:cNvPr id="11" name="Line 11"/>
          <p:cNvSpPr/>
          <p:nvPr/>
        </p:nvSpPr>
        <p:spPr>
          <a:xfrm>
            <a:off x="381000" y="6334125"/>
            <a:ext cx="11430000" cy="9525"/>
          </a:xfrm>
          <a:custGeom>
            <a:avLst/>
            <a:gdLst/>
            <a:ahLst/>
            <a:cxnLst/>
            <a:rect l="l" t="t" r="r" b="b"/>
            <a:pathLst>
              <a:path w="11430000" h="9525">
                <a:moveTo>
                  <a:pt x="0" y="0"/>
                </a:moveTo>
                <a:lnTo>
                  <a:pt x="11430000" y="0"/>
                </a:lnTo>
              </a:path>
            </a:pathLst>
          </a:custGeom>
          <a:noFill/>
          <a:ln w="9525">
            <a:solidFill>
              <a:srgbClr val="E8F4FC"/>
            </a:solidFill>
          </a:ln>
        </p:spPr>
      </p:sp>
      <p:sp>
        <p:nvSpPr>
          <p:cNvPr id="12" name="TextBox 12"/>
          <p:cNvSpPr txBox="1"/>
          <p:nvPr/>
        </p:nvSpPr>
        <p:spPr>
          <a:xfrm>
            <a:off x="381000" y="6477000"/>
            <a:ext cx="4953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课程第15讲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4381500" y="6477000"/>
            <a:ext cx="3429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Agent Runtime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0763250" y="6457950"/>
            <a:ext cx="857250" cy="266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050" dirty="0">
                <a:solidFill>
                  <a:srgbClr val="52657A"/>
                </a:solidFill>
                <a:latin typeface="Arial"/>
                <a:ea typeface="Microsoft YaHei"/>
                <a:cs typeface="Arial"/>
              </a:rPr>
              <a:t>19</a:t>
            </a:r>
          </a:p>
        </p:txBody>
      </p:sp>
      <p:grpSp>
        <p:nvGrpSpPr>
          <p:cNvPr id="22" name="EasySlides Component: left"/>
          <p:cNvGrpSpPr/>
          <p:nvPr/>
        </p:nvGrpSpPr>
        <p:grpSpPr>
          <a:xfrm>
            <a:off x="495300" y="1285875"/>
            <a:ext cx="5410200" cy="4000500"/>
            <a:chOff x="495300" y="1285875"/>
            <a:chExt cx="5410200" cy="4000500"/>
          </a:xfrm>
        </p:grpSpPr>
        <p:sp>
          <p:nvSpPr>
            <p:cNvPr id="15" name="Rectangle 15"/>
            <p:cNvSpPr/>
            <p:nvPr/>
          </p:nvSpPr>
          <p:spPr>
            <a:xfrm>
              <a:off x="495300" y="1285875"/>
              <a:ext cx="5410200" cy="4000500"/>
            </a:xfrm>
            <a:prstGeom prst="roundRect">
              <a:avLst>
                <a:gd name="adj" fmla="val 952"/>
              </a:avLst>
            </a:prstGeom>
            <a:solidFill>
              <a:srgbClr val="FFFFFF"/>
            </a:solidFill>
            <a:ln w="11430">
              <a:solidFill>
                <a:srgbClr val="B8C7D6"/>
              </a:solidFill>
            </a:ln>
          </p:spPr>
        </p:sp>
        <p:sp>
          <p:nvSpPr>
            <p:cNvPr id="16" name="Rectangle 16"/>
            <p:cNvSpPr/>
            <p:nvPr/>
          </p:nvSpPr>
          <p:spPr>
            <a:xfrm>
              <a:off x="495300" y="1285875"/>
              <a:ext cx="5410200" cy="609600"/>
            </a:xfrm>
            <a:prstGeom prst="roundRect">
              <a:avLst>
                <a:gd name="adj" fmla="val 6250"/>
              </a:avLst>
            </a:prstGeom>
            <a:solidFill>
              <a:srgbClr val="E8F4FC"/>
            </a:solidFill>
            <a:ln>
              <a:noFill/>
            </a:ln>
          </p:spPr>
        </p:sp>
        <p:sp>
          <p:nvSpPr>
            <p:cNvPr id="17" name="Rectangle 17"/>
            <p:cNvSpPr/>
            <p:nvPr/>
          </p:nvSpPr>
          <p:spPr>
            <a:xfrm>
              <a:off x="495300" y="1285875"/>
              <a:ext cx="57150" cy="609600"/>
            </a:xfrm>
            <a:prstGeom prst="rect">
              <a:avLst/>
            </a:prstGeom>
            <a:solidFill>
              <a:srgbClr val="06B6D4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800100" y="1419225"/>
              <a:ext cx="4800600" cy="3429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725" b="1" dirty="0">
                  <a:solidFill>
                    <a:srgbClr val="0E7490"/>
                  </a:solidFill>
                  <a:latin typeface="Arial"/>
                  <a:ea typeface="Microsoft YaHei"/>
                  <a:cs typeface="Arial"/>
                </a:rPr>
                <a:t>正确姿势</a:t>
              </a:r>
            </a:p>
          </p:txBody>
        </p:sp>
        <p:sp>
          <p:nvSpPr>
            <p:cNvPr id="19" name="Line 19"/>
            <p:cNvSpPr/>
            <p:nvPr/>
          </p:nvSpPr>
          <p:spPr>
            <a:xfrm>
              <a:off x="800100" y="2276475"/>
              <a:ext cx="4800600" cy="9525"/>
            </a:xfrm>
            <a:custGeom>
              <a:avLst/>
              <a:gdLst/>
              <a:ahLst/>
              <a:cxnLst/>
              <a:rect l="l" t="t" r="r" b="b"/>
              <a:pathLst>
                <a:path w="4800600" h="9525">
                  <a:moveTo>
                    <a:pt x="0" y="0"/>
                  </a:moveTo>
                  <a:lnTo>
                    <a:pt x="4800600" y="0"/>
                  </a:lnTo>
                </a:path>
              </a:pathLst>
            </a:custGeom>
            <a:noFill/>
            <a:ln w="19050">
              <a:solidFill>
                <a:srgbClr val="D4E2EE"/>
              </a:solidFill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1028700" y="2505075"/>
              <a:ext cx="4343400" cy="20955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650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正确姿势：把「固定 Workflow」的决策依据落成证据（Trace/Eval），而不是</a:t>
              </a:r>
            </a:p>
            <a:p>
              <a:pPr algn="l"/>
              <a:r>
                <a:rPr lang="zh-CN" sz="1650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契约先行，证据留痕</a:t>
              </a:r>
            </a:p>
          </p:txBody>
        </p:sp>
        <p:sp>
          <p:nvSpPr>
            <p:cNvPr id="21" name="Line 21"/>
            <p:cNvSpPr/>
            <p:nvPr/>
          </p:nvSpPr>
          <p:spPr>
            <a:xfrm>
              <a:off x="800100" y="4905375"/>
              <a:ext cx="4800600" cy="9525"/>
            </a:xfrm>
            <a:custGeom>
              <a:avLst/>
              <a:gdLst/>
              <a:ahLst/>
              <a:cxnLst/>
              <a:rect l="l" t="t" r="r" b="b"/>
              <a:pathLst>
                <a:path w="4800600" h="9525">
                  <a:moveTo>
                    <a:pt x="0" y="0"/>
                  </a:moveTo>
                  <a:lnTo>
                    <a:pt x="4800600" y="0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</p:grpSp>
      <p:grpSp>
        <p:nvGrpSpPr>
          <p:cNvPr id="30" name="EasySlides Component: right"/>
          <p:cNvGrpSpPr/>
          <p:nvPr/>
        </p:nvGrpSpPr>
        <p:grpSpPr>
          <a:xfrm>
            <a:off x="6286500" y="1285875"/>
            <a:ext cx="5410200" cy="4000500"/>
            <a:chOff x="6286500" y="1285875"/>
            <a:chExt cx="5410200" cy="4000500"/>
          </a:xfrm>
        </p:grpSpPr>
        <p:sp>
          <p:nvSpPr>
            <p:cNvPr id="23" name="Rectangle 23"/>
            <p:cNvSpPr/>
            <p:nvPr/>
          </p:nvSpPr>
          <p:spPr>
            <a:xfrm>
              <a:off x="6286500" y="1285875"/>
              <a:ext cx="5410200" cy="4000500"/>
            </a:xfrm>
            <a:prstGeom prst="roundRect">
              <a:avLst>
                <a:gd name="adj" fmla="val 952"/>
              </a:avLst>
            </a:prstGeom>
            <a:solidFill>
              <a:srgbClr val="FFFFFF"/>
            </a:solidFill>
            <a:ln w="11430">
              <a:solidFill>
                <a:srgbClr val="B8C7D6"/>
              </a:solidFill>
            </a:ln>
          </p:spPr>
        </p:sp>
        <p:sp>
          <p:nvSpPr>
            <p:cNvPr id="24" name="Rectangle 24"/>
            <p:cNvSpPr/>
            <p:nvPr/>
          </p:nvSpPr>
          <p:spPr>
            <a:xfrm>
              <a:off x="6286500" y="1285875"/>
              <a:ext cx="5410200" cy="609600"/>
            </a:xfrm>
            <a:prstGeom prst="roundRect">
              <a:avLst>
                <a:gd name="adj" fmla="val 6250"/>
              </a:avLst>
            </a:prstGeom>
            <a:solidFill>
              <a:srgbClr val="E8F4FC"/>
            </a:solidFill>
            <a:ln>
              <a:noFill/>
            </a:ln>
          </p:spPr>
        </p:sp>
        <p:sp>
          <p:nvSpPr>
            <p:cNvPr id="25" name="Rectangle 25"/>
            <p:cNvSpPr/>
            <p:nvPr/>
          </p:nvSpPr>
          <p:spPr>
            <a:xfrm>
              <a:off x="6286500" y="1285875"/>
              <a:ext cx="57150" cy="609600"/>
            </a:xfrm>
            <a:prstGeom prst="rect">
              <a:avLst/>
            </a:prstGeom>
            <a:solidFill>
              <a:srgbClr val="06B6D4"/>
            </a:solidFill>
            <a:ln>
              <a:noFill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6591300" y="1419225"/>
              <a:ext cx="4800600" cy="3429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725" b="1" dirty="0">
                  <a:solidFill>
                    <a:srgbClr val="0E7490"/>
                  </a:solidFill>
                  <a:latin typeface="Arial"/>
                  <a:ea typeface="Microsoft YaHei"/>
                  <a:cs typeface="Arial"/>
                </a:rPr>
                <a:t>常见误用</a:t>
              </a:r>
            </a:p>
          </p:txBody>
        </p:sp>
        <p:sp>
          <p:nvSpPr>
            <p:cNvPr id="27" name="Line 27"/>
            <p:cNvSpPr/>
            <p:nvPr/>
          </p:nvSpPr>
          <p:spPr>
            <a:xfrm>
              <a:off x="6591300" y="2276475"/>
              <a:ext cx="4800600" cy="9525"/>
            </a:xfrm>
            <a:custGeom>
              <a:avLst/>
              <a:gdLst/>
              <a:ahLst/>
              <a:cxnLst/>
              <a:rect l="l" t="t" r="r" b="b"/>
              <a:pathLst>
                <a:path w="4800600" h="9525">
                  <a:moveTo>
                    <a:pt x="0" y="0"/>
                  </a:moveTo>
                  <a:lnTo>
                    <a:pt x="4800600" y="0"/>
                  </a:lnTo>
                </a:path>
              </a:pathLst>
            </a:custGeom>
            <a:noFill/>
            <a:ln w="19050">
              <a:solidFill>
                <a:srgbClr val="D4E2EE"/>
              </a:solidFill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6819900" y="2505075"/>
              <a:ext cx="4343400" cy="20955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650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常见误用：用相关性绕过「固定 Workflow」的硬性过滤，短期省事，长期必然越权或漂移</a:t>
              </a:r>
            </a:p>
            <a:p>
              <a:pPr algn="l"/>
              <a:r>
                <a:rPr lang="zh-CN" sz="1650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无版本/无度量/无回滚</a:t>
              </a:r>
            </a:p>
          </p:txBody>
        </p:sp>
        <p:sp>
          <p:nvSpPr>
            <p:cNvPr id="29" name="Line 29"/>
            <p:cNvSpPr/>
            <p:nvPr/>
          </p:nvSpPr>
          <p:spPr>
            <a:xfrm>
              <a:off x="6591300" y="4905375"/>
              <a:ext cx="4800600" cy="9525"/>
            </a:xfrm>
            <a:custGeom>
              <a:avLst/>
              <a:gdLst/>
              <a:ahLst/>
              <a:cxnLst/>
              <a:rect l="l" t="t" r="r" b="b"/>
              <a:pathLst>
                <a:path w="4800600" h="9525">
                  <a:moveTo>
                    <a:pt x="0" y="0"/>
                  </a:moveTo>
                  <a:lnTo>
                    <a:pt x="4800600" y="0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</p:grpSp>
      <p:grpSp>
        <p:nvGrpSpPr>
          <p:cNvPr id="34" name="EasySlides Component: synthesis"/>
          <p:cNvGrpSpPr/>
          <p:nvPr/>
        </p:nvGrpSpPr>
        <p:grpSpPr>
          <a:xfrm>
            <a:off x="495300" y="5476875"/>
            <a:ext cx="11201400" cy="714375"/>
            <a:chOff x="495300" y="5476875"/>
            <a:chExt cx="11201400" cy="714375"/>
          </a:xfrm>
        </p:grpSpPr>
        <p:sp>
          <p:nvSpPr>
            <p:cNvPr id="31" name="Rectangle 31"/>
            <p:cNvSpPr/>
            <p:nvPr/>
          </p:nvSpPr>
          <p:spPr>
            <a:xfrm>
              <a:off x="495300" y="5476875"/>
              <a:ext cx="11201400" cy="714375"/>
            </a:xfrm>
            <a:prstGeom prst="roundRect">
              <a:avLst>
                <a:gd name="adj" fmla="val 5333"/>
              </a:avLst>
            </a:prstGeom>
            <a:solidFill>
              <a:srgbClr val="0E7490"/>
            </a:solidFill>
            <a:ln>
              <a:noFill/>
            </a:ln>
          </p:spPr>
        </p:sp>
        <p:sp>
          <p:nvSpPr>
            <p:cNvPr id="32" name="Rectangle 32"/>
            <p:cNvSpPr/>
            <p:nvPr/>
          </p:nvSpPr>
          <p:spPr>
            <a:xfrm>
              <a:off x="495300" y="5476875"/>
              <a:ext cx="76200" cy="714375"/>
            </a:xfrm>
            <a:prstGeom prst="roundRect">
              <a:avLst>
                <a:gd name="adj" fmla="val 50000"/>
              </a:avLst>
            </a:prstGeom>
            <a:solidFill>
              <a:srgbClr val="CC0000"/>
            </a:solidFill>
            <a:ln>
              <a:noFill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876300" y="5610225"/>
              <a:ext cx="10439400" cy="4476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65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治理视角：控制权矩阵与自主性预算划定行动边界。</a:t>
              </a:r>
            </a:p>
          </p:txBody>
        </p:sp>
      </p:grp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666750"/>
          </a:xfrm>
          <a:prstGeom prst="rect">
            <a:avLst/>
          </a:prstGeom>
          <a:solidFill>
            <a:srgbClr val="0E7490"/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0"/>
            <a:ext cx="57150" cy="666750"/>
          </a:xfrm>
          <a:prstGeom prst="rect">
            <a:avLst/>
          </a:prstGeom>
          <a:solidFill>
            <a:srgbClr val="CC0000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381000" y="123825"/>
            <a:ext cx="762000" cy="4000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1275" b="1" dirty="0">
                <a:solidFill>
                  <a:srgbClr val="9FD3FF"/>
                </a:solidFill>
                <a:latin typeface="Arial"/>
                <a:ea typeface="Microsoft YaHei"/>
                <a:cs typeface="Arial"/>
              </a:rPr>
              <a:t>20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257300" y="95250"/>
            <a:ext cx="8096250" cy="457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21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代码契约：固定 Workflow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0001250" y="76200"/>
            <a:ext cx="1619250" cy="5143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3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DataAgent</a:t>
            </a:r>
          </a:p>
        </p:txBody>
      </p:sp>
      <p:sp>
        <p:nvSpPr>
          <p:cNvPr id="8" name="Rectangle 8"/>
          <p:cNvSpPr/>
          <p:nvPr/>
        </p:nvSpPr>
        <p:spPr>
          <a:xfrm>
            <a:off x="0" y="666750"/>
            <a:ext cx="12192000" cy="476250"/>
          </a:xfrm>
          <a:prstGeom prst="rect">
            <a:avLst/>
          </a:prstGeom>
          <a:solidFill>
            <a:srgbClr val="E8F4FC"/>
          </a:solidFill>
          <a:ln>
            <a:noFill/>
          </a:ln>
        </p:spPr>
      </p:sp>
      <p:sp>
        <p:nvSpPr>
          <p:cNvPr id="9" name="Rectangle 9"/>
          <p:cNvSpPr/>
          <p:nvPr/>
        </p:nvSpPr>
        <p:spPr>
          <a:xfrm>
            <a:off x="0" y="666750"/>
            <a:ext cx="57150" cy="476250"/>
          </a:xfrm>
          <a:prstGeom prst="rect">
            <a:avLst/>
          </a:prstGeom>
          <a:solidFill>
            <a:srgbClr val="06B6D4"/>
          </a:solidFill>
          <a:ln>
            <a:noFill/>
          </a:ln>
        </p:spPr>
      </p:sp>
      <p:sp>
        <p:nvSpPr>
          <p:cNvPr id="10" name="TextBox 10"/>
          <p:cNvSpPr txBox="1"/>
          <p:nvPr/>
        </p:nvSpPr>
        <p:spPr>
          <a:xfrm>
            <a:off x="381000" y="714375"/>
            <a:ext cx="10001250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1350" dirty="0">
                <a:solidFill>
                  <a:srgbClr val="26384A"/>
                </a:solidFill>
                <a:latin typeface="Arial"/>
                <a:ea typeface="Microsoft YaHei"/>
                <a:cs typeface="Arial"/>
              </a:rPr>
              <a:t>仓库真实代码 · 契约切面</a:t>
            </a:r>
          </a:p>
        </p:txBody>
      </p:sp>
      <p:sp>
        <p:nvSpPr>
          <p:cNvPr id="11" name="Line 11"/>
          <p:cNvSpPr/>
          <p:nvPr/>
        </p:nvSpPr>
        <p:spPr>
          <a:xfrm>
            <a:off x="381000" y="6334125"/>
            <a:ext cx="11430000" cy="9525"/>
          </a:xfrm>
          <a:custGeom>
            <a:avLst/>
            <a:gdLst/>
            <a:ahLst/>
            <a:cxnLst/>
            <a:rect l="l" t="t" r="r" b="b"/>
            <a:pathLst>
              <a:path w="11430000" h="9525">
                <a:moveTo>
                  <a:pt x="0" y="0"/>
                </a:moveTo>
                <a:lnTo>
                  <a:pt x="11430000" y="0"/>
                </a:lnTo>
              </a:path>
            </a:pathLst>
          </a:custGeom>
          <a:noFill/>
          <a:ln w="9525">
            <a:solidFill>
              <a:srgbClr val="E8F4FC"/>
            </a:solidFill>
          </a:ln>
        </p:spPr>
      </p:sp>
      <p:sp>
        <p:nvSpPr>
          <p:cNvPr id="12" name="TextBox 12"/>
          <p:cNvSpPr txBox="1"/>
          <p:nvPr/>
        </p:nvSpPr>
        <p:spPr>
          <a:xfrm>
            <a:off x="381000" y="6477000"/>
            <a:ext cx="4953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课程第15讲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4381500" y="6477000"/>
            <a:ext cx="3429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Agent Runtime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0763250" y="6457950"/>
            <a:ext cx="857250" cy="266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050" dirty="0">
                <a:solidFill>
                  <a:srgbClr val="52657A"/>
                </a:solidFill>
                <a:latin typeface="Arial"/>
                <a:ea typeface="Microsoft YaHei"/>
                <a:cs typeface="Arial"/>
              </a:rPr>
              <a:t>20</a:t>
            </a:r>
          </a:p>
        </p:txBody>
      </p:sp>
      <p:grpSp>
        <p:nvGrpSpPr>
          <p:cNvPr id="26" name="EasySlides Component: evidence"/>
          <p:cNvGrpSpPr/>
          <p:nvPr/>
        </p:nvGrpSpPr>
        <p:grpSpPr>
          <a:xfrm>
            <a:off x="7124700" y="1285875"/>
            <a:ext cx="4572000" cy="4905375"/>
            <a:chOff x="7124700" y="1285875"/>
            <a:chExt cx="4572000" cy="4905375"/>
          </a:xfrm>
        </p:grpSpPr>
        <p:sp>
          <p:nvSpPr>
            <p:cNvPr id="15" name="Rectangle 15"/>
            <p:cNvSpPr/>
            <p:nvPr/>
          </p:nvSpPr>
          <p:spPr>
            <a:xfrm>
              <a:off x="7124700" y="1285875"/>
              <a:ext cx="4572000" cy="4905375"/>
            </a:xfrm>
            <a:prstGeom prst="roundRect">
              <a:avLst>
                <a:gd name="adj" fmla="val 833"/>
              </a:avLst>
            </a:prstGeom>
            <a:solidFill>
              <a:srgbClr val="F0F9FC"/>
            </a:solidFill>
            <a:ln w="11430">
              <a:solidFill>
                <a:srgbClr val="B8C7D6"/>
              </a:solidFill>
            </a:ln>
          </p:spPr>
        </p:sp>
        <p:sp>
          <p:nvSpPr>
            <p:cNvPr id="16" name="Rectangle 16"/>
            <p:cNvSpPr/>
            <p:nvPr/>
          </p:nvSpPr>
          <p:spPr>
            <a:xfrm>
              <a:off x="7124700" y="1285875"/>
              <a:ext cx="76200" cy="4905375"/>
            </a:xfrm>
            <a:prstGeom prst="rect">
              <a:avLst/>
            </a:prstGeom>
            <a:solidFill>
              <a:srgbClr val="06B6D4"/>
            </a:solidFill>
            <a:ln>
              <a:noFill/>
            </a:ln>
          </p:spPr>
        </p:sp>
        <p:sp>
          <p:nvSpPr>
            <p:cNvPr id="17" name="Rectangle 17"/>
            <p:cNvSpPr/>
            <p:nvPr/>
          </p:nvSpPr>
          <p:spPr>
            <a:xfrm>
              <a:off x="7391400" y="1552575"/>
              <a:ext cx="4038600" cy="1257300"/>
            </a:xfrm>
            <a:prstGeom prst="roundRect">
              <a:avLst>
                <a:gd name="adj" fmla="val 1515"/>
              </a:avLst>
            </a:prstGeom>
            <a:solidFill>
              <a:srgbClr val="FFFFFF"/>
            </a:solidFill>
            <a:ln w="9525">
              <a:solidFill>
                <a:srgbClr val="D4E2EE"/>
              </a:solidFill>
            </a:ln>
          </p:spPr>
        </p:sp>
        <p:sp>
          <p:nvSpPr>
            <p:cNvPr id="18" name="Rectangle 18"/>
            <p:cNvSpPr/>
            <p:nvPr/>
          </p:nvSpPr>
          <p:spPr>
            <a:xfrm>
              <a:off x="7391400" y="3105150"/>
              <a:ext cx="4038600" cy="1257300"/>
            </a:xfrm>
            <a:prstGeom prst="roundRect">
              <a:avLst>
                <a:gd name="adj" fmla="val 1515"/>
              </a:avLst>
            </a:prstGeom>
            <a:solidFill>
              <a:srgbClr val="FFFFFF"/>
            </a:solidFill>
            <a:ln w="9525">
              <a:solidFill>
                <a:srgbClr val="D4E2EE"/>
              </a:solidFill>
            </a:ln>
          </p:spPr>
        </p:sp>
        <p:sp>
          <p:nvSpPr>
            <p:cNvPr id="19" name="Rectangle 19"/>
            <p:cNvSpPr/>
            <p:nvPr/>
          </p:nvSpPr>
          <p:spPr>
            <a:xfrm>
              <a:off x="7391400" y="4657725"/>
              <a:ext cx="4038600" cy="1257300"/>
            </a:xfrm>
            <a:prstGeom prst="roundRect">
              <a:avLst>
                <a:gd name="adj" fmla="val 1515"/>
              </a:avLst>
            </a:prstGeom>
            <a:solidFill>
              <a:srgbClr val="FFFFFF"/>
            </a:solidFill>
            <a:ln w="9525">
              <a:solidFill>
                <a:srgbClr val="D4E2EE"/>
              </a:solidFill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7605712" y="1745456"/>
              <a:ext cx="220156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06B6D4"/>
                  </a:solidFill>
                  <a:latin typeface="Arial"/>
                  <a:ea typeface="Microsoft YaHei"/>
                  <a:cs typeface="Arial"/>
                </a:rPr>
                <a:t>01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7605712" y="3298031"/>
              <a:ext cx="220156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06B6D4"/>
                  </a:solidFill>
                  <a:latin typeface="Arial"/>
                  <a:ea typeface="Microsoft YaHei"/>
                  <a:cs typeface="Arial"/>
                </a:rPr>
                <a:t>02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7605712" y="4850606"/>
              <a:ext cx="220156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CC0000"/>
                  </a:solidFill>
                  <a:latin typeface="Arial"/>
                  <a:ea typeface="Microsoft YaHei"/>
                  <a:cs typeface="Arial"/>
                </a:rPr>
                <a:t>03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7848600" y="1819275"/>
              <a:ext cx="3314700" cy="7239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425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文件：workflow.py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7848600" y="3371850"/>
              <a:ext cx="3314700" cy="7239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425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切面：契约——先读接口再读实现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7848600" y="4924425"/>
              <a:ext cx="3314700" cy="7239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425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测试见 tests/ 目录</a:t>
              </a:r>
            </a:p>
          </p:txBody>
        </p:sp>
      </p:grpSp>
      <p:grpSp>
        <p:nvGrpSpPr>
          <p:cNvPr id="32" name="EasySlides Component: figure"/>
          <p:cNvGrpSpPr/>
          <p:nvPr/>
        </p:nvGrpSpPr>
        <p:grpSpPr>
          <a:xfrm>
            <a:off x="495300" y="1285875"/>
            <a:ext cx="6400800" cy="4905375"/>
            <a:chOff x="495300" y="1285875"/>
            <a:chExt cx="6400800" cy="4905375"/>
          </a:xfrm>
        </p:grpSpPr>
        <p:sp>
          <p:nvSpPr>
            <p:cNvPr id="27" name="Rectangle 27"/>
            <p:cNvSpPr/>
            <p:nvPr/>
          </p:nvSpPr>
          <p:spPr>
            <a:xfrm>
              <a:off x="495300" y="1285875"/>
              <a:ext cx="6400800" cy="4905375"/>
            </a:xfrm>
            <a:prstGeom prst="roundRect">
              <a:avLst>
                <a:gd name="adj" fmla="val 777"/>
              </a:avLst>
            </a:prstGeom>
            <a:solidFill>
              <a:srgbClr val="FFFFFF"/>
            </a:solidFill>
            <a:ln w="11430">
              <a:solidFill>
                <a:srgbClr val="B8C7D6"/>
              </a:solidFill>
            </a:ln>
          </p:spPr>
        </p:sp>
        <p:sp>
          <p:nvSpPr>
            <p:cNvPr id="28" name="Rectangle 28"/>
            <p:cNvSpPr/>
            <p:nvPr/>
          </p:nvSpPr>
          <p:spPr>
            <a:xfrm>
              <a:off x="647700" y="1438275"/>
              <a:ext cx="6096000" cy="3905250"/>
            </a:xfrm>
            <a:prstGeom prst="roundRect">
              <a:avLst>
                <a:gd name="adj" fmla="val 488"/>
              </a:avLst>
            </a:prstGeom>
            <a:solidFill>
              <a:srgbClr val="F0F9FC"/>
            </a:solidFill>
            <a:ln w="9525">
              <a:solidFill>
                <a:srgbClr val="D4E2EE"/>
              </a:solidFill>
            </a:ln>
          </p:spPr>
        </p:sp>
        <p:pic>
          <p:nvPicPr>
            <p:cNvPr id="29" name="Image 29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647700" y="1605643"/>
              <a:ext cx="6096000" cy="3570514"/>
            </a:xfrm>
            <a:prstGeom prst="rect">
              <a:avLst/>
            </a:prstGeom>
          </p:spPr>
        </p:pic>
        <p:sp>
          <p:nvSpPr>
            <p:cNvPr id="30" name="Line 30"/>
            <p:cNvSpPr/>
            <p:nvPr/>
          </p:nvSpPr>
          <p:spPr>
            <a:xfrm>
              <a:off x="723900" y="5534025"/>
              <a:ext cx="5943600" cy="9525"/>
            </a:xfrm>
            <a:custGeom>
              <a:avLst/>
              <a:gdLst/>
              <a:ahLst/>
              <a:cxnLst/>
              <a:rect l="l" t="t" r="r" b="b"/>
              <a:pathLst>
                <a:path w="5943600" h="9525">
                  <a:moveTo>
                    <a:pt x="0" y="0"/>
                  </a:moveTo>
                  <a:lnTo>
                    <a:pt x="5943600" y="0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800100" y="5610225"/>
              <a:ext cx="5791200" cy="4572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350" dirty="0">
                  <a:solidFill>
                    <a:srgbClr val="52657A"/>
                  </a:solidFill>
                  <a:latin typeface="Arial"/>
                  <a:ea typeface="Microsoft YaHei"/>
                  <a:cs typeface="Arial"/>
                </a:rPr>
                <a:t>代码：workflow.py · 契约（概念2 固定 Workflow）</a:t>
              </a:r>
            </a:p>
          </p:txBody>
        </p:sp>
      </p:grp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666750"/>
          </a:xfrm>
          <a:prstGeom prst="rect">
            <a:avLst/>
          </a:prstGeom>
          <a:solidFill>
            <a:srgbClr val="0E7490"/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0"/>
            <a:ext cx="57150" cy="666750"/>
          </a:xfrm>
          <a:prstGeom prst="rect">
            <a:avLst/>
          </a:prstGeom>
          <a:solidFill>
            <a:srgbClr val="CC0000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381000" y="123825"/>
            <a:ext cx="762000" cy="4000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1275" b="1" dirty="0">
                <a:solidFill>
                  <a:srgbClr val="9FD3FF"/>
                </a:solidFill>
                <a:latin typeface="Arial"/>
                <a:ea typeface="Microsoft YaHei"/>
                <a:cs typeface="Arial"/>
              </a:rPr>
              <a:t>21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257300" y="95250"/>
            <a:ext cx="8096250" cy="457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21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代码实现：固定 Workflow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0001250" y="76200"/>
            <a:ext cx="1619250" cy="5143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3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DataAgent</a:t>
            </a:r>
          </a:p>
        </p:txBody>
      </p:sp>
      <p:sp>
        <p:nvSpPr>
          <p:cNvPr id="8" name="Rectangle 8"/>
          <p:cNvSpPr/>
          <p:nvPr/>
        </p:nvSpPr>
        <p:spPr>
          <a:xfrm>
            <a:off x="0" y="666750"/>
            <a:ext cx="12192000" cy="476250"/>
          </a:xfrm>
          <a:prstGeom prst="rect">
            <a:avLst/>
          </a:prstGeom>
          <a:solidFill>
            <a:srgbClr val="E8F4FC"/>
          </a:solidFill>
          <a:ln>
            <a:noFill/>
          </a:ln>
        </p:spPr>
      </p:sp>
      <p:sp>
        <p:nvSpPr>
          <p:cNvPr id="9" name="Rectangle 9"/>
          <p:cNvSpPr/>
          <p:nvPr/>
        </p:nvSpPr>
        <p:spPr>
          <a:xfrm>
            <a:off x="0" y="666750"/>
            <a:ext cx="57150" cy="476250"/>
          </a:xfrm>
          <a:prstGeom prst="rect">
            <a:avLst/>
          </a:prstGeom>
          <a:solidFill>
            <a:srgbClr val="06B6D4"/>
          </a:solidFill>
          <a:ln>
            <a:noFill/>
          </a:ln>
        </p:spPr>
      </p:sp>
      <p:sp>
        <p:nvSpPr>
          <p:cNvPr id="10" name="TextBox 10"/>
          <p:cNvSpPr txBox="1"/>
          <p:nvPr/>
        </p:nvSpPr>
        <p:spPr>
          <a:xfrm>
            <a:off x="381000" y="714375"/>
            <a:ext cx="10001250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1350" dirty="0">
                <a:solidFill>
                  <a:srgbClr val="26384A"/>
                </a:solidFill>
                <a:latin typeface="Arial"/>
                <a:ea typeface="Microsoft YaHei"/>
                <a:cs typeface="Arial"/>
              </a:rPr>
              <a:t>仓库真实代码 · 实现切面</a:t>
            </a:r>
          </a:p>
        </p:txBody>
      </p:sp>
      <p:sp>
        <p:nvSpPr>
          <p:cNvPr id="11" name="Line 11"/>
          <p:cNvSpPr/>
          <p:nvPr/>
        </p:nvSpPr>
        <p:spPr>
          <a:xfrm>
            <a:off x="381000" y="6334125"/>
            <a:ext cx="11430000" cy="9525"/>
          </a:xfrm>
          <a:custGeom>
            <a:avLst/>
            <a:gdLst/>
            <a:ahLst/>
            <a:cxnLst/>
            <a:rect l="l" t="t" r="r" b="b"/>
            <a:pathLst>
              <a:path w="11430000" h="9525">
                <a:moveTo>
                  <a:pt x="0" y="0"/>
                </a:moveTo>
                <a:lnTo>
                  <a:pt x="11430000" y="0"/>
                </a:lnTo>
              </a:path>
            </a:pathLst>
          </a:custGeom>
          <a:noFill/>
          <a:ln w="9525">
            <a:solidFill>
              <a:srgbClr val="E8F4FC"/>
            </a:solidFill>
          </a:ln>
        </p:spPr>
      </p:sp>
      <p:sp>
        <p:nvSpPr>
          <p:cNvPr id="12" name="TextBox 12"/>
          <p:cNvSpPr txBox="1"/>
          <p:nvPr/>
        </p:nvSpPr>
        <p:spPr>
          <a:xfrm>
            <a:off x="381000" y="6477000"/>
            <a:ext cx="4953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课程第15讲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4381500" y="6477000"/>
            <a:ext cx="3429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Agent Runtime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0763250" y="6457950"/>
            <a:ext cx="857250" cy="266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050" dirty="0">
                <a:solidFill>
                  <a:srgbClr val="52657A"/>
                </a:solidFill>
                <a:latin typeface="Arial"/>
                <a:ea typeface="Microsoft YaHei"/>
                <a:cs typeface="Arial"/>
              </a:rPr>
              <a:t>21</a:t>
            </a:r>
          </a:p>
        </p:txBody>
      </p:sp>
      <p:grpSp>
        <p:nvGrpSpPr>
          <p:cNvPr id="26" name="EasySlides Component: evidence"/>
          <p:cNvGrpSpPr/>
          <p:nvPr/>
        </p:nvGrpSpPr>
        <p:grpSpPr>
          <a:xfrm>
            <a:off x="7124700" y="1285875"/>
            <a:ext cx="4572000" cy="4905375"/>
            <a:chOff x="7124700" y="1285875"/>
            <a:chExt cx="4572000" cy="4905375"/>
          </a:xfrm>
        </p:grpSpPr>
        <p:sp>
          <p:nvSpPr>
            <p:cNvPr id="15" name="Rectangle 15"/>
            <p:cNvSpPr/>
            <p:nvPr/>
          </p:nvSpPr>
          <p:spPr>
            <a:xfrm>
              <a:off x="7124700" y="1285875"/>
              <a:ext cx="4572000" cy="4905375"/>
            </a:xfrm>
            <a:prstGeom prst="roundRect">
              <a:avLst>
                <a:gd name="adj" fmla="val 833"/>
              </a:avLst>
            </a:prstGeom>
            <a:solidFill>
              <a:srgbClr val="F0F9FC"/>
            </a:solidFill>
            <a:ln w="11430">
              <a:solidFill>
                <a:srgbClr val="B8C7D6"/>
              </a:solidFill>
            </a:ln>
          </p:spPr>
        </p:sp>
        <p:sp>
          <p:nvSpPr>
            <p:cNvPr id="16" name="Rectangle 16"/>
            <p:cNvSpPr/>
            <p:nvPr/>
          </p:nvSpPr>
          <p:spPr>
            <a:xfrm>
              <a:off x="7124700" y="1285875"/>
              <a:ext cx="76200" cy="4905375"/>
            </a:xfrm>
            <a:prstGeom prst="rect">
              <a:avLst/>
            </a:prstGeom>
            <a:solidFill>
              <a:srgbClr val="06B6D4"/>
            </a:solidFill>
            <a:ln>
              <a:noFill/>
            </a:ln>
          </p:spPr>
        </p:sp>
        <p:sp>
          <p:nvSpPr>
            <p:cNvPr id="17" name="Rectangle 17"/>
            <p:cNvSpPr/>
            <p:nvPr/>
          </p:nvSpPr>
          <p:spPr>
            <a:xfrm>
              <a:off x="7391400" y="1552575"/>
              <a:ext cx="4038600" cy="1257300"/>
            </a:xfrm>
            <a:prstGeom prst="roundRect">
              <a:avLst>
                <a:gd name="adj" fmla="val 1515"/>
              </a:avLst>
            </a:prstGeom>
            <a:solidFill>
              <a:srgbClr val="FFFFFF"/>
            </a:solidFill>
            <a:ln w="9525">
              <a:solidFill>
                <a:srgbClr val="D4E2EE"/>
              </a:solidFill>
            </a:ln>
          </p:spPr>
        </p:sp>
        <p:sp>
          <p:nvSpPr>
            <p:cNvPr id="18" name="Rectangle 18"/>
            <p:cNvSpPr/>
            <p:nvPr/>
          </p:nvSpPr>
          <p:spPr>
            <a:xfrm>
              <a:off x="7391400" y="3105150"/>
              <a:ext cx="4038600" cy="1257300"/>
            </a:xfrm>
            <a:prstGeom prst="roundRect">
              <a:avLst>
                <a:gd name="adj" fmla="val 1515"/>
              </a:avLst>
            </a:prstGeom>
            <a:solidFill>
              <a:srgbClr val="FFFFFF"/>
            </a:solidFill>
            <a:ln w="9525">
              <a:solidFill>
                <a:srgbClr val="D4E2EE"/>
              </a:solidFill>
            </a:ln>
          </p:spPr>
        </p:sp>
        <p:sp>
          <p:nvSpPr>
            <p:cNvPr id="19" name="Rectangle 19"/>
            <p:cNvSpPr/>
            <p:nvPr/>
          </p:nvSpPr>
          <p:spPr>
            <a:xfrm>
              <a:off x="7391400" y="4657725"/>
              <a:ext cx="4038600" cy="1257300"/>
            </a:xfrm>
            <a:prstGeom prst="roundRect">
              <a:avLst>
                <a:gd name="adj" fmla="val 1515"/>
              </a:avLst>
            </a:prstGeom>
            <a:solidFill>
              <a:srgbClr val="FFFFFF"/>
            </a:solidFill>
            <a:ln w="9525">
              <a:solidFill>
                <a:srgbClr val="D4E2EE"/>
              </a:solidFill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7605712" y="1745456"/>
              <a:ext cx="220156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06B6D4"/>
                  </a:solidFill>
                  <a:latin typeface="Arial"/>
                  <a:ea typeface="Microsoft YaHei"/>
                  <a:cs typeface="Arial"/>
                </a:rPr>
                <a:t>01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7605712" y="3298031"/>
              <a:ext cx="220156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06B6D4"/>
                  </a:solidFill>
                  <a:latin typeface="Arial"/>
                  <a:ea typeface="Microsoft YaHei"/>
                  <a:cs typeface="Arial"/>
                </a:rPr>
                <a:t>02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7605712" y="4850606"/>
              <a:ext cx="220156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CC0000"/>
                  </a:solidFill>
                  <a:latin typeface="Arial"/>
                  <a:ea typeface="Microsoft YaHei"/>
                  <a:cs typeface="Arial"/>
                </a:rPr>
                <a:t>03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7848600" y="1819275"/>
              <a:ext cx="3314700" cy="7239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425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文件：workflow.py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7848600" y="3371850"/>
              <a:ext cx="3314700" cy="7239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425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切面：实现——先读接口再读实现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7848600" y="4924425"/>
              <a:ext cx="3314700" cy="7239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425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测试见 tests/ 目录</a:t>
              </a:r>
            </a:p>
          </p:txBody>
        </p:sp>
      </p:grpSp>
      <p:grpSp>
        <p:nvGrpSpPr>
          <p:cNvPr id="32" name="EasySlides Component: figure"/>
          <p:cNvGrpSpPr/>
          <p:nvPr/>
        </p:nvGrpSpPr>
        <p:grpSpPr>
          <a:xfrm>
            <a:off x="495300" y="1285875"/>
            <a:ext cx="6400800" cy="4905375"/>
            <a:chOff x="495300" y="1285875"/>
            <a:chExt cx="6400800" cy="4905375"/>
          </a:xfrm>
        </p:grpSpPr>
        <p:sp>
          <p:nvSpPr>
            <p:cNvPr id="27" name="Rectangle 27"/>
            <p:cNvSpPr/>
            <p:nvPr/>
          </p:nvSpPr>
          <p:spPr>
            <a:xfrm>
              <a:off x="495300" y="1285875"/>
              <a:ext cx="6400800" cy="4905375"/>
            </a:xfrm>
            <a:prstGeom prst="roundRect">
              <a:avLst>
                <a:gd name="adj" fmla="val 777"/>
              </a:avLst>
            </a:prstGeom>
            <a:solidFill>
              <a:srgbClr val="FFFFFF"/>
            </a:solidFill>
            <a:ln w="11430">
              <a:solidFill>
                <a:srgbClr val="B8C7D6"/>
              </a:solidFill>
            </a:ln>
          </p:spPr>
        </p:sp>
        <p:sp>
          <p:nvSpPr>
            <p:cNvPr id="28" name="Rectangle 28"/>
            <p:cNvSpPr/>
            <p:nvPr/>
          </p:nvSpPr>
          <p:spPr>
            <a:xfrm>
              <a:off x="647700" y="1438275"/>
              <a:ext cx="6096000" cy="3905250"/>
            </a:xfrm>
            <a:prstGeom prst="roundRect">
              <a:avLst>
                <a:gd name="adj" fmla="val 488"/>
              </a:avLst>
            </a:prstGeom>
            <a:solidFill>
              <a:srgbClr val="F0F9FC"/>
            </a:solidFill>
            <a:ln w="9525">
              <a:solidFill>
                <a:srgbClr val="D4E2EE"/>
              </a:solidFill>
            </a:ln>
          </p:spPr>
        </p:sp>
        <p:pic>
          <p:nvPicPr>
            <p:cNvPr id="29" name="Image 29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647700" y="1605643"/>
              <a:ext cx="6096000" cy="3570514"/>
            </a:xfrm>
            <a:prstGeom prst="rect">
              <a:avLst/>
            </a:prstGeom>
          </p:spPr>
        </p:pic>
        <p:sp>
          <p:nvSpPr>
            <p:cNvPr id="30" name="Line 30"/>
            <p:cNvSpPr/>
            <p:nvPr/>
          </p:nvSpPr>
          <p:spPr>
            <a:xfrm>
              <a:off x="723900" y="5534025"/>
              <a:ext cx="5943600" cy="9525"/>
            </a:xfrm>
            <a:custGeom>
              <a:avLst/>
              <a:gdLst/>
              <a:ahLst/>
              <a:cxnLst/>
              <a:rect l="l" t="t" r="r" b="b"/>
              <a:pathLst>
                <a:path w="5943600" h="9525">
                  <a:moveTo>
                    <a:pt x="0" y="0"/>
                  </a:moveTo>
                  <a:lnTo>
                    <a:pt x="5943600" y="0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800100" y="5610225"/>
              <a:ext cx="5791200" cy="4572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350" dirty="0">
                  <a:solidFill>
                    <a:srgbClr val="52657A"/>
                  </a:solidFill>
                  <a:latin typeface="Arial"/>
                  <a:ea typeface="Microsoft YaHei"/>
                  <a:cs typeface="Arial"/>
                </a:rPr>
                <a:t>代码：workflow.py · 实现（概念2 固定 Workflow）</a:t>
              </a:r>
            </a:p>
          </p:txBody>
        </p:sp>
      </p:grp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666750"/>
          </a:xfrm>
          <a:prstGeom prst="rect">
            <a:avLst/>
          </a:prstGeom>
          <a:solidFill>
            <a:srgbClr val="0E7490"/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0"/>
            <a:ext cx="57150" cy="666750"/>
          </a:xfrm>
          <a:prstGeom prst="rect">
            <a:avLst/>
          </a:prstGeom>
          <a:solidFill>
            <a:srgbClr val="CC0000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381000" y="123825"/>
            <a:ext cx="762000" cy="4000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1275" b="1" dirty="0">
                <a:solidFill>
                  <a:srgbClr val="9FD3FF"/>
                </a:solidFill>
                <a:latin typeface="Arial"/>
                <a:ea typeface="Microsoft YaHei"/>
                <a:cs typeface="Arial"/>
              </a:rPr>
              <a:t>22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257300" y="95250"/>
            <a:ext cx="8096250" cy="457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21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应用实践：固定 Workflow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0001250" y="76200"/>
            <a:ext cx="1619250" cy="5143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3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DataAgent</a:t>
            </a:r>
          </a:p>
        </p:txBody>
      </p:sp>
      <p:sp>
        <p:nvSpPr>
          <p:cNvPr id="8" name="Rectangle 8"/>
          <p:cNvSpPr/>
          <p:nvPr/>
        </p:nvSpPr>
        <p:spPr>
          <a:xfrm>
            <a:off x="0" y="666750"/>
            <a:ext cx="12192000" cy="476250"/>
          </a:xfrm>
          <a:prstGeom prst="rect">
            <a:avLst/>
          </a:prstGeom>
          <a:solidFill>
            <a:srgbClr val="E8F4FC"/>
          </a:solidFill>
          <a:ln>
            <a:noFill/>
          </a:ln>
        </p:spPr>
      </p:sp>
      <p:sp>
        <p:nvSpPr>
          <p:cNvPr id="9" name="Rectangle 9"/>
          <p:cNvSpPr/>
          <p:nvPr/>
        </p:nvSpPr>
        <p:spPr>
          <a:xfrm>
            <a:off x="0" y="666750"/>
            <a:ext cx="57150" cy="476250"/>
          </a:xfrm>
          <a:prstGeom prst="rect">
            <a:avLst/>
          </a:prstGeom>
          <a:solidFill>
            <a:srgbClr val="06B6D4"/>
          </a:solidFill>
          <a:ln>
            <a:noFill/>
          </a:ln>
        </p:spPr>
      </p:sp>
      <p:sp>
        <p:nvSpPr>
          <p:cNvPr id="10" name="TextBox 10"/>
          <p:cNvSpPr txBox="1"/>
          <p:nvPr/>
        </p:nvSpPr>
        <p:spPr>
          <a:xfrm>
            <a:off x="381000" y="714375"/>
            <a:ext cx="10001250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1350" dirty="0">
                <a:solidFill>
                  <a:srgbClr val="26384A"/>
                </a:solidFill>
                <a:latin typeface="Arial"/>
                <a:ea typeface="Microsoft YaHei"/>
                <a:cs typeface="Arial"/>
              </a:rPr>
              <a:t>三步落地：闭环→灰度→放开</a:t>
            </a:r>
          </a:p>
        </p:txBody>
      </p:sp>
      <p:sp>
        <p:nvSpPr>
          <p:cNvPr id="11" name="Line 11"/>
          <p:cNvSpPr/>
          <p:nvPr/>
        </p:nvSpPr>
        <p:spPr>
          <a:xfrm>
            <a:off x="381000" y="6334125"/>
            <a:ext cx="11430000" cy="9525"/>
          </a:xfrm>
          <a:custGeom>
            <a:avLst/>
            <a:gdLst/>
            <a:ahLst/>
            <a:cxnLst/>
            <a:rect l="l" t="t" r="r" b="b"/>
            <a:pathLst>
              <a:path w="11430000" h="9525">
                <a:moveTo>
                  <a:pt x="0" y="0"/>
                </a:moveTo>
                <a:lnTo>
                  <a:pt x="11430000" y="0"/>
                </a:lnTo>
              </a:path>
            </a:pathLst>
          </a:custGeom>
          <a:noFill/>
          <a:ln w="9525">
            <a:solidFill>
              <a:srgbClr val="E8F4FC"/>
            </a:solidFill>
          </a:ln>
        </p:spPr>
      </p:sp>
      <p:sp>
        <p:nvSpPr>
          <p:cNvPr id="12" name="TextBox 12"/>
          <p:cNvSpPr txBox="1"/>
          <p:nvPr/>
        </p:nvSpPr>
        <p:spPr>
          <a:xfrm>
            <a:off x="381000" y="6477000"/>
            <a:ext cx="4953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课程第15讲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4381500" y="6477000"/>
            <a:ext cx="3429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Agent Runtime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0763250" y="6457950"/>
            <a:ext cx="857250" cy="266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050" dirty="0">
                <a:solidFill>
                  <a:srgbClr val="52657A"/>
                </a:solidFill>
                <a:latin typeface="Arial"/>
                <a:ea typeface="Microsoft YaHei"/>
                <a:cs typeface="Arial"/>
              </a:rPr>
              <a:t>22</a:t>
            </a:r>
          </a:p>
        </p:txBody>
      </p:sp>
      <p:grpSp>
        <p:nvGrpSpPr>
          <p:cNvPr id="22" name="EasySlides Component: step_01"/>
          <p:cNvGrpSpPr/>
          <p:nvPr/>
        </p:nvGrpSpPr>
        <p:grpSpPr>
          <a:xfrm>
            <a:off x="495300" y="1285875"/>
            <a:ext cx="3505200" cy="3476625"/>
            <a:chOff x="495300" y="1285875"/>
            <a:chExt cx="3505200" cy="3476625"/>
          </a:xfrm>
        </p:grpSpPr>
        <p:sp>
          <p:nvSpPr>
            <p:cNvPr id="15" name="Rectangle 15"/>
            <p:cNvSpPr/>
            <p:nvPr/>
          </p:nvSpPr>
          <p:spPr>
            <a:xfrm>
              <a:off x="495300" y="1285875"/>
              <a:ext cx="3505200" cy="3476625"/>
            </a:xfrm>
            <a:prstGeom prst="roundRect">
              <a:avLst>
                <a:gd name="adj" fmla="val 1096"/>
              </a:avLst>
            </a:prstGeom>
            <a:solidFill>
              <a:srgbClr val="FFFFFF"/>
            </a:solidFill>
            <a:ln w="11430">
              <a:solidFill>
                <a:srgbClr val="B8C7D6"/>
              </a:solidFill>
            </a:ln>
          </p:spPr>
        </p:sp>
        <p:sp>
          <p:nvSpPr>
            <p:cNvPr id="16" name="Ellipse 16"/>
            <p:cNvSpPr/>
            <p:nvPr/>
          </p:nvSpPr>
          <p:spPr>
            <a:xfrm>
              <a:off x="695325" y="1495425"/>
              <a:ext cx="476250" cy="476250"/>
            </a:xfrm>
            <a:prstGeom prst="ellipse">
              <a:avLst/>
            </a:prstGeom>
            <a:solidFill>
              <a:srgbClr val="06B6D4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714375" y="1504950"/>
              <a:ext cx="438150" cy="4572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35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1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1314450" y="1524000"/>
              <a:ext cx="2324100" cy="42862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650" b="1" dirty="0">
                  <a:solidFill>
                    <a:srgbClr val="0E7490"/>
                  </a:solidFill>
                  <a:latin typeface="Arial"/>
                  <a:ea typeface="Microsoft YaHei"/>
                  <a:cs typeface="Arial"/>
                </a:rPr>
                <a:t>最小闭环</a:t>
              </a:r>
            </a:p>
          </p:txBody>
        </p:sp>
        <p:sp>
          <p:nvSpPr>
            <p:cNvPr id="19" name="Line 19"/>
            <p:cNvSpPr/>
            <p:nvPr/>
          </p:nvSpPr>
          <p:spPr>
            <a:xfrm>
              <a:off x="800100" y="2181225"/>
              <a:ext cx="2895600" cy="9525"/>
            </a:xfrm>
            <a:custGeom>
              <a:avLst/>
              <a:gdLst/>
              <a:ahLst/>
              <a:cxnLst/>
              <a:rect l="l" t="t" r="r" b="b"/>
              <a:pathLst>
                <a:path w="2895600" h="9525">
                  <a:moveTo>
                    <a:pt x="0" y="0"/>
                  </a:moveTo>
                  <a:lnTo>
                    <a:pt x="2895600" y="0"/>
                  </a:lnTo>
                </a:path>
              </a:pathLst>
            </a:custGeom>
            <a:noFill/>
            <a:ln w="19050">
              <a:solidFill>
                <a:srgbClr val="D4E2EE"/>
              </a:solidFill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952500" y="2476500"/>
              <a:ext cx="2590800" cy="16668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500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「固定 Workflow」的应用入口在本课程 DataAgent：跑通对</a:t>
              </a:r>
            </a:p>
          </p:txBody>
        </p:sp>
        <p:sp>
          <p:nvSpPr>
            <p:cNvPr id="21" name="Rectangle 21"/>
            <p:cNvSpPr/>
            <p:nvPr/>
          </p:nvSpPr>
          <p:spPr>
            <a:xfrm>
              <a:off x="800100" y="4391025"/>
              <a:ext cx="762000" cy="66675"/>
            </a:xfrm>
            <a:prstGeom prst="rect">
              <a:avLst/>
            </a:prstGeom>
            <a:solidFill>
              <a:srgbClr val="CC0000"/>
            </a:solidFill>
            <a:ln>
              <a:noFill/>
            </a:ln>
          </p:spPr>
        </p:sp>
      </p:grpSp>
      <p:grpSp>
        <p:nvGrpSpPr>
          <p:cNvPr id="30" name="EasySlides Component: step_02"/>
          <p:cNvGrpSpPr/>
          <p:nvPr/>
        </p:nvGrpSpPr>
        <p:grpSpPr>
          <a:xfrm>
            <a:off x="4343400" y="1285875"/>
            <a:ext cx="3505200" cy="3476625"/>
            <a:chOff x="4343400" y="1285875"/>
            <a:chExt cx="3505200" cy="3476625"/>
          </a:xfrm>
        </p:grpSpPr>
        <p:sp>
          <p:nvSpPr>
            <p:cNvPr id="23" name="Rectangle 23"/>
            <p:cNvSpPr/>
            <p:nvPr/>
          </p:nvSpPr>
          <p:spPr>
            <a:xfrm>
              <a:off x="4343400" y="1285875"/>
              <a:ext cx="3505200" cy="3476625"/>
            </a:xfrm>
            <a:prstGeom prst="roundRect">
              <a:avLst>
                <a:gd name="adj" fmla="val 1096"/>
              </a:avLst>
            </a:prstGeom>
            <a:solidFill>
              <a:srgbClr val="FFFFFF"/>
            </a:solidFill>
            <a:ln w="11430">
              <a:solidFill>
                <a:srgbClr val="B8C7D6"/>
              </a:solidFill>
            </a:ln>
          </p:spPr>
        </p:sp>
        <p:sp>
          <p:nvSpPr>
            <p:cNvPr id="24" name="Ellipse 24"/>
            <p:cNvSpPr/>
            <p:nvPr/>
          </p:nvSpPr>
          <p:spPr>
            <a:xfrm>
              <a:off x="4543425" y="1495425"/>
              <a:ext cx="476250" cy="476250"/>
            </a:xfrm>
            <a:prstGeom prst="ellipse">
              <a:avLst/>
            </a:prstGeom>
            <a:solidFill>
              <a:srgbClr val="06B6D4"/>
            </a:solidFill>
            <a:ln>
              <a:noFill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4562475" y="1504950"/>
              <a:ext cx="438150" cy="4572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35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2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5162550" y="1524000"/>
              <a:ext cx="2324100" cy="42862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650" b="1" dirty="0">
                  <a:solidFill>
                    <a:srgbClr val="0E7490"/>
                  </a:solidFill>
                  <a:latin typeface="Arial"/>
                  <a:ea typeface="Microsoft YaHei"/>
                  <a:cs typeface="Arial"/>
                </a:rPr>
                <a:t>灰度验证</a:t>
              </a:r>
            </a:p>
          </p:txBody>
        </p:sp>
        <p:sp>
          <p:nvSpPr>
            <p:cNvPr id="27" name="Line 27"/>
            <p:cNvSpPr/>
            <p:nvPr/>
          </p:nvSpPr>
          <p:spPr>
            <a:xfrm>
              <a:off x="4648200" y="2181225"/>
              <a:ext cx="2895600" cy="9525"/>
            </a:xfrm>
            <a:custGeom>
              <a:avLst/>
              <a:gdLst/>
              <a:ahLst/>
              <a:cxnLst/>
              <a:rect l="l" t="t" r="r" b="b"/>
              <a:pathLst>
                <a:path w="2895600" h="9525">
                  <a:moveTo>
                    <a:pt x="0" y="0"/>
                  </a:moveTo>
                  <a:lnTo>
                    <a:pt x="2895600" y="0"/>
                  </a:lnTo>
                </a:path>
              </a:pathLst>
            </a:custGeom>
            <a:noFill/>
            <a:ln w="19050">
              <a:solidFill>
                <a:srgbClr val="D4E2EE"/>
              </a:solidFill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4800600" y="2476500"/>
              <a:ext cx="2590800" cy="16668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500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小流量对照基线，观察效果/成本/时延</a:t>
              </a:r>
            </a:p>
          </p:txBody>
        </p:sp>
        <p:sp>
          <p:nvSpPr>
            <p:cNvPr id="29" name="Rectangle 29"/>
            <p:cNvSpPr/>
            <p:nvPr/>
          </p:nvSpPr>
          <p:spPr>
            <a:xfrm>
              <a:off x="4648200" y="4391025"/>
              <a:ext cx="762000" cy="66675"/>
            </a:xfrm>
            <a:prstGeom prst="rect">
              <a:avLst/>
            </a:prstGeom>
            <a:solidFill>
              <a:srgbClr val="CC0000"/>
            </a:solidFill>
            <a:ln>
              <a:noFill/>
            </a:ln>
          </p:spPr>
        </p:sp>
      </p:grpSp>
      <p:grpSp>
        <p:nvGrpSpPr>
          <p:cNvPr id="38" name="EasySlides Component: step_03"/>
          <p:cNvGrpSpPr/>
          <p:nvPr/>
        </p:nvGrpSpPr>
        <p:grpSpPr>
          <a:xfrm>
            <a:off x="8191500" y="1285875"/>
            <a:ext cx="3505200" cy="3476625"/>
            <a:chOff x="8191500" y="1285875"/>
            <a:chExt cx="3505200" cy="3476625"/>
          </a:xfrm>
        </p:grpSpPr>
        <p:sp>
          <p:nvSpPr>
            <p:cNvPr id="31" name="Rectangle 31"/>
            <p:cNvSpPr/>
            <p:nvPr/>
          </p:nvSpPr>
          <p:spPr>
            <a:xfrm>
              <a:off x="8191500" y="1285875"/>
              <a:ext cx="3505200" cy="3476625"/>
            </a:xfrm>
            <a:prstGeom prst="roundRect">
              <a:avLst>
                <a:gd name="adj" fmla="val 1096"/>
              </a:avLst>
            </a:prstGeom>
            <a:solidFill>
              <a:srgbClr val="FFFFFF"/>
            </a:solidFill>
            <a:ln w="11430">
              <a:solidFill>
                <a:srgbClr val="B8C7D6"/>
              </a:solidFill>
            </a:ln>
          </p:spPr>
        </p:sp>
        <p:sp>
          <p:nvSpPr>
            <p:cNvPr id="32" name="Ellipse 32"/>
            <p:cNvSpPr/>
            <p:nvPr/>
          </p:nvSpPr>
          <p:spPr>
            <a:xfrm>
              <a:off x="8391525" y="1495425"/>
              <a:ext cx="476250" cy="476250"/>
            </a:xfrm>
            <a:prstGeom prst="ellipse">
              <a:avLst/>
            </a:prstGeom>
            <a:solidFill>
              <a:srgbClr val="06B6D4"/>
            </a:solidFill>
            <a:ln>
              <a:noFill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8410575" y="1504950"/>
              <a:ext cx="438150" cy="4572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35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3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9010650" y="1524000"/>
              <a:ext cx="2324100" cy="42862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650" b="1" dirty="0">
                  <a:solidFill>
                    <a:srgbClr val="0E7490"/>
                  </a:solidFill>
                  <a:latin typeface="Arial"/>
                  <a:ea typeface="Microsoft YaHei"/>
                  <a:cs typeface="Arial"/>
                </a:rPr>
                <a:t>逐步放开</a:t>
              </a:r>
            </a:p>
          </p:txBody>
        </p:sp>
        <p:sp>
          <p:nvSpPr>
            <p:cNvPr id="35" name="Line 35"/>
            <p:cNvSpPr/>
            <p:nvPr/>
          </p:nvSpPr>
          <p:spPr>
            <a:xfrm>
              <a:off x="8496300" y="2181225"/>
              <a:ext cx="2895600" cy="9525"/>
            </a:xfrm>
            <a:custGeom>
              <a:avLst/>
              <a:gdLst/>
              <a:ahLst/>
              <a:cxnLst/>
              <a:rect l="l" t="t" r="r" b="b"/>
              <a:pathLst>
                <a:path w="2895600" h="9525">
                  <a:moveTo>
                    <a:pt x="0" y="0"/>
                  </a:moveTo>
                  <a:lnTo>
                    <a:pt x="2895600" y="0"/>
                  </a:lnTo>
                </a:path>
              </a:pathLst>
            </a:custGeom>
            <a:noFill/>
            <a:ln w="19050">
              <a:solidFill>
                <a:srgbClr val="D4E2EE"/>
              </a:solidFill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8648700" y="2476500"/>
              <a:ext cx="2590800" cy="16668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500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按租户/场景分批，异常即回滚</a:t>
              </a:r>
            </a:p>
          </p:txBody>
        </p:sp>
        <p:sp>
          <p:nvSpPr>
            <p:cNvPr id="37" name="Rectangle 37"/>
            <p:cNvSpPr/>
            <p:nvPr/>
          </p:nvSpPr>
          <p:spPr>
            <a:xfrm>
              <a:off x="8496300" y="4391025"/>
              <a:ext cx="762000" cy="66675"/>
            </a:xfrm>
            <a:prstGeom prst="rect">
              <a:avLst/>
            </a:prstGeom>
            <a:solidFill>
              <a:srgbClr val="CC0000"/>
            </a:solidFill>
            <a:ln>
              <a:noFill/>
            </a:ln>
          </p:spPr>
        </p:sp>
      </p:grpSp>
      <p:grpSp>
        <p:nvGrpSpPr>
          <p:cNvPr id="42" name="EasySlides Component: synthesis"/>
          <p:cNvGrpSpPr/>
          <p:nvPr/>
        </p:nvGrpSpPr>
        <p:grpSpPr>
          <a:xfrm>
            <a:off x="495300" y="5476875"/>
            <a:ext cx="11201400" cy="714375"/>
            <a:chOff x="495300" y="5476875"/>
            <a:chExt cx="11201400" cy="714375"/>
          </a:xfrm>
        </p:grpSpPr>
        <p:sp>
          <p:nvSpPr>
            <p:cNvPr id="39" name="Rectangle 39"/>
            <p:cNvSpPr/>
            <p:nvPr/>
          </p:nvSpPr>
          <p:spPr>
            <a:xfrm>
              <a:off x="495300" y="5476875"/>
              <a:ext cx="11201400" cy="714375"/>
            </a:xfrm>
            <a:prstGeom prst="roundRect">
              <a:avLst>
                <a:gd name="adj" fmla="val 5333"/>
              </a:avLst>
            </a:prstGeom>
            <a:solidFill>
              <a:srgbClr val="0E7490"/>
            </a:solidFill>
            <a:ln>
              <a:noFill/>
            </a:ln>
          </p:spPr>
        </p:sp>
        <p:sp>
          <p:nvSpPr>
            <p:cNvPr id="40" name="Rectangle 40"/>
            <p:cNvSpPr/>
            <p:nvPr/>
          </p:nvSpPr>
          <p:spPr>
            <a:xfrm>
              <a:off x="495300" y="5476875"/>
              <a:ext cx="76200" cy="714375"/>
            </a:xfrm>
            <a:prstGeom prst="roundRect">
              <a:avLst>
                <a:gd name="adj" fmla="val 50000"/>
              </a:avLst>
            </a:prstGeom>
            <a:solidFill>
              <a:srgbClr val="CC0000"/>
            </a:solidFill>
            <a:ln>
              <a:noFill/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876300" y="5610225"/>
              <a:ext cx="10439400" cy="4476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65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案例视角：预算审批链路的审批-幂等-验真闭环实测。</a:t>
              </a:r>
            </a:p>
          </p:txBody>
        </p:sp>
      </p:grp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666750"/>
          </a:xfrm>
          <a:prstGeom prst="rect">
            <a:avLst/>
          </a:prstGeom>
          <a:solidFill>
            <a:srgbClr val="0E7490"/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0"/>
            <a:ext cx="57150" cy="666750"/>
          </a:xfrm>
          <a:prstGeom prst="rect">
            <a:avLst/>
          </a:prstGeom>
          <a:solidFill>
            <a:srgbClr val="CC0000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381000" y="123825"/>
            <a:ext cx="762000" cy="4000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1275" b="1" dirty="0">
                <a:solidFill>
                  <a:srgbClr val="9FD3FF"/>
                </a:solidFill>
                <a:latin typeface="Arial"/>
                <a:ea typeface="Microsoft YaHei"/>
                <a:cs typeface="Arial"/>
              </a:rPr>
              <a:t>23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257300" y="95250"/>
            <a:ext cx="8096250" cy="457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21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陷阱与排查：固定 Workflow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0001250" y="76200"/>
            <a:ext cx="1619250" cy="5143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3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DataAgent</a:t>
            </a:r>
          </a:p>
        </p:txBody>
      </p:sp>
      <p:sp>
        <p:nvSpPr>
          <p:cNvPr id="8" name="Rectangle 8"/>
          <p:cNvSpPr/>
          <p:nvPr/>
        </p:nvSpPr>
        <p:spPr>
          <a:xfrm>
            <a:off x="0" y="666750"/>
            <a:ext cx="12192000" cy="476250"/>
          </a:xfrm>
          <a:prstGeom prst="rect">
            <a:avLst/>
          </a:prstGeom>
          <a:solidFill>
            <a:srgbClr val="E8F4FC"/>
          </a:solidFill>
          <a:ln>
            <a:noFill/>
          </a:ln>
        </p:spPr>
      </p:sp>
      <p:sp>
        <p:nvSpPr>
          <p:cNvPr id="9" name="Rectangle 9"/>
          <p:cNvSpPr/>
          <p:nvPr/>
        </p:nvSpPr>
        <p:spPr>
          <a:xfrm>
            <a:off x="0" y="666750"/>
            <a:ext cx="57150" cy="476250"/>
          </a:xfrm>
          <a:prstGeom prst="rect">
            <a:avLst/>
          </a:prstGeom>
          <a:solidFill>
            <a:srgbClr val="06B6D4"/>
          </a:solidFill>
          <a:ln>
            <a:noFill/>
          </a:ln>
        </p:spPr>
      </p:sp>
      <p:sp>
        <p:nvSpPr>
          <p:cNvPr id="10" name="TextBox 10"/>
          <p:cNvSpPr txBox="1"/>
          <p:nvPr/>
        </p:nvSpPr>
        <p:spPr>
          <a:xfrm>
            <a:off x="381000" y="714375"/>
            <a:ext cx="10001250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1350" dirty="0">
                <a:solidFill>
                  <a:srgbClr val="26384A"/>
                </a:solidFill>
                <a:latin typeface="Arial"/>
                <a:ea typeface="Microsoft YaHei"/>
                <a:cs typeface="Arial"/>
              </a:rPr>
              <a:t>症状→根因→处置</a:t>
            </a:r>
          </a:p>
        </p:txBody>
      </p:sp>
      <p:sp>
        <p:nvSpPr>
          <p:cNvPr id="11" name="Line 11"/>
          <p:cNvSpPr/>
          <p:nvPr/>
        </p:nvSpPr>
        <p:spPr>
          <a:xfrm>
            <a:off x="381000" y="6334125"/>
            <a:ext cx="11430000" cy="9525"/>
          </a:xfrm>
          <a:custGeom>
            <a:avLst/>
            <a:gdLst/>
            <a:ahLst/>
            <a:cxnLst/>
            <a:rect l="l" t="t" r="r" b="b"/>
            <a:pathLst>
              <a:path w="11430000" h="9525">
                <a:moveTo>
                  <a:pt x="0" y="0"/>
                </a:moveTo>
                <a:lnTo>
                  <a:pt x="11430000" y="0"/>
                </a:lnTo>
              </a:path>
            </a:pathLst>
          </a:custGeom>
          <a:noFill/>
          <a:ln w="9525">
            <a:solidFill>
              <a:srgbClr val="E8F4FC"/>
            </a:solidFill>
          </a:ln>
        </p:spPr>
      </p:sp>
      <p:sp>
        <p:nvSpPr>
          <p:cNvPr id="12" name="TextBox 12"/>
          <p:cNvSpPr txBox="1"/>
          <p:nvPr/>
        </p:nvSpPr>
        <p:spPr>
          <a:xfrm>
            <a:off x="381000" y="6477000"/>
            <a:ext cx="4953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课程第15讲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4381500" y="6477000"/>
            <a:ext cx="3429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Agent Runtime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0763250" y="6457950"/>
            <a:ext cx="857250" cy="266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050" dirty="0">
                <a:solidFill>
                  <a:srgbClr val="52657A"/>
                </a:solidFill>
                <a:latin typeface="Arial"/>
                <a:ea typeface="Microsoft YaHei"/>
                <a:cs typeface="Arial"/>
              </a:rPr>
              <a:t>23</a:t>
            </a:r>
          </a:p>
        </p:txBody>
      </p:sp>
      <p:grpSp>
        <p:nvGrpSpPr>
          <p:cNvPr id="38" name="EasySlides Component: matrix"/>
          <p:cNvGrpSpPr/>
          <p:nvPr/>
        </p:nvGrpSpPr>
        <p:grpSpPr>
          <a:xfrm>
            <a:off x="495300" y="1285875"/>
            <a:ext cx="11201400" cy="4905375"/>
            <a:chOff x="495300" y="1285875"/>
            <a:chExt cx="11201400" cy="4905375"/>
          </a:xfrm>
        </p:grpSpPr>
        <p:sp>
          <p:nvSpPr>
            <p:cNvPr id="15" name="Rectangle 15"/>
            <p:cNvSpPr/>
            <p:nvPr/>
          </p:nvSpPr>
          <p:spPr>
            <a:xfrm>
              <a:off x="495300" y="1285875"/>
              <a:ext cx="11201400" cy="4905375"/>
            </a:xfrm>
            <a:prstGeom prst="roundRect">
              <a:avLst>
                <a:gd name="adj" fmla="val 777"/>
              </a:avLst>
            </a:prstGeom>
            <a:solidFill>
              <a:srgbClr val="FFFFFF"/>
            </a:solidFill>
            <a:ln w="11430">
              <a:solidFill>
                <a:srgbClr val="B8C7D6"/>
              </a:solidFill>
            </a:ln>
          </p:spPr>
        </p:sp>
        <p:sp>
          <p:nvSpPr>
            <p:cNvPr id="16" name="Rectangle 16"/>
            <p:cNvSpPr/>
            <p:nvPr/>
          </p:nvSpPr>
          <p:spPr>
            <a:xfrm>
              <a:off x="495300" y="1285875"/>
              <a:ext cx="11201400" cy="647700"/>
            </a:xfrm>
            <a:prstGeom prst="roundRect">
              <a:avLst>
                <a:gd name="adj" fmla="val 5882"/>
              </a:avLst>
            </a:prstGeom>
            <a:solidFill>
              <a:srgbClr val="0E7490"/>
            </a:solidFill>
            <a:ln>
              <a:noFill/>
            </a:ln>
          </p:spPr>
        </p:sp>
        <p:sp>
          <p:nvSpPr>
            <p:cNvPr id="17" name="Line 17"/>
            <p:cNvSpPr/>
            <p:nvPr/>
          </p:nvSpPr>
          <p:spPr>
            <a:xfrm>
              <a:off x="4229100" y="1285875"/>
              <a:ext cx="9525" cy="4143375"/>
            </a:xfrm>
            <a:custGeom>
              <a:avLst/>
              <a:gdLst/>
              <a:ahLst/>
              <a:cxnLst/>
              <a:rect l="l" t="t" r="r" b="b"/>
              <a:pathLst>
                <a:path w="9525" h="4143375">
                  <a:moveTo>
                    <a:pt x="0" y="0"/>
                  </a:moveTo>
                  <a:lnTo>
                    <a:pt x="0" y="4143375"/>
                  </a:lnTo>
                </a:path>
              </a:pathLst>
            </a:custGeom>
            <a:noFill/>
            <a:ln w="9525">
              <a:solidFill>
                <a:srgbClr val="B8C7D6"/>
              </a:solidFill>
            </a:ln>
          </p:spPr>
        </p:sp>
        <p:sp>
          <p:nvSpPr>
            <p:cNvPr id="18" name="Line 18"/>
            <p:cNvSpPr/>
            <p:nvPr/>
          </p:nvSpPr>
          <p:spPr>
            <a:xfrm>
              <a:off x="7962900" y="1285875"/>
              <a:ext cx="9525" cy="4143375"/>
            </a:xfrm>
            <a:custGeom>
              <a:avLst/>
              <a:gdLst/>
              <a:ahLst/>
              <a:cxnLst/>
              <a:rect l="l" t="t" r="r" b="b"/>
              <a:pathLst>
                <a:path w="9525" h="4143375">
                  <a:moveTo>
                    <a:pt x="0" y="0"/>
                  </a:moveTo>
                  <a:lnTo>
                    <a:pt x="0" y="4143375"/>
                  </a:lnTo>
                </a:path>
              </a:pathLst>
            </a:custGeom>
            <a:noFill/>
            <a:ln w="9525">
              <a:solidFill>
                <a:srgbClr val="B8C7D6"/>
              </a:solidFill>
            </a:ln>
          </p:spPr>
        </p:sp>
        <p:sp>
          <p:nvSpPr>
            <p:cNvPr id="19" name="Line 19"/>
            <p:cNvSpPr/>
            <p:nvPr/>
          </p:nvSpPr>
          <p:spPr>
            <a:xfrm>
              <a:off x="495300" y="1933575"/>
              <a:ext cx="11201400" cy="9525"/>
            </a:xfrm>
            <a:custGeom>
              <a:avLst/>
              <a:gdLst/>
              <a:ahLst/>
              <a:cxnLst/>
              <a:rect l="l" t="t" r="r" b="b"/>
              <a:pathLst>
                <a:path w="11201400" h="9525">
                  <a:moveTo>
                    <a:pt x="0" y="0"/>
                  </a:moveTo>
                  <a:lnTo>
                    <a:pt x="11201400" y="0"/>
                  </a:lnTo>
                </a:path>
              </a:pathLst>
            </a:custGeom>
            <a:noFill/>
            <a:ln w="9525">
              <a:solidFill>
                <a:srgbClr val="B8C7D6"/>
              </a:solidFill>
            </a:ln>
          </p:spPr>
        </p:sp>
        <p:sp>
          <p:nvSpPr>
            <p:cNvPr id="20" name="Line 20"/>
            <p:cNvSpPr/>
            <p:nvPr/>
          </p:nvSpPr>
          <p:spPr>
            <a:xfrm>
              <a:off x="495300" y="3095625"/>
              <a:ext cx="11201400" cy="9525"/>
            </a:xfrm>
            <a:custGeom>
              <a:avLst/>
              <a:gdLst/>
              <a:ahLst/>
              <a:cxnLst/>
              <a:rect l="l" t="t" r="r" b="b"/>
              <a:pathLst>
                <a:path w="11201400" h="9525">
                  <a:moveTo>
                    <a:pt x="0" y="0"/>
                  </a:moveTo>
                  <a:lnTo>
                    <a:pt x="11201400" y="0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21" name="Line 21"/>
            <p:cNvSpPr/>
            <p:nvPr/>
          </p:nvSpPr>
          <p:spPr>
            <a:xfrm>
              <a:off x="495300" y="4257675"/>
              <a:ext cx="11201400" cy="9525"/>
            </a:xfrm>
            <a:custGeom>
              <a:avLst/>
              <a:gdLst/>
              <a:ahLst/>
              <a:cxnLst/>
              <a:rect l="l" t="t" r="r" b="b"/>
              <a:pathLst>
                <a:path w="11201400" h="9525">
                  <a:moveTo>
                    <a:pt x="0" y="0"/>
                  </a:moveTo>
                  <a:lnTo>
                    <a:pt x="11201400" y="0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22" name="Line 22"/>
            <p:cNvSpPr/>
            <p:nvPr/>
          </p:nvSpPr>
          <p:spPr>
            <a:xfrm>
              <a:off x="495300" y="5429250"/>
              <a:ext cx="11201400" cy="9525"/>
            </a:xfrm>
            <a:custGeom>
              <a:avLst/>
              <a:gdLst/>
              <a:ahLst/>
              <a:cxnLst/>
              <a:rect l="l" t="t" r="r" b="b"/>
              <a:pathLst>
                <a:path w="11201400" h="9525">
                  <a:moveTo>
                    <a:pt x="0" y="0"/>
                  </a:moveTo>
                  <a:lnTo>
                    <a:pt x="11201400" y="0"/>
                  </a:lnTo>
                </a:path>
              </a:pathLst>
            </a:custGeom>
            <a:noFill/>
            <a:ln w="9525">
              <a:solidFill>
                <a:srgbClr val="B8C7D6"/>
              </a:solidFill>
            </a:ln>
          </p:spPr>
        </p:sp>
        <p:grpSp>
          <p:nvGrpSpPr>
            <p:cNvPr id="26" name="Group 26"/>
            <p:cNvGrpSpPr/>
            <p:nvPr/>
          </p:nvGrpSpPr>
          <p:grpSpPr>
            <a:xfrm>
              <a:off x="704850" y="1428750"/>
              <a:ext cx="10782300" cy="361950"/>
              <a:chOff x="704850" y="1428750"/>
              <a:chExt cx="10782300" cy="361950"/>
            </a:xfrm>
          </p:grpSpPr>
          <p:sp>
            <p:nvSpPr>
              <p:cNvPr id="23" name="TextBox 23"/>
              <p:cNvSpPr txBox="1"/>
              <p:nvPr/>
            </p:nvSpPr>
            <p:spPr>
              <a:xfrm>
                <a:off x="704850" y="1428750"/>
                <a:ext cx="3314700" cy="3619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575" b="1" dirty="0">
                    <a:solidFill>
                      <a:srgbClr val="FFFFFF"/>
                    </a:solidFill>
                    <a:latin typeface="Arial"/>
                    <a:ea typeface="Microsoft YaHei"/>
                    <a:cs typeface="Arial"/>
                  </a:rPr>
                  <a:t>症状</a:t>
                </a:r>
              </a:p>
            </p:txBody>
          </p:sp>
          <p:sp>
            <p:nvSpPr>
              <p:cNvPr id="24" name="TextBox 24"/>
              <p:cNvSpPr txBox="1"/>
              <p:nvPr/>
            </p:nvSpPr>
            <p:spPr>
              <a:xfrm>
                <a:off x="4438650" y="1428750"/>
                <a:ext cx="3314700" cy="3619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575" b="1" dirty="0">
                    <a:solidFill>
                      <a:srgbClr val="FFFFFF"/>
                    </a:solidFill>
                    <a:latin typeface="Arial"/>
                    <a:ea typeface="Microsoft YaHei"/>
                    <a:cs typeface="Arial"/>
                  </a:rPr>
                  <a:t>根因</a:t>
                </a:r>
              </a:p>
            </p:txBody>
          </p:sp>
          <p:sp>
            <p:nvSpPr>
              <p:cNvPr id="25" name="TextBox 25"/>
              <p:cNvSpPr txBox="1"/>
              <p:nvPr/>
            </p:nvSpPr>
            <p:spPr>
              <a:xfrm>
                <a:off x="8172450" y="1428750"/>
                <a:ext cx="3314700" cy="3619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575" b="1" dirty="0">
                    <a:solidFill>
                      <a:srgbClr val="FFFFFF"/>
                    </a:solidFill>
                    <a:latin typeface="Arial"/>
                    <a:ea typeface="Microsoft YaHei"/>
                    <a:cs typeface="Arial"/>
                  </a:rPr>
                  <a:t>处置</a:t>
                </a:r>
              </a:p>
            </p:txBody>
          </p:sp>
        </p:grpSp>
        <p:grpSp>
          <p:nvGrpSpPr>
            <p:cNvPr id="36" name="Group 36"/>
            <p:cNvGrpSpPr/>
            <p:nvPr/>
          </p:nvGrpSpPr>
          <p:grpSpPr>
            <a:xfrm>
              <a:off x="723900" y="2105025"/>
              <a:ext cx="10744200" cy="3086100"/>
              <a:chOff x="723900" y="2105025"/>
              <a:chExt cx="10744200" cy="3086100"/>
            </a:xfrm>
          </p:grpSpPr>
          <p:sp>
            <p:nvSpPr>
              <p:cNvPr id="27" name="TextBox 27"/>
              <p:cNvSpPr txBox="1"/>
              <p:nvPr/>
            </p:nvSpPr>
            <p:spPr>
              <a:xfrm>
                <a:off x="723900" y="210502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「固定 Workflow」典</a:t>
                </a:r>
              </a:p>
            </p:txBody>
          </p:sp>
          <p:sp>
            <p:nvSpPr>
              <p:cNvPr id="28" name="TextBox 28"/>
              <p:cNvSpPr txBox="1"/>
              <p:nvPr/>
            </p:nvSpPr>
            <p:spPr>
              <a:xfrm>
                <a:off x="4457700" y="210502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缺少验证/预算</a:t>
                </a:r>
              </a:p>
            </p:txBody>
          </p:sp>
          <p:sp>
            <p:nvSpPr>
              <p:cNvPr id="29" name="TextBox 29"/>
              <p:cNvSpPr txBox="1"/>
              <p:nvPr/>
            </p:nvSpPr>
            <p:spPr>
              <a:xfrm>
                <a:off x="8191500" y="210502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验真+预算上限</a:t>
                </a:r>
              </a:p>
            </p:txBody>
          </p:sp>
          <p:sp>
            <p:nvSpPr>
              <p:cNvPr id="30" name="TextBox 30"/>
              <p:cNvSpPr txBox="1"/>
              <p:nvPr/>
            </p:nvSpPr>
            <p:spPr>
              <a:xfrm>
                <a:off x="723900" y="326707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结果不可解释</a:t>
                </a:r>
              </a:p>
            </p:txBody>
          </p:sp>
          <p:sp>
            <p:nvSpPr>
              <p:cNvPr id="31" name="TextBox 31"/>
              <p:cNvSpPr txBox="1"/>
              <p:nvPr/>
            </p:nvSpPr>
            <p:spPr>
              <a:xfrm>
                <a:off x="4457700" y="326707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无 Trace 留痕</a:t>
                </a:r>
              </a:p>
            </p:txBody>
          </p:sp>
          <p:sp>
            <p:nvSpPr>
              <p:cNvPr id="32" name="TextBox 32"/>
              <p:cNvSpPr txBox="1"/>
              <p:nvPr/>
            </p:nvSpPr>
            <p:spPr>
              <a:xfrm>
                <a:off x="8191500" y="326707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接入统一 Trace</a:t>
                </a:r>
              </a:p>
            </p:txBody>
          </p:sp>
          <p:sp>
            <p:nvSpPr>
              <p:cNvPr id="33" name="TextBox 33"/>
              <p:cNvSpPr txBox="1"/>
              <p:nvPr/>
            </p:nvSpPr>
            <p:spPr>
              <a:xfrm>
                <a:off x="723900" y="442912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效果悄悄退化</a:t>
                </a:r>
              </a:p>
            </p:txBody>
          </p:sp>
          <p:sp>
            <p:nvSpPr>
              <p:cNvPr id="34" name="TextBox 34"/>
              <p:cNvSpPr txBox="1"/>
              <p:nvPr/>
            </p:nvSpPr>
            <p:spPr>
              <a:xfrm>
                <a:off x="4457700" y="442912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无回归基线</a:t>
                </a:r>
              </a:p>
            </p:txBody>
          </p:sp>
          <p:sp>
            <p:nvSpPr>
              <p:cNvPr id="35" name="TextBox 35"/>
              <p:cNvSpPr txBox="1"/>
              <p:nvPr/>
            </p:nvSpPr>
            <p:spPr>
              <a:xfrm>
                <a:off x="8191500" y="442912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评测+回归门禁</a:t>
                </a:r>
              </a:p>
            </p:txBody>
          </p:sp>
        </p:grpSp>
        <p:sp>
          <p:nvSpPr>
            <p:cNvPr id="37" name="TextBox 37"/>
            <p:cNvSpPr txBox="1"/>
            <p:nvPr/>
          </p:nvSpPr>
          <p:spPr>
            <a:xfrm>
              <a:off x="828675" y="5581650"/>
              <a:ext cx="10534650" cy="4191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500" b="1" dirty="0">
                  <a:solidFill>
                    <a:srgbClr val="0E7490"/>
                  </a:solidFill>
                  <a:latin typeface="Arial"/>
                  <a:ea typeface="Microsoft YaHei"/>
                  <a:cs typeface="Arial"/>
                </a:rPr>
                <a:t>先止血，再根因，最后沉淀为回归用例</a:t>
              </a:r>
            </a:p>
          </p:txBody>
        </p:sp>
      </p:grp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666750"/>
          </a:xfrm>
          <a:prstGeom prst="rect">
            <a:avLst/>
          </a:prstGeom>
          <a:solidFill>
            <a:srgbClr val="0E7490"/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0"/>
            <a:ext cx="57150" cy="666750"/>
          </a:xfrm>
          <a:prstGeom prst="rect">
            <a:avLst/>
          </a:prstGeom>
          <a:solidFill>
            <a:srgbClr val="CC0000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381000" y="123825"/>
            <a:ext cx="762000" cy="4000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1275" b="1" dirty="0">
                <a:solidFill>
                  <a:srgbClr val="9FD3FF"/>
                </a:solidFill>
                <a:latin typeface="Arial"/>
                <a:ea typeface="Microsoft YaHei"/>
                <a:cs typeface="Arial"/>
              </a:rPr>
              <a:t>24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257300" y="95250"/>
            <a:ext cx="8096250" cy="457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21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工程决策：固定 Workflow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0001250" y="76200"/>
            <a:ext cx="1619250" cy="5143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3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DataAgent</a:t>
            </a:r>
          </a:p>
        </p:txBody>
      </p:sp>
      <p:sp>
        <p:nvSpPr>
          <p:cNvPr id="8" name="Rectangle 8"/>
          <p:cNvSpPr/>
          <p:nvPr/>
        </p:nvSpPr>
        <p:spPr>
          <a:xfrm>
            <a:off x="0" y="666750"/>
            <a:ext cx="12192000" cy="476250"/>
          </a:xfrm>
          <a:prstGeom prst="rect">
            <a:avLst/>
          </a:prstGeom>
          <a:solidFill>
            <a:srgbClr val="E8F4FC"/>
          </a:solidFill>
          <a:ln>
            <a:noFill/>
          </a:ln>
        </p:spPr>
      </p:sp>
      <p:sp>
        <p:nvSpPr>
          <p:cNvPr id="9" name="Rectangle 9"/>
          <p:cNvSpPr/>
          <p:nvPr/>
        </p:nvSpPr>
        <p:spPr>
          <a:xfrm>
            <a:off x="0" y="666750"/>
            <a:ext cx="57150" cy="476250"/>
          </a:xfrm>
          <a:prstGeom prst="rect">
            <a:avLst/>
          </a:prstGeom>
          <a:solidFill>
            <a:srgbClr val="06B6D4"/>
          </a:solidFill>
          <a:ln>
            <a:noFill/>
          </a:ln>
        </p:spPr>
      </p:sp>
      <p:sp>
        <p:nvSpPr>
          <p:cNvPr id="10" name="TextBox 10"/>
          <p:cNvSpPr txBox="1"/>
          <p:nvPr/>
        </p:nvSpPr>
        <p:spPr>
          <a:xfrm>
            <a:off x="381000" y="714375"/>
            <a:ext cx="10001250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1350" dirty="0">
                <a:solidFill>
                  <a:srgbClr val="26384A"/>
                </a:solidFill>
                <a:latin typeface="Arial"/>
                <a:ea typeface="Microsoft YaHei"/>
                <a:cs typeface="Arial"/>
              </a:rPr>
              <a:t>候选方案 × 取舍（ADR）</a:t>
            </a:r>
          </a:p>
        </p:txBody>
      </p:sp>
      <p:sp>
        <p:nvSpPr>
          <p:cNvPr id="11" name="Line 11"/>
          <p:cNvSpPr/>
          <p:nvPr/>
        </p:nvSpPr>
        <p:spPr>
          <a:xfrm>
            <a:off x="381000" y="6334125"/>
            <a:ext cx="11430000" cy="9525"/>
          </a:xfrm>
          <a:custGeom>
            <a:avLst/>
            <a:gdLst/>
            <a:ahLst/>
            <a:cxnLst/>
            <a:rect l="l" t="t" r="r" b="b"/>
            <a:pathLst>
              <a:path w="11430000" h="9525">
                <a:moveTo>
                  <a:pt x="0" y="0"/>
                </a:moveTo>
                <a:lnTo>
                  <a:pt x="11430000" y="0"/>
                </a:lnTo>
              </a:path>
            </a:pathLst>
          </a:custGeom>
          <a:noFill/>
          <a:ln w="9525">
            <a:solidFill>
              <a:srgbClr val="E8F4FC"/>
            </a:solidFill>
          </a:ln>
        </p:spPr>
      </p:sp>
      <p:sp>
        <p:nvSpPr>
          <p:cNvPr id="12" name="TextBox 12"/>
          <p:cNvSpPr txBox="1"/>
          <p:nvPr/>
        </p:nvSpPr>
        <p:spPr>
          <a:xfrm>
            <a:off x="381000" y="6477000"/>
            <a:ext cx="4953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课程第15讲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4381500" y="6477000"/>
            <a:ext cx="3429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Agent Runtime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0763250" y="6457950"/>
            <a:ext cx="857250" cy="266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050" dirty="0">
                <a:solidFill>
                  <a:srgbClr val="52657A"/>
                </a:solidFill>
                <a:latin typeface="Arial"/>
                <a:ea typeface="Microsoft YaHei"/>
                <a:cs typeface="Arial"/>
              </a:rPr>
              <a:t>24</a:t>
            </a:r>
          </a:p>
        </p:txBody>
      </p:sp>
      <p:grpSp>
        <p:nvGrpSpPr>
          <p:cNvPr id="38" name="EasySlides Component: matrix"/>
          <p:cNvGrpSpPr/>
          <p:nvPr/>
        </p:nvGrpSpPr>
        <p:grpSpPr>
          <a:xfrm>
            <a:off x="495300" y="1285875"/>
            <a:ext cx="11201400" cy="4905375"/>
            <a:chOff x="495300" y="1285875"/>
            <a:chExt cx="11201400" cy="4905375"/>
          </a:xfrm>
        </p:grpSpPr>
        <p:sp>
          <p:nvSpPr>
            <p:cNvPr id="15" name="Rectangle 15"/>
            <p:cNvSpPr/>
            <p:nvPr/>
          </p:nvSpPr>
          <p:spPr>
            <a:xfrm>
              <a:off x="495300" y="1285875"/>
              <a:ext cx="11201400" cy="4905375"/>
            </a:xfrm>
            <a:prstGeom prst="roundRect">
              <a:avLst>
                <a:gd name="adj" fmla="val 777"/>
              </a:avLst>
            </a:prstGeom>
            <a:solidFill>
              <a:srgbClr val="FFFFFF"/>
            </a:solidFill>
            <a:ln w="11430">
              <a:solidFill>
                <a:srgbClr val="B8C7D6"/>
              </a:solidFill>
            </a:ln>
          </p:spPr>
        </p:sp>
        <p:sp>
          <p:nvSpPr>
            <p:cNvPr id="16" name="Rectangle 16"/>
            <p:cNvSpPr/>
            <p:nvPr/>
          </p:nvSpPr>
          <p:spPr>
            <a:xfrm>
              <a:off x="495300" y="1285875"/>
              <a:ext cx="11201400" cy="647700"/>
            </a:xfrm>
            <a:prstGeom prst="roundRect">
              <a:avLst>
                <a:gd name="adj" fmla="val 5882"/>
              </a:avLst>
            </a:prstGeom>
            <a:solidFill>
              <a:srgbClr val="0E7490"/>
            </a:solidFill>
            <a:ln>
              <a:noFill/>
            </a:ln>
          </p:spPr>
        </p:sp>
        <p:sp>
          <p:nvSpPr>
            <p:cNvPr id="17" name="Line 17"/>
            <p:cNvSpPr/>
            <p:nvPr/>
          </p:nvSpPr>
          <p:spPr>
            <a:xfrm>
              <a:off x="4229100" y="1285875"/>
              <a:ext cx="9525" cy="4143375"/>
            </a:xfrm>
            <a:custGeom>
              <a:avLst/>
              <a:gdLst/>
              <a:ahLst/>
              <a:cxnLst/>
              <a:rect l="l" t="t" r="r" b="b"/>
              <a:pathLst>
                <a:path w="9525" h="4143375">
                  <a:moveTo>
                    <a:pt x="0" y="0"/>
                  </a:moveTo>
                  <a:lnTo>
                    <a:pt x="0" y="4143375"/>
                  </a:lnTo>
                </a:path>
              </a:pathLst>
            </a:custGeom>
            <a:noFill/>
            <a:ln w="9525">
              <a:solidFill>
                <a:srgbClr val="B8C7D6"/>
              </a:solidFill>
            </a:ln>
          </p:spPr>
        </p:sp>
        <p:sp>
          <p:nvSpPr>
            <p:cNvPr id="18" name="Line 18"/>
            <p:cNvSpPr/>
            <p:nvPr/>
          </p:nvSpPr>
          <p:spPr>
            <a:xfrm>
              <a:off x="7962900" y="1285875"/>
              <a:ext cx="9525" cy="4143375"/>
            </a:xfrm>
            <a:custGeom>
              <a:avLst/>
              <a:gdLst/>
              <a:ahLst/>
              <a:cxnLst/>
              <a:rect l="l" t="t" r="r" b="b"/>
              <a:pathLst>
                <a:path w="9525" h="4143375">
                  <a:moveTo>
                    <a:pt x="0" y="0"/>
                  </a:moveTo>
                  <a:lnTo>
                    <a:pt x="0" y="4143375"/>
                  </a:lnTo>
                </a:path>
              </a:pathLst>
            </a:custGeom>
            <a:noFill/>
            <a:ln w="9525">
              <a:solidFill>
                <a:srgbClr val="B8C7D6"/>
              </a:solidFill>
            </a:ln>
          </p:spPr>
        </p:sp>
        <p:sp>
          <p:nvSpPr>
            <p:cNvPr id="19" name="Line 19"/>
            <p:cNvSpPr/>
            <p:nvPr/>
          </p:nvSpPr>
          <p:spPr>
            <a:xfrm>
              <a:off x="495300" y="1933575"/>
              <a:ext cx="11201400" cy="9525"/>
            </a:xfrm>
            <a:custGeom>
              <a:avLst/>
              <a:gdLst/>
              <a:ahLst/>
              <a:cxnLst/>
              <a:rect l="l" t="t" r="r" b="b"/>
              <a:pathLst>
                <a:path w="11201400" h="9525">
                  <a:moveTo>
                    <a:pt x="0" y="0"/>
                  </a:moveTo>
                  <a:lnTo>
                    <a:pt x="11201400" y="0"/>
                  </a:lnTo>
                </a:path>
              </a:pathLst>
            </a:custGeom>
            <a:noFill/>
            <a:ln w="9525">
              <a:solidFill>
                <a:srgbClr val="B8C7D6"/>
              </a:solidFill>
            </a:ln>
          </p:spPr>
        </p:sp>
        <p:sp>
          <p:nvSpPr>
            <p:cNvPr id="20" name="Line 20"/>
            <p:cNvSpPr/>
            <p:nvPr/>
          </p:nvSpPr>
          <p:spPr>
            <a:xfrm>
              <a:off x="495300" y="3095625"/>
              <a:ext cx="11201400" cy="9525"/>
            </a:xfrm>
            <a:custGeom>
              <a:avLst/>
              <a:gdLst/>
              <a:ahLst/>
              <a:cxnLst/>
              <a:rect l="l" t="t" r="r" b="b"/>
              <a:pathLst>
                <a:path w="11201400" h="9525">
                  <a:moveTo>
                    <a:pt x="0" y="0"/>
                  </a:moveTo>
                  <a:lnTo>
                    <a:pt x="11201400" y="0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21" name="Line 21"/>
            <p:cNvSpPr/>
            <p:nvPr/>
          </p:nvSpPr>
          <p:spPr>
            <a:xfrm>
              <a:off x="495300" y="4257675"/>
              <a:ext cx="11201400" cy="9525"/>
            </a:xfrm>
            <a:custGeom>
              <a:avLst/>
              <a:gdLst/>
              <a:ahLst/>
              <a:cxnLst/>
              <a:rect l="l" t="t" r="r" b="b"/>
              <a:pathLst>
                <a:path w="11201400" h="9525">
                  <a:moveTo>
                    <a:pt x="0" y="0"/>
                  </a:moveTo>
                  <a:lnTo>
                    <a:pt x="11201400" y="0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22" name="Line 22"/>
            <p:cNvSpPr/>
            <p:nvPr/>
          </p:nvSpPr>
          <p:spPr>
            <a:xfrm>
              <a:off x="495300" y="5429250"/>
              <a:ext cx="11201400" cy="9525"/>
            </a:xfrm>
            <a:custGeom>
              <a:avLst/>
              <a:gdLst/>
              <a:ahLst/>
              <a:cxnLst/>
              <a:rect l="l" t="t" r="r" b="b"/>
              <a:pathLst>
                <a:path w="11201400" h="9525">
                  <a:moveTo>
                    <a:pt x="0" y="0"/>
                  </a:moveTo>
                  <a:lnTo>
                    <a:pt x="11201400" y="0"/>
                  </a:lnTo>
                </a:path>
              </a:pathLst>
            </a:custGeom>
            <a:noFill/>
            <a:ln w="9525">
              <a:solidFill>
                <a:srgbClr val="B8C7D6"/>
              </a:solidFill>
            </a:ln>
          </p:spPr>
        </p:sp>
        <p:grpSp>
          <p:nvGrpSpPr>
            <p:cNvPr id="26" name="Group 26"/>
            <p:cNvGrpSpPr/>
            <p:nvPr/>
          </p:nvGrpSpPr>
          <p:grpSpPr>
            <a:xfrm>
              <a:off x="704850" y="1428750"/>
              <a:ext cx="10782300" cy="361950"/>
              <a:chOff x="704850" y="1428750"/>
              <a:chExt cx="10782300" cy="361950"/>
            </a:xfrm>
          </p:grpSpPr>
          <p:sp>
            <p:nvSpPr>
              <p:cNvPr id="23" name="TextBox 23"/>
              <p:cNvSpPr txBox="1"/>
              <p:nvPr/>
            </p:nvSpPr>
            <p:spPr>
              <a:xfrm>
                <a:off x="704850" y="1428750"/>
                <a:ext cx="3314700" cy="3619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575" b="1" dirty="0">
                    <a:solidFill>
                      <a:srgbClr val="FFFFFF"/>
                    </a:solidFill>
                    <a:latin typeface="Arial"/>
                    <a:ea typeface="Microsoft YaHei"/>
                    <a:cs typeface="Arial"/>
                  </a:rPr>
                  <a:t>方案</a:t>
                </a:r>
              </a:p>
            </p:txBody>
          </p:sp>
          <p:sp>
            <p:nvSpPr>
              <p:cNvPr id="24" name="TextBox 24"/>
              <p:cNvSpPr txBox="1"/>
              <p:nvPr/>
            </p:nvSpPr>
            <p:spPr>
              <a:xfrm>
                <a:off x="4438650" y="1428750"/>
                <a:ext cx="3314700" cy="3619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575" b="1" dirty="0">
                    <a:solidFill>
                      <a:srgbClr val="FFFFFF"/>
                    </a:solidFill>
                    <a:latin typeface="Arial"/>
                    <a:ea typeface="Microsoft YaHei"/>
                    <a:cs typeface="Arial"/>
                  </a:rPr>
                  <a:t>代价</a:t>
                </a:r>
              </a:p>
            </p:txBody>
          </p:sp>
          <p:sp>
            <p:nvSpPr>
              <p:cNvPr id="25" name="TextBox 25"/>
              <p:cNvSpPr txBox="1"/>
              <p:nvPr/>
            </p:nvSpPr>
            <p:spPr>
              <a:xfrm>
                <a:off x="8172450" y="1428750"/>
                <a:ext cx="3314700" cy="3619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575" b="1" dirty="0">
                    <a:solidFill>
                      <a:srgbClr val="FFFFFF"/>
                    </a:solidFill>
                    <a:latin typeface="Arial"/>
                    <a:ea typeface="Microsoft YaHei"/>
                    <a:cs typeface="Arial"/>
                  </a:rPr>
                  <a:t>结论</a:t>
                </a:r>
              </a:p>
            </p:txBody>
          </p:sp>
        </p:grpSp>
        <p:grpSp>
          <p:nvGrpSpPr>
            <p:cNvPr id="36" name="Group 36"/>
            <p:cNvGrpSpPr/>
            <p:nvPr/>
          </p:nvGrpSpPr>
          <p:grpSpPr>
            <a:xfrm>
              <a:off x="723900" y="2105025"/>
              <a:ext cx="10744200" cy="3086100"/>
              <a:chOff x="723900" y="2105025"/>
              <a:chExt cx="10744200" cy="3086100"/>
            </a:xfrm>
          </p:grpSpPr>
          <p:sp>
            <p:nvSpPr>
              <p:cNvPr id="27" name="TextBox 27"/>
              <p:cNvSpPr txBox="1"/>
              <p:nvPr/>
            </p:nvSpPr>
            <p:spPr>
              <a:xfrm>
                <a:off x="723900" y="210502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直连实现</a:t>
                </a:r>
              </a:p>
            </p:txBody>
          </p:sp>
          <p:sp>
            <p:nvSpPr>
              <p:cNvPr id="28" name="TextBox 28"/>
              <p:cNvSpPr txBox="1"/>
              <p:nvPr/>
            </p:nvSpPr>
            <p:spPr>
              <a:xfrm>
                <a:off x="4457700" y="210502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快但耦合</a:t>
                </a:r>
              </a:p>
            </p:txBody>
          </p:sp>
          <p:sp>
            <p:nvSpPr>
              <p:cNvPr id="29" name="TextBox 29"/>
              <p:cNvSpPr txBox="1"/>
              <p:nvPr/>
            </p:nvSpPr>
            <p:spPr>
              <a:xfrm>
                <a:off x="8191500" y="210502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Demo 可用</a:t>
                </a:r>
              </a:p>
            </p:txBody>
          </p:sp>
          <p:sp>
            <p:nvSpPr>
              <p:cNvPr id="30" name="TextBox 30"/>
              <p:cNvSpPr txBox="1"/>
              <p:nvPr/>
            </p:nvSpPr>
            <p:spPr>
              <a:xfrm>
                <a:off x="723900" y="326707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平台化</a:t>
                </a:r>
              </a:p>
            </p:txBody>
          </p:sp>
          <p:sp>
            <p:nvSpPr>
              <p:cNvPr id="31" name="TextBox 31"/>
              <p:cNvSpPr txBox="1"/>
              <p:nvPr/>
            </p:nvSpPr>
            <p:spPr>
              <a:xfrm>
                <a:off x="4457700" y="326707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前期成本高</a:t>
                </a:r>
              </a:p>
            </p:txBody>
          </p:sp>
          <p:sp>
            <p:nvSpPr>
              <p:cNvPr id="32" name="TextBox 32"/>
              <p:cNvSpPr txBox="1"/>
              <p:nvPr/>
            </p:nvSpPr>
            <p:spPr>
              <a:xfrm>
                <a:off x="8191500" y="326707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生产首选</a:t>
                </a:r>
              </a:p>
            </p:txBody>
          </p:sp>
          <p:sp>
            <p:nvSpPr>
              <p:cNvPr id="33" name="TextBox 33"/>
              <p:cNvSpPr txBox="1"/>
              <p:nvPr/>
            </p:nvSpPr>
            <p:spPr>
              <a:xfrm>
                <a:off x="723900" y="442912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保持简单</a:t>
                </a:r>
              </a:p>
            </p:txBody>
          </p:sp>
          <p:sp>
            <p:nvSpPr>
              <p:cNvPr id="34" name="TextBox 34"/>
              <p:cNvSpPr txBox="1"/>
              <p:nvPr/>
            </p:nvSpPr>
            <p:spPr>
              <a:xfrm>
                <a:off x="4457700" y="442912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能力上限</a:t>
                </a:r>
              </a:p>
            </p:txBody>
          </p:sp>
          <p:sp>
            <p:nvSpPr>
              <p:cNvPr id="35" name="TextBox 35"/>
              <p:cNvSpPr txBox="1"/>
              <p:nvPr/>
            </p:nvSpPr>
            <p:spPr>
              <a:xfrm>
                <a:off x="8191500" y="442912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按场景取舍</a:t>
                </a:r>
              </a:p>
            </p:txBody>
          </p:sp>
        </p:grpSp>
        <p:sp>
          <p:nvSpPr>
            <p:cNvPr id="37" name="TextBox 37"/>
            <p:cNvSpPr txBox="1"/>
            <p:nvPr/>
          </p:nvSpPr>
          <p:spPr>
            <a:xfrm>
              <a:off x="828675" y="5581650"/>
              <a:ext cx="10534650" cy="4191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500" b="1" dirty="0">
                  <a:solidFill>
                    <a:srgbClr val="0E7490"/>
                  </a:solidFill>
                  <a:latin typeface="Arial"/>
                  <a:ea typeface="Microsoft YaHei"/>
                  <a:cs typeface="Arial"/>
                </a:rPr>
                <a:t>「固定 Workflow」的选型以证据与</a:t>
              </a:r>
            </a:p>
          </p:txBody>
        </p:sp>
      </p:grp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666750"/>
          </a:xfrm>
          <a:prstGeom prst="rect">
            <a:avLst/>
          </a:prstGeom>
          <a:solidFill>
            <a:srgbClr val="0E7490"/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0"/>
            <a:ext cx="57150" cy="666750"/>
          </a:xfrm>
          <a:prstGeom prst="rect">
            <a:avLst/>
          </a:prstGeom>
          <a:solidFill>
            <a:srgbClr val="CC0000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381000" y="123825"/>
            <a:ext cx="762000" cy="4000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1275" b="1" dirty="0">
                <a:solidFill>
                  <a:srgbClr val="9FD3FF"/>
                </a:solidFill>
                <a:latin typeface="Arial"/>
                <a:ea typeface="Microsoft YaHei"/>
                <a:cs typeface="Arial"/>
              </a:rPr>
              <a:t>25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257300" y="95250"/>
            <a:ext cx="8096250" cy="457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21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生产化：固定 Workflow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0001250" y="76200"/>
            <a:ext cx="1619250" cy="5143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3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DataAgent</a:t>
            </a:r>
          </a:p>
        </p:txBody>
      </p:sp>
      <p:sp>
        <p:nvSpPr>
          <p:cNvPr id="8" name="Rectangle 8"/>
          <p:cNvSpPr/>
          <p:nvPr/>
        </p:nvSpPr>
        <p:spPr>
          <a:xfrm>
            <a:off x="0" y="666750"/>
            <a:ext cx="12192000" cy="476250"/>
          </a:xfrm>
          <a:prstGeom prst="rect">
            <a:avLst/>
          </a:prstGeom>
          <a:solidFill>
            <a:srgbClr val="E8F4FC"/>
          </a:solidFill>
          <a:ln>
            <a:noFill/>
          </a:ln>
        </p:spPr>
      </p:sp>
      <p:sp>
        <p:nvSpPr>
          <p:cNvPr id="9" name="Rectangle 9"/>
          <p:cNvSpPr/>
          <p:nvPr/>
        </p:nvSpPr>
        <p:spPr>
          <a:xfrm>
            <a:off x="0" y="666750"/>
            <a:ext cx="57150" cy="476250"/>
          </a:xfrm>
          <a:prstGeom prst="rect">
            <a:avLst/>
          </a:prstGeom>
          <a:solidFill>
            <a:srgbClr val="06B6D4"/>
          </a:solidFill>
          <a:ln>
            <a:noFill/>
          </a:ln>
        </p:spPr>
      </p:sp>
      <p:sp>
        <p:nvSpPr>
          <p:cNvPr id="10" name="TextBox 10"/>
          <p:cNvSpPr txBox="1"/>
          <p:nvPr/>
        </p:nvSpPr>
        <p:spPr>
          <a:xfrm>
            <a:off x="381000" y="714375"/>
            <a:ext cx="10001250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1350" dirty="0">
                <a:solidFill>
                  <a:srgbClr val="26384A"/>
                </a:solidFill>
                <a:latin typeface="Arial"/>
                <a:ea typeface="Microsoft YaHei"/>
                <a:cs typeface="Arial"/>
              </a:rPr>
              <a:t>企业级落地三机制</a:t>
            </a:r>
          </a:p>
        </p:txBody>
      </p:sp>
      <p:sp>
        <p:nvSpPr>
          <p:cNvPr id="11" name="Line 11"/>
          <p:cNvSpPr/>
          <p:nvPr/>
        </p:nvSpPr>
        <p:spPr>
          <a:xfrm>
            <a:off x="381000" y="6334125"/>
            <a:ext cx="11430000" cy="9525"/>
          </a:xfrm>
          <a:custGeom>
            <a:avLst/>
            <a:gdLst/>
            <a:ahLst/>
            <a:cxnLst/>
            <a:rect l="l" t="t" r="r" b="b"/>
            <a:pathLst>
              <a:path w="11430000" h="9525">
                <a:moveTo>
                  <a:pt x="0" y="0"/>
                </a:moveTo>
                <a:lnTo>
                  <a:pt x="11430000" y="0"/>
                </a:lnTo>
              </a:path>
            </a:pathLst>
          </a:custGeom>
          <a:noFill/>
          <a:ln w="9525">
            <a:solidFill>
              <a:srgbClr val="E8F4FC"/>
            </a:solidFill>
          </a:ln>
        </p:spPr>
      </p:sp>
      <p:sp>
        <p:nvSpPr>
          <p:cNvPr id="12" name="TextBox 12"/>
          <p:cNvSpPr txBox="1"/>
          <p:nvPr/>
        </p:nvSpPr>
        <p:spPr>
          <a:xfrm>
            <a:off x="381000" y="6477000"/>
            <a:ext cx="4953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课程第15讲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4381500" y="6477000"/>
            <a:ext cx="3429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Agent Runtime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0763250" y="6457950"/>
            <a:ext cx="857250" cy="266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050" dirty="0">
                <a:solidFill>
                  <a:srgbClr val="52657A"/>
                </a:solidFill>
                <a:latin typeface="Arial"/>
                <a:ea typeface="Microsoft YaHei"/>
                <a:cs typeface="Arial"/>
              </a:rPr>
              <a:t>25</a:t>
            </a:r>
          </a:p>
        </p:txBody>
      </p:sp>
      <p:grpSp>
        <p:nvGrpSpPr>
          <p:cNvPr id="38" name="EasySlides Component: matrix"/>
          <p:cNvGrpSpPr/>
          <p:nvPr/>
        </p:nvGrpSpPr>
        <p:grpSpPr>
          <a:xfrm>
            <a:off x="495300" y="1285875"/>
            <a:ext cx="11201400" cy="4905375"/>
            <a:chOff x="495300" y="1285875"/>
            <a:chExt cx="11201400" cy="4905375"/>
          </a:xfrm>
        </p:grpSpPr>
        <p:sp>
          <p:nvSpPr>
            <p:cNvPr id="15" name="Rectangle 15"/>
            <p:cNvSpPr/>
            <p:nvPr/>
          </p:nvSpPr>
          <p:spPr>
            <a:xfrm>
              <a:off x="495300" y="1285875"/>
              <a:ext cx="11201400" cy="4905375"/>
            </a:xfrm>
            <a:prstGeom prst="roundRect">
              <a:avLst>
                <a:gd name="adj" fmla="val 777"/>
              </a:avLst>
            </a:prstGeom>
            <a:solidFill>
              <a:srgbClr val="FFFFFF"/>
            </a:solidFill>
            <a:ln w="11430">
              <a:solidFill>
                <a:srgbClr val="B8C7D6"/>
              </a:solidFill>
            </a:ln>
          </p:spPr>
        </p:sp>
        <p:sp>
          <p:nvSpPr>
            <p:cNvPr id="16" name="Rectangle 16"/>
            <p:cNvSpPr/>
            <p:nvPr/>
          </p:nvSpPr>
          <p:spPr>
            <a:xfrm>
              <a:off x="495300" y="1285875"/>
              <a:ext cx="11201400" cy="647700"/>
            </a:xfrm>
            <a:prstGeom prst="roundRect">
              <a:avLst>
                <a:gd name="adj" fmla="val 5882"/>
              </a:avLst>
            </a:prstGeom>
            <a:solidFill>
              <a:srgbClr val="0E7490"/>
            </a:solidFill>
            <a:ln>
              <a:noFill/>
            </a:ln>
          </p:spPr>
        </p:sp>
        <p:sp>
          <p:nvSpPr>
            <p:cNvPr id="17" name="Line 17"/>
            <p:cNvSpPr/>
            <p:nvPr/>
          </p:nvSpPr>
          <p:spPr>
            <a:xfrm>
              <a:off x="4229100" y="1285875"/>
              <a:ext cx="9525" cy="4143375"/>
            </a:xfrm>
            <a:custGeom>
              <a:avLst/>
              <a:gdLst/>
              <a:ahLst/>
              <a:cxnLst/>
              <a:rect l="l" t="t" r="r" b="b"/>
              <a:pathLst>
                <a:path w="9525" h="4143375">
                  <a:moveTo>
                    <a:pt x="0" y="0"/>
                  </a:moveTo>
                  <a:lnTo>
                    <a:pt x="0" y="4143375"/>
                  </a:lnTo>
                </a:path>
              </a:pathLst>
            </a:custGeom>
            <a:noFill/>
            <a:ln w="9525">
              <a:solidFill>
                <a:srgbClr val="B8C7D6"/>
              </a:solidFill>
            </a:ln>
          </p:spPr>
        </p:sp>
        <p:sp>
          <p:nvSpPr>
            <p:cNvPr id="18" name="Line 18"/>
            <p:cNvSpPr/>
            <p:nvPr/>
          </p:nvSpPr>
          <p:spPr>
            <a:xfrm>
              <a:off x="7962900" y="1285875"/>
              <a:ext cx="9525" cy="4143375"/>
            </a:xfrm>
            <a:custGeom>
              <a:avLst/>
              <a:gdLst/>
              <a:ahLst/>
              <a:cxnLst/>
              <a:rect l="l" t="t" r="r" b="b"/>
              <a:pathLst>
                <a:path w="9525" h="4143375">
                  <a:moveTo>
                    <a:pt x="0" y="0"/>
                  </a:moveTo>
                  <a:lnTo>
                    <a:pt x="0" y="4143375"/>
                  </a:lnTo>
                </a:path>
              </a:pathLst>
            </a:custGeom>
            <a:noFill/>
            <a:ln w="9525">
              <a:solidFill>
                <a:srgbClr val="B8C7D6"/>
              </a:solidFill>
            </a:ln>
          </p:spPr>
        </p:sp>
        <p:sp>
          <p:nvSpPr>
            <p:cNvPr id="19" name="Line 19"/>
            <p:cNvSpPr/>
            <p:nvPr/>
          </p:nvSpPr>
          <p:spPr>
            <a:xfrm>
              <a:off x="495300" y="1933575"/>
              <a:ext cx="11201400" cy="9525"/>
            </a:xfrm>
            <a:custGeom>
              <a:avLst/>
              <a:gdLst/>
              <a:ahLst/>
              <a:cxnLst/>
              <a:rect l="l" t="t" r="r" b="b"/>
              <a:pathLst>
                <a:path w="11201400" h="9525">
                  <a:moveTo>
                    <a:pt x="0" y="0"/>
                  </a:moveTo>
                  <a:lnTo>
                    <a:pt x="11201400" y="0"/>
                  </a:lnTo>
                </a:path>
              </a:pathLst>
            </a:custGeom>
            <a:noFill/>
            <a:ln w="9525">
              <a:solidFill>
                <a:srgbClr val="B8C7D6"/>
              </a:solidFill>
            </a:ln>
          </p:spPr>
        </p:sp>
        <p:sp>
          <p:nvSpPr>
            <p:cNvPr id="20" name="Line 20"/>
            <p:cNvSpPr/>
            <p:nvPr/>
          </p:nvSpPr>
          <p:spPr>
            <a:xfrm>
              <a:off x="495300" y="3095625"/>
              <a:ext cx="11201400" cy="9525"/>
            </a:xfrm>
            <a:custGeom>
              <a:avLst/>
              <a:gdLst/>
              <a:ahLst/>
              <a:cxnLst/>
              <a:rect l="l" t="t" r="r" b="b"/>
              <a:pathLst>
                <a:path w="11201400" h="9525">
                  <a:moveTo>
                    <a:pt x="0" y="0"/>
                  </a:moveTo>
                  <a:lnTo>
                    <a:pt x="11201400" y="0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21" name="Line 21"/>
            <p:cNvSpPr/>
            <p:nvPr/>
          </p:nvSpPr>
          <p:spPr>
            <a:xfrm>
              <a:off x="495300" y="4257675"/>
              <a:ext cx="11201400" cy="9525"/>
            </a:xfrm>
            <a:custGeom>
              <a:avLst/>
              <a:gdLst/>
              <a:ahLst/>
              <a:cxnLst/>
              <a:rect l="l" t="t" r="r" b="b"/>
              <a:pathLst>
                <a:path w="11201400" h="9525">
                  <a:moveTo>
                    <a:pt x="0" y="0"/>
                  </a:moveTo>
                  <a:lnTo>
                    <a:pt x="11201400" y="0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22" name="Line 22"/>
            <p:cNvSpPr/>
            <p:nvPr/>
          </p:nvSpPr>
          <p:spPr>
            <a:xfrm>
              <a:off x="495300" y="5429250"/>
              <a:ext cx="11201400" cy="9525"/>
            </a:xfrm>
            <a:custGeom>
              <a:avLst/>
              <a:gdLst/>
              <a:ahLst/>
              <a:cxnLst/>
              <a:rect l="l" t="t" r="r" b="b"/>
              <a:pathLst>
                <a:path w="11201400" h="9525">
                  <a:moveTo>
                    <a:pt x="0" y="0"/>
                  </a:moveTo>
                  <a:lnTo>
                    <a:pt x="11201400" y="0"/>
                  </a:lnTo>
                </a:path>
              </a:pathLst>
            </a:custGeom>
            <a:noFill/>
            <a:ln w="9525">
              <a:solidFill>
                <a:srgbClr val="B8C7D6"/>
              </a:solidFill>
            </a:ln>
          </p:spPr>
        </p:sp>
        <p:grpSp>
          <p:nvGrpSpPr>
            <p:cNvPr id="26" name="Group 26"/>
            <p:cNvGrpSpPr/>
            <p:nvPr/>
          </p:nvGrpSpPr>
          <p:grpSpPr>
            <a:xfrm>
              <a:off x="704850" y="1428750"/>
              <a:ext cx="10782300" cy="361950"/>
              <a:chOff x="704850" y="1428750"/>
              <a:chExt cx="10782300" cy="361950"/>
            </a:xfrm>
          </p:grpSpPr>
          <p:sp>
            <p:nvSpPr>
              <p:cNvPr id="23" name="TextBox 23"/>
              <p:cNvSpPr txBox="1"/>
              <p:nvPr/>
            </p:nvSpPr>
            <p:spPr>
              <a:xfrm>
                <a:off x="704850" y="1428750"/>
                <a:ext cx="3314700" cy="3619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575" b="1" dirty="0">
                    <a:solidFill>
                      <a:srgbClr val="FFFFFF"/>
                    </a:solidFill>
                    <a:latin typeface="Arial"/>
                    <a:ea typeface="Microsoft YaHei"/>
                    <a:cs typeface="Arial"/>
                  </a:rPr>
                  <a:t>阶段</a:t>
                </a:r>
              </a:p>
            </p:txBody>
          </p:sp>
          <p:sp>
            <p:nvSpPr>
              <p:cNvPr id="24" name="TextBox 24"/>
              <p:cNvSpPr txBox="1"/>
              <p:nvPr/>
            </p:nvSpPr>
            <p:spPr>
              <a:xfrm>
                <a:off x="4438650" y="1428750"/>
                <a:ext cx="3314700" cy="3619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575" b="1" dirty="0">
                    <a:solidFill>
                      <a:srgbClr val="FFFFFF"/>
                    </a:solidFill>
                    <a:latin typeface="Arial"/>
                    <a:ea typeface="Microsoft YaHei"/>
                    <a:cs typeface="Arial"/>
                  </a:rPr>
                  <a:t>机制</a:t>
                </a:r>
              </a:p>
            </p:txBody>
          </p:sp>
          <p:sp>
            <p:nvSpPr>
              <p:cNvPr id="25" name="TextBox 25"/>
              <p:cNvSpPr txBox="1"/>
              <p:nvPr/>
            </p:nvSpPr>
            <p:spPr>
              <a:xfrm>
                <a:off x="8172450" y="1428750"/>
                <a:ext cx="3314700" cy="3619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575" b="1" dirty="0">
                    <a:solidFill>
                      <a:srgbClr val="FFFFFF"/>
                    </a:solidFill>
                    <a:latin typeface="Arial"/>
                    <a:ea typeface="Microsoft YaHei"/>
                    <a:cs typeface="Arial"/>
                  </a:rPr>
                  <a:t>审计/落点</a:t>
                </a:r>
              </a:p>
            </p:txBody>
          </p:sp>
        </p:grpSp>
        <p:grpSp>
          <p:nvGrpSpPr>
            <p:cNvPr id="36" name="Group 36"/>
            <p:cNvGrpSpPr/>
            <p:nvPr/>
          </p:nvGrpSpPr>
          <p:grpSpPr>
            <a:xfrm>
              <a:off x="723900" y="2105025"/>
              <a:ext cx="10744200" cy="3086100"/>
              <a:chOff x="723900" y="2105025"/>
              <a:chExt cx="10744200" cy="3086100"/>
            </a:xfrm>
          </p:grpSpPr>
          <p:sp>
            <p:nvSpPr>
              <p:cNvPr id="27" name="TextBox 27"/>
              <p:cNvSpPr txBox="1"/>
              <p:nvPr/>
            </p:nvSpPr>
            <p:spPr>
              <a:xfrm>
                <a:off x="723900" y="210502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中断</a:t>
                </a:r>
              </a:p>
            </p:txBody>
          </p:sp>
          <p:sp>
            <p:nvSpPr>
              <p:cNvPr id="28" name="TextBox 28"/>
              <p:cNvSpPr txBox="1"/>
              <p:nvPr/>
            </p:nvSpPr>
            <p:spPr>
              <a:xfrm>
                <a:off x="4457700" y="210502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ApprovalPending</a:t>
                </a:r>
              </a:p>
            </p:txBody>
          </p:sp>
          <p:sp>
            <p:nvSpPr>
              <p:cNvPr id="29" name="TextBox 29"/>
              <p:cNvSpPr txBox="1"/>
              <p:nvPr/>
            </p:nvSpPr>
            <p:spPr>
              <a:xfrm>
                <a:off x="8191500" y="210502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waiting_approval</a:t>
                </a:r>
              </a:p>
            </p:txBody>
          </p:sp>
          <p:sp>
            <p:nvSpPr>
              <p:cNvPr id="30" name="TextBox 30"/>
              <p:cNvSpPr txBox="1"/>
              <p:nvPr/>
            </p:nvSpPr>
            <p:spPr>
              <a:xfrm>
                <a:off x="723900" y="326707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决议</a:t>
                </a:r>
              </a:p>
            </p:txBody>
          </p:sp>
          <p:sp>
            <p:nvSpPr>
              <p:cNvPr id="31" name="TextBox 31"/>
              <p:cNvSpPr txBox="1"/>
              <p:nvPr/>
            </p:nvSpPr>
            <p:spPr>
              <a:xfrm>
                <a:off x="4457700" y="326707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decided_by/at</a:t>
                </a:r>
              </a:p>
            </p:txBody>
          </p:sp>
          <p:sp>
            <p:nvSpPr>
              <p:cNvPr id="32" name="TextBox 32"/>
              <p:cNvSpPr txBox="1"/>
              <p:nvPr/>
            </p:nvSpPr>
            <p:spPr>
              <a:xfrm>
                <a:off x="8191500" y="326707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approve/reject</a:t>
                </a:r>
              </a:p>
            </p:txBody>
          </p:sp>
          <p:sp>
            <p:nvSpPr>
              <p:cNvPr id="33" name="TextBox 33"/>
              <p:cNvSpPr txBox="1"/>
              <p:nvPr/>
            </p:nvSpPr>
            <p:spPr>
              <a:xfrm>
                <a:off x="723900" y="442912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恢复</a:t>
                </a:r>
              </a:p>
            </p:txBody>
          </p:sp>
          <p:sp>
            <p:nvSpPr>
              <p:cNvPr id="34" name="TextBox 34"/>
              <p:cNvSpPr txBox="1"/>
              <p:nvPr/>
            </p:nvSpPr>
            <p:spPr>
              <a:xfrm>
                <a:off x="4457700" y="442912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pre_approved</a:t>
                </a:r>
              </a:p>
            </p:txBody>
          </p:sp>
          <p:sp>
            <p:nvSpPr>
              <p:cNvPr id="35" name="TextBox 35"/>
              <p:cNvSpPr txBox="1"/>
              <p:nvPr/>
            </p:nvSpPr>
            <p:spPr>
              <a:xfrm>
                <a:off x="8191500" y="442912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succeeded/canceled</a:t>
                </a:r>
              </a:p>
            </p:txBody>
          </p:sp>
        </p:grpSp>
        <p:sp>
          <p:nvSpPr>
            <p:cNvPr id="37" name="TextBox 37"/>
            <p:cNvSpPr txBox="1"/>
            <p:nvPr/>
          </p:nvSpPr>
          <p:spPr>
            <a:xfrm>
              <a:off x="828675" y="5581650"/>
              <a:ext cx="10534650" cy="4191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500" b="1" dirty="0">
                  <a:solidFill>
                    <a:srgbClr val="0E7490"/>
                  </a:solidFill>
                  <a:latin typeface="Arial"/>
                  <a:ea typeface="Microsoft YaHei"/>
                  <a:cs typeface="Arial"/>
                </a:rPr>
                <a:t>HITL：中断-审批-恢复 全真实落库</a:t>
              </a:r>
            </a:p>
          </p:txBody>
        </p:sp>
      </p:grp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666750"/>
          </a:xfrm>
          <a:prstGeom prst="rect">
            <a:avLst/>
          </a:prstGeom>
          <a:solidFill>
            <a:srgbClr val="0E7490"/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0"/>
            <a:ext cx="57150" cy="666750"/>
          </a:xfrm>
          <a:prstGeom prst="rect">
            <a:avLst/>
          </a:prstGeom>
          <a:solidFill>
            <a:srgbClr val="CC0000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381000" y="123825"/>
            <a:ext cx="762000" cy="4000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1275" b="1" dirty="0">
                <a:solidFill>
                  <a:srgbClr val="9FD3FF"/>
                </a:solidFill>
                <a:latin typeface="Arial"/>
                <a:ea typeface="Microsoft YaHei"/>
                <a:cs typeface="Arial"/>
              </a:rPr>
              <a:t>26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257300" y="95250"/>
            <a:ext cx="8096250" cy="457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21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企业治理：固定 Workflow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0001250" y="76200"/>
            <a:ext cx="1619250" cy="5143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3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DataAgent</a:t>
            </a:r>
          </a:p>
        </p:txBody>
      </p:sp>
      <p:sp>
        <p:nvSpPr>
          <p:cNvPr id="8" name="Rectangle 8"/>
          <p:cNvSpPr/>
          <p:nvPr/>
        </p:nvSpPr>
        <p:spPr>
          <a:xfrm>
            <a:off x="0" y="666750"/>
            <a:ext cx="12192000" cy="476250"/>
          </a:xfrm>
          <a:prstGeom prst="rect">
            <a:avLst/>
          </a:prstGeom>
          <a:solidFill>
            <a:srgbClr val="E8F4FC"/>
          </a:solidFill>
          <a:ln>
            <a:noFill/>
          </a:ln>
        </p:spPr>
      </p:sp>
      <p:sp>
        <p:nvSpPr>
          <p:cNvPr id="9" name="Rectangle 9"/>
          <p:cNvSpPr/>
          <p:nvPr/>
        </p:nvSpPr>
        <p:spPr>
          <a:xfrm>
            <a:off x="0" y="666750"/>
            <a:ext cx="57150" cy="476250"/>
          </a:xfrm>
          <a:prstGeom prst="rect">
            <a:avLst/>
          </a:prstGeom>
          <a:solidFill>
            <a:srgbClr val="06B6D4"/>
          </a:solidFill>
          <a:ln>
            <a:noFill/>
          </a:ln>
        </p:spPr>
      </p:sp>
      <p:sp>
        <p:nvSpPr>
          <p:cNvPr id="10" name="TextBox 10"/>
          <p:cNvSpPr txBox="1"/>
          <p:nvPr/>
        </p:nvSpPr>
        <p:spPr>
          <a:xfrm>
            <a:off x="381000" y="714375"/>
            <a:ext cx="10001250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1350" dirty="0">
                <a:solidFill>
                  <a:srgbClr val="26384A"/>
                </a:solidFill>
                <a:latin typeface="Arial"/>
                <a:ea typeface="Microsoft YaHei"/>
                <a:cs typeface="Arial"/>
              </a:rPr>
              <a:t>三项已闭合边界</a:t>
            </a:r>
          </a:p>
        </p:txBody>
      </p:sp>
      <p:sp>
        <p:nvSpPr>
          <p:cNvPr id="11" name="Line 11"/>
          <p:cNvSpPr/>
          <p:nvPr/>
        </p:nvSpPr>
        <p:spPr>
          <a:xfrm>
            <a:off x="381000" y="6334125"/>
            <a:ext cx="11430000" cy="9525"/>
          </a:xfrm>
          <a:custGeom>
            <a:avLst/>
            <a:gdLst/>
            <a:ahLst/>
            <a:cxnLst/>
            <a:rect l="l" t="t" r="r" b="b"/>
            <a:pathLst>
              <a:path w="11430000" h="9525">
                <a:moveTo>
                  <a:pt x="0" y="0"/>
                </a:moveTo>
                <a:lnTo>
                  <a:pt x="11430000" y="0"/>
                </a:lnTo>
              </a:path>
            </a:pathLst>
          </a:custGeom>
          <a:noFill/>
          <a:ln w="9525">
            <a:solidFill>
              <a:srgbClr val="E8F4FC"/>
            </a:solidFill>
          </a:ln>
        </p:spPr>
      </p:sp>
      <p:sp>
        <p:nvSpPr>
          <p:cNvPr id="12" name="TextBox 12"/>
          <p:cNvSpPr txBox="1"/>
          <p:nvPr/>
        </p:nvSpPr>
        <p:spPr>
          <a:xfrm>
            <a:off x="381000" y="6477000"/>
            <a:ext cx="4953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课程第15讲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4381500" y="6477000"/>
            <a:ext cx="3429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Agent Runtime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0763250" y="6457950"/>
            <a:ext cx="857250" cy="266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050" dirty="0">
                <a:solidFill>
                  <a:srgbClr val="52657A"/>
                </a:solidFill>
                <a:latin typeface="Arial"/>
                <a:ea typeface="Microsoft YaHei"/>
                <a:cs typeface="Arial"/>
              </a:rPr>
              <a:t>26</a:t>
            </a:r>
          </a:p>
        </p:txBody>
      </p:sp>
      <p:grpSp>
        <p:nvGrpSpPr>
          <p:cNvPr id="21" name="EasySlides Component: evidence_01"/>
          <p:cNvGrpSpPr/>
          <p:nvPr/>
        </p:nvGrpSpPr>
        <p:grpSpPr>
          <a:xfrm>
            <a:off x="495300" y="3524250"/>
            <a:ext cx="11201400" cy="1285875"/>
            <a:chOff x="495300" y="3524250"/>
            <a:chExt cx="11201400" cy="1285875"/>
          </a:xfrm>
        </p:grpSpPr>
        <p:sp>
          <p:nvSpPr>
            <p:cNvPr id="15" name="Rectangle 15"/>
            <p:cNvSpPr/>
            <p:nvPr/>
          </p:nvSpPr>
          <p:spPr>
            <a:xfrm>
              <a:off x="495300" y="3524250"/>
              <a:ext cx="11201400" cy="1285875"/>
            </a:xfrm>
            <a:prstGeom prst="roundRect">
              <a:avLst>
                <a:gd name="adj" fmla="val 2963"/>
              </a:avLst>
            </a:prstGeom>
            <a:solidFill>
              <a:srgbClr val="FFFFFF"/>
            </a:solidFill>
            <a:ln w="11430">
              <a:solidFill>
                <a:srgbClr val="B8C7D6"/>
              </a:solidFill>
            </a:ln>
          </p:spPr>
        </p:sp>
        <p:sp>
          <p:nvSpPr>
            <p:cNvPr id="16" name="Rectangle 16"/>
            <p:cNvSpPr/>
            <p:nvPr/>
          </p:nvSpPr>
          <p:spPr>
            <a:xfrm>
              <a:off x="495300" y="3524250"/>
              <a:ext cx="76200" cy="1285875"/>
            </a:xfrm>
            <a:prstGeom prst="roundRect">
              <a:avLst>
                <a:gd name="adj" fmla="val 50000"/>
              </a:avLst>
            </a:prstGeom>
            <a:solidFill>
              <a:srgbClr val="06B6D4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733425" y="3971925"/>
              <a:ext cx="438150" cy="5238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650" b="1" dirty="0">
                  <a:solidFill>
                    <a:srgbClr val="06B6D4"/>
                  </a:solidFill>
                  <a:latin typeface="Arial"/>
                  <a:ea typeface="Microsoft YaHei"/>
                  <a:cs typeface="Arial"/>
                </a:rPr>
                <a:t>01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1447800" y="3752850"/>
              <a:ext cx="2667000" cy="78105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575" b="1" dirty="0">
                  <a:solidFill>
                    <a:srgbClr val="0E7490"/>
                  </a:solidFill>
                  <a:latin typeface="Arial"/>
                  <a:ea typeface="Microsoft YaHei"/>
                  <a:cs typeface="Arial"/>
                </a:rPr>
                <a:t>认证</a:t>
              </a:r>
            </a:p>
          </p:txBody>
        </p:sp>
        <p:sp>
          <p:nvSpPr>
            <p:cNvPr id="19" name="Line 19"/>
            <p:cNvSpPr/>
            <p:nvPr/>
          </p:nvSpPr>
          <p:spPr>
            <a:xfrm>
              <a:off x="4362450" y="3752850"/>
              <a:ext cx="9525" cy="828675"/>
            </a:xfrm>
            <a:custGeom>
              <a:avLst/>
              <a:gdLst/>
              <a:ahLst/>
              <a:cxnLst/>
              <a:rect l="l" t="t" r="r" b="b"/>
              <a:pathLst>
                <a:path w="9525" h="828675">
                  <a:moveTo>
                    <a:pt x="0" y="0"/>
                  </a:moveTo>
                  <a:lnTo>
                    <a:pt x="0" y="828675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4686300" y="3752850"/>
              <a:ext cx="6572250" cy="78105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425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未认证401/越权403（LAN实测）</a:t>
              </a:r>
            </a:p>
          </p:txBody>
        </p:sp>
      </p:grpSp>
      <p:grpSp>
        <p:nvGrpSpPr>
          <p:cNvPr id="28" name="EasySlides Component: evidence_02"/>
          <p:cNvGrpSpPr/>
          <p:nvPr/>
        </p:nvGrpSpPr>
        <p:grpSpPr>
          <a:xfrm>
            <a:off x="495300" y="4905375"/>
            <a:ext cx="11201400" cy="1285875"/>
            <a:chOff x="495300" y="4905375"/>
            <a:chExt cx="11201400" cy="1285875"/>
          </a:xfrm>
        </p:grpSpPr>
        <p:sp>
          <p:nvSpPr>
            <p:cNvPr id="22" name="Rectangle 22"/>
            <p:cNvSpPr/>
            <p:nvPr/>
          </p:nvSpPr>
          <p:spPr>
            <a:xfrm>
              <a:off x="495300" y="4905375"/>
              <a:ext cx="11201400" cy="1285875"/>
            </a:xfrm>
            <a:prstGeom prst="roundRect">
              <a:avLst>
                <a:gd name="adj" fmla="val 2963"/>
              </a:avLst>
            </a:prstGeom>
            <a:solidFill>
              <a:srgbClr val="FFFFFF"/>
            </a:solidFill>
            <a:ln w="11430">
              <a:solidFill>
                <a:srgbClr val="B8C7D6"/>
              </a:solidFill>
            </a:ln>
          </p:spPr>
        </p:sp>
        <p:sp>
          <p:nvSpPr>
            <p:cNvPr id="23" name="Rectangle 23"/>
            <p:cNvSpPr/>
            <p:nvPr/>
          </p:nvSpPr>
          <p:spPr>
            <a:xfrm>
              <a:off x="495300" y="4905375"/>
              <a:ext cx="76200" cy="1285875"/>
            </a:xfrm>
            <a:prstGeom prst="roundRect">
              <a:avLst>
                <a:gd name="adj" fmla="val 50000"/>
              </a:avLst>
            </a:prstGeom>
            <a:solidFill>
              <a:srgbClr val="06B6D4"/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733425" y="5353050"/>
              <a:ext cx="438150" cy="5238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650" b="1" dirty="0">
                  <a:solidFill>
                    <a:srgbClr val="06B6D4"/>
                  </a:solidFill>
                  <a:latin typeface="Arial"/>
                  <a:ea typeface="Microsoft YaHei"/>
                  <a:cs typeface="Arial"/>
                </a:rPr>
                <a:t>02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1447800" y="5133975"/>
              <a:ext cx="2667000" cy="78105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575" b="1" dirty="0">
                  <a:solidFill>
                    <a:srgbClr val="0E7490"/>
                  </a:solidFill>
                  <a:latin typeface="Arial"/>
                  <a:ea typeface="Microsoft YaHei"/>
                  <a:cs typeface="Arial"/>
                </a:rPr>
                <a:t>队列</a:t>
              </a:r>
            </a:p>
          </p:txBody>
        </p:sp>
        <p:sp>
          <p:nvSpPr>
            <p:cNvPr id="26" name="Line 26"/>
            <p:cNvSpPr/>
            <p:nvPr/>
          </p:nvSpPr>
          <p:spPr>
            <a:xfrm>
              <a:off x="4362450" y="5133975"/>
              <a:ext cx="9525" cy="828675"/>
            </a:xfrm>
            <a:custGeom>
              <a:avLst/>
              <a:gdLst/>
              <a:ahLst/>
              <a:cxnLst/>
              <a:rect l="l" t="t" r="r" b="b"/>
              <a:pathLst>
                <a:path w="9525" h="828675">
                  <a:moveTo>
                    <a:pt x="0" y="0"/>
                  </a:moveTo>
                  <a:lnTo>
                    <a:pt x="0" y="828675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4686300" y="5133975"/>
              <a:ext cx="6572250" cy="78105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425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queued→running→终态全落库（LAN实测）</a:t>
              </a:r>
            </a:p>
          </p:txBody>
        </p:sp>
      </p:grpSp>
      <p:grpSp>
        <p:nvGrpSpPr>
          <p:cNvPr id="34" name="EasySlides Component: metric_01"/>
          <p:cNvGrpSpPr/>
          <p:nvPr/>
        </p:nvGrpSpPr>
        <p:grpSpPr>
          <a:xfrm>
            <a:off x="495300" y="1285875"/>
            <a:ext cx="3505200" cy="1809750"/>
            <a:chOff x="495300" y="1285875"/>
            <a:chExt cx="3505200" cy="1809750"/>
          </a:xfrm>
        </p:grpSpPr>
        <p:sp>
          <p:nvSpPr>
            <p:cNvPr id="29" name="Rectangle 29"/>
            <p:cNvSpPr/>
            <p:nvPr/>
          </p:nvSpPr>
          <p:spPr>
            <a:xfrm>
              <a:off x="495300" y="1285875"/>
              <a:ext cx="3505200" cy="1809750"/>
            </a:xfrm>
            <a:prstGeom prst="roundRect">
              <a:avLst>
                <a:gd name="adj" fmla="val 2105"/>
              </a:avLst>
            </a:prstGeom>
            <a:solidFill>
              <a:srgbClr val="F0F9FC"/>
            </a:solidFill>
            <a:ln w="11430">
              <a:solidFill>
                <a:srgbClr val="B8C7D6"/>
              </a:solidFill>
            </a:ln>
          </p:spPr>
        </p:sp>
        <p:sp>
          <p:nvSpPr>
            <p:cNvPr id="30" name="Rectangle 30"/>
            <p:cNvSpPr/>
            <p:nvPr/>
          </p:nvSpPr>
          <p:spPr>
            <a:xfrm>
              <a:off x="495300" y="1285875"/>
              <a:ext cx="3505200" cy="66675"/>
            </a:xfrm>
            <a:prstGeom prst="roundRect">
              <a:avLst>
                <a:gd name="adj" fmla="val 50000"/>
              </a:avLst>
            </a:prstGeom>
            <a:solidFill>
              <a:srgbClr val="06B6D4"/>
            </a:solidFill>
            <a:ln>
              <a:noFill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762000" y="1619250"/>
              <a:ext cx="2971800" cy="7143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3150" b="1" dirty="0">
                  <a:solidFill>
                    <a:srgbClr val="0E7490"/>
                  </a:solidFill>
                  <a:latin typeface="Arial"/>
                  <a:ea typeface="Microsoft YaHei"/>
                  <a:cs typeface="Arial"/>
                </a:rPr>
                <a:t>JWT</a:t>
              </a:r>
            </a:p>
          </p:txBody>
        </p:sp>
        <p:sp>
          <p:nvSpPr>
            <p:cNvPr id="32" name="Line 32"/>
            <p:cNvSpPr/>
            <p:nvPr/>
          </p:nvSpPr>
          <p:spPr>
            <a:xfrm>
              <a:off x="990600" y="2476500"/>
              <a:ext cx="2514600" cy="9525"/>
            </a:xfrm>
            <a:custGeom>
              <a:avLst/>
              <a:gdLst/>
              <a:ahLst/>
              <a:cxnLst/>
              <a:rect l="l" t="t" r="r" b="b"/>
              <a:pathLst>
                <a:path w="2514600" h="9525">
                  <a:moveTo>
                    <a:pt x="0" y="0"/>
                  </a:moveTo>
                  <a:lnTo>
                    <a:pt x="2514600" y="0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762000" y="2562225"/>
              <a:ext cx="2971800" cy="3429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350" dirty="0">
                  <a:solidFill>
                    <a:srgbClr val="52657A"/>
                  </a:solidFill>
                  <a:latin typeface="Arial"/>
                  <a:ea typeface="Microsoft YaHei"/>
                  <a:cs typeface="Arial"/>
                </a:rPr>
                <a:t>HS256+四角色RBAC</a:t>
              </a:r>
            </a:p>
          </p:txBody>
        </p:sp>
      </p:grpSp>
      <p:grpSp>
        <p:nvGrpSpPr>
          <p:cNvPr id="40" name="EasySlides Component: metric_02"/>
          <p:cNvGrpSpPr/>
          <p:nvPr/>
        </p:nvGrpSpPr>
        <p:grpSpPr>
          <a:xfrm>
            <a:off x="4343400" y="1285875"/>
            <a:ext cx="3505200" cy="1809750"/>
            <a:chOff x="4343400" y="1285875"/>
            <a:chExt cx="3505200" cy="1809750"/>
          </a:xfrm>
        </p:grpSpPr>
        <p:sp>
          <p:nvSpPr>
            <p:cNvPr id="35" name="Rectangle 35"/>
            <p:cNvSpPr/>
            <p:nvPr/>
          </p:nvSpPr>
          <p:spPr>
            <a:xfrm>
              <a:off x="4343400" y="1285875"/>
              <a:ext cx="3505200" cy="1809750"/>
            </a:xfrm>
            <a:prstGeom prst="roundRect">
              <a:avLst>
                <a:gd name="adj" fmla="val 2105"/>
              </a:avLst>
            </a:prstGeom>
            <a:solidFill>
              <a:srgbClr val="F0F9FC"/>
            </a:solidFill>
            <a:ln w="11430">
              <a:solidFill>
                <a:srgbClr val="B8C7D6"/>
              </a:solidFill>
            </a:ln>
          </p:spPr>
        </p:sp>
        <p:sp>
          <p:nvSpPr>
            <p:cNvPr id="36" name="Rectangle 36"/>
            <p:cNvSpPr/>
            <p:nvPr/>
          </p:nvSpPr>
          <p:spPr>
            <a:xfrm>
              <a:off x="4343400" y="1285875"/>
              <a:ext cx="3505200" cy="66675"/>
            </a:xfrm>
            <a:prstGeom prst="roundRect">
              <a:avLst>
                <a:gd name="adj" fmla="val 50000"/>
              </a:avLst>
            </a:prstGeom>
            <a:solidFill>
              <a:srgbClr val="06B6D4"/>
            </a:solidFill>
            <a:ln>
              <a:noFill/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4610100" y="1619250"/>
              <a:ext cx="2971800" cy="7143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3150" b="1" dirty="0">
                  <a:solidFill>
                    <a:srgbClr val="0E7490"/>
                  </a:solidFill>
                  <a:latin typeface="Arial"/>
                  <a:ea typeface="Microsoft YaHei"/>
                  <a:cs typeface="Arial"/>
                </a:rPr>
                <a:t>队列</a:t>
              </a:r>
            </a:p>
          </p:txBody>
        </p:sp>
        <p:sp>
          <p:nvSpPr>
            <p:cNvPr id="38" name="Line 38"/>
            <p:cNvSpPr/>
            <p:nvPr/>
          </p:nvSpPr>
          <p:spPr>
            <a:xfrm>
              <a:off x="4838700" y="2476500"/>
              <a:ext cx="2514600" cy="9525"/>
            </a:xfrm>
            <a:custGeom>
              <a:avLst/>
              <a:gdLst/>
              <a:ahLst/>
              <a:cxnLst/>
              <a:rect l="l" t="t" r="r" b="b"/>
              <a:pathLst>
                <a:path w="2514600" h="9525">
                  <a:moveTo>
                    <a:pt x="0" y="0"/>
                  </a:moveTo>
                  <a:lnTo>
                    <a:pt x="2514600" y="0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4610100" y="2562225"/>
              <a:ext cx="2971800" cy="3429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350" dirty="0">
                  <a:solidFill>
                    <a:srgbClr val="52657A"/>
                  </a:solidFill>
                  <a:latin typeface="Arial"/>
                  <a:ea typeface="Microsoft YaHei"/>
                  <a:cs typeface="Arial"/>
                </a:rPr>
                <a:t>Pulsar/Redis Worker落库</a:t>
              </a:r>
            </a:p>
          </p:txBody>
        </p:sp>
      </p:grpSp>
      <p:grpSp>
        <p:nvGrpSpPr>
          <p:cNvPr id="46" name="EasySlides Component: metric_03"/>
          <p:cNvGrpSpPr/>
          <p:nvPr/>
        </p:nvGrpSpPr>
        <p:grpSpPr>
          <a:xfrm>
            <a:off x="8191500" y="1285875"/>
            <a:ext cx="3505200" cy="1809750"/>
            <a:chOff x="8191500" y="1285875"/>
            <a:chExt cx="3505200" cy="1809750"/>
          </a:xfrm>
        </p:grpSpPr>
        <p:sp>
          <p:nvSpPr>
            <p:cNvPr id="41" name="Rectangle 41"/>
            <p:cNvSpPr/>
            <p:nvPr/>
          </p:nvSpPr>
          <p:spPr>
            <a:xfrm>
              <a:off x="8191500" y="1285875"/>
              <a:ext cx="3505200" cy="1809750"/>
            </a:xfrm>
            <a:prstGeom prst="roundRect">
              <a:avLst>
                <a:gd name="adj" fmla="val 2105"/>
              </a:avLst>
            </a:prstGeom>
            <a:solidFill>
              <a:srgbClr val="F0F9FC"/>
            </a:solidFill>
            <a:ln w="11430">
              <a:solidFill>
                <a:srgbClr val="B8C7D6"/>
              </a:solidFill>
            </a:ln>
          </p:spPr>
        </p:sp>
        <p:sp>
          <p:nvSpPr>
            <p:cNvPr id="42" name="Rectangle 42"/>
            <p:cNvSpPr/>
            <p:nvPr/>
          </p:nvSpPr>
          <p:spPr>
            <a:xfrm>
              <a:off x="8191500" y="1285875"/>
              <a:ext cx="3505200" cy="66675"/>
            </a:xfrm>
            <a:prstGeom prst="roundRect">
              <a:avLst>
                <a:gd name="adj" fmla="val 50000"/>
              </a:avLst>
            </a:prstGeom>
            <a:solidFill>
              <a:srgbClr val="06B6D4"/>
            </a:solidFill>
            <a:ln>
              <a:noFill/>
            </a:ln>
          </p:spPr>
        </p:sp>
        <p:sp>
          <p:nvSpPr>
            <p:cNvPr id="43" name="TextBox 43"/>
            <p:cNvSpPr txBox="1"/>
            <p:nvPr/>
          </p:nvSpPr>
          <p:spPr>
            <a:xfrm>
              <a:off x="8458200" y="1619250"/>
              <a:ext cx="2971800" cy="7143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3150" b="1" dirty="0">
                  <a:solidFill>
                    <a:srgbClr val="0E7490"/>
                  </a:solidFill>
                  <a:latin typeface="Arial"/>
                  <a:ea typeface="Microsoft YaHei"/>
                  <a:cs typeface="Arial"/>
                </a:rPr>
                <a:t>审批</a:t>
              </a:r>
            </a:p>
          </p:txBody>
        </p:sp>
        <p:sp>
          <p:nvSpPr>
            <p:cNvPr id="44" name="Line 44"/>
            <p:cNvSpPr/>
            <p:nvPr/>
          </p:nvSpPr>
          <p:spPr>
            <a:xfrm>
              <a:off x="8686800" y="2476500"/>
              <a:ext cx="2514600" cy="9525"/>
            </a:xfrm>
            <a:custGeom>
              <a:avLst/>
              <a:gdLst/>
              <a:ahLst/>
              <a:cxnLst/>
              <a:rect l="l" t="t" r="r" b="b"/>
              <a:pathLst>
                <a:path w="2514600" h="9525">
                  <a:moveTo>
                    <a:pt x="0" y="0"/>
                  </a:moveTo>
                  <a:lnTo>
                    <a:pt x="2514600" y="0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45" name="TextBox 45"/>
            <p:cNvSpPr txBox="1"/>
            <p:nvPr/>
          </p:nvSpPr>
          <p:spPr>
            <a:xfrm>
              <a:off x="8458200" y="2562225"/>
              <a:ext cx="2971800" cy="3429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350" dirty="0">
                  <a:solidFill>
                    <a:srgbClr val="52657A"/>
                  </a:solidFill>
                  <a:latin typeface="Arial"/>
                  <a:ea typeface="Microsoft YaHei"/>
                  <a:cs typeface="Arial"/>
                </a:rPr>
                <a:t>HITL 中断-恢复</a:t>
              </a:r>
            </a:p>
          </p:txBody>
        </p:sp>
      </p:grp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666750"/>
          </a:xfrm>
          <a:prstGeom prst="rect">
            <a:avLst/>
          </a:prstGeom>
          <a:solidFill>
            <a:srgbClr val="0E7490"/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0"/>
            <a:ext cx="57150" cy="666750"/>
          </a:xfrm>
          <a:prstGeom prst="rect">
            <a:avLst/>
          </a:prstGeom>
          <a:solidFill>
            <a:srgbClr val="CC0000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381000" y="123825"/>
            <a:ext cx="762000" cy="4000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1275" b="1" dirty="0">
                <a:solidFill>
                  <a:srgbClr val="9FD3FF"/>
                </a:solidFill>
                <a:latin typeface="Arial"/>
                <a:ea typeface="Microsoft YaHei"/>
                <a:cs typeface="Arial"/>
              </a:rPr>
              <a:t>27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257300" y="95250"/>
            <a:ext cx="8096250" cy="457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21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优化拓展：固定 Workflow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0001250" y="76200"/>
            <a:ext cx="1619250" cy="5143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3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DataAgent</a:t>
            </a:r>
          </a:p>
        </p:txBody>
      </p:sp>
      <p:sp>
        <p:nvSpPr>
          <p:cNvPr id="8" name="Rectangle 8"/>
          <p:cNvSpPr/>
          <p:nvPr/>
        </p:nvSpPr>
        <p:spPr>
          <a:xfrm>
            <a:off x="0" y="666750"/>
            <a:ext cx="12192000" cy="476250"/>
          </a:xfrm>
          <a:prstGeom prst="rect">
            <a:avLst/>
          </a:prstGeom>
          <a:solidFill>
            <a:srgbClr val="E8F4FC"/>
          </a:solidFill>
          <a:ln>
            <a:noFill/>
          </a:ln>
        </p:spPr>
      </p:sp>
      <p:sp>
        <p:nvSpPr>
          <p:cNvPr id="9" name="Rectangle 9"/>
          <p:cNvSpPr/>
          <p:nvPr/>
        </p:nvSpPr>
        <p:spPr>
          <a:xfrm>
            <a:off x="0" y="666750"/>
            <a:ext cx="57150" cy="476250"/>
          </a:xfrm>
          <a:prstGeom prst="rect">
            <a:avLst/>
          </a:prstGeom>
          <a:solidFill>
            <a:srgbClr val="06B6D4"/>
          </a:solidFill>
          <a:ln>
            <a:noFill/>
          </a:ln>
        </p:spPr>
      </p:sp>
      <p:sp>
        <p:nvSpPr>
          <p:cNvPr id="10" name="TextBox 10"/>
          <p:cNvSpPr txBox="1"/>
          <p:nvPr/>
        </p:nvSpPr>
        <p:spPr>
          <a:xfrm>
            <a:off x="381000" y="714375"/>
            <a:ext cx="10001250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1350" dirty="0">
                <a:solidFill>
                  <a:srgbClr val="26384A"/>
                </a:solidFill>
                <a:latin typeface="Arial"/>
                <a:ea typeface="Microsoft YaHei"/>
                <a:cs typeface="Arial"/>
              </a:rPr>
              <a:t>三个可持续优化抓手</a:t>
            </a:r>
          </a:p>
        </p:txBody>
      </p:sp>
      <p:sp>
        <p:nvSpPr>
          <p:cNvPr id="11" name="Line 11"/>
          <p:cNvSpPr/>
          <p:nvPr/>
        </p:nvSpPr>
        <p:spPr>
          <a:xfrm>
            <a:off x="381000" y="6334125"/>
            <a:ext cx="11430000" cy="9525"/>
          </a:xfrm>
          <a:custGeom>
            <a:avLst/>
            <a:gdLst/>
            <a:ahLst/>
            <a:cxnLst/>
            <a:rect l="l" t="t" r="r" b="b"/>
            <a:pathLst>
              <a:path w="11430000" h="9525">
                <a:moveTo>
                  <a:pt x="0" y="0"/>
                </a:moveTo>
                <a:lnTo>
                  <a:pt x="11430000" y="0"/>
                </a:lnTo>
              </a:path>
            </a:pathLst>
          </a:custGeom>
          <a:noFill/>
          <a:ln w="9525">
            <a:solidFill>
              <a:srgbClr val="E8F4FC"/>
            </a:solidFill>
          </a:ln>
        </p:spPr>
      </p:sp>
      <p:sp>
        <p:nvSpPr>
          <p:cNvPr id="12" name="TextBox 12"/>
          <p:cNvSpPr txBox="1"/>
          <p:nvPr/>
        </p:nvSpPr>
        <p:spPr>
          <a:xfrm>
            <a:off x="381000" y="6477000"/>
            <a:ext cx="4953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课程第15讲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4381500" y="6477000"/>
            <a:ext cx="3429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Agent Runtime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0763250" y="6457950"/>
            <a:ext cx="857250" cy="266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050" dirty="0">
                <a:solidFill>
                  <a:srgbClr val="52657A"/>
                </a:solidFill>
                <a:latin typeface="Arial"/>
                <a:ea typeface="Microsoft YaHei"/>
                <a:cs typeface="Arial"/>
              </a:rPr>
              <a:t>27</a:t>
            </a:r>
          </a:p>
        </p:txBody>
      </p:sp>
      <p:grpSp>
        <p:nvGrpSpPr>
          <p:cNvPr id="21" name="EasySlides Component: evidence_01"/>
          <p:cNvGrpSpPr/>
          <p:nvPr/>
        </p:nvGrpSpPr>
        <p:grpSpPr>
          <a:xfrm>
            <a:off x="495300" y="3524250"/>
            <a:ext cx="11201400" cy="1285875"/>
            <a:chOff x="495300" y="3524250"/>
            <a:chExt cx="11201400" cy="1285875"/>
          </a:xfrm>
        </p:grpSpPr>
        <p:sp>
          <p:nvSpPr>
            <p:cNvPr id="15" name="Rectangle 15"/>
            <p:cNvSpPr/>
            <p:nvPr/>
          </p:nvSpPr>
          <p:spPr>
            <a:xfrm>
              <a:off x="495300" y="3524250"/>
              <a:ext cx="11201400" cy="1285875"/>
            </a:xfrm>
            <a:prstGeom prst="roundRect">
              <a:avLst>
                <a:gd name="adj" fmla="val 2963"/>
              </a:avLst>
            </a:prstGeom>
            <a:solidFill>
              <a:srgbClr val="FFFFFF"/>
            </a:solidFill>
            <a:ln w="11430">
              <a:solidFill>
                <a:srgbClr val="B8C7D6"/>
              </a:solidFill>
            </a:ln>
          </p:spPr>
        </p:sp>
        <p:sp>
          <p:nvSpPr>
            <p:cNvPr id="16" name="Rectangle 16"/>
            <p:cNvSpPr/>
            <p:nvPr/>
          </p:nvSpPr>
          <p:spPr>
            <a:xfrm>
              <a:off x="495300" y="3524250"/>
              <a:ext cx="76200" cy="1285875"/>
            </a:xfrm>
            <a:prstGeom prst="roundRect">
              <a:avLst>
                <a:gd name="adj" fmla="val 50000"/>
              </a:avLst>
            </a:prstGeom>
            <a:solidFill>
              <a:srgbClr val="06B6D4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733425" y="3971925"/>
              <a:ext cx="438150" cy="5238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650" b="1" dirty="0">
                  <a:solidFill>
                    <a:srgbClr val="06B6D4"/>
                  </a:solidFill>
                  <a:latin typeface="Arial"/>
                  <a:ea typeface="Microsoft YaHei"/>
                  <a:cs typeface="Arial"/>
                </a:rPr>
                <a:t>01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1447800" y="3752850"/>
              <a:ext cx="2667000" cy="78105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575" b="1" dirty="0">
                  <a:solidFill>
                    <a:srgbClr val="0E7490"/>
                  </a:solidFill>
                  <a:latin typeface="Arial"/>
                  <a:ea typeface="Microsoft YaHei"/>
                  <a:cs typeface="Arial"/>
                </a:rPr>
                <a:t>资产化</a:t>
              </a:r>
            </a:p>
          </p:txBody>
        </p:sp>
        <p:sp>
          <p:nvSpPr>
            <p:cNvPr id="19" name="Line 19"/>
            <p:cNvSpPr/>
            <p:nvPr/>
          </p:nvSpPr>
          <p:spPr>
            <a:xfrm>
              <a:off x="4362450" y="3752850"/>
              <a:ext cx="9525" cy="828675"/>
            </a:xfrm>
            <a:custGeom>
              <a:avLst/>
              <a:gdLst/>
              <a:ahLst/>
              <a:cxnLst/>
              <a:rect l="l" t="t" r="r" b="b"/>
              <a:pathLst>
                <a:path w="9525" h="828675">
                  <a:moveTo>
                    <a:pt x="0" y="0"/>
                  </a:moveTo>
                  <a:lnTo>
                    <a:pt x="0" y="828675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4686300" y="3752850"/>
              <a:ext cx="6572250" cy="78105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425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「固定 Workflow」优化一：把人工经验固化为资产（规则</a:t>
              </a:r>
            </a:p>
          </p:txBody>
        </p:sp>
      </p:grpSp>
      <p:grpSp>
        <p:nvGrpSpPr>
          <p:cNvPr id="28" name="EasySlides Component: evidence_02"/>
          <p:cNvGrpSpPr/>
          <p:nvPr/>
        </p:nvGrpSpPr>
        <p:grpSpPr>
          <a:xfrm>
            <a:off x="495300" y="4905375"/>
            <a:ext cx="11201400" cy="1285875"/>
            <a:chOff x="495300" y="4905375"/>
            <a:chExt cx="11201400" cy="1285875"/>
          </a:xfrm>
        </p:grpSpPr>
        <p:sp>
          <p:nvSpPr>
            <p:cNvPr id="22" name="Rectangle 22"/>
            <p:cNvSpPr/>
            <p:nvPr/>
          </p:nvSpPr>
          <p:spPr>
            <a:xfrm>
              <a:off x="495300" y="4905375"/>
              <a:ext cx="11201400" cy="1285875"/>
            </a:xfrm>
            <a:prstGeom prst="roundRect">
              <a:avLst>
                <a:gd name="adj" fmla="val 2963"/>
              </a:avLst>
            </a:prstGeom>
            <a:solidFill>
              <a:srgbClr val="FFFFFF"/>
            </a:solidFill>
            <a:ln w="11430">
              <a:solidFill>
                <a:srgbClr val="B8C7D6"/>
              </a:solidFill>
            </a:ln>
          </p:spPr>
        </p:sp>
        <p:sp>
          <p:nvSpPr>
            <p:cNvPr id="23" name="Rectangle 23"/>
            <p:cNvSpPr/>
            <p:nvPr/>
          </p:nvSpPr>
          <p:spPr>
            <a:xfrm>
              <a:off x="495300" y="4905375"/>
              <a:ext cx="76200" cy="1285875"/>
            </a:xfrm>
            <a:prstGeom prst="roundRect">
              <a:avLst>
                <a:gd name="adj" fmla="val 50000"/>
              </a:avLst>
            </a:prstGeom>
            <a:solidFill>
              <a:srgbClr val="06B6D4"/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733425" y="5353050"/>
              <a:ext cx="438150" cy="5238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650" b="1" dirty="0">
                  <a:solidFill>
                    <a:srgbClr val="06B6D4"/>
                  </a:solidFill>
                  <a:latin typeface="Arial"/>
                  <a:ea typeface="Microsoft YaHei"/>
                  <a:cs typeface="Arial"/>
                </a:rPr>
                <a:t>02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1447800" y="5133975"/>
              <a:ext cx="2667000" cy="78105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575" b="1" dirty="0">
                  <a:solidFill>
                    <a:srgbClr val="0E7490"/>
                  </a:solidFill>
                  <a:latin typeface="Arial"/>
                  <a:ea typeface="Microsoft YaHei"/>
                  <a:cs typeface="Arial"/>
                </a:rPr>
                <a:t>基线化</a:t>
              </a:r>
            </a:p>
          </p:txBody>
        </p:sp>
        <p:sp>
          <p:nvSpPr>
            <p:cNvPr id="26" name="Line 26"/>
            <p:cNvSpPr/>
            <p:nvPr/>
          </p:nvSpPr>
          <p:spPr>
            <a:xfrm>
              <a:off x="4362450" y="5133975"/>
              <a:ext cx="9525" cy="828675"/>
            </a:xfrm>
            <a:custGeom>
              <a:avLst/>
              <a:gdLst/>
              <a:ahLst/>
              <a:cxnLst/>
              <a:rect l="l" t="t" r="r" b="b"/>
              <a:pathLst>
                <a:path w="9525" h="828675">
                  <a:moveTo>
                    <a:pt x="0" y="0"/>
                  </a:moveTo>
                  <a:lnTo>
                    <a:pt x="0" y="828675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4686300" y="5133975"/>
              <a:ext cx="6572250" cy="78105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425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「固定 Workflow」优化二：建立基线对照（关闭/盲选/</a:t>
              </a:r>
            </a:p>
          </p:txBody>
        </p:sp>
      </p:grpSp>
      <p:grpSp>
        <p:nvGrpSpPr>
          <p:cNvPr id="34" name="EasySlides Component: metric_01"/>
          <p:cNvGrpSpPr/>
          <p:nvPr/>
        </p:nvGrpSpPr>
        <p:grpSpPr>
          <a:xfrm>
            <a:off x="495300" y="1285875"/>
            <a:ext cx="3505200" cy="1809750"/>
            <a:chOff x="495300" y="1285875"/>
            <a:chExt cx="3505200" cy="1809750"/>
          </a:xfrm>
        </p:grpSpPr>
        <p:sp>
          <p:nvSpPr>
            <p:cNvPr id="29" name="Rectangle 29"/>
            <p:cNvSpPr/>
            <p:nvPr/>
          </p:nvSpPr>
          <p:spPr>
            <a:xfrm>
              <a:off x="495300" y="1285875"/>
              <a:ext cx="3505200" cy="1809750"/>
            </a:xfrm>
            <a:prstGeom prst="roundRect">
              <a:avLst>
                <a:gd name="adj" fmla="val 2105"/>
              </a:avLst>
            </a:prstGeom>
            <a:solidFill>
              <a:srgbClr val="F0F9FC"/>
            </a:solidFill>
            <a:ln w="11430">
              <a:solidFill>
                <a:srgbClr val="B8C7D6"/>
              </a:solidFill>
            </a:ln>
          </p:spPr>
        </p:sp>
        <p:sp>
          <p:nvSpPr>
            <p:cNvPr id="30" name="Rectangle 30"/>
            <p:cNvSpPr/>
            <p:nvPr/>
          </p:nvSpPr>
          <p:spPr>
            <a:xfrm>
              <a:off x="495300" y="1285875"/>
              <a:ext cx="3505200" cy="66675"/>
            </a:xfrm>
            <a:prstGeom prst="roundRect">
              <a:avLst>
                <a:gd name="adj" fmla="val 50000"/>
              </a:avLst>
            </a:prstGeom>
            <a:solidFill>
              <a:srgbClr val="06B6D4"/>
            </a:solidFill>
            <a:ln>
              <a:noFill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762000" y="1619250"/>
              <a:ext cx="2971800" cy="7143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3150" b="1" dirty="0">
                  <a:solidFill>
                    <a:srgbClr val="0E7490"/>
                  </a:solidFill>
                  <a:latin typeface="Arial"/>
                  <a:ea typeface="Microsoft YaHei"/>
                  <a:cs typeface="Arial"/>
                </a:rPr>
                <a:t>资产化</a:t>
              </a:r>
            </a:p>
          </p:txBody>
        </p:sp>
        <p:sp>
          <p:nvSpPr>
            <p:cNvPr id="32" name="Line 32"/>
            <p:cNvSpPr/>
            <p:nvPr/>
          </p:nvSpPr>
          <p:spPr>
            <a:xfrm>
              <a:off x="990600" y="2476500"/>
              <a:ext cx="2514600" cy="9525"/>
            </a:xfrm>
            <a:custGeom>
              <a:avLst/>
              <a:gdLst/>
              <a:ahLst/>
              <a:cxnLst/>
              <a:rect l="l" t="t" r="r" b="b"/>
              <a:pathLst>
                <a:path w="2514600" h="9525">
                  <a:moveTo>
                    <a:pt x="0" y="0"/>
                  </a:moveTo>
                  <a:lnTo>
                    <a:pt x="2514600" y="0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762000" y="2562225"/>
              <a:ext cx="2971800" cy="3429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350" dirty="0">
                  <a:solidFill>
                    <a:srgbClr val="52657A"/>
                  </a:solidFill>
                  <a:latin typeface="Arial"/>
                  <a:ea typeface="Microsoft YaHei"/>
                  <a:cs typeface="Arial"/>
                </a:rPr>
                <a:t>经验固化为规则/Skill</a:t>
              </a:r>
            </a:p>
          </p:txBody>
        </p:sp>
      </p:grpSp>
      <p:grpSp>
        <p:nvGrpSpPr>
          <p:cNvPr id="40" name="EasySlides Component: metric_02"/>
          <p:cNvGrpSpPr/>
          <p:nvPr/>
        </p:nvGrpSpPr>
        <p:grpSpPr>
          <a:xfrm>
            <a:off x="4343400" y="1285875"/>
            <a:ext cx="3505200" cy="1809750"/>
            <a:chOff x="4343400" y="1285875"/>
            <a:chExt cx="3505200" cy="1809750"/>
          </a:xfrm>
        </p:grpSpPr>
        <p:sp>
          <p:nvSpPr>
            <p:cNvPr id="35" name="Rectangle 35"/>
            <p:cNvSpPr/>
            <p:nvPr/>
          </p:nvSpPr>
          <p:spPr>
            <a:xfrm>
              <a:off x="4343400" y="1285875"/>
              <a:ext cx="3505200" cy="1809750"/>
            </a:xfrm>
            <a:prstGeom prst="roundRect">
              <a:avLst>
                <a:gd name="adj" fmla="val 2105"/>
              </a:avLst>
            </a:prstGeom>
            <a:solidFill>
              <a:srgbClr val="F0F9FC"/>
            </a:solidFill>
            <a:ln w="11430">
              <a:solidFill>
                <a:srgbClr val="B8C7D6"/>
              </a:solidFill>
            </a:ln>
          </p:spPr>
        </p:sp>
        <p:sp>
          <p:nvSpPr>
            <p:cNvPr id="36" name="Rectangle 36"/>
            <p:cNvSpPr/>
            <p:nvPr/>
          </p:nvSpPr>
          <p:spPr>
            <a:xfrm>
              <a:off x="4343400" y="1285875"/>
              <a:ext cx="3505200" cy="66675"/>
            </a:xfrm>
            <a:prstGeom prst="roundRect">
              <a:avLst>
                <a:gd name="adj" fmla="val 50000"/>
              </a:avLst>
            </a:prstGeom>
            <a:solidFill>
              <a:srgbClr val="06B6D4"/>
            </a:solidFill>
            <a:ln>
              <a:noFill/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4610100" y="1619250"/>
              <a:ext cx="2971800" cy="7143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3150" b="1" dirty="0">
                  <a:solidFill>
                    <a:srgbClr val="0E7490"/>
                  </a:solidFill>
                  <a:latin typeface="Arial"/>
                  <a:ea typeface="Microsoft YaHei"/>
                  <a:cs typeface="Arial"/>
                </a:rPr>
                <a:t>基线化</a:t>
              </a:r>
            </a:p>
          </p:txBody>
        </p:sp>
        <p:sp>
          <p:nvSpPr>
            <p:cNvPr id="38" name="Line 38"/>
            <p:cNvSpPr/>
            <p:nvPr/>
          </p:nvSpPr>
          <p:spPr>
            <a:xfrm>
              <a:off x="4838700" y="2476500"/>
              <a:ext cx="2514600" cy="9525"/>
            </a:xfrm>
            <a:custGeom>
              <a:avLst/>
              <a:gdLst/>
              <a:ahLst/>
              <a:cxnLst/>
              <a:rect l="l" t="t" r="r" b="b"/>
              <a:pathLst>
                <a:path w="2514600" h="9525">
                  <a:moveTo>
                    <a:pt x="0" y="0"/>
                  </a:moveTo>
                  <a:lnTo>
                    <a:pt x="2514600" y="0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4610100" y="2562225"/>
              <a:ext cx="2971800" cy="3429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350" dirty="0">
                  <a:solidFill>
                    <a:srgbClr val="52657A"/>
                  </a:solidFill>
                  <a:latin typeface="Arial"/>
                  <a:ea typeface="Microsoft YaHei"/>
                  <a:cs typeface="Arial"/>
                </a:rPr>
                <a:t>对照实验证明增量</a:t>
              </a:r>
            </a:p>
          </p:txBody>
        </p:sp>
      </p:grpSp>
      <p:grpSp>
        <p:nvGrpSpPr>
          <p:cNvPr id="46" name="EasySlides Component: metric_03"/>
          <p:cNvGrpSpPr/>
          <p:nvPr/>
        </p:nvGrpSpPr>
        <p:grpSpPr>
          <a:xfrm>
            <a:off x="8191500" y="1285875"/>
            <a:ext cx="3505200" cy="1809750"/>
            <a:chOff x="8191500" y="1285875"/>
            <a:chExt cx="3505200" cy="1809750"/>
          </a:xfrm>
        </p:grpSpPr>
        <p:sp>
          <p:nvSpPr>
            <p:cNvPr id="41" name="Rectangle 41"/>
            <p:cNvSpPr/>
            <p:nvPr/>
          </p:nvSpPr>
          <p:spPr>
            <a:xfrm>
              <a:off x="8191500" y="1285875"/>
              <a:ext cx="3505200" cy="1809750"/>
            </a:xfrm>
            <a:prstGeom prst="roundRect">
              <a:avLst>
                <a:gd name="adj" fmla="val 2105"/>
              </a:avLst>
            </a:prstGeom>
            <a:solidFill>
              <a:srgbClr val="F0F9FC"/>
            </a:solidFill>
            <a:ln w="11430">
              <a:solidFill>
                <a:srgbClr val="B8C7D6"/>
              </a:solidFill>
            </a:ln>
          </p:spPr>
        </p:sp>
        <p:sp>
          <p:nvSpPr>
            <p:cNvPr id="42" name="Rectangle 42"/>
            <p:cNvSpPr/>
            <p:nvPr/>
          </p:nvSpPr>
          <p:spPr>
            <a:xfrm>
              <a:off x="8191500" y="1285875"/>
              <a:ext cx="3505200" cy="66675"/>
            </a:xfrm>
            <a:prstGeom prst="roundRect">
              <a:avLst>
                <a:gd name="adj" fmla="val 50000"/>
              </a:avLst>
            </a:prstGeom>
            <a:solidFill>
              <a:srgbClr val="06B6D4"/>
            </a:solidFill>
            <a:ln>
              <a:noFill/>
            </a:ln>
          </p:spPr>
        </p:sp>
        <p:sp>
          <p:nvSpPr>
            <p:cNvPr id="43" name="TextBox 43"/>
            <p:cNvSpPr txBox="1"/>
            <p:nvPr/>
          </p:nvSpPr>
          <p:spPr>
            <a:xfrm>
              <a:off x="8458200" y="1619250"/>
              <a:ext cx="2971800" cy="7143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3150" b="1" dirty="0">
                  <a:solidFill>
                    <a:srgbClr val="0E7490"/>
                  </a:solidFill>
                  <a:latin typeface="Arial"/>
                  <a:ea typeface="Microsoft YaHei"/>
                  <a:cs typeface="Arial"/>
                </a:rPr>
                <a:t>观测化</a:t>
              </a:r>
            </a:p>
          </p:txBody>
        </p:sp>
        <p:sp>
          <p:nvSpPr>
            <p:cNvPr id="44" name="Line 44"/>
            <p:cNvSpPr/>
            <p:nvPr/>
          </p:nvSpPr>
          <p:spPr>
            <a:xfrm>
              <a:off x="8686800" y="2476500"/>
              <a:ext cx="2514600" cy="9525"/>
            </a:xfrm>
            <a:custGeom>
              <a:avLst/>
              <a:gdLst/>
              <a:ahLst/>
              <a:cxnLst/>
              <a:rect l="l" t="t" r="r" b="b"/>
              <a:pathLst>
                <a:path w="2514600" h="9525">
                  <a:moveTo>
                    <a:pt x="0" y="0"/>
                  </a:moveTo>
                  <a:lnTo>
                    <a:pt x="2514600" y="0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45" name="TextBox 45"/>
            <p:cNvSpPr txBox="1"/>
            <p:nvPr/>
          </p:nvSpPr>
          <p:spPr>
            <a:xfrm>
              <a:off x="8458200" y="2562225"/>
              <a:ext cx="2971800" cy="3429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350" dirty="0">
                  <a:solidFill>
                    <a:srgbClr val="52657A"/>
                  </a:solidFill>
                  <a:latin typeface="Arial"/>
                  <a:ea typeface="Microsoft YaHei"/>
                  <a:cs typeface="Arial"/>
                </a:rPr>
                <a:t>Trace/Baseline 先行</a:t>
              </a:r>
            </a:p>
          </p:txBody>
        </p:sp>
      </p:grp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E7490"/>
          </a:solidFill>
          <a:ln>
            <a:noFill/>
          </a:ln>
        </p:spPr>
      </p:sp>
      <p:sp>
        <p:nvSpPr>
          <p:cNvPr id="3" name="Freeform 3"/>
          <p:cNvSpPr/>
          <p:nvPr/>
        </p:nvSpPr>
        <p:spPr>
          <a:xfrm>
            <a:off x="5715000" y="0"/>
            <a:ext cx="6477000" cy="6858000"/>
          </a:xfrm>
          <a:custGeom>
            <a:avLst/>
            <a:gdLst/>
            <a:ahLst/>
            <a:cxnLst/>
            <a:rect l="l" t="t" r="r" b="b"/>
            <a:pathLst>
              <a:path w="6477000" h="6858000">
                <a:moveTo>
                  <a:pt x="1905000" y="0"/>
                </a:moveTo>
                <a:lnTo>
                  <a:pt x="6477000" y="0"/>
                </a:lnTo>
                <a:lnTo>
                  <a:pt x="6477000" y="6858000"/>
                </a:lnTo>
                <a:lnTo>
                  <a:pt x="0" y="6858000"/>
                </a:lnTo>
                <a:close/>
              </a:path>
            </a:pathLst>
          </a:custGeom>
          <a:solidFill>
            <a:srgbClr val="06B6D4">
              <a:alpha val="20000"/>
            </a:srgbClr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2286000"/>
            <a:ext cx="114300" cy="2286000"/>
          </a:xfrm>
          <a:prstGeom prst="rect">
            <a:avLst/>
          </a:prstGeom>
          <a:solidFill>
            <a:srgbClr val="CC0000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476250" y="2095500"/>
            <a:ext cx="2952750" cy="31432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8750" b="1" dirty="0">
                <a:solidFill>
                  <a:srgbClr val="FFFFFF">
                    <a:alphaMod val="10000"/>
                  </a:srgbClr>
                </a:solidFill>
                <a:latin typeface="Arial"/>
                <a:ea typeface="Microsoft YaHei"/>
                <a:cs typeface="Arial"/>
              </a:rPr>
              <a:t>28</a:t>
            </a:r>
          </a:p>
        </p:txBody>
      </p:sp>
      <p:sp>
        <p:nvSpPr>
          <p:cNvPr id="6" name="Line 6"/>
          <p:cNvSpPr/>
          <p:nvPr/>
        </p:nvSpPr>
        <p:spPr>
          <a:xfrm>
            <a:off x="3619500" y="2505075"/>
            <a:ext cx="1143000" cy="9525"/>
          </a:xfrm>
          <a:custGeom>
            <a:avLst/>
            <a:gdLst/>
            <a:ahLst/>
            <a:cxnLst/>
            <a:rect l="l" t="t" r="r" b="b"/>
            <a:pathLst>
              <a:path w="1143000" h="9525">
                <a:moveTo>
                  <a:pt x="0" y="0"/>
                </a:moveTo>
                <a:lnTo>
                  <a:pt x="1143000" y="0"/>
                </a:lnTo>
              </a:path>
            </a:pathLst>
          </a:custGeom>
          <a:noFill/>
          <a:ln w="57150">
            <a:solidFill>
              <a:srgbClr val="CC0000"/>
            </a:solidFill>
          </a:ln>
        </p:spPr>
      </p:sp>
      <p:sp>
        <p:nvSpPr>
          <p:cNvPr id="7" name="TextBox 7"/>
          <p:cNvSpPr txBox="1"/>
          <p:nvPr/>
        </p:nvSpPr>
        <p:spPr>
          <a:xfrm>
            <a:off x="3619500" y="2667000"/>
            <a:ext cx="7429500" cy="8763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42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概念详解：动态 Graph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3619500" y="3648075"/>
            <a:ext cx="7620000" cy="4191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1800" dirty="0">
                <a:solidFill>
                  <a:srgbClr val="E8F4FC"/>
                </a:solidFill>
                <a:latin typeface="Arial"/>
                <a:ea typeface="Microsoft YaHei"/>
                <a:cs typeface="Arial"/>
              </a:rPr>
              <a:t>「动态 Graph」的本质是复杂拓扑。理解它的关键是分清模型能做的与系统必须兜底的。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6762750" y="6286500"/>
            <a:ext cx="4095750" cy="2857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r"/>
            <a:r>
              <a:rPr lang="zh-CN" sz="1200" dirty="0">
                <a:solidFill>
                  <a:srgbClr val="FFFFFF">
                    <a:alphaMod val="55000"/>
                  </a:srgbClr>
                </a:solidFill>
                <a:latin typeface="Arial"/>
                <a:ea typeface="Microsoft YaHei"/>
                <a:cs typeface="Arial"/>
              </a:rPr>
              <a:t>Agent Runtime 的混合架构选型与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666750"/>
          </a:xfrm>
          <a:prstGeom prst="rect">
            <a:avLst/>
          </a:prstGeom>
          <a:solidFill>
            <a:srgbClr val="0E7490"/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0"/>
            <a:ext cx="57150" cy="666750"/>
          </a:xfrm>
          <a:prstGeom prst="rect">
            <a:avLst/>
          </a:prstGeom>
          <a:solidFill>
            <a:srgbClr val="CC0000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381000" y="123825"/>
            <a:ext cx="762000" cy="4000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1275" b="1" dirty="0">
                <a:solidFill>
                  <a:srgbClr val="9FD3FF"/>
                </a:solidFill>
                <a:latin typeface="Arial"/>
                <a:ea typeface="Microsoft YaHei"/>
                <a:cs typeface="Arial"/>
              </a:rPr>
              <a:t>29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257300" y="95250"/>
            <a:ext cx="8096250" cy="457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21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定义与内涵：动态 Graph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0001250" y="76200"/>
            <a:ext cx="1619250" cy="5143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3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DataAgent</a:t>
            </a:r>
          </a:p>
        </p:txBody>
      </p:sp>
      <p:sp>
        <p:nvSpPr>
          <p:cNvPr id="8" name="Rectangle 8"/>
          <p:cNvSpPr/>
          <p:nvPr/>
        </p:nvSpPr>
        <p:spPr>
          <a:xfrm>
            <a:off x="0" y="666750"/>
            <a:ext cx="12192000" cy="476250"/>
          </a:xfrm>
          <a:prstGeom prst="rect">
            <a:avLst/>
          </a:prstGeom>
          <a:solidFill>
            <a:srgbClr val="E8F4FC"/>
          </a:solidFill>
          <a:ln>
            <a:noFill/>
          </a:ln>
        </p:spPr>
      </p:sp>
      <p:sp>
        <p:nvSpPr>
          <p:cNvPr id="9" name="Rectangle 9"/>
          <p:cNvSpPr/>
          <p:nvPr/>
        </p:nvSpPr>
        <p:spPr>
          <a:xfrm>
            <a:off x="0" y="666750"/>
            <a:ext cx="57150" cy="476250"/>
          </a:xfrm>
          <a:prstGeom prst="rect">
            <a:avLst/>
          </a:prstGeom>
          <a:solidFill>
            <a:srgbClr val="06B6D4"/>
          </a:solidFill>
          <a:ln>
            <a:noFill/>
          </a:ln>
        </p:spPr>
      </p:sp>
      <p:sp>
        <p:nvSpPr>
          <p:cNvPr id="10" name="TextBox 10"/>
          <p:cNvSpPr txBox="1"/>
          <p:nvPr/>
        </p:nvSpPr>
        <p:spPr>
          <a:xfrm>
            <a:off x="381000" y="714375"/>
            <a:ext cx="10001250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1350" dirty="0">
                <a:solidFill>
                  <a:srgbClr val="26384A"/>
                </a:solidFill>
                <a:latin typeface="Arial"/>
                <a:ea typeface="Microsoft YaHei"/>
                <a:cs typeface="Arial"/>
              </a:rPr>
              <a:t>把动态 Graph讲透：是什么、不是什么</a:t>
            </a:r>
          </a:p>
        </p:txBody>
      </p:sp>
      <p:sp>
        <p:nvSpPr>
          <p:cNvPr id="11" name="Line 11"/>
          <p:cNvSpPr/>
          <p:nvPr/>
        </p:nvSpPr>
        <p:spPr>
          <a:xfrm>
            <a:off x="381000" y="6334125"/>
            <a:ext cx="11430000" cy="9525"/>
          </a:xfrm>
          <a:custGeom>
            <a:avLst/>
            <a:gdLst/>
            <a:ahLst/>
            <a:cxnLst/>
            <a:rect l="l" t="t" r="r" b="b"/>
            <a:pathLst>
              <a:path w="11430000" h="9525">
                <a:moveTo>
                  <a:pt x="0" y="0"/>
                </a:moveTo>
                <a:lnTo>
                  <a:pt x="11430000" y="0"/>
                </a:lnTo>
              </a:path>
            </a:pathLst>
          </a:custGeom>
          <a:noFill/>
          <a:ln w="9525">
            <a:solidFill>
              <a:srgbClr val="E8F4FC"/>
            </a:solidFill>
          </a:ln>
        </p:spPr>
      </p:sp>
      <p:sp>
        <p:nvSpPr>
          <p:cNvPr id="12" name="TextBox 12"/>
          <p:cNvSpPr txBox="1"/>
          <p:nvPr/>
        </p:nvSpPr>
        <p:spPr>
          <a:xfrm>
            <a:off x="381000" y="6477000"/>
            <a:ext cx="4953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课程第15讲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4381500" y="6477000"/>
            <a:ext cx="3429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Agent Runtime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0763250" y="6457950"/>
            <a:ext cx="857250" cy="266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050" dirty="0">
                <a:solidFill>
                  <a:srgbClr val="52657A"/>
                </a:solidFill>
                <a:latin typeface="Arial"/>
                <a:ea typeface="Microsoft YaHei"/>
                <a:cs typeface="Arial"/>
              </a:rPr>
              <a:t>29</a:t>
            </a:r>
          </a:p>
        </p:txBody>
      </p:sp>
      <p:grpSp>
        <p:nvGrpSpPr>
          <p:cNvPr id="21" name="EasySlides Component: evidence_01"/>
          <p:cNvGrpSpPr/>
          <p:nvPr/>
        </p:nvGrpSpPr>
        <p:grpSpPr>
          <a:xfrm>
            <a:off x="495300" y="2095500"/>
            <a:ext cx="11201400" cy="1285875"/>
            <a:chOff x="495300" y="2095500"/>
            <a:chExt cx="11201400" cy="1285875"/>
          </a:xfrm>
        </p:grpSpPr>
        <p:sp>
          <p:nvSpPr>
            <p:cNvPr id="15" name="Rectangle 15"/>
            <p:cNvSpPr/>
            <p:nvPr/>
          </p:nvSpPr>
          <p:spPr>
            <a:xfrm>
              <a:off x="495300" y="2095500"/>
              <a:ext cx="11201400" cy="1285875"/>
            </a:xfrm>
            <a:prstGeom prst="roundRect">
              <a:avLst>
                <a:gd name="adj" fmla="val 2963"/>
              </a:avLst>
            </a:prstGeom>
            <a:solidFill>
              <a:srgbClr val="FFFFFF"/>
            </a:solidFill>
            <a:ln w="11430">
              <a:solidFill>
                <a:srgbClr val="B8C7D6"/>
              </a:solidFill>
            </a:ln>
          </p:spPr>
        </p:sp>
        <p:sp>
          <p:nvSpPr>
            <p:cNvPr id="16" name="Rectangle 16"/>
            <p:cNvSpPr/>
            <p:nvPr/>
          </p:nvSpPr>
          <p:spPr>
            <a:xfrm>
              <a:off x="495300" y="2095500"/>
              <a:ext cx="76200" cy="1285875"/>
            </a:xfrm>
            <a:prstGeom prst="roundRect">
              <a:avLst>
                <a:gd name="adj" fmla="val 50000"/>
              </a:avLst>
            </a:prstGeom>
            <a:solidFill>
              <a:srgbClr val="06B6D4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733425" y="2543175"/>
              <a:ext cx="438150" cy="5238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650" b="1" dirty="0">
                  <a:solidFill>
                    <a:srgbClr val="06B6D4"/>
                  </a:solidFill>
                  <a:latin typeface="Arial"/>
                  <a:ea typeface="Microsoft YaHei"/>
                  <a:cs typeface="Arial"/>
                </a:rPr>
                <a:t>01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1447800" y="2324100"/>
              <a:ext cx="2667000" cy="78105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575" b="1" dirty="0">
                  <a:solidFill>
                    <a:srgbClr val="0E7490"/>
                  </a:solidFill>
                  <a:latin typeface="Arial"/>
                  <a:ea typeface="Microsoft YaHei"/>
                  <a:cs typeface="Arial"/>
                </a:rPr>
                <a:t>定义</a:t>
              </a:r>
            </a:p>
          </p:txBody>
        </p:sp>
        <p:sp>
          <p:nvSpPr>
            <p:cNvPr id="19" name="Line 19"/>
            <p:cNvSpPr/>
            <p:nvPr/>
          </p:nvSpPr>
          <p:spPr>
            <a:xfrm>
              <a:off x="4362450" y="2324100"/>
              <a:ext cx="9525" cy="828675"/>
            </a:xfrm>
            <a:custGeom>
              <a:avLst/>
              <a:gdLst/>
              <a:ahLst/>
              <a:cxnLst/>
              <a:rect l="l" t="t" r="r" b="b"/>
              <a:pathLst>
                <a:path w="9525" h="828675">
                  <a:moveTo>
                    <a:pt x="0" y="0"/>
                  </a:moveTo>
                  <a:lnTo>
                    <a:pt x="0" y="828675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4686300" y="2324100"/>
              <a:ext cx="6572250" cy="78105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425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「动态 Graph」的本质是复杂拓扑。理解它的关键是分清模型能做的与系统必须兜底</a:t>
              </a:r>
            </a:p>
          </p:txBody>
        </p:sp>
      </p:grpSp>
      <p:grpSp>
        <p:nvGrpSpPr>
          <p:cNvPr id="28" name="EasySlides Component: evidence_02"/>
          <p:cNvGrpSpPr/>
          <p:nvPr/>
        </p:nvGrpSpPr>
        <p:grpSpPr>
          <a:xfrm>
            <a:off x="495300" y="3571875"/>
            <a:ext cx="11201400" cy="1285875"/>
            <a:chOff x="495300" y="3571875"/>
            <a:chExt cx="11201400" cy="1285875"/>
          </a:xfrm>
        </p:grpSpPr>
        <p:sp>
          <p:nvSpPr>
            <p:cNvPr id="22" name="Rectangle 22"/>
            <p:cNvSpPr/>
            <p:nvPr/>
          </p:nvSpPr>
          <p:spPr>
            <a:xfrm>
              <a:off x="495300" y="3571875"/>
              <a:ext cx="11201400" cy="1285875"/>
            </a:xfrm>
            <a:prstGeom prst="roundRect">
              <a:avLst>
                <a:gd name="adj" fmla="val 2963"/>
              </a:avLst>
            </a:prstGeom>
            <a:solidFill>
              <a:srgbClr val="FFFFFF"/>
            </a:solidFill>
            <a:ln w="11430">
              <a:solidFill>
                <a:srgbClr val="B8C7D6"/>
              </a:solidFill>
            </a:ln>
          </p:spPr>
        </p:sp>
        <p:sp>
          <p:nvSpPr>
            <p:cNvPr id="23" name="Rectangle 23"/>
            <p:cNvSpPr/>
            <p:nvPr/>
          </p:nvSpPr>
          <p:spPr>
            <a:xfrm>
              <a:off x="495300" y="3571875"/>
              <a:ext cx="76200" cy="1285875"/>
            </a:xfrm>
            <a:prstGeom prst="roundRect">
              <a:avLst>
                <a:gd name="adj" fmla="val 50000"/>
              </a:avLst>
            </a:prstGeom>
            <a:solidFill>
              <a:srgbClr val="06B6D4"/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733425" y="4019550"/>
              <a:ext cx="438150" cy="5238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650" b="1" dirty="0">
                  <a:solidFill>
                    <a:srgbClr val="06B6D4"/>
                  </a:solidFill>
                  <a:latin typeface="Arial"/>
                  <a:ea typeface="Microsoft YaHei"/>
                  <a:cs typeface="Arial"/>
                </a:rPr>
                <a:t>02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1447800" y="3800475"/>
              <a:ext cx="2667000" cy="78105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575" b="1" dirty="0">
                  <a:solidFill>
                    <a:srgbClr val="0E7490"/>
                  </a:solidFill>
                  <a:latin typeface="Arial"/>
                  <a:ea typeface="Microsoft YaHei"/>
                  <a:cs typeface="Arial"/>
                </a:rPr>
                <a:t>何时选</a:t>
              </a:r>
            </a:p>
          </p:txBody>
        </p:sp>
        <p:sp>
          <p:nvSpPr>
            <p:cNvPr id="26" name="Line 26"/>
            <p:cNvSpPr/>
            <p:nvPr/>
          </p:nvSpPr>
          <p:spPr>
            <a:xfrm>
              <a:off x="4362450" y="3800475"/>
              <a:ext cx="9525" cy="828675"/>
            </a:xfrm>
            <a:custGeom>
              <a:avLst/>
              <a:gdLst/>
              <a:ahLst/>
              <a:cxnLst/>
              <a:rect l="l" t="t" r="r" b="b"/>
              <a:pathLst>
                <a:path w="9525" h="828675">
                  <a:moveTo>
                    <a:pt x="0" y="0"/>
                  </a:moveTo>
                  <a:lnTo>
                    <a:pt x="0" y="828675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4686300" y="3800475"/>
              <a:ext cx="6572250" cy="78105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425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何时选维度：复杂拓扑</a:t>
              </a:r>
            </a:p>
          </p:txBody>
        </p:sp>
      </p:grpSp>
      <p:grpSp>
        <p:nvGrpSpPr>
          <p:cNvPr id="35" name="EasySlides Component: evidence_03"/>
          <p:cNvGrpSpPr/>
          <p:nvPr/>
        </p:nvGrpSpPr>
        <p:grpSpPr>
          <a:xfrm>
            <a:off x="495300" y="4905375"/>
            <a:ext cx="11201400" cy="1285875"/>
            <a:chOff x="495300" y="4905375"/>
            <a:chExt cx="11201400" cy="1285875"/>
          </a:xfrm>
        </p:grpSpPr>
        <p:sp>
          <p:nvSpPr>
            <p:cNvPr id="29" name="Rectangle 29"/>
            <p:cNvSpPr/>
            <p:nvPr/>
          </p:nvSpPr>
          <p:spPr>
            <a:xfrm>
              <a:off x="495300" y="4905375"/>
              <a:ext cx="11201400" cy="1285875"/>
            </a:xfrm>
            <a:prstGeom prst="roundRect">
              <a:avLst>
                <a:gd name="adj" fmla="val 2963"/>
              </a:avLst>
            </a:prstGeom>
            <a:solidFill>
              <a:srgbClr val="FFFFFF"/>
            </a:solidFill>
            <a:ln w="11430">
              <a:solidFill>
                <a:srgbClr val="B8C7D6"/>
              </a:solidFill>
            </a:ln>
          </p:spPr>
        </p:sp>
        <p:sp>
          <p:nvSpPr>
            <p:cNvPr id="30" name="Rectangle 30"/>
            <p:cNvSpPr/>
            <p:nvPr/>
          </p:nvSpPr>
          <p:spPr>
            <a:xfrm>
              <a:off x="495300" y="4905375"/>
              <a:ext cx="76200" cy="1285875"/>
            </a:xfrm>
            <a:prstGeom prst="roundRect">
              <a:avLst>
                <a:gd name="adj" fmla="val 50000"/>
              </a:avLst>
            </a:prstGeom>
            <a:solidFill>
              <a:srgbClr val="06B6D4"/>
            </a:solidFill>
            <a:ln>
              <a:noFill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733425" y="5353050"/>
              <a:ext cx="438150" cy="5238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650" b="1" dirty="0">
                  <a:solidFill>
                    <a:srgbClr val="06B6D4"/>
                  </a:solidFill>
                  <a:latin typeface="Arial"/>
                  <a:ea typeface="Microsoft YaHei"/>
                  <a:cs typeface="Arial"/>
                </a:rPr>
                <a:t>03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1447800" y="5133975"/>
              <a:ext cx="2667000" cy="78105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575" b="1" dirty="0">
                  <a:solidFill>
                    <a:srgbClr val="0E7490"/>
                  </a:solidFill>
                  <a:latin typeface="Arial"/>
                  <a:ea typeface="Microsoft YaHei"/>
                  <a:cs typeface="Arial"/>
                </a:rPr>
                <a:t>要点</a:t>
              </a:r>
            </a:p>
          </p:txBody>
        </p:sp>
        <p:sp>
          <p:nvSpPr>
            <p:cNvPr id="33" name="Line 33"/>
            <p:cNvSpPr/>
            <p:nvPr/>
          </p:nvSpPr>
          <p:spPr>
            <a:xfrm>
              <a:off x="4362450" y="5133975"/>
              <a:ext cx="9525" cy="828675"/>
            </a:xfrm>
            <a:custGeom>
              <a:avLst/>
              <a:gdLst/>
              <a:ahLst/>
              <a:cxnLst/>
              <a:rect l="l" t="t" r="r" b="b"/>
              <a:pathLst>
                <a:path w="9525" h="828675">
                  <a:moveTo>
                    <a:pt x="0" y="0"/>
                  </a:moveTo>
                  <a:lnTo>
                    <a:pt x="0" y="828675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4686300" y="5133975"/>
              <a:ext cx="6572250" cy="78105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425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要点维度：复杂拓扑</a:t>
              </a:r>
            </a:p>
          </p:txBody>
        </p:sp>
      </p:grpSp>
      <p:grpSp>
        <p:nvGrpSpPr>
          <p:cNvPr id="39" name="EasySlides Component: synthesis"/>
          <p:cNvGrpSpPr/>
          <p:nvPr/>
        </p:nvGrpSpPr>
        <p:grpSpPr>
          <a:xfrm>
            <a:off x="495300" y="1285875"/>
            <a:ext cx="11201400" cy="714375"/>
            <a:chOff x="495300" y="1285875"/>
            <a:chExt cx="11201400" cy="714375"/>
          </a:xfrm>
        </p:grpSpPr>
        <p:sp>
          <p:nvSpPr>
            <p:cNvPr id="36" name="Rectangle 36"/>
            <p:cNvSpPr/>
            <p:nvPr/>
          </p:nvSpPr>
          <p:spPr>
            <a:xfrm>
              <a:off x="495300" y="1285875"/>
              <a:ext cx="11201400" cy="714375"/>
            </a:xfrm>
            <a:prstGeom prst="roundRect">
              <a:avLst>
                <a:gd name="adj" fmla="val 5333"/>
              </a:avLst>
            </a:prstGeom>
            <a:solidFill>
              <a:srgbClr val="0E7490"/>
            </a:solidFill>
            <a:ln>
              <a:noFill/>
            </a:ln>
          </p:spPr>
        </p:sp>
        <p:sp>
          <p:nvSpPr>
            <p:cNvPr id="37" name="Rectangle 37"/>
            <p:cNvSpPr/>
            <p:nvPr/>
          </p:nvSpPr>
          <p:spPr>
            <a:xfrm>
              <a:off x="495300" y="1285875"/>
              <a:ext cx="76200" cy="714375"/>
            </a:xfrm>
            <a:prstGeom prst="roundRect">
              <a:avLst>
                <a:gd name="adj" fmla="val 50000"/>
              </a:avLst>
            </a:prstGeom>
            <a:solidFill>
              <a:srgbClr val="CC0000"/>
            </a:solidFill>
            <a:ln>
              <a:noFill/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876300" y="1419225"/>
              <a:ext cx="10439400" cy="4476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65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自主与流程的混合编排：Harness 负责探索，Workflow 负责收口。</a:t>
              </a:r>
            </a:p>
          </p:txBody>
        </p:sp>
      </p:grp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666750"/>
          </a:xfrm>
          <a:prstGeom prst="rect">
            <a:avLst/>
          </a:prstGeom>
          <a:solidFill>
            <a:srgbClr val="0E7490"/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0"/>
            <a:ext cx="57150" cy="666750"/>
          </a:xfrm>
          <a:prstGeom prst="rect">
            <a:avLst/>
          </a:prstGeom>
          <a:solidFill>
            <a:srgbClr val="CC0000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381000" y="123825"/>
            <a:ext cx="762000" cy="4000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1275" b="1" dirty="0">
                <a:solidFill>
                  <a:srgbClr val="9FD3FF"/>
                </a:solidFill>
                <a:latin typeface="Arial"/>
                <a:ea typeface="Microsoft YaHei"/>
                <a:cs typeface="Arial"/>
              </a:rPr>
              <a:t>30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257300" y="95250"/>
            <a:ext cx="8096250" cy="457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21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机制图解：动态 Graph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0001250" y="76200"/>
            <a:ext cx="1619250" cy="5143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3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DataAgent</a:t>
            </a:r>
          </a:p>
        </p:txBody>
      </p:sp>
      <p:sp>
        <p:nvSpPr>
          <p:cNvPr id="8" name="Rectangle 8"/>
          <p:cNvSpPr/>
          <p:nvPr/>
        </p:nvSpPr>
        <p:spPr>
          <a:xfrm>
            <a:off x="0" y="666750"/>
            <a:ext cx="12192000" cy="476250"/>
          </a:xfrm>
          <a:prstGeom prst="rect">
            <a:avLst/>
          </a:prstGeom>
          <a:solidFill>
            <a:srgbClr val="E8F4FC"/>
          </a:solidFill>
          <a:ln>
            <a:noFill/>
          </a:ln>
        </p:spPr>
      </p:sp>
      <p:sp>
        <p:nvSpPr>
          <p:cNvPr id="9" name="Rectangle 9"/>
          <p:cNvSpPr/>
          <p:nvPr/>
        </p:nvSpPr>
        <p:spPr>
          <a:xfrm>
            <a:off x="0" y="666750"/>
            <a:ext cx="57150" cy="476250"/>
          </a:xfrm>
          <a:prstGeom prst="rect">
            <a:avLst/>
          </a:prstGeom>
          <a:solidFill>
            <a:srgbClr val="06B6D4"/>
          </a:solidFill>
          <a:ln>
            <a:noFill/>
          </a:ln>
        </p:spPr>
      </p:sp>
      <p:sp>
        <p:nvSpPr>
          <p:cNvPr id="10" name="TextBox 10"/>
          <p:cNvSpPr txBox="1"/>
          <p:nvPr/>
        </p:nvSpPr>
        <p:spPr>
          <a:xfrm>
            <a:off x="381000" y="714375"/>
            <a:ext cx="10001250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1350" dirty="0">
                <a:solidFill>
                  <a:srgbClr val="26384A"/>
                </a:solidFill>
                <a:latin typeface="Arial"/>
                <a:ea typeface="Microsoft YaHei"/>
                <a:cs typeface="Arial"/>
              </a:rPr>
              <a:t>一图看懂运行机制与数据流</a:t>
            </a:r>
          </a:p>
        </p:txBody>
      </p:sp>
      <p:sp>
        <p:nvSpPr>
          <p:cNvPr id="11" name="Line 11"/>
          <p:cNvSpPr/>
          <p:nvPr/>
        </p:nvSpPr>
        <p:spPr>
          <a:xfrm>
            <a:off x="381000" y="6334125"/>
            <a:ext cx="11430000" cy="9525"/>
          </a:xfrm>
          <a:custGeom>
            <a:avLst/>
            <a:gdLst/>
            <a:ahLst/>
            <a:cxnLst/>
            <a:rect l="l" t="t" r="r" b="b"/>
            <a:pathLst>
              <a:path w="11430000" h="9525">
                <a:moveTo>
                  <a:pt x="0" y="0"/>
                </a:moveTo>
                <a:lnTo>
                  <a:pt x="11430000" y="0"/>
                </a:lnTo>
              </a:path>
            </a:pathLst>
          </a:custGeom>
          <a:noFill/>
          <a:ln w="9525">
            <a:solidFill>
              <a:srgbClr val="E8F4FC"/>
            </a:solidFill>
          </a:ln>
        </p:spPr>
      </p:sp>
      <p:sp>
        <p:nvSpPr>
          <p:cNvPr id="12" name="TextBox 12"/>
          <p:cNvSpPr txBox="1"/>
          <p:nvPr/>
        </p:nvSpPr>
        <p:spPr>
          <a:xfrm>
            <a:off x="381000" y="6477000"/>
            <a:ext cx="4953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课程第15讲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4381500" y="6477000"/>
            <a:ext cx="3429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Agent Runtime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0763250" y="6457950"/>
            <a:ext cx="857250" cy="266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050" dirty="0">
                <a:solidFill>
                  <a:srgbClr val="52657A"/>
                </a:solidFill>
                <a:latin typeface="Arial"/>
                <a:ea typeface="Microsoft YaHei"/>
                <a:cs typeface="Arial"/>
              </a:rPr>
              <a:t>30</a:t>
            </a:r>
          </a:p>
        </p:txBody>
      </p:sp>
      <p:grpSp>
        <p:nvGrpSpPr>
          <p:cNvPr id="26" name="EasySlides Component: evidence"/>
          <p:cNvGrpSpPr/>
          <p:nvPr/>
        </p:nvGrpSpPr>
        <p:grpSpPr>
          <a:xfrm>
            <a:off x="7124700" y="1285875"/>
            <a:ext cx="4572000" cy="4905375"/>
            <a:chOff x="7124700" y="1285875"/>
            <a:chExt cx="4572000" cy="4905375"/>
          </a:xfrm>
        </p:grpSpPr>
        <p:sp>
          <p:nvSpPr>
            <p:cNvPr id="15" name="Rectangle 15"/>
            <p:cNvSpPr/>
            <p:nvPr/>
          </p:nvSpPr>
          <p:spPr>
            <a:xfrm>
              <a:off x="7124700" y="1285875"/>
              <a:ext cx="4572000" cy="4905375"/>
            </a:xfrm>
            <a:prstGeom prst="roundRect">
              <a:avLst>
                <a:gd name="adj" fmla="val 833"/>
              </a:avLst>
            </a:prstGeom>
            <a:solidFill>
              <a:srgbClr val="F0F9FC"/>
            </a:solidFill>
            <a:ln w="11430">
              <a:solidFill>
                <a:srgbClr val="B8C7D6"/>
              </a:solidFill>
            </a:ln>
          </p:spPr>
        </p:sp>
        <p:sp>
          <p:nvSpPr>
            <p:cNvPr id="16" name="Rectangle 16"/>
            <p:cNvSpPr/>
            <p:nvPr/>
          </p:nvSpPr>
          <p:spPr>
            <a:xfrm>
              <a:off x="7124700" y="1285875"/>
              <a:ext cx="76200" cy="4905375"/>
            </a:xfrm>
            <a:prstGeom prst="rect">
              <a:avLst/>
            </a:prstGeom>
            <a:solidFill>
              <a:srgbClr val="06B6D4"/>
            </a:solidFill>
            <a:ln>
              <a:noFill/>
            </a:ln>
          </p:spPr>
        </p:sp>
        <p:sp>
          <p:nvSpPr>
            <p:cNvPr id="17" name="Rectangle 17"/>
            <p:cNvSpPr/>
            <p:nvPr/>
          </p:nvSpPr>
          <p:spPr>
            <a:xfrm>
              <a:off x="7391400" y="1552575"/>
              <a:ext cx="4038600" cy="1257300"/>
            </a:xfrm>
            <a:prstGeom prst="roundRect">
              <a:avLst>
                <a:gd name="adj" fmla="val 1515"/>
              </a:avLst>
            </a:prstGeom>
            <a:solidFill>
              <a:srgbClr val="FFFFFF"/>
            </a:solidFill>
            <a:ln w="9525">
              <a:solidFill>
                <a:srgbClr val="D4E2EE"/>
              </a:solidFill>
            </a:ln>
          </p:spPr>
        </p:sp>
        <p:sp>
          <p:nvSpPr>
            <p:cNvPr id="18" name="Rectangle 18"/>
            <p:cNvSpPr/>
            <p:nvPr/>
          </p:nvSpPr>
          <p:spPr>
            <a:xfrm>
              <a:off x="7391400" y="3105150"/>
              <a:ext cx="4038600" cy="1257300"/>
            </a:xfrm>
            <a:prstGeom prst="roundRect">
              <a:avLst>
                <a:gd name="adj" fmla="val 1515"/>
              </a:avLst>
            </a:prstGeom>
            <a:solidFill>
              <a:srgbClr val="FFFFFF"/>
            </a:solidFill>
            <a:ln w="9525">
              <a:solidFill>
                <a:srgbClr val="D4E2EE"/>
              </a:solidFill>
            </a:ln>
          </p:spPr>
        </p:sp>
        <p:sp>
          <p:nvSpPr>
            <p:cNvPr id="19" name="Rectangle 19"/>
            <p:cNvSpPr/>
            <p:nvPr/>
          </p:nvSpPr>
          <p:spPr>
            <a:xfrm>
              <a:off x="7391400" y="4657725"/>
              <a:ext cx="4038600" cy="1257300"/>
            </a:xfrm>
            <a:prstGeom prst="roundRect">
              <a:avLst>
                <a:gd name="adj" fmla="val 1515"/>
              </a:avLst>
            </a:prstGeom>
            <a:solidFill>
              <a:srgbClr val="FFFFFF"/>
            </a:solidFill>
            <a:ln w="9525">
              <a:solidFill>
                <a:srgbClr val="D4E2EE"/>
              </a:solidFill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7605712" y="1745456"/>
              <a:ext cx="220156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06B6D4"/>
                  </a:solidFill>
                  <a:latin typeface="Arial"/>
                  <a:ea typeface="Microsoft YaHei"/>
                  <a:cs typeface="Arial"/>
                </a:rPr>
                <a:t>01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7605712" y="3298031"/>
              <a:ext cx="220156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06B6D4"/>
                  </a:solidFill>
                  <a:latin typeface="Arial"/>
                  <a:ea typeface="Microsoft YaHei"/>
                  <a:cs typeface="Arial"/>
                </a:rPr>
                <a:t>02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7605712" y="4850606"/>
              <a:ext cx="220156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CC0000"/>
                  </a:solidFill>
                  <a:latin typeface="Arial"/>
                  <a:ea typeface="Microsoft YaHei"/>
                  <a:cs typeface="Arial"/>
                </a:rPr>
                <a:t>03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7848600" y="1819275"/>
              <a:ext cx="3314700" cy="7239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425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「动态 Graph」的机制核心是解耦：策略与执行分离、状态与过程分离、权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7848600" y="3371850"/>
              <a:ext cx="3314700" cy="7239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425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关键环节：契约→执行→验证→留痕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7848600" y="4924425"/>
              <a:ext cx="3314700" cy="7239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425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落点：仓库验证</a:t>
              </a:r>
            </a:p>
          </p:txBody>
        </p:sp>
      </p:grpSp>
      <p:grpSp>
        <p:nvGrpSpPr>
          <p:cNvPr id="32" name="EasySlides Component: figure"/>
          <p:cNvGrpSpPr/>
          <p:nvPr/>
        </p:nvGrpSpPr>
        <p:grpSpPr>
          <a:xfrm>
            <a:off x="495300" y="1285875"/>
            <a:ext cx="6400800" cy="4905375"/>
            <a:chOff x="495300" y="1285875"/>
            <a:chExt cx="6400800" cy="4905375"/>
          </a:xfrm>
        </p:grpSpPr>
        <p:sp>
          <p:nvSpPr>
            <p:cNvPr id="27" name="Rectangle 27"/>
            <p:cNvSpPr/>
            <p:nvPr/>
          </p:nvSpPr>
          <p:spPr>
            <a:xfrm>
              <a:off x="495300" y="1285875"/>
              <a:ext cx="6400800" cy="4905375"/>
            </a:xfrm>
            <a:prstGeom prst="roundRect">
              <a:avLst>
                <a:gd name="adj" fmla="val 777"/>
              </a:avLst>
            </a:prstGeom>
            <a:solidFill>
              <a:srgbClr val="FFFFFF"/>
            </a:solidFill>
            <a:ln w="11430">
              <a:solidFill>
                <a:srgbClr val="B8C7D6"/>
              </a:solidFill>
            </a:ln>
          </p:spPr>
        </p:sp>
        <p:sp>
          <p:nvSpPr>
            <p:cNvPr id="28" name="Rectangle 28"/>
            <p:cNvSpPr/>
            <p:nvPr/>
          </p:nvSpPr>
          <p:spPr>
            <a:xfrm>
              <a:off x="647700" y="1438275"/>
              <a:ext cx="6096000" cy="3905250"/>
            </a:xfrm>
            <a:prstGeom prst="roundRect">
              <a:avLst>
                <a:gd name="adj" fmla="val 488"/>
              </a:avLst>
            </a:prstGeom>
            <a:solidFill>
              <a:srgbClr val="F0F9FC"/>
            </a:solidFill>
            <a:ln w="9525">
              <a:solidFill>
                <a:srgbClr val="D4E2EE"/>
              </a:solidFill>
            </a:ln>
          </p:spPr>
        </p:sp>
        <p:pic>
          <p:nvPicPr>
            <p:cNvPr id="29" name="Image 29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647700" y="1605643"/>
              <a:ext cx="6096000" cy="3570514"/>
            </a:xfrm>
            <a:prstGeom prst="rect">
              <a:avLst/>
            </a:prstGeom>
          </p:spPr>
        </p:pic>
        <p:sp>
          <p:nvSpPr>
            <p:cNvPr id="30" name="Line 30"/>
            <p:cNvSpPr/>
            <p:nvPr/>
          </p:nvSpPr>
          <p:spPr>
            <a:xfrm>
              <a:off x="723900" y="5534025"/>
              <a:ext cx="5943600" cy="9525"/>
            </a:xfrm>
            <a:custGeom>
              <a:avLst/>
              <a:gdLst/>
              <a:ahLst/>
              <a:cxnLst/>
              <a:rect l="l" t="t" r="r" b="b"/>
              <a:pathLst>
                <a:path w="5943600" h="9525">
                  <a:moveTo>
                    <a:pt x="0" y="0"/>
                  </a:moveTo>
                  <a:lnTo>
                    <a:pt x="5943600" y="0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800100" y="5610225"/>
              <a:ext cx="5791200" cy="4572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350" dirty="0">
                  <a:solidFill>
                    <a:srgbClr val="52657A"/>
                  </a:solidFill>
                  <a:latin typeface="Arial"/>
                  <a:ea typeface="Microsoft YaHei"/>
                  <a:cs typeface="Arial"/>
                </a:rPr>
                <a:t>图：动态 Graph 的机制与数据流（layers 视角）</a:t>
              </a:r>
            </a:p>
          </p:txBody>
        </p:sp>
      </p:grp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666750"/>
          </a:xfrm>
          <a:prstGeom prst="rect">
            <a:avLst/>
          </a:prstGeom>
          <a:solidFill>
            <a:srgbClr val="0E7490"/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0"/>
            <a:ext cx="57150" cy="666750"/>
          </a:xfrm>
          <a:prstGeom prst="rect">
            <a:avLst/>
          </a:prstGeom>
          <a:solidFill>
            <a:srgbClr val="CC0000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381000" y="123825"/>
            <a:ext cx="762000" cy="4000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1275" b="1" dirty="0">
                <a:solidFill>
                  <a:srgbClr val="9FD3FF"/>
                </a:solidFill>
                <a:latin typeface="Arial"/>
                <a:ea typeface="Microsoft YaHei"/>
                <a:cs typeface="Arial"/>
              </a:rPr>
              <a:t>31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257300" y="95250"/>
            <a:ext cx="8096250" cy="457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21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深入原理：动态 Graph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0001250" y="76200"/>
            <a:ext cx="1619250" cy="5143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3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DataAgent</a:t>
            </a:r>
          </a:p>
        </p:txBody>
      </p:sp>
      <p:sp>
        <p:nvSpPr>
          <p:cNvPr id="8" name="Rectangle 8"/>
          <p:cNvSpPr/>
          <p:nvPr/>
        </p:nvSpPr>
        <p:spPr>
          <a:xfrm>
            <a:off x="0" y="666750"/>
            <a:ext cx="12192000" cy="476250"/>
          </a:xfrm>
          <a:prstGeom prst="rect">
            <a:avLst/>
          </a:prstGeom>
          <a:solidFill>
            <a:srgbClr val="E8F4FC"/>
          </a:solidFill>
          <a:ln>
            <a:noFill/>
          </a:ln>
        </p:spPr>
      </p:sp>
      <p:sp>
        <p:nvSpPr>
          <p:cNvPr id="9" name="Rectangle 9"/>
          <p:cNvSpPr/>
          <p:nvPr/>
        </p:nvSpPr>
        <p:spPr>
          <a:xfrm>
            <a:off x="0" y="666750"/>
            <a:ext cx="57150" cy="476250"/>
          </a:xfrm>
          <a:prstGeom prst="rect">
            <a:avLst/>
          </a:prstGeom>
          <a:solidFill>
            <a:srgbClr val="06B6D4"/>
          </a:solidFill>
          <a:ln>
            <a:noFill/>
          </a:ln>
        </p:spPr>
      </p:sp>
      <p:sp>
        <p:nvSpPr>
          <p:cNvPr id="10" name="TextBox 10"/>
          <p:cNvSpPr txBox="1"/>
          <p:nvPr/>
        </p:nvSpPr>
        <p:spPr>
          <a:xfrm>
            <a:off x="381000" y="714375"/>
            <a:ext cx="10001250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1350" dirty="0">
                <a:solidFill>
                  <a:srgbClr val="26384A"/>
                </a:solidFill>
                <a:latin typeface="Arial"/>
                <a:ea typeface="Microsoft YaHei"/>
                <a:cs typeface="Arial"/>
              </a:rPr>
              <a:t>正确姿势 vs 常见误用</a:t>
            </a:r>
          </a:p>
        </p:txBody>
      </p:sp>
      <p:sp>
        <p:nvSpPr>
          <p:cNvPr id="11" name="Line 11"/>
          <p:cNvSpPr/>
          <p:nvPr/>
        </p:nvSpPr>
        <p:spPr>
          <a:xfrm>
            <a:off x="381000" y="6334125"/>
            <a:ext cx="11430000" cy="9525"/>
          </a:xfrm>
          <a:custGeom>
            <a:avLst/>
            <a:gdLst/>
            <a:ahLst/>
            <a:cxnLst/>
            <a:rect l="l" t="t" r="r" b="b"/>
            <a:pathLst>
              <a:path w="11430000" h="9525">
                <a:moveTo>
                  <a:pt x="0" y="0"/>
                </a:moveTo>
                <a:lnTo>
                  <a:pt x="11430000" y="0"/>
                </a:lnTo>
              </a:path>
            </a:pathLst>
          </a:custGeom>
          <a:noFill/>
          <a:ln w="9525">
            <a:solidFill>
              <a:srgbClr val="E8F4FC"/>
            </a:solidFill>
          </a:ln>
        </p:spPr>
      </p:sp>
      <p:sp>
        <p:nvSpPr>
          <p:cNvPr id="12" name="TextBox 12"/>
          <p:cNvSpPr txBox="1"/>
          <p:nvPr/>
        </p:nvSpPr>
        <p:spPr>
          <a:xfrm>
            <a:off x="381000" y="6477000"/>
            <a:ext cx="4953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课程第15讲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4381500" y="6477000"/>
            <a:ext cx="3429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Agent Runtime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0763250" y="6457950"/>
            <a:ext cx="857250" cy="266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050" dirty="0">
                <a:solidFill>
                  <a:srgbClr val="52657A"/>
                </a:solidFill>
                <a:latin typeface="Arial"/>
                <a:ea typeface="Microsoft YaHei"/>
                <a:cs typeface="Arial"/>
              </a:rPr>
              <a:t>31</a:t>
            </a:r>
          </a:p>
        </p:txBody>
      </p:sp>
      <p:grpSp>
        <p:nvGrpSpPr>
          <p:cNvPr id="22" name="EasySlides Component: left"/>
          <p:cNvGrpSpPr/>
          <p:nvPr/>
        </p:nvGrpSpPr>
        <p:grpSpPr>
          <a:xfrm>
            <a:off x="495300" y="1285875"/>
            <a:ext cx="5410200" cy="4000500"/>
            <a:chOff x="495300" y="1285875"/>
            <a:chExt cx="5410200" cy="4000500"/>
          </a:xfrm>
        </p:grpSpPr>
        <p:sp>
          <p:nvSpPr>
            <p:cNvPr id="15" name="Rectangle 15"/>
            <p:cNvSpPr/>
            <p:nvPr/>
          </p:nvSpPr>
          <p:spPr>
            <a:xfrm>
              <a:off x="495300" y="1285875"/>
              <a:ext cx="5410200" cy="4000500"/>
            </a:xfrm>
            <a:prstGeom prst="roundRect">
              <a:avLst>
                <a:gd name="adj" fmla="val 952"/>
              </a:avLst>
            </a:prstGeom>
            <a:solidFill>
              <a:srgbClr val="FFFFFF"/>
            </a:solidFill>
            <a:ln w="11430">
              <a:solidFill>
                <a:srgbClr val="B8C7D6"/>
              </a:solidFill>
            </a:ln>
          </p:spPr>
        </p:sp>
        <p:sp>
          <p:nvSpPr>
            <p:cNvPr id="16" name="Rectangle 16"/>
            <p:cNvSpPr/>
            <p:nvPr/>
          </p:nvSpPr>
          <p:spPr>
            <a:xfrm>
              <a:off x="495300" y="1285875"/>
              <a:ext cx="5410200" cy="609600"/>
            </a:xfrm>
            <a:prstGeom prst="roundRect">
              <a:avLst>
                <a:gd name="adj" fmla="val 6250"/>
              </a:avLst>
            </a:prstGeom>
            <a:solidFill>
              <a:srgbClr val="E8F4FC"/>
            </a:solidFill>
            <a:ln>
              <a:noFill/>
            </a:ln>
          </p:spPr>
        </p:sp>
        <p:sp>
          <p:nvSpPr>
            <p:cNvPr id="17" name="Rectangle 17"/>
            <p:cNvSpPr/>
            <p:nvPr/>
          </p:nvSpPr>
          <p:spPr>
            <a:xfrm>
              <a:off x="495300" y="1285875"/>
              <a:ext cx="57150" cy="609600"/>
            </a:xfrm>
            <a:prstGeom prst="rect">
              <a:avLst/>
            </a:prstGeom>
            <a:solidFill>
              <a:srgbClr val="06B6D4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800100" y="1419225"/>
              <a:ext cx="4800600" cy="3429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725" b="1" dirty="0">
                  <a:solidFill>
                    <a:srgbClr val="0E7490"/>
                  </a:solidFill>
                  <a:latin typeface="Arial"/>
                  <a:ea typeface="Microsoft YaHei"/>
                  <a:cs typeface="Arial"/>
                </a:rPr>
                <a:t>正确姿势</a:t>
              </a:r>
            </a:p>
          </p:txBody>
        </p:sp>
        <p:sp>
          <p:nvSpPr>
            <p:cNvPr id="19" name="Line 19"/>
            <p:cNvSpPr/>
            <p:nvPr/>
          </p:nvSpPr>
          <p:spPr>
            <a:xfrm>
              <a:off x="800100" y="2276475"/>
              <a:ext cx="4800600" cy="9525"/>
            </a:xfrm>
            <a:custGeom>
              <a:avLst/>
              <a:gdLst/>
              <a:ahLst/>
              <a:cxnLst/>
              <a:rect l="l" t="t" r="r" b="b"/>
              <a:pathLst>
                <a:path w="4800600" h="9525">
                  <a:moveTo>
                    <a:pt x="0" y="0"/>
                  </a:moveTo>
                  <a:lnTo>
                    <a:pt x="4800600" y="0"/>
                  </a:lnTo>
                </a:path>
              </a:pathLst>
            </a:custGeom>
            <a:noFill/>
            <a:ln w="19050">
              <a:solidFill>
                <a:srgbClr val="D4E2EE"/>
              </a:solidFill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1028700" y="2505075"/>
              <a:ext cx="4343400" cy="20955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650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正确姿势：为「动态 Graph」设置显式预算与停止条件，宁可慢一点，不可失控。</a:t>
              </a:r>
            </a:p>
            <a:p>
              <a:pPr algn="l"/>
              <a:r>
                <a:rPr lang="zh-CN" sz="1650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契约先行，证据留痕</a:t>
              </a:r>
            </a:p>
          </p:txBody>
        </p:sp>
        <p:sp>
          <p:nvSpPr>
            <p:cNvPr id="21" name="Line 21"/>
            <p:cNvSpPr/>
            <p:nvPr/>
          </p:nvSpPr>
          <p:spPr>
            <a:xfrm>
              <a:off x="800100" y="4905375"/>
              <a:ext cx="4800600" cy="9525"/>
            </a:xfrm>
            <a:custGeom>
              <a:avLst/>
              <a:gdLst/>
              <a:ahLst/>
              <a:cxnLst/>
              <a:rect l="l" t="t" r="r" b="b"/>
              <a:pathLst>
                <a:path w="4800600" h="9525">
                  <a:moveTo>
                    <a:pt x="0" y="0"/>
                  </a:moveTo>
                  <a:lnTo>
                    <a:pt x="4800600" y="0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</p:grpSp>
      <p:grpSp>
        <p:nvGrpSpPr>
          <p:cNvPr id="30" name="EasySlides Component: right"/>
          <p:cNvGrpSpPr/>
          <p:nvPr/>
        </p:nvGrpSpPr>
        <p:grpSpPr>
          <a:xfrm>
            <a:off x="6286500" y="1285875"/>
            <a:ext cx="5410200" cy="4000500"/>
            <a:chOff x="6286500" y="1285875"/>
            <a:chExt cx="5410200" cy="4000500"/>
          </a:xfrm>
        </p:grpSpPr>
        <p:sp>
          <p:nvSpPr>
            <p:cNvPr id="23" name="Rectangle 23"/>
            <p:cNvSpPr/>
            <p:nvPr/>
          </p:nvSpPr>
          <p:spPr>
            <a:xfrm>
              <a:off x="6286500" y="1285875"/>
              <a:ext cx="5410200" cy="4000500"/>
            </a:xfrm>
            <a:prstGeom prst="roundRect">
              <a:avLst>
                <a:gd name="adj" fmla="val 952"/>
              </a:avLst>
            </a:prstGeom>
            <a:solidFill>
              <a:srgbClr val="FFFFFF"/>
            </a:solidFill>
            <a:ln w="11430">
              <a:solidFill>
                <a:srgbClr val="B8C7D6"/>
              </a:solidFill>
            </a:ln>
          </p:spPr>
        </p:sp>
        <p:sp>
          <p:nvSpPr>
            <p:cNvPr id="24" name="Rectangle 24"/>
            <p:cNvSpPr/>
            <p:nvPr/>
          </p:nvSpPr>
          <p:spPr>
            <a:xfrm>
              <a:off x="6286500" y="1285875"/>
              <a:ext cx="5410200" cy="609600"/>
            </a:xfrm>
            <a:prstGeom prst="roundRect">
              <a:avLst>
                <a:gd name="adj" fmla="val 6250"/>
              </a:avLst>
            </a:prstGeom>
            <a:solidFill>
              <a:srgbClr val="E8F4FC"/>
            </a:solidFill>
            <a:ln>
              <a:noFill/>
            </a:ln>
          </p:spPr>
        </p:sp>
        <p:sp>
          <p:nvSpPr>
            <p:cNvPr id="25" name="Rectangle 25"/>
            <p:cNvSpPr/>
            <p:nvPr/>
          </p:nvSpPr>
          <p:spPr>
            <a:xfrm>
              <a:off x="6286500" y="1285875"/>
              <a:ext cx="57150" cy="609600"/>
            </a:xfrm>
            <a:prstGeom prst="rect">
              <a:avLst/>
            </a:prstGeom>
            <a:solidFill>
              <a:srgbClr val="06B6D4"/>
            </a:solidFill>
            <a:ln>
              <a:noFill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6591300" y="1419225"/>
              <a:ext cx="4800600" cy="3429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725" b="1" dirty="0">
                  <a:solidFill>
                    <a:srgbClr val="0E7490"/>
                  </a:solidFill>
                  <a:latin typeface="Arial"/>
                  <a:ea typeface="Microsoft YaHei"/>
                  <a:cs typeface="Arial"/>
                </a:rPr>
                <a:t>常见误用</a:t>
              </a:r>
            </a:p>
          </p:txBody>
        </p:sp>
        <p:sp>
          <p:nvSpPr>
            <p:cNvPr id="27" name="Line 27"/>
            <p:cNvSpPr/>
            <p:nvPr/>
          </p:nvSpPr>
          <p:spPr>
            <a:xfrm>
              <a:off x="6591300" y="2276475"/>
              <a:ext cx="4800600" cy="9525"/>
            </a:xfrm>
            <a:custGeom>
              <a:avLst/>
              <a:gdLst/>
              <a:ahLst/>
              <a:cxnLst/>
              <a:rect l="l" t="t" r="r" b="b"/>
              <a:pathLst>
                <a:path w="4800600" h="9525">
                  <a:moveTo>
                    <a:pt x="0" y="0"/>
                  </a:moveTo>
                  <a:lnTo>
                    <a:pt x="4800600" y="0"/>
                  </a:lnTo>
                </a:path>
              </a:pathLst>
            </a:custGeom>
            <a:noFill/>
            <a:ln w="19050">
              <a:solidFill>
                <a:srgbClr val="D4E2EE"/>
              </a:solidFill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6819900" y="2505075"/>
              <a:ext cx="4343400" cy="20955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650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常见误用：只在 Demo 里验证「动态 Graph」的正常路径，故障注入一跑就现出原形。</a:t>
              </a:r>
            </a:p>
            <a:p>
              <a:pPr algn="l"/>
              <a:r>
                <a:rPr lang="zh-CN" sz="1650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无版本/无度量/无回滚</a:t>
              </a:r>
            </a:p>
          </p:txBody>
        </p:sp>
        <p:sp>
          <p:nvSpPr>
            <p:cNvPr id="29" name="Line 29"/>
            <p:cNvSpPr/>
            <p:nvPr/>
          </p:nvSpPr>
          <p:spPr>
            <a:xfrm>
              <a:off x="6591300" y="4905375"/>
              <a:ext cx="4800600" cy="9525"/>
            </a:xfrm>
            <a:custGeom>
              <a:avLst/>
              <a:gdLst/>
              <a:ahLst/>
              <a:cxnLst/>
              <a:rect l="l" t="t" r="r" b="b"/>
              <a:pathLst>
                <a:path w="4800600" h="9525">
                  <a:moveTo>
                    <a:pt x="0" y="0"/>
                  </a:moveTo>
                  <a:lnTo>
                    <a:pt x="4800600" y="0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</p:grpSp>
      <p:grpSp>
        <p:nvGrpSpPr>
          <p:cNvPr id="34" name="EasySlides Component: synthesis"/>
          <p:cNvGrpSpPr/>
          <p:nvPr/>
        </p:nvGrpSpPr>
        <p:grpSpPr>
          <a:xfrm>
            <a:off x="495300" y="5476875"/>
            <a:ext cx="11201400" cy="714375"/>
            <a:chOff x="495300" y="5476875"/>
            <a:chExt cx="11201400" cy="714375"/>
          </a:xfrm>
        </p:grpSpPr>
        <p:sp>
          <p:nvSpPr>
            <p:cNvPr id="31" name="Rectangle 31"/>
            <p:cNvSpPr/>
            <p:nvPr/>
          </p:nvSpPr>
          <p:spPr>
            <a:xfrm>
              <a:off x="495300" y="5476875"/>
              <a:ext cx="11201400" cy="714375"/>
            </a:xfrm>
            <a:prstGeom prst="roundRect">
              <a:avLst>
                <a:gd name="adj" fmla="val 5333"/>
              </a:avLst>
            </a:prstGeom>
            <a:solidFill>
              <a:srgbClr val="0E7490"/>
            </a:solidFill>
            <a:ln>
              <a:noFill/>
            </a:ln>
          </p:spPr>
        </p:sp>
        <p:sp>
          <p:nvSpPr>
            <p:cNvPr id="32" name="Rectangle 32"/>
            <p:cNvSpPr/>
            <p:nvPr/>
          </p:nvSpPr>
          <p:spPr>
            <a:xfrm>
              <a:off x="495300" y="5476875"/>
              <a:ext cx="76200" cy="714375"/>
            </a:xfrm>
            <a:prstGeom prst="roundRect">
              <a:avLst>
                <a:gd name="adj" fmla="val 50000"/>
              </a:avLst>
            </a:prstGeom>
            <a:solidFill>
              <a:srgbClr val="CC0000"/>
            </a:solidFill>
            <a:ln>
              <a:noFill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876300" y="5610225"/>
              <a:ext cx="10439400" cy="4476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65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治理视角：控制权矩阵与自主性预算划定行动边界。</a:t>
              </a:r>
            </a:p>
          </p:txBody>
        </p:sp>
      </p:grp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666750"/>
          </a:xfrm>
          <a:prstGeom prst="rect">
            <a:avLst/>
          </a:prstGeom>
          <a:solidFill>
            <a:srgbClr val="0E7490"/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0"/>
            <a:ext cx="57150" cy="666750"/>
          </a:xfrm>
          <a:prstGeom prst="rect">
            <a:avLst/>
          </a:prstGeom>
          <a:solidFill>
            <a:srgbClr val="CC0000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381000" y="123825"/>
            <a:ext cx="762000" cy="4000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1275" b="1" dirty="0">
                <a:solidFill>
                  <a:srgbClr val="9FD3FF"/>
                </a:solidFill>
                <a:latin typeface="Arial"/>
                <a:ea typeface="Microsoft YaHei"/>
                <a:cs typeface="Arial"/>
              </a:rPr>
              <a:t>32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257300" y="95250"/>
            <a:ext cx="8096250" cy="457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21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代码契约：动态 Graph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0001250" y="76200"/>
            <a:ext cx="1619250" cy="5143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3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DataAgent</a:t>
            </a:r>
          </a:p>
        </p:txBody>
      </p:sp>
      <p:sp>
        <p:nvSpPr>
          <p:cNvPr id="8" name="Rectangle 8"/>
          <p:cNvSpPr/>
          <p:nvPr/>
        </p:nvSpPr>
        <p:spPr>
          <a:xfrm>
            <a:off x="0" y="666750"/>
            <a:ext cx="12192000" cy="476250"/>
          </a:xfrm>
          <a:prstGeom prst="rect">
            <a:avLst/>
          </a:prstGeom>
          <a:solidFill>
            <a:srgbClr val="E8F4FC"/>
          </a:solidFill>
          <a:ln>
            <a:noFill/>
          </a:ln>
        </p:spPr>
      </p:sp>
      <p:sp>
        <p:nvSpPr>
          <p:cNvPr id="9" name="Rectangle 9"/>
          <p:cNvSpPr/>
          <p:nvPr/>
        </p:nvSpPr>
        <p:spPr>
          <a:xfrm>
            <a:off x="0" y="666750"/>
            <a:ext cx="57150" cy="476250"/>
          </a:xfrm>
          <a:prstGeom prst="rect">
            <a:avLst/>
          </a:prstGeom>
          <a:solidFill>
            <a:srgbClr val="06B6D4"/>
          </a:solidFill>
          <a:ln>
            <a:noFill/>
          </a:ln>
        </p:spPr>
      </p:sp>
      <p:sp>
        <p:nvSpPr>
          <p:cNvPr id="10" name="TextBox 10"/>
          <p:cNvSpPr txBox="1"/>
          <p:nvPr/>
        </p:nvSpPr>
        <p:spPr>
          <a:xfrm>
            <a:off x="381000" y="714375"/>
            <a:ext cx="10001250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1350" dirty="0">
                <a:solidFill>
                  <a:srgbClr val="26384A"/>
                </a:solidFill>
                <a:latin typeface="Arial"/>
                <a:ea typeface="Microsoft YaHei"/>
                <a:cs typeface="Arial"/>
              </a:rPr>
              <a:t>仓库真实代码 · 契约切面</a:t>
            </a:r>
          </a:p>
        </p:txBody>
      </p:sp>
      <p:sp>
        <p:nvSpPr>
          <p:cNvPr id="11" name="Line 11"/>
          <p:cNvSpPr/>
          <p:nvPr/>
        </p:nvSpPr>
        <p:spPr>
          <a:xfrm>
            <a:off x="381000" y="6334125"/>
            <a:ext cx="11430000" cy="9525"/>
          </a:xfrm>
          <a:custGeom>
            <a:avLst/>
            <a:gdLst/>
            <a:ahLst/>
            <a:cxnLst/>
            <a:rect l="l" t="t" r="r" b="b"/>
            <a:pathLst>
              <a:path w="11430000" h="9525">
                <a:moveTo>
                  <a:pt x="0" y="0"/>
                </a:moveTo>
                <a:lnTo>
                  <a:pt x="11430000" y="0"/>
                </a:lnTo>
              </a:path>
            </a:pathLst>
          </a:custGeom>
          <a:noFill/>
          <a:ln w="9525">
            <a:solidFill>
              <a:srgbClr val="E8F4FC"/>
            </a:solidFill>
          </a:ln>
        </p:spPr>
      </p:sp>
      <p:sp>
        <p:nvSpPr>
          <p:cNvPr id="12" name="TextBox 12"/>
          <p:cNvSpPr txBox="1"/>
          <p:nvPr/>
        </p:nvSpPr>
        <p:spPr>
          <a:xfrm>
            <a:off x="381000" y="6477000"/>
            <a:ext cx="4953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课程第15讲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4381500" y="6477000"/>
            <a:ext cx="3429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Agent Runtime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0763250" y="6457950"/>
            <a:ext cx="857250" cy="266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050" dirty="0">
                <a:solidFill>
                  <a:srgbClr val="52657A"/>
                </a:solidFill>
                <a:latin typeface="Arial"/>
                <a:ea typeface="Microsoft YaHei"/>
                <a:cs typeface="Arial"/>
              </a:rPr>
              <a:t>32</a:t>
            </a:r>
          </a:p>
        </p:txBody>
      </p:sp>
      <p:grpSp>
        <p:nvGrpSpPr>
          <p:cNvPr id="26" name="EasySlides Component: evidence"/>
          <p:cNvGrpSpPr/>
          <p:nvPr/>
        </p:nvGrpSpPr>
        <p:grpSpPr>
          <a:xfrm>
            <a:off x="7124700" y="1285875"/>
            <a:ext cx="4572000" cy="4905375"/>
            <a:chOff x="7124700" y="1285875"/>
            <a:chExt cx="4572000" cy="4905375"/>
          </a:xfrm>
        </p:grpSpPr>
        <p:sp>
          <p:nvSpPr>
            <p:cNvPr id="15" name="Rectangle 15"/>
            <p:cNvSpPr/>
            <p:nvPr/>
          </p:nvSpPr>
          <p:spPr>
            <a:xfrm>
              <a:off x="7124700" y="1285875"/>
              <a:ext cx="4572000" cy="4905375"/>
            </a:xfrm>
            <a:prstGeom prst="roundRect">
              <a:avLst>
                <a:gd name="adj" fmla="val 833"/>
              </a:avLst>
            </a:prstGeom>
            <a:solidFill>
              <a:srgbClr val="F0F9FC"/>
            </a:solidFill>
            <a:ln w="11430">
              <a:solidFill>
                <a:srgbClr val="B8C7D6"/>
              </a:solidFill>
            </a:ln>
          </p:spPr>
        </p:sp>
        <p:sp>
          <p:nvSpPr>
            <p:cNvPr id="16" name="Rectangle 16"/>
            <p:cNvSpPr/>
            <p:nvPr/>
          </p:nvSpPr>
          <p:spPr>
            <a:xfrm>
              <a:off x="7124700" y="1285875"/>
              <a:ext cx="76200" cy="4905375"/>
            </a:xfrm>
            <a:prstGeom prst="rect">
              <a:avLst/>
            </a:prstGeom>
            <a:solidFill>
              <a:srgbClr val="06B6D4"/>
            </a:solidFill>
            <a:ln>
              <a:noFill/>
            </a:ln>
          </p:spPr>
        </p:sp>
        <p:sp>
          <p:nvSpPr>
            <p:cNvPr id="17" name="Rectangle 17"/>
            <p:cNvSpPr/>
            <p:nvPr/>
          </p:nvSpPr>
          <p:spPr>
            <a:xfrm>
              <a:off x="7391400" y="1552575"/>
              <a:ext cx="4038600" cy="1257300"/>
            </a:xfrm>
            <a:prstGeom prst="roundRect">
              <a:avLst>
                <a:gd name="adj" fmla="val 1515"/>
              </a:avLst>
            </a:prstGeom>
            <a:solidFill>
              <a:srgbClr val="FFFFFF"/>
            </a:solidFill>
            <a:ln w="9525">
              <a:solidFill>
                <a:srgbClr val="D4E2EE"/>
              </a:solidFill>
            </a:ln>
          </p:spPr>
        </p:sp>
        <p:sp>
          <p:nvSpPr>
            <p:cNvPr id="18" name="Rectangle 18"/>
            <p:cNvSpPr/>
            <p:nvPr/>
          </p:nvSpPr>
          <p:spPr>
            <a:xfrm>
              <a:off x="7391400" y="3105150"/>
              <a:ext cx="4038600" cy="1257300"/>
            </a:xfrm>
            <a:prstGeom prst="roundRect">
              <a:avLst>
                <a:gd name="adj" fmla="val 1515"/>
              </a:avLst>
            </a:prstGeom>
            <a:solidFill>
              <a:srgbClr val="FFFFFF"/>
            </a:solidFill>
            <a:ln w="9525">
              <a:solidFill>
                <a:srgbClr val="D4E2EE"/>
              </a:solidFill>
            </a:ln>
          </p:spPr>
        </p:sp>
        <p:sp>
          <p:nvSpPr>
            <p:cNvPr id="19" name="Rectangle 19"/>
            <p:cNvSpPr/>
            <p:nvPr/>
          </p:nvSpPr>
          <p:spPr>
            <a:xfrm>
              <a:off x="7391400" y="4657725"/>
              <a:ext cx="4038600" cy="1257300"/>
            </a:xfrm>
            <a:prstGeom prst="roundRect">
              <a:avLst>
                <a:gd name="adj" fmla="val 1515"/>
              </a:avLst>
            </a:prstGeom>
            <a:solidFill>
              <a:srgbClr val="FFFFFF"/>
            </a:solidFill>
            <a:ln w="9525">
              <a:solidFill>
                <a:srgbClr val="D4E2EE"/>
              </a:solidFill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7605712" y="1745456"/>
              <a:ext cx="220156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06B6D4"/>
                  </a:solidFill>
                  <a:latin typeface="Arial"/>
                  <a:ea typeface="Microsoft YaHei"/>
                  <a:cs typeface="Arial"/>
                </a:rPr>
                <a:t>01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7605712" y="3298031"/>
              <a:ext cx="220156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06B6D4"/>
                  </a:solidFill>
                  <a:latin typeface="Arial"/>
                  <a:ea typeface="Microsoft YaHei"/>
                  <a:cs typeface="Arial"/>
                </a:rPr>
                <a:t>02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7605712" y="4850606"/>
              <a:ext cx="220156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CC0000"/>
                  </a:solidFill>
                  <a:latin typeface="Arial"/>
                  <a:ea typeface="Microsoft YaHei"/>
                  <a:cs typeface="Arial"/>
                </a:rPr>
                <a:t>03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7848600" y="1819275"/>
              <a:ext cx="3314700" cy="7239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425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文件：workflow.py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7848600" y="3371850"/>
              <a:ext cx="3314700" cy="7239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425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切面：契约——先读接口再读实现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7848600" y="4924425"/>
              <a:ext cx="3314700" cy="7239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425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测试见 tests/ 目录</a:t>
              </a:r>
            </a:p>
          </p:txBody>
        </p:sp>
      </p:grpSp>
      <p:grpSp>
        <p:nvGrpSpPr>
          <p:cNvPr id="32" name="EasySlides Component: figure"/>
          <p:cNvGrpSpPr/>
          <p:nvPr/>
        </p:nvGrpSpPr>
        <p:grpSpPr>
          <a:xfrm>
            <a:off x="495300" y="1285875"/>
            <a:ext cx="6400800" cy="4905375"/>
            <a:chOff x="495300" y="1285875"/>
            <a:chExt cx="6400800" cy="4905375"/>
          </a:xfrm>
        </p:grpSpPr>
        <p:sp>
          <p:nvSpPr>
            <p:cNvPr id="27" name="Rectangle 27"/>
            <p:cNvSpPr/>
            <p:nvPr/>
          </p:nvSpPr>
          <p:spPr>
            <a:xfrm>
              <a:off x="495300" y="1285875"/>
              <a:ext cx="6400800" cy="4905375"/>
            </a:xfrm>
            <a:prstGeom prst="roundRect">
              <a:avLst>
                <a:gd name="adj" fmla="val 777"/>
              </a:avLst>
            </a:prstGeom>
            <a:solidFill>
              <a:srgbClr val="FFFFFF"/>
            </a:solidFill>
            <a:ln w="11430">
              <a:solidFill>
                <a:srgbClr val="B8C7D6"/>
              </a:solidFill>
            </a:ln>
          </p:spPr>
        </p:sp>
        <p:sp>
          <p:nvSpPr>
            <p:cNvPr id="28" name="Rectangle 28"/>
            <p:cNvSpPr/>
            <p:nvPr/>
          </p:nvSpPr>
          <p:spPr>
            <a:xfrm>
              <a:off x="647700" y="1438275"/>
              <a:ext cx="6096000" cy="3905250"/>
            </a:xfrm>
            <a:prstGeom prst="roundRect">
              <a:avLst>
                <a:gd name="adj" fmla="val 488"/>
              </a:avLst>
            </a:prstGeom>
            <a:solidFill>
              <a:srgbClr val="F0F9FC"/>
            </a:solidFill>
            <a:ln w="9525">
              <a:solidFill>
                <a:srgbClr val="D4E2EE"/>
              </a:solidFill>
            </a:ln>
          </p:spPr>
        </p:sp>
        <p:pic>
          <p:nvPicPr>
            <p:cNvPr id="29" name="Image 29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647700" y="1605643"/>
              <a:ext cx="6096000" cy="3570514"/>
            </a:xfrm>
            <a:prstGeom prst="rect">
              <a:avLst/>
            </a:prstGeom>
          </p:spPr>
        </p:pic>
        <p:sp>
          <p:nvSpPr>
            <p:cNvPr id="30" name="Line 30"/>
            <p:cNvSpPr/>
            <p:nvPr/>
          </p:nvSpPr>
          <p:spPr>
            <a:xfrm>
              <a:off x="723900" y="5534025"/>
              <a:ext cx="5943600" cy="9525"/>
            </a:xfrm>
            <a:custGeom>
              <a:avLst/>
              <a:gdLst/>
              <a:ahLst/>
              <a:cxnLst/>
              <a:rect l="l" t="t" r="r" b="b"/>
              <a:pathLst>
                <a:path w="5943600" h="9525">
                  <a:moveTo>
                    <a:pt x="0" y="0"/>
                  </a:moveTo>
                  <a:lnTo>
                    <a:pt x="5943600" y="0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800100" y="5610225"/>
              <a:ext cx="5791200" cy="4572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350" dirty="0">
                  <a:solidFill>
                    <a:srgbClr val="52657A"/>
                  </a:solidFill>
                  <a:latin typeface="Arial"/>
                  <a:ea typeface="Microsoft YaHei"/>
                  <a:cs typeface="Arial"/>
                </a:rPr>
                <a:t>代码：workflow.py · 契约（概念3 动态 Graph）</a:t>
              </a:r>
            </a:p>
          </p:txBody>
        </p:sp>
      </p:grp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666750"/>
          </a:xfrm>
          <a:prstGeom prst="rect">
            <a:avLst/>
          </a:prstGeom>
          <a:solidFill>
            <a:srgbClr val="0E7490"/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0"/>
            <a:ext cx="57150" cy="666750"/>
          </a:xfrm>
          <a:prstGeom prst="rect">
            <a:avLst/>
          </a:prstGeom>
          <a:solidFill>
            <a:srgbClr val="CC0000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381000" y="123825"/>
            <a:ext cx="762000" cy="4000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1275" b="1" dirty="0">
                <a:solidFill>
                  <a:srgbClr val="9FD3FF"/>
                </a:solidFill>
                <a:latin typeface="Arial"/>
                <a:ea typeface="Microsoft YaHei"/>
                <a:cs typeface="Arial"/>
              </a:rPr>
              <a:t>33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257300" y="95250"/>
            <a:ext cx="8096250" cy="457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21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代码实现：动态 Graph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0001250" y="76200"/>
            <a:ext cx="1619250" cy="5143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3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DataAgent</a:t>
            </a:r>
          </a:p>
        </p:txBody>
      </p:sp>
      <p:sp>
        <p:nvSpPr>
          <p:cNvPr id="8" name="Rectangle 8"/>
          <p:cNvSpPr/>
          <p:nvPr/>
        </p:nvSpPr>
        <p:spPr>
          <a:xfrm>
            <a:off x="0" y="666750"/>
            <a:ext cx="12192000" cy="476250"/>
          </a:xfrm>
          <a:prstGeom prst="rect">
            <a:avLst/>
          </a:prstGeom>
          <a:solidFill>
            <a:srgbClr val="E8F4FC"/>
          </a:solidFill>
          <a:ln>
            <a:noFill/>
          </a:ln>
        </p:spPr>
      </p:sp>
      <p:sp>
        <p:nvSpPr>
          <p:cNvPr id="9" name="Rectangle 9"/>
          <p:cNvSpPr/>
          <p:nvPr/>
        </p:nvSpPr>
        <p:spPr>
          <a:xfrm>
            <a:off x="0" y="666750"/>
            <a:ext cx="57150" cy="476250"/>
          </a:xfrm>
          <a:prstGeom prst="rect">
            <a:avLst/>
          </a:prstGeom>
          <a:solidFill>
            <a:srgbClr val="06B6D4"/>
          </a:solidFill>
          <a:ln>
            <a:noFill/>
          </a:ln>
        </p:spPr>
      </p:sp>
      <p:sp>
        <p:nvSpPr>
          <p:cNvPr id="10" name="TextBox 10"/>
          <p:cNvSpPr txBox="1"/>
          <p:nvPr/>
        </p:nvSpPr>
        <p:spPr>
          <a:xfrm>
            <a:off x="381000" y="714375"/>
            <a:ext cx="10001250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1350" dirty="0">
                <a:solidFill>
                  <a:srgbClr val="26384A"/>
                </a:solidFill>
                <a:latin typeface="Arial"/>
                <a:ea typeface="Microsoft YaHei"/>
                <a:cs typeface="Arial"/>
              </a:rPr>
              <a:t>仓库真实代码 · 实现切面</a:t>
            </a:r>
          </a:p>
        </p:txBody>
      </p:sp>
      <p:sp>
        <p:nvSpPr>
          <p:cNvPr id="11" name="Line 11"/>
          <p:cNvSpPr/>
          <p:nvPr/>
        </p:nvSpPr>
        <p:spPr>
          <a:xfrm>
            <a:off x="381000" y="6334125"/>
            <a:ext cx="11430000" cy="9525"/>
          </a:xfrm>
          <a:custGeom>
            <a:avLst/>
            <a:gdLst/>
            <a:ahLst/>
            <a:cxnLst/>
            <a:rect l="l" t="t" r="r" b="b"/>
            <a:pathLst>
              <a:path w="11430000" h="9525">
                <a:moveTo>
                  <a:pt x="0" y="0"/>
                </a:moveTo>
                <a:lnTo>
                  <a:pt x="11430000" y="0"/>
                </a:lnTo>
              </a:path>
            </a:pathLst>
          </a:custGeom>
          <a:noFill/>
          <a:ln w="9525">
            <a:solidFill>
              <a:srgbClr val="E8F4FC"/>
            </a:solidFill>
          </a:ln>
        </p:spPr>
      </p:sp>
      <p:sp>
        <p:nvSpPr>
          <p:cNvPr id="12" name="TextBox 12"/>
          <p:cNvSpPr txBox="1"/>
          <p:nvPr/>
        </p:nvSpPr>
        <p:spPr>
          <a:xfrm>
            <a:off x="381000" y="6477000"/>
            <a:ext cx="4953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课程第15讲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4381500" y="6477000"/>
            <a:ext cx="3429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Agent Runtime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0763250" y="6457950"/>
            <a:ext cx="857250" cy="266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050" dirty="0">
                <a:solidFill>
                  <a:srgbClr val="52657A"/>
                </a:solidFill>
                <a:latin typeface="Arial"/>
                <a:ea typeface="Microsoft YaHei"/>
                <a:cs typeface="Arial"/>
              </a:rPr>
              <a:t>33</a:t>
            </a:r>
          </a:p>
        </p:txBody>
      </p:sp>
      <p:grpSp>
        <p:nvGrpSpPr>
          <p:cNvPr id="26" name="EasySlides Component: evidence"/>
          <p:cNvGrpSpPr/>
          <p:nvPr/>
        </p:nvGrpSpPr>
        <p:grpSpPr>
          <a:xfrm>
            <a:off x="7124700" y="1285875"/>
            <a:ext cx="4572000" cy="4905375"/>
            <a:chOff x="7124700" y="1285875"/>
            <a:chExt cx="4572000" cy="4905375"/>
          </a:xfrm>
        </p:grpSpPr>
        <p:sp>
          <p:nvSpPr>
            <p:cNvPr id="15" name="Rectangle 15"/>
            <p:cNvSpPr/>
            <p:nvPr/>
          </p:nvSpPr>
          <p:spPr>
            <a:xfrm>
              <a:off x="7124700" y="1285875"/>
              <a:ext cx="4572000" cy="4905375"/>
            </a:xfrm>
            <a:prstGeom prst="roundRect">
              <a:avLst>
                <a:gd name="adj" fmla="val 833"/>
              </a:avLst>
            </a:prstGeom>
            <a:solidFill>
              <a:srgbClr val="F0F9FC"/>
            </a:solidFill>
            <a:ln w="11430">
              <a:solidFill>
                <a:srgbClr val="B8C7D6"/>
              </a:solidFill>
            </a:ln>
          </p:spPr>
        </p:sp>
        <p:sp>
          <p:nvSpPr>
            <p:cNvPr id="16" name="Rectangle 16"/>
            <p:cNvSpPr/>
            <p:nvPr/>
          </p:nvSpPr>
          <p:spPr>
            <a:xfrm>
              <a:off x="7124700" y="1285875"/>
              <a:ext cx="76200" cy="4905375"/>
            </a:xfrm>
            <a:prstGeom prst="rect">
              <a:avLst/>
            </a:prstGeom>
            <a:solidFill>
              <a:srgbClr val="06B6D4"/>
            </a:solidFill>
            <a:ln>
              <a:noFill/>
            </a:ln>
          </p:spPr>
        </p:sp>
        <p:sp>
          <p:nvSpPr>
            <p:cNvPr id="17" name="Rectangle 17"/>
            <p:cNvSpPr/>
            <p:nvPr/>
          </p:nvSpPr>
          <p:spPr>
            <a:xfrm>
              <a:off x="7391400" y="1552575"/>
              <a:ext cx="4038600" cy="1257300"/>
            </a:xfrm>
            <a:prstGeom prst="roundRect">
              <a:avLst>
                <a:gd name="adj" fmla="val 1515"/>
              </a:avLst>
            </a:prstGeom>
            <a:solidFill>
              <a:srgbClr val="FFFFFF"/>
            </a:solidFill>
            <a:ln w="9525">
              <a:solidFill>
                <a:srgbClr val="D4E2EE"/>
              </a:solidFill>
            </a:ln>
          </p:spPr>
        </p:sp>
        <p:sp>
          <p:nvSpPr>
            <p:cNvPr id="18" name="Rectangle 18"/>
            <p:cNvSpPr/>
            <p:nvPr/>
          </p:nvSpPr>
          <p:spPr>
            <a:xfrm>
              <a:off x="7391400" y="3105150"/>
              <a:ext cx="4038600" cy="1257300"/>
            </a:xfrm>
            <a:prstGeom prst="roundRect">
              <a:avLst>
                <a:gd name="adj" fmla="val 1515"/>
              </a:avLst>
            </a:prstGeom>
            <a:solidFill>
              <a:srgbClr val="FFFFFF"/>
            </a:solidFill>
            <a:ln w="9525">
              <a:solidFill>
                <a:srgbClr val="D4E2EE"/>
              </a:solidFill>
            </a:ln>
          </p:spPr>
        </p:sp>
        <p:sp>
          <p:nvSpPr>
            <p:cNvPr id="19" name="Rectangle 19"/>
            <p:cNvSpPr/>
            <p:nvPr/>
          </p:nvSpPr>
          <p:spPr>
            <a:xfrm>
              <a:off x="7391400" y="4657725"/>
              <a:ext cx="4038600" cy="1257300"/>
            </a:xfrm>
            <a:prstGeom prst="roundRect">
              <a:avLst>
                <a:gd name="adj" fmla="val 1515"/>
              </a:avLst>
            </a:prstGeom>
            <a:solidFill>
              <a:srgbClr val="FFFFFF"/>
            </a:solidFill>
            <a:ln w="9525">
              <a:solidFill>
                <a:srgbClr val="D4E2EE"/>
              </a:solidFill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7605712" y="1745456"/>
              <a:ext cx="220156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06B6D4"/>
                  </a:solidFill>
                  <a:latin typeface="Arial"/>
                  <a:ea typeface="Microsoft YaHei"/>
                  <a:cs typeface="Arial"/>
                </a:rPr>
                <a:t>01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7605712" y="3298031"/>
              <a:ext cx="220156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06B6D4"/>
                  </a:solidFill>
                  <a:latin typeface="Arial"/>
                  <a:ea typeface="Microsoft YaHei"/>
                  <a:cs typeface="Arial"/>
                </a:rPr>
                <a:t>02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7605712" y="4850606"/>
              <a:ext cx="220156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CC0000"/>
                  </a:solidFill>
                  <a:latin typeface="Arial"/>
                  <a:ea typeface="Microsoft YaHei"/>
                  <a:cs typeface="Arial"/>
                </a:rPr>
                <a:t>03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7848600" y="1819275"/>
              <a:ext cx="3314700" cy="7239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425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文件：workflow.py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7848600" y="3371850"/>
              <a:ext cx="3314700" cy="7239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425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切面：实现——先读接口再读实现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7848600" y="4924425"/>
              <a:ext cx="3314700" cy="7239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425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测试见 tests/ 目录</a:t>
              </a:r>
            </a:p>
          </p:txBody>
        </p:sp>
      </p:grpSp>
      <p:grpSp>
        <p:nvGrpSpPr>
          <p:cNvPr id="32" name="EasySlides Component: figure"/>
          <p:cNvGrpSpPr/>
          <p:nvPr/>
        </p:nvGrpSpPr>
        <p:grpSpPr>
          <a:xfrm>
            <a:off x="495300" y="1285875"/>
            <a:ext cx="6400800" cy="4905375"/>
            <a:chOff x="495300" y="1285875"/>
            <a:chExt cx="6400800" cy="4905375"/>
          </a:xfrm>
        </p:grpSpPr>
        <p:sp>
          <p:nvSpPr>
            <p:cNvPr id="27" name="Rectangle 27"/>
            <p:cNvSpPr/>
            <p:nvPr/>
          </p:nvSpPr>
          <p:spPr>
            <a:xfrm>
              <a:off x="495300" y="1285875"/>
              <a:ext cx="6400800" cy="4905375"/>
            </a:xfrm>
            <a:prstGeom prst="roundRect">
              <a:avLst>
                <a:gd name="adj" fmla="val 777"/>
              </a:avLst>
            </a:prstGeom>
            <a:solidFill>
              <a:srgbClr val="FFFFFF"/>
            </a:solidFill>
            <a:ln w="11430">
              <a:solidFill>
                <a:srgbClr val="B8C7D6"/>
              </a:solidFill>
            </a:ln>
          </p:spPr>
        </p:sp>
        <p:sp>
          <p:nvSpPr>
            <p:cNvPr id="28" name="Rectangle 28"/>
            <p:cNvSpPr/>
            <p:nvPr/>
          </p:nvSpPr>
          <p:spPr>
            <a:xfrm>
              <a:off x="647700" y="1438275"/>
              <a:ext cx="6096000" cy="3905250"/>
            </a:xfrm>
            <a:prstGeom prst="roundRect">
              <a:avLst>
                <a:gd name="adj" fmla="val 488"/>
              </a:avLst>
            </a:prstGeom>
            <a:solidFill>
              <a:srgbClr val="F0F9FC"/>
            </a:solidFill>
            <a:ln w="9525">
              <a:solidFill>
                <a:srgbClr val="D4E2EE"/>
              </a:solidFill>
            </a:ln>
          </p:spPr>
        </p:sp>
        <p:pic>
          <p:nvPicPr>
            <p:cNvPr id="29" name="Image 29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647700" y="1605643"/>
              <a:ext cx="6096000" cy="3570514"/>
            </a:xfrm>
            <a:prstGeom prst="rect">
              <a:avLst/>
            </a:prstGeom>
          </p:spPr>
        </p:pic>
        <p:sp>
          <p:nvSpPr>
            <p:cNvPr id="30" name="Line 30"/>
            <p:cNvSpPr/>
            <p:nvPr/>
          </p:nvSpPr>
          <p:spPr>
            <a:xfrm>
              <a:off x="723900" y="5534025"/>
              <a:ext cx="5943600" cy="9525"/>
            </a:xfrm>
            <a:custGeom>
              <a:avLst/>
              <a:gdLst/>
              <a:ahLst/>
              <a:cxnLst/>
              <a:rect l="l" t="t" r="r" b="b"/>
              <a:pathLst>
                <a:path w="5943600" h="9525">
                  <a:moveTo>
                    <a:pt x="0" y="0"/>
                  </a:moveTo>
                  <a:lnTo>
                    <a:pt x="5943600" y="0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800100" y="5610225"/>
              <a:ext cx="5791200" cy="4572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350" dirty="0">
                  <a:solidFill>
                    <a:srgbClr val="52657A"/>
                  </a:solidFill>
                  <a:latin typeface="Arial"/>
                  <a:ea typeface="Microsoft YaHei"/>
                  <a:cs typeface="Arial"/>
                </a:rPr>
                <a:t>代码：workflow.py · 实现（概念3 动态 Graph）</a:t>
              </a:r>
            </a:p>
          </p:txBody>
        </p:sp>
      </p:grp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666750"/>
          </a:xfrm>
          <a:prstGeom prst="rect">
            <a:avLst/>
          </a:prstGeom>
          <a:solidFill>
            <a:srgbClr val="0E7490"/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0"/>
            <a:ext cx="57150" cy="666750"/>
          </a:xfrm>
          <a:prstGeom prst="rect">
            <a:avLst/>
          </a:prstGeom>
          <a:solidFill>
            <a:srgbClr val="CC0000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381000" y="123825"/>
            <a:ext cx="762000" cy="4000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1275" b="1" dirty="0">
                <a:solidFill>
                  <a:srgbClr val="9FD3FF"/>
                </a:solidFill>
                <a:latin typeface="Arial"/>
                <a:ea typeface="Microsoft YaHei"/>
                <a:cs typeface="Arial"/>
              </a:rPr>
              <a:t>34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257300" y="95250"/>
            <a:ext cx="8096250" cy="457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21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应用实践：动态 Graph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0001250" y="76200"/>
            <a:ext cx="1619250" cy="5143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3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DataAgent</a:t>
            </a:r>
          </a:p>
        </p:txBody>
      </p:sp>
      <p:sp>
        <p:nvSpPr>
          <p:cNvPr id="8" name="Rectangle 8"/>
          <p:cNvSpPr/>
          <p:nvPr/>
        </p:nvSpPr>
        <p:spPr>
          <a:xfrm>
            <a:off x="0" y="666750"/>
            <a:ext cx="12192000" cy="476250"/>
          </a:xfrm>
          <a:prstGeom prst="rect">
            <a:avLst/>
          </a:prstGeom>
          <a:solidFill>
            <a:srgbClr val="E8F4FC"/>
          </a:solidFill>
          <a:ln>
            <a:noFill/>
          </a:ln>
        </p:spPr>
      </p:sp>
      <p:sp>
        <p:nvSpPr>
          <p:cNvPr id="9" name="Rectangle 9"/>
          <p:cNvSpPr/>
          <p:nvPr/>
        </p:nvSpPr>
        <p:spPr>
          <a:xfrm>
            <a:off x="0" y="666750"/>
            <a:ext cx="57150" cy="476250"/>
          </a:xfrm>
          <a:prstGeom prst="rect">
            <a:avLst/>
          </a:prstGeom>
          <a:solidFill>
            <a:srgbClr val="06B6D4"/>
          </a:solidFill>
          <a:ln>
            <a:noFill/>
          </a:ln>
        </p:spPr>
      </p:sp>
      <p:sp>
        <p:nvSpPr>
          <p:cNvPr id="10" name="TextBox 10"/>
          <p:cNvSpPr txBox="1"/>
          <p:nvPr/>
        </p:nvSpPr>
        <p:spPr>
          <a:xfrm>
            <a:off x="381000" y="714375"/>
            <a:ext cx="10001250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1350" dirty="0">
                <a:solidFill>
                  <a:srgbClr val="26384A"/>
                </a:solidFill>
                <a:latin typeface="Arial"/>
                <a:ea typeface="Microsoft YaHei"/>
                <a:cs typeface="Arial"/>
              </a:rPr>
              <a:t>三步落地：闭环→灰度→放开</a:t>
            </a:r>
          </a:p>
        </p:txBody>
      </p:sp>
      <p:sp>
        <p:nvSpPr>
          <p:cNvPr id="11" name="Line 11"/>
          <p:cNvSpPr/>
          <p:nvPr/>
        </p:nvSpPr>
        <p:spPr>
          <a:xfrm>
            <a:off x="381000" y="6334125"/>
            <a:ext cx="11430000" cy="9525"/>
          </a:xfrm>
          <a:custGeom>
            <a:avLst/>
            <a:gdLst/>
            <a:ahLst/>
            <a:cxnLst/>
            <a:rect l="l" t="t" r="r" b="b"/>
            <a:pathLst>
              <a:path w="11430000" h="9525">
                <a:moveTo>
                  <a:pt x="0" y="0"/>
                </a:moveTo>
                <a:lnTo>
                  <a:pt x="11430000" y="0"/>
                </a:lnTo>
              </a:path>
            </a:pathLst>
          </a:custGeom>
          <a:noFill/>
          <a:ln w="9525">
            <a:solidFill>
              <a:srgbClr val="E8F4FC"/>
            </a:solidFill>
          </a:ln>
        </p:spPr>
      </p:sp>
      <p:sp>
        <p:nvSpPr>
          <p:cNvPr id="12" name="TextBox 12"/>
          <p:cNvSpPr txBox="1"/>
          <p:nvPr/>
        </p:nvSpPr>
        <p:spPr>
          <a:xfrm>
            <a:off x="381000" y="6477000"/>
            <a:ext cx="4953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课程第15讲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4381500" y="6477000"/>
            <a:ext cx="3429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Agent Runtime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0763250" y="6457950"/>
            <a:ext cx="857250" cy="266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050" dirty="0">
                <a:solidFill>
                  <a:srgbClr val="52657A"/>
                </a:solidFill>
                <a:latin typeface="Arial"/>
                <a:ea typeface="Microsoft YaHei"/>
                <a:cs typeface="Arial"/>
              </a:rPr>
              <a:t>34</a:t>
            </a:r>
          </a:p>
        </p:txBody>
      </p:sp>
      <p:grpSp>
        <p:nvGrpSpPr>
          <p:cNvPr id="22" name="EasySlides Component: step_01"/>
          <p:cNvGrpSpPr/>
          <p:nvPr/>
        </p:nvGrpSpPr>
        <p:grpSpPr>
          <a:xfrm>
            <a:off x="495300" y="1285875"/>
            <a:ext cx="3505200" cy="3476625"/>
            <a:chOff x="495300" y="1285875"/>
            <a:chExt cx="3505200" cy="3476625"/>
          </a:xfrm>
        </p:grpSpPr>
        <p:sp>
          <p:nvSpPr>
            <p:cNvPr id="15" name="Rectangle 15"/>
            <p:cNvSpPr/>
            <p:nvPr/>
          </p:nvSpPr>
          <p:spPr>
            <a:xfrm>
              <a:off x="495300" y="1285875"/>
              <a:ext cx="3505200" cy="3476625"/>
            </a:xfrm>
            <a:prstGeom prst="roundRect">
              <a:avLst>
                <a:gd name="adj" fmla="val 1096"/>
              </a:avLst>
            </a:prstGeom>
            <a:solidFill>
              <a:srgbClr val="FFFFFF"/>
            </a:solidFill>
            <a:ln w="11430">
              <a:solidFill>
                <a:srgbClr val="B8C7D6"/>
              </a:solidFill>
            </a:ln>
          </p:spPr>
        </p:sp>
        <p:sp>
          <p:nvSpPr>
            <p:cNvPr id="16" name="Ellipse 16"/>
            <p:cNvSpPr/>
            <p:nvPr/>
          </p:nvSpPr>
          <p:spPr>
            <a:xfrm>
              <a:off x="695325" y="1495425"/>
              <a:ext cx="476250" cy="476250"/>
            </a:xfrm>
            <a:prstGeom prst="ellipse">
              <a:avLst/>
            </a:prstGeom>
            <a:solidFill>
              <a:srgbClr val="06B6D4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714375" y="1504950"/>
              <a:ext cx="438150" cy="4572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35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1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1314450" y="1524000"/>
              <a:ext cx="2324100" cy="42862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650" b="1" dirty="0">
                  <a:solidFill>
                    <a:srgbClr val="0E7490"/>
                  </a:solidFill>
                  <a:latin typeface="Arial"/>
                  <a:ea typeface="Microsoft YaHei"/>
                  <a:cs typeface="Arial"/>
                </a:rPr>
                <a:t>最小闭环</a:t>
              </a:r>
            </a:p>
          </p:txBody>
        </p:sp>
        <p:sp>
          <p:nvSpPr>
            <p:cNvPr id="19" name="Line 19"/>
            <p:cNvSpPr/>
            <p:nvPr/>
          </p:nvSpPr>
          <p:spPr>
            <a:xfrm>
              <a:off x="800100" y="2181225"/>
              <a:ext cx="2895600" cy="9525"/>
            </a:xfrm>
            <a:custGeom>
              <a:avLst/>
              <a:gdLst/>
              <a:ahLst/>
              <a:cxnLst/>
              <a:rect l="l" t="t" r="r" b="b"/>
              <a:pathLst>
                <a:path w="2895600" h="9525">
                  <a:moveTo>
                    <a:pt x="0" y="0"/>
                  </a:moveTo>
                  <a:lnTo>
                    <a:pt x="2895600" y="0"/>
                  </a:lnTo>
                </a:path>
              </a:pathLst>
            </a:custGeom>
            <a:noFill/>
            <a:ln w="19050">
              <a:solidFill>
                <a:srgbClr val="D4E2EE"/>
              </a:solidFill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952500" y="2476500"/>
              <a:ext cx="2590800" cy="16668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500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上线「动态 Graph」前自检三问：失败会怎样？谁能审计？回滚要多久？</a:t>
              </a:r>
            </a:p>
          </p:txBody>
        </p:sp>
        <p:sp>
          <p:nvSpPr>
            <p:cNvPr id="21" name="Rectangle 21"/>
            <p:cNvSpPr/>
            <p:nvPr/>
          </p:nvSpPr>
          <p:spPr>
            <a:xfrm>
              <a:off x="800100" y="4391025"/>
              <a:ext cx="762000" cy="66675"/>
            </a:xfrm>
            <a:prstGeom prst="rect">
              <a:avLst/>
            </a:prstGeom>
            <a:solidFill>
              <a:srgbClr val="CC0000"/>
            </a:solidFill>
            <a:ln>
              <a:noFill/>
            </a:ln>
          </p:spPr>
        </p:sp>
      </p:grpSp>
      <p:grpSp>
        <p:nvGrpSpPr>
          <p:cNvPr id="30" name="EasySlides Component: step_02"/>
          <p:cNvGrpSpPr/>
          <p:nvPr/>
        </p:nvGrpSpPr>
        <p:grpSpPr>
          <a:xfrm>
            <a:off x="4343400" y="1285875"/>
            <a:ext cx="3505200" cy="3476625"/>
            <a:chOff x="4343400" y="1285875"/>
            <a:chExt cx="3505200" cy="3476625"/>
          </a:xfrm>
        </p:grpSpPr>
        <p:sp>
          <p:nvSpPr>
            <p:cNvPr id="23" name="Rectangle 23"/>
            <p:cNvSpPr/>
            <p:nvPr/>
          </p:nvSpPr>
          <p:spPr>
            <a:xfrm>
              <a:off x="4343400" y="1285875"/>
              <a:ext cx="3505200" cy="3476625"/>
            </a:xfrm>
            <a:prstGeom prst="roundRect">
              <a:avLst>
                <a:gd name="adj" fmla="val 1096"/>
              </a:avLst>
            </a:prstGeom>
            <a:solidFill>
              <a:srgbClr val="FFFFFF"/>
            </a:solidFill>
            <a:ln w="11430">
              <a:solidFill>
                <a:srgbClr val="B8C7D6"/>
              </a:solidFill>
            </a:ln>
          </p:spPr>
        </p:sp>
        <p:sp>
          <p:nvSpPr>
            <p:cNvPr id="24" name="Ellipse 24"/>
            <p:cNvSpPr/>
            <p:nvPr/>
          </p:nvSpPr>
          <p:spPr>
            <a:xfrm>
              <a:off x="4543425" y="1495425"/>
              <a:ext cx="476250" cy="476250"/>
            </a:xfrm>
            <a:prstGeom prst="ellipse">
              <a:avLst/>
            </a:prstGeom>
            <a:solidFill>
              <a:srgbClr val="06B6D4"/>
            </a:solidFill>
            <a:ln>
              <a:noFill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4562475" y="1504950"/>
              <a:ext cx="438150" cy="4572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35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2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5162550" y="1524000"/>
              <a:ext cx="2324100" cy="42862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650" b="1" dirty="0">
                  <a:solidFill>
                    <a:srgbClr val="0E7490"/>
                  </a:solidFill>
                  <a:latin typeface="Arial"/>
                  <a:ea typeface="Microsoft YaHei"/>
                  <a:cs typeface="Arial"/>
                </a:rPr>
                <a:t>灰度验证</a:t>
              </a:r>
            </a:p>
          </p:txBody>
        </p:sp>
        <p:sp>
          <p:nvSpPr>
            <p:cNvPr id="27" name="Line 27"/>
            <p:cNvSpPr/>
            <p:nvPr/>
          </p:nvSpPr>
          <p:spPr>
            <a:xfrm>
              <a:off x="4648200" y="2181225"/>
              <a:ext cx="2895600" cy="9525"/>
            </a:xfrm>
            <a:custGeom>
              <a:avLst/>
              <a:gdLst/>
              <a:ahLst/>
              <a:cxnLst/>
              <a:rect l="l" t="t" r="r" b="b"/>
              <a:pathLst>
                <a:path w="2895600" h="9525">
                  <a:moveTo>
                    <a:pt x="0" y="0"/>
                  </a:moveTo>
                  <a:lnTo>
                    <a:pt x="2895600" y="0"/>
                  </a:lnTo>
                </a:path>
              </a:pathLst>
            </a:custGeom>
            <a:noFill/>
            <a:ln w="19050">
              <a:solidFill>
                <a:srgbClr val="D4E2EE"/>
              </a:solidFill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4800600" y="2476500"/>
              <a:ext cx="2590800" cy="16668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500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小流量对照基线，观察效果/成本/时延</a:t>
              </a:r>
            </a:p>
          </p:txBody>
        </p:sp>
        <p:sp>
          <p:nvSpPr>
            <p:cNvPr id="29" name="Rectangle 29"/>
            <p:cNvSpPr/>
            <p:nvPr/>
          </p:nvSpPr>
          <p:spPr>
            <a:xfrm>
              <a:off x="4648200" y="4391025"/>
              <a:ext cx="762000" cy="66675"/>
            </a:xfrm>
            <a:prstGeom prst="rect">
              <a:avLst/>
            </a:prstGeom>
            <a:solidFill>
              <a:srgbClr val="CC0000"/>
            </a:solidFill>
            <a:ln>
              <a:noFill/>
            </a:ln>
          </p:spPr>
        </p:sp>
      </p:grpSp>
      <p:grpSp>
        <p:nvGrpSpPr>
          <p:cNvPr id="38" name="EasySlides Component: step_03"/>
          <p:cNvGrpSpPr/>
          <p:nvPr/>
        </p:nvGrpSpPr>
        <p:grpSpPr>
          <a:xfrm>
            <a:off x="8191500" y="1285875"/>
            <a:ext cx="3505200" cy="3476625"/>
            <a:chOff x="8191500" y="1285875"/>
            <a:chExt cx="3505200" cy="3476625"/>
          </a:xfrm>
        </p:grpSpPr>
        <p:sp>
          <p:nvSpPr>
            <p:cNvPr id="31" name="Rectangle 31"/>
            <p:cNvSpPr/>
            <p:nvPr/>
          </p:nvSpPr>
          <p:spPr>
            <a:xfrm>
              <a:off x="8191500" y="1285875"/>
              <a:ext cx="3505200" cy="3476625"/>
            </a:xfrm>
            <a:prstGeom prst="roundRect">
              <a:avLst>
                <a:gd name="adj" fmla="val 1096"/>
              </a:avLst>
            </a:prstGeom>
            <a:solidFill>
              <a:srgbClr val="FFFFFF"/>
            </a:solidFill>
            <a:ln w="11430">
              <a:solidFill>
                <a:srgbClr val="B8C7D6"/>
              </a:solidFill>
            </a:ln>
          </p:spPr>
        </p:sp>
        <p:sp>
          <p:nvSpPr>
            <p:cNvPr id="32" name="Ellipse 32"/>
            <p:cNvSpPr/>
            <p:nvPr/>
          </p:nvSpPr>
          <p:spPr>
            <a:xfrm>
              <a:off x="8391525" y="1495425"/>
              <a:ext cx="476250" cy="476250"/>
            </a:xfrm>
            <a:prstGeom prst="ellipse">
              <a:avLst/>
            </a:prstGeom>
            <a:solidFill>
              <a:srgbClr val="06B6D4"/>
            </a:solidFill>
            <a:ln>
              <a:noFill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8410575" y="1504950"/>
              <a:ext cx="438150" cy="4572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35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3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9010650" y="1524000"/>
              <a:ext cx="2324100" cy="42862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650" b="1" dirty="0">
                  <a:solidFill>
                    <a:srgbClr val="0E7490"/>
                  </a:solidFill>
                  <a:latin typeface="Arial"/>
                  <a:ea typeface="Microsoft YaHei"/>
                  <a:cs typeface="Arial"/>
                </a:rPr>
                <a:t>逐步放开</a:t>
              </a:r>
            </a:p>
          </p:txBody>
        </p:sp>
        <p:sp>
          <p:nvSpPr>
            <p:cNvPr id="35" name="Line 35"/>
            <p:cNvSpPr/>
            <p:nvPr/>
          </p:nvSpPr>
          <p:spPr>
            <a:xfrm>
              <a:off x="8496300" y="2181225"/>
              <a:ext cx="2895600" cy="9525"/>
            </a:xfrm>
            <a:custGeom>
              <a:avLst/>
              <a:gdLst/>
              <a:ahLst/>
              <a:cxnLst/>
              <a:rect l="l" t="t" r="r" b="b"/>
              <a:pathLst>
                <a:path w="2895600" h="9525">
                  <a:moveTo>
                    <a:pt x="0" y="0"/>
                  </a:moveTo>
                  <a:lnTo>
                    <a:pt x="2895600" y="0"/>
                  </a:lnTo>
                </a:path>
              </a:pathLst>
            </a:custGeom>
            <a:noFill/>
            <a:ln w="19050">
              <a:solidFill>
                <a:srgbClr val="D4E2EE"/>
              </a:solidFill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8648700" y="2476500"/>
              <a:ext cx="2590800" cy="16668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500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按租户/场景分批，异常即回滚</a:t>
              </a:r>
            </a:p>
          </p:txBody>
        </p:sp>
        <p:sp>
          <p:nvSpPr>
            <p:cNvPr id="37" name="Rectangle 37"/>
            <p:cNvSpPr/>
            <p:nvPr/>
          </p:nvSpPr>
          <p:spPr>
            <a:xfrm>
              <a:off x="8496300" y="4391025"/>
              <a:ext cx="762000" cy="66675"/>
            </a:xfrm>
            <a:prstGeom prst="rect">
              <a:avLst/>
            </a:prstGeom>
            <a:solidFill>
              <a:srgbClr val="CC0000"/>
            </a:solidFill>
            <a:ln>
              <a:noFill/>
            </a:ln>
          </p:spPr>
        </p:sp>
      </p:grpSp>
      <p:grpSp>
        <p:nvGrpSpPr>
          <p:cNvPr id="42" name="EasySlides Component: synthesis"/>
          <p:cNvGrpSpPr/>
          <p:nvPr/>
        </p:nvGrpSpPr>
        <p:grpSpPr>
          <a:xfrm>
            <a:off x="495300" y="5476875"/>
            <a:ext cx="11201400" cy="714375"/>
            <a:chOff x="495300" y="5476875"/>
            <a:chExt cx="11201400" cy="714375"/>
          </a:xfrm>
        </p:grpSpPr>
        <p:sp>
          <p:nvSpPr>
            <p:cNvPr id="39" name="Rectangle 39"/>
            <p:cNvSpPr/>
            <p:nvPr/>
          </p:nvSpPr>
          <p:spPr>
            <a:xfrm>
              <a:off x="495300" y="5476875"/>
              <a:ext cx="11201400" cy="714375"/>
            </a:xfrm>
            <a:prstGeom prst="roundRect">
              <a:avLst>
                <a:gd name="adj" fmla="val 5333"/>
              </a:avLst>
            </a:prstGeom>
            <a:solidFill>
              <a:srgbClr val="0E7490"/>
            </a:solidFill>
            <a:ln>
              <a:noFill/>
            </a:ln>
          </p:spPr>
        </p:sp>
        <p:sp>
          <p:nvSpPr>
            <p:cNvPr id="40" name="Rectangle 40"/>
            <p:cNvSpPr/>
            <p:nvPr/>
          </p:nvSpPr>
          <p:spPr>
            <a:xfrm>
              <a:off x="495300" y="5476875"/>
              <a:ext cx="76200" cy="714375"/>
            </a:xfrm>
            <a:prstGeom prst="roundRect">
              <a:avLst>
                <a:gd name="adj" fmla="val 50000"/>
              </a:avLst>
            </a:prstGeom>
            <a:solidFill>
              <a:srgbClr val="CC0000"/>
            </a:solidFill>
            <a:ln>
              <a:noFill/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876300" y="5610225"/>
              <a:ext cx="10439400" cy="4476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65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案例视角：预算审批链路的审批-幂等-验真闭环实测。</a:t>
              </a:r>
            </a:p>
          </p:txBody>
        </p:sp>
      </p:grp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666750"/>
          </a:xfrm>
          <a:prstGeom prst="rect">
            <a:avLst/>
          </a:prstGeom>
          <a:solidFill>
            <a:srgbClr val="0E7490"/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0"/>
            <a:ext cx="57150" cy="666750"/>
          </a:xfrm>
          <a:prstGeom prst="rect">
            <a:avLst/>
          </a:prstGeom>
          <a:solidFill>
            <a:srgbClr val="CC0000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381000" y="123825"/>
            <a:ext cx="762000" cy="4000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1275" b="1" dirty="0">
                <a:solidFill>
                  <a:srgbClr val="9FD3FF"/>
                </a:solidFill>
                <a:latin typeface="Arial"/>
                <a:ea typeface="Microsoft YaHei"/>
                <a:cs typeface="Arial"/>
              </a:rPr>
              <a:t>35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257300" y="95250"/>
            <a:ext cx="8096250" cy="457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21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陷阱与排查：动态 Graph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0001250" y="76200"/>
            <a:ext cx="1619250" cy="5143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3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DataAgent</a:t>
            </a:r>
          </a:p>
        </p:txBody>
      </p:sp>
      <p:sp>
        <p:nvSpPr>
          <p:cNvPr id="8" name="Rectangle 8"/>
          <p:cNvSpPr/>
          <p:nvPr/>
        </p:nvSpPr>
        <p:spPr>
          <a:xfrm>
            <a:off x="0" y="666750"/>
            <a:ext cx="12192000" cy="476250"/>
          </a:xfrm>
          <a:prstGeom prst="rect">
            <a:avLst/>
          </a:prstGeom>
          <a:solidFill>
            <a:srgbClr val="E8F4FC"/>
          </a:solidFill>
          <a:ln>
            <a:noFill/>
          </a:ln>
        </p:spPr>
      </p:sp>
      <p:sp>
        <p:nvSpPr>
          <p:cNvPr id="9" name="Rectangle 9"/>
          <p:cNvSpPr/>
          <p:nvPr/>
        </p:nvSpPr>
        <p:spPr>
          <a:xfrm>
            <a:off x="0" y="666750"/>
            <a:ext cx="57150" cy="476250"/>
          </a:xfrm>
          <a:prstGeom prst="rect">
            <a:avLst/>
          </a:prstGeom>
          <a:solidFill>
            <a:srgbClr val="06B6D4"/>
          </a:solidFill>
          <a:ln>
            <a:noFill/>
          </a:ln>
        </p:spPr>
      </p:sp>
      <p:sp>
        <p:nvSpPr>
          <p:cNvPr id="10" name="TextBox 10"/>
          <p:cNvSpPr txBox="1"/>
          <p:nvPr/>
        </p:nvSpPr>
        <p:spPr>
          <a:xfrm>
            <a:off x="381000" y="714375"/>
            <a:ext cx="10001250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1350" dirty="0">
                <a:solidFill>
                  <a:srgbClr val="26384A"/>
                </a:solidFill>
                <a:latin typeface="Arial"/>
                <a:ea typeface="Microsoft YaHei"/>
                <a:cs typeface="Arial"/>
              </a:rPr>
              <a:t>症状→根因→处置</a:t>
            </a:r>
          </a:p>
        </p:txBody>
      </p:sp>
      <p:sp>
        <p:nvSpPr>
          <p:cNvPr id="11" name="Line 11"/>
          <p:cNvSpPr/>
          <p:nvPr/>
        </p:nvSpPr>
        <p:spPr>
          <a:xfrm>
            <a:off x="381000" y="6334125"/>
            <a:ext cx="11430000" cy="9525"/>
          </a:xfrm>
          <a:custGeom>
            <a:avLst/>
            <a:gdLst/>
            <a:ahLst/>
            <a:cxnLst/>
            <a:rect l="l" t="t" r="r" b="b"/>
            <a:pathLst>
              <a:path w="11430000" h="9525">
                <a:moveTo>
                  <a:pt x="0" y="0"/>
                </a:moveTo>
                <a:lnTo>
                  <a:pt x="11430000" y="0"/>
                </a:lnTo>
              </a:path>
            </a:pathLst>
          </a:custGeom>
          <a:noFill/>
          <a:ln w="9525">
            <a:solidFill>
              <a:srgbClr val="E8F4FC"/>
            </a:solidFill>
          </a:ln>
        </p:spPr>
      </p:sp>
      <p:sp>
        <p:nvSpPr>
          <p:cNvPr id="12" name="TextBox 12"/>
          <p:cNvSpPr txBox="1"/>
          <p:nvPr/>
        </p:nvSpPr>
        <p:spPr>
          <a:xfrm>
            <a:off x="381000" y="6477000"/>
            <a:ext cx="4953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课程第15讲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4381500" y="6477000"/>
            <a:ext cx="3429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Agent Runtime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0763250" y="6457950"/>
            <a:ext cx="857250" cy="266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050" dirty="0">
                <a:solidFill>
                  <a:srgbClr val="52657A"/>
                </a:solidFill>
                <a:latin typeface="Arial"/>
                <a:ea typeface="Microsoft YaHei"/>
                <a:cs typeface="Arial"/>
              </a:rPr>
              <a:t>35</a:t>
            </a:r>
          </a:p>
        </p:txBody>
      </p:sp>
      <p:grpSp>
        <p:nvGrpSpPr>
          <p:cNvPr id="38" name="EasySlides Component: matrix"/>
          <p:cNvGrpSpPr/>
          <p:nvPr/>
        </p:nvGrpSpPr>
        <p:grpSpPr>
          <a:xfrm>
            <a:off x="495300" y="1285875"/>
            <a:ext cx="11201400" cy="4905375"/>
            <a:chOff x="495300" y="1285875"/>
            <a:chExt cx="11201400" cy="4905375"/>
          </a:xfrm>
        </p:grpSpPr>
        <p:sp>
          <p:nvSpPr>
            <p:cNvPr id="15" name="Rectangle 15"/>
            <p:cNvSpPr/>
            <p:nvPr/>
          </p:nvSpPr>
          <p:spPr>
            <a:xfrm>
              <a:off x="495300" y="1285875"/>
              <a:ext cx="11201400" cy="4905375"/>
            </a:xfrm>
            <a:prstGeom prst="roundRect">
              <a:avLst>
                <a:gd name="adj" fmla="val 777"/>
              </a:avLst>
            </a:prstGeom>
            <a:solidFill>
              <a:srgbClr val="FFFFFF"/>
            </a:solidFill>
            <a:ln w="11430">
              <a:solidFill>
                <a:srgbClr val="B8C7D6"/>
              </a:solidFill>
            </a:ln>
          </p:spPr>
        </p:sp>
        <p:sp>
          <p:nvSpPr>
            <p:cNvPr id="16" name="Rectangle 16"/>
            <p:cNvSpPr/>
            <p:nvPr/>
          </p:nvSpPr>
          <p:spPr>
            <a:xfrm>
              <a:off x="495300" y="1285875"/>
              <a:ext cx="11201400" cy="647700"/>
            </a:xfrm>
            <a:prstGeom prst="roundRect">
              <a:avLst>
                <a:gd name="adj" fmla="val 5882"/>
              </a:avLst>
            </a:prstGeom>
            <a:solidFill>
              <a:srgbClr val="0E7490"/>
            </a:solidFill>
            <a:ln>
              <a:noFill/>
            </a:ln>
          </p:spPr>
        </p:sp>
        <p:sp>
          <p:nvSpPr>
            <p:cNvPr id="17" name="Line 17"/>
            <p:cNvSpPr/>
            <p:nvPr/>
          </p:nvSpPr>
          <p:spPr>
            <a:xfrm>
              <a:off x="4229100" y="1285875"/>
              <a:ext cx="9525" cy="4143375"/>
            </a:xfrm>
            <a:custGeom>
              <a:avLst/>
              <a:gdLst/>
              <a:ahLst/>
              <a:cxnLst/>
              <a:rect l="l" t="t" r="r" b="b"/>
              <a:pathLst>
                <a:path w="9525" h="4143375">
                  <a:moveTo>
                    <a:pt x="0" y="0"/>
                  </a:moveTo>
                  <a:lnTo>
                    <a:pt x="0" y="4143375"/>
                  </a:lnTo>
                </a:path>
              </a:pathLst>
            </a:custGeom>
            <a:noFill/>
            <a:ln w="9525">
              <a:solidFill>
                <a:srgbClr val="B8C7D6"/>
              </a:solidFill>
            </a:ln>
          </p:spPr>
        </p:sp>
        <p:sp>
          <p:nvSpPr>
            <p:cNvPr id="18" name="Line 18"/>
            <p:cNvSpPr/>
            <p:nvPr/>
          </p:nvSpPr>
          <p:spPr>
            <a:xfrm>
              <a:off x="7962900" y="1285875"/>
              <a:ext cx="9525" cy="4143375"/>
            </a:xfrm>
            <a:custGeom>
              <a:avLst/>
              <a:gdLst/>
              <a:ahLst/>
              <a:cxnLst/>
              <a:rect l="l" t="t" r="r" b="b"/>
              <a:pathLst>
                <a:path w="9525" h="4143375">
                  <a:moveTo>
                    <a:pt x="0" y="0"/>
                  </a:moveTo>
                  <a:lnTo>
                    <a:pt x="0" y="4143375"/>
                  </a:lnTo>
                </a:path>
              </a:pathLst>
            </a:custGeom>
            <a:noFill/>
            <a:ln w="9525">
              <a:solidFill>
                <a:srgbClr val="B8C7D6"/>
              </a:solidFill>
            </a:ln>
          </p:spPr>
        </p:sp>
        <p:sp>
          <p:nvSpPr>
            <p:cNvPr id="19" name="Line 19"/>
            <p:cNvSpPr/>
            <p:nvPr/>
          </p:nvSpPr>
          <p:spPr>
            <a:xfrm>
              <a:off x="495300" y="1933575"/>
              <a:ext cx="11201400" cy="9525"/>
            </a:xfrm>
            <a:custGeom>
              <a:avLst/>
              <a:gdLst/>
              <a:ahLst/>
              <a:cxnLst/>
              <a:rect l="l" t="t" r="r" b="b"/>
              <a:pathLst>
                <a:path w="11201400" h="9525">
                  <a:moveTo>
                    <a:pt x="0" y="0"/>
                  </a:moveTo>
                  <a:lnTo>
                    <a:pt x="11201400" y="0"/>
                  </a:lnTo>
                </a:path>
              </a:pathLst>
            </a:custGeom>
            <a:noFill/>
            <a:ln w="9525">
              <a:solidFill>
                <a:srgbClr val="B8C7D6"/>
              </a:solidFill>
            </a:ln>
          </p:spPr>
        </p:sp>
        <p:sp>
          <p:nvSpPr>
            <p:cNvPr id="20" name="Line 20"/>
            <p:cNvSpPr/>
            <p:nvPr/>
          </p:nvSpPr>
          <p:spPr>
            <a:xfrm>
              <a:off x="495300" y="3095625"/>
              <a:ext cx="11201400" cy="9525"/>
            </a:xfrm>
            <a:custGeom>
              <a:avLst/>
              <a:gdLst/>
              <a:ahLst/>
              <a:cxnLst/>
              <a:rect l="l" t="t" r="r" b="b"/>
              <a:pathLst>
                <a:path w="11201400" h="9525">
                  <a:moveTo>
                    <a:pt x="0" y="0"/>
                  </a:moveTo>
                  <a:lnTo>
                    <a:pt x="11201400" y="0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21" name="Line 21"/>
            <p:cNvSpPr/>
            <p:nvPr/>
          </p:nvSpPr>
          <p:spPr>
            <a:xfrm>
              <a:off x="495300" y="4257675"/>
              <a:ext cx="11201400" cy="9525"/>
            </a:xfrm>
            <a:custGeom>
              <a:avLst/>
              <a:gdLst/>
              <a:ahLst/>
              <a:cxnLst/>
              <a:rect l="l" t="t" r="r" b="b"/>
              <a:pathLst>
                <a:path w="11201400" h="9525">
                  <a:moveTo>
                    <a:pt x="0" y="0"/>
                  </a:moveTo>
                  <a:lnTo>
                    <a:pt x="11201400" y="0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22" name="Line 22"/>
            <p:cNvSpPr/>
            <p:nvPr/>
          </p:nvSpPr>
          <p:spPr>
            <a:xfrm>
              <a:off x="495300" y="5429250"/>
              <a:ext cx="11201400" cy="9525"/>
            </a:xfrm>
            <a:custGeom>
              <a:avLst/>
              <a:gdLst/>
              <a:ahLst/>
              <a:cxnLst/>
              <a:rect l="l" t="t" r="r" b="b"/>
              <a:pathLst>
                <a:path w="11201400" h="9525">
                  <a:moveTo>
                    <a:pt x="0" y="0"/>
                  </a:moveTo>
                  <a:lnTo>
                    <a:pt x="11201400" y="0"/>
                  </a:lnTo>
                </a:path>
              </a:pathLst>
            </a:custGeom>
            <a:noFill/>
            <a:ln w="9525">
              <a:solidFill>
                <a:srgbClr val="B8C7D6"/>
              </a:solidFill>
            </a:ln>
          </p:spPr>
        </p:sp>
        <p:grpSp>
          <p:nvGrpSpPr>
            <p:cNvPr id="26" name="Group 26"/>
            <p:cNvGrpSpPr/>
            <p:nvPr/>
          </p:nvGrpSpPr>
          <p:grpSpPr>
            <a:xfrm>
              <a:off x="704850" y="1428750"/>
              <a:ext cx="10782300" cy="361950"/>
              <a:chOff x="704850" y="1428750"/>
              <a:chExt cx="10782300" cy="361950"/>
            </a:xfrm>
          </p:grpSpPr>
          <p:sp>
            <p:nvSpPr>
              <p:cNvPr id="23" name="TextBox 23"/>
              <p:cNvSpPr txBox="1"/>
              <p:nvPr/>
            </p:nvSpPr>
            <p:spPr>
              <a:xfrm>
                <a:off x="704850" y="1428750"/>
                <a:ext cx="3314700" cy="3619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575" b="1" dirty="0">
                    <a:solidFill>
                      <a:srgbClr val="FFFFFF"/>
                    </a:solidFill>
                    <a:latin typeface="Arial"/>
                    <a:ea typeface="Microsoft YaHei"/>
                    <a:cs typeface="Arial"/>
                  </a:rPr>
                  <a:t>症状</a:t>
                </a:r>
              </a:p>
            </p:txBody>
          </p:sp>
          <p:sp>
            <p:nvSpPr>
              <p:cNvPr id="24" name="TextBox 24"/>
              <p:cNvSpPr txBox="1"/>
              <p:nvPr/>
            </p:nvSpPr>
            <p:spPr>
              <a:xfrm>
                <a:off x="4438650" y="1428750"/>
                <a:ext cx="3314700" cy="3619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575" b="1" dirty="0">
                    <a:solidFill>
                      <a:srgbClr val="FFFFFF"/>
                    </a:solidFill>
                    <a:latin typeface="Arial"/>
                    <a:ea typeface="Microsoft YaHei"/>
                    <a:cs typeface="Arial"/>
                  </a:rPr>
                  <a:t>根因</a:t>
                </a:r>
              </a:p>
            </p:txBody>
          </p:sp>
          <p:sp>
            <p:nvSpPr>
              <p:cNvPr id="25" name="TextBox 25"/>
              <p:cNvSpPr txBox="1"/>
              <p:nvPr/>
            </p:nvSpPr>
            <p:spPr>
              <a:xfrm>
                <a:off x="8172450" y="1428750"/>
                <a:ext cx="3314700" cy="3619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575" b="1" dirty="0">
                    <a:solidFill>
                      <a:srgbClr val="FFFFFF"/>
                    </a:solidFill>
                    <a:latin typeface="Arial"/>
                    <a:ea typeface="Microsoft YaHei"/>
                    <a:cs typeface="Arial"/>
                  </a:rPr>
                  <a:t>处置</a:t>
                </a:r>
              </a:p>
            </p:txBody>
          </p:sp>
        </p:grpSp>
        <p:grpSp>
          <p:nvGrpSpPr>
            <p:cNvPr id="36" name="Group 36"/>
            <p:cNvGrpSpPr/>
            <p:nvPr/>
          </p:nvGrpSpPr>
          <p:grpSpPr>
            <a:xfrm>
              <a:off x="723900" y="2105025"/>
              <a:ext cx="10744200" cy="3086100"/>
              <a:chOff x="723900" y="2105025"/>
              <a:chExt cx="10744200" cy="3086100"/>
            </a:xfrm>
          </p:grpSpPr>
          <p:sp>
            <p:nvSpPr>
              <p:cNvPr id="27" name="TextBox 27"/>
              <p:cNvSpPr txBox="1"/>
              <p:nvPr/>
            </p:nvSpPr>
            <p:spPr>
              <a:xfrm>
                <a:off x="723900" y="210502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「动态 Graph」典型故障</a:t>
                </a:r>
              </a:p>
            </p:txBody>
          </p:sp>
          <p:sp>
            <p:nvSpPr>
              <p:cNvPr id="28" name="TextBox 28"/>
              <p:cNvSpPr txBox="1"/>
              <p:nvPr/>
            </p:nvSpPr>
            <p:spPr>
              <a:xfrm>
                <a:off x="4457700" y="210502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缺少验证/预算</a:t>
                </a:r>
              </a:p>
            </p:txBody>
          </p:sp>
          <p:sp>
            <p:nvSpPr>
              <p:cNvPr id="29" name="TextBox 29"/>
              <p:cNvSpPr txBox="1"/>
              <p:nvPr/>
            </p:nvSpPr>
            <p:spPr>
              <a:xfrm>
                <a:off x="8191500" y="210502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验真+预算上限</a:t>
                </a:r>
              </a:p>
            </p:txBody>
          </p:sp>
          <p:sp>
            <p:nvSpPr>
              <p:cNvPr id="30" name="TextBox 30"/>
              <p:cNvSpPr txBox="1"/>
              <p:nvPr/>
            </p:nvSpPr>
            <p:spPr>
              <a:xfrm>
                <a:off x="723900" y="326707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结果不可解释</a:t>
                </a:r>
              </a:p>
            </p:txBody>
          </p:sp>
          <p:sp>
            <p:nvSpPr>
              <p:cNvPr id="31" name="TextBox 31"/>
              <p:cNvSpPr txBox="1"/>
              <p:nvPr/>
            </p:nvSpPr>
            <p:spPr>
              <a:xfrm>
                <a:off x="4457700" y="326707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无 Trace 留痕</a:t>
                </a:r>
              </a:p>
            </p:txBody>
          </p:sp>
          <p:sp>
            <p:nvSpPr>
              <p:cNvPr id="32" name="TextBox 32"/>
              <p:cNvSpPr txBox="1"/>
              <p:nvPr/>
            </p:nvSpPr>
            <p:spPr>
              <a:xfrm>
                <a:off x="8191500" y="326707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接入统一 Trace</a:t>
                </a:r>
              </a:p>
            </p:txBody>
          </p:sp>
          <p:sp>
            <p:nvSpPr>
              <p:cNvPr id="33" name="TextBox 33"/>
              <p:cNvSpPr txBox="1"/>
              <p:nvPr/>
            </p:nvSpPr>
            <p:spPr>
              <a:xfrm>
                <a:off x="723900" y="442912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效果悄悄退化</a:t>
                </a:r>
              </a:p>
            </p:txBody>
          </p:sp>
          <p:sp>
            <p:nvSpPr>
              <p:cNvPr id="34" name="TextBox 34"/>
              <p:cNvSpPr txBox="1"/>
              <p:nvPr/>
            </p:nvSpPr>
            <p:spPr>
              <a:xfrm>
                <a:off x="4457700" y="442912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无回归基线</a:t>
                </a:r>
              </a:p>
            </p:txBody>
          </p:sp>
          <p:sp>
            <p:nvSpPr>
              <p:cNvPr id="35" name="TextBox 35"/>
              <p:cNvSpPr txBox="1"/>
              <p:nvPr/>
            </p:nvSpPr>
            <p:spPr>
              <a:xfrm>
                <a:off x="8191500" y="442912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评测+回归门禁</a:t>
                </a:r>
              </a:p>
            </p:txBody>
          </p:sp>
        </p:grpSp>
        <p:sp>
          <p:nvSpPr>
            <p:cNvPr id="37" name="TextBox 37"/>
            <p:cNvSpPr txBox="1"/>
            <p:nvPr/>
          </p:nvSpPr>
          <p:spPr>
            <a:xfrm>
              <a:off x="828675" y="5581650"/>
              <a:ext cx="10534650" cy="4191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500" b="1" dirty="0">
                  <a:solidFill>
                    <a:srgbClr val="0E7490"/>
                  </a:solidFill>
                  <a:latin typeface="Arial"/>
                  <a:ea typeface="Microsoft YaHei"/>
                  <a:cs typeface="Arial"/>
                </a:rPr>
                <a:t>先止血，再根因，最后沉淀为回归用例</a:t>
              </a:r>
            </a:p>
          </p:txBody>
        </p:sp>
      </p:grp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666750"/>
          </a:xfrm>
          <a:prstGeom prst="rect">
            <a:avLst/>
          </a:prstGeom>
          <a:solidFill>
            <a:srgbClr val="0E7490"/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0"/>
            <a:ext cx="57150" cy="666750"/>
          </a:xfrm>
          <a:prstGeom prst="rect">
            <a:avLst/>
          </a:prstGeom>
          <a:solidFill>
            <a:srgbClr val="CC0000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381000" y="123825"/>
            <a:ext cx="762000" cy="4000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1275" b="1" dirty="0">
                <a:solidFill>
                  <a:srgbClr val="9FD3FF"/>
                </a:solidFill>
                <a:latin typeface="Arial"/>
                <a:ea typeface="Microsoft YaHei"/>
                <a:cs typeface="Arial"/>
              </a:rPr>
              <a:t>36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257300" y="95250"/>
            <a:ext cx="8096250" cy="457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21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工程决策：动态 Graph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0001250" y="76200"/>
            <a:ext cx="1619250" cy="5143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3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DataAgent</a:t>
            </a:r>
          </a:p>
        </p:txBody>
      </p:sp>
      <p:sp>
        <p:nvSpPr>
          <p:cNvPr id="8" name="Rectangle 8"/>
          <p:cNvSpPr/>
          <p:nvPr/>
        </p:nvSpPr>
        <p:spPr>
          <a:xfrm>
            <a:off x="0" y="666750"/>
            <a:ext cx="12192000" cy="476250"/>
          </a:xfrm>
          <a:prstGeom prst="rect">
            <a:avLst/>
          </a:prstGeom>
          <a:solidFill>
            <a:srgbClr val="E8F4FC"/>
          </a:solidFill>
          <a:ln>
            <a:noFill/>
          </a:ln>
        </p:spPr>
      </p:sp>
      <p:sp>
        <p:nvSpPr>
          <p:cNvPr id="9" name="Rectangle 9"/>
          <p:cNvSpPr/>
          <p:nvPr/>
        </p:nvSpPr>
        <p:spPr>
          <a:xfrm>
            <a:off x="0" y="666750"/>
            <a:ext cx="57150" cy="476250"/>
          </a:xfrm>
          <a:prstGeom prst="rect">
            <a:avLst/>
          </a:prstGeom>
          <a:solidFill>
            <a:srgbClr val="06B6D4"/>
          </a:solidFill>
          <a:ln>
            <a:noFill/>
          </a:ln>
        </p:spPr>
      </p:sp>
      <p:sp>
        <p:nvSpPr>
          <p:cNvPr id="10" name="TextBox 10"/>
          <p:cNvSpPr txBox="1"/>
          <p:nvPr/>
        </p:nvSpPr>
        <p:spPr>
          <a:xfrm>
            <a:off x="381000" y="714375"/>
            <a:ext cx="10001250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1350" dirty="0">
                <a:solidFill>
                  <a:srgbClr val="26384A"/>
                </a:solidFill>
                <a:latin typeface="Arial"/>
                <a:ea typeface="Microsoft YaHei"/>
                <a:cs typeface="Arial"/>
              </a:rPr>
              <a:t>候选方案 × 取舍（ADR）</a:t>
            </a:r>
          </a:p>
        </p:txBody>
      </p:sp>
      <p:sp>
        <p:nvSpPr>
          <p:cNvPr id="11" name="Line 11"/>
          <p:cNvSpPr/>
          <p:nvPr/>
        </p:nvSpPr>
        <p:spPr>
          <a:xfrm>
            <a:off x="381000" y="6334125"/>
            <a:ext cx="11430000" cy="9525"/>
          </a:xfrm>
          <a:custGeom>
            <a:avLst/>
            <a:gdLst/>
            <a:ahLst/>
            <a:cxnLst/>
            <a:rect l="l" t="t" r="r" b="b"/>
            <a:pathLst>
              <a:path w="11430000" h="9525">
                <a:moveTo>
                  <a:pt x="0" y="0"/>
                </a:moveTo>
                <a:lnTo>
                  <a:pt x="11430000" y="0"/>
                </a:lnTo>
              </a:path>
            </a:pathLst>
          </a:custGeom>
          <a:noFill/>
          <a:ln w="9525">
            <a:solidFill>
              <a:srgbClr val="E8F4FC"/>
            </a:solidFill>
          </a:ln>
        </p:spPr>
      </p:sp>
      <p:sp>
        <p:nvSpPr>
          <p:cNvPr id="12" name="TextBox 12"/>
          <p:cNvSpPr txBox="1"/>
          <p:nvPr/>
        </p:nvSpPr>
        <p:spPr>
          <a:xfrm>
            <a:off x="381000" y="6477000"/>
            <a:ext cx="4953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课程第15讲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4381500" y="6477000"/>
            <a:ext cx="3429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Agent Runtime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0763250" y="6457950"/>
            <a:ext cx="857250" cy="266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050" dirty="0">
                <a:solidFill>
                  <a:srgbClr val="52657A"/>
                </a:solidFill>
                <a:latin typeface="Arial"/>
                <a:ea typeface="Microsoft YaHei"/>
                <a:cs typeface="Arial"/>
              </a:rPr>
              <a:t>36</a:t>
            </a:r>
          </a:p>
        </p:txBody>
      </p:sp>
      <p:grpSp>
        <p:nvGrpSpPr>
          <p:cNvPr id="38" name="EasySlides Component: matrix"/>
          <p:cNvGrpSpPr/>
          <p:nvPr/>
        </p:nvGrpSpPr>
        <p:grpSpPr>
          <a:xfrm>
            <a:off x="495300" y="1285875"/>
            <a:ext cx="11201400" cy="4905375"/>
            <a:chOff x="495300" y="1285875"/>
            <a:chExt cx="11201400" cy="4905375"/>
          </a:xfrm>
        </p:grpSpPr>
        <p:sp>
          <p:nvSpPr>
            <p:cNvPr id="15" name="Rectangle 15"/>
            <p:cNvSpPr/>
            <p:nvPr/>
          </p:nvSpPr>
          <p:spPr>
            <a:xfrm>
              <a:off x="495300" y="1285875"/>
              <a:ext cx="11201400" cy="4905375"/>
            </a:xfrm>
            <a:prstGeom prst="roundRect">
              <a:avLst>
                <a:gd name="adj" fmla="val 777"/>
              </a:avLst>
            </a:prstGeom>
            <a:solidFill>
              <a:srgbClr val="FFFFFF"/>
            </a:solidFill>
            <a:ln w="11430">
              <a:solidFill>
                <a:srgbClr val="B8C7D6"/>
              </a:solidFill>
            </a:ln>
          </p:spPr>
        </p:sp>
        <p:sp>
          <p:nvSpPr>
            <p:cNvPr id="16" name="Rectangle 16"/>
            <p:cNvSpPr/>
            <p:nvPr/>
          </p:nvSpPr>
          <p:spPr>
            <a:xfrm>
              <a:off x="495300" y="1285875"/>
              <a:ext cx="11201400" cy="647700"/>
            </a:xfrm>
            <a:prstGeom prst="roundRect">
              <a:avLst>
                <a:gd name="adj" fmla="val 5882"/>
              </a:avLst>
            </a:prstGeom>
            <a:solidFill>
              <a:srgbClr val="0E7490"/>
            </a:solidFill>
            <a:ln>
              <a:noFill/>
            </a:ln>
          </p:spPr>
        </p:sp>
        <p:sp>
          <p:nvSpPr>
            <p:cNvPr id="17" name="Line 17"/>
            <p:cNvSpPr/>
            <p:nvPr/>
          </p:nvSpPr>
          <p:spPr>
            <a:xfrm>
              <a:off x="4229100" y="1285875"/>
              <a:ext cx="9525" cy="4143375"/>
            </a:xfrm>
            <a:custGeom>
              <a:avLst/>
              <a:gdLst/>
              <a:ahLst/>
              <a:cxnLst/>
              <a:rect l="l" t="t" r="r" b="b"/>
              <a:pathLst>
                <a:path w="9525" h="4143375">
                  <a:moveTo>
                    <a:pt x="0" y="0"/>
                  </a:moveTo>
                  <a:lnTo>
                    <a:pt x="0" y="4143375"/>
                  </a:lnTo>
                </a:path>
              </a:pathLst>
            </a:custGeom>
            <a:noFill/>
            <a:ln w="9525">
              <a:solidFill>
                <a:srgbClr val="B8C7D6"/>
              </a:solidFill>
            </a:ln>
          </p:spPr>
        </p:sp>
        <p:sp>
          <p:nvSpPr>
            <p:cNvPr id="18" name="Line 18"/>
            <p:cNvSpPr/>
            <p:nvPr/>
          </p:nvSpPr>
          <p:spPr>
            <a:xfrm>
              <a:off x="7962900" y="1285875"/>
              <a:ext cx="9525" cy="4143375"/>
            </a:xfrm>
            <a:custGeom>
              <a:avLst/>
              <a:gdLst/>
              <a:ahLst/>
              <a:cxnLst/>
              <a:rect l="l" t="t" r="r" b="b"/>
              <a:pathLst>
                <a:path w="9525" h="4143375">
                  <a:moveTo>
                    <a:pt x="0" y="0"/>
                  </a:moveTo>
                  <a:lnTo>
                    <a:pt x="0" y="4143375"/>
                  </a:lnTo>
                </a:path>
              </a:pathLst>
            </a:custGeom>
            <a:noFill/>
            <a:ln w="9525">
              <a:solidFill>
                <a:srgbClr val="B8C7D6"/>
              </a:solidFill>
            </a:ln>
          </p:spPr>
        </p:sp>
        <p:sp>
          <p:nvSpPr>
            <p:cNvPr id="19" name="Line 19"/>
            <p:cNvSpPr/>
            <p:nvPr/>
          </p:nvSpPr>
          <p:spPr>
            <a:xfrm>
              <a:off x="495300" y="1933575"/>
              <a:ext cx="11201400" cy="9525"/>
            </a:xfrm>
            <a:custGeom>
              <a:avLst/>
              <a:gdLst/>
              <a:ahLst/>
              <a:cxnLst/>
              <a:rect l="l" t="t" r="r" b="b"/>
              <a:pathLst>
                <a:path w="11201400" h="9525">
                  <a:moveTo>
                    <a:pt x="0" y="0"/>
                  </a:moveTo>
                  <a:lnTo>
                    <a:pt x="11201400" y="0"/>
                  </a:lnTo>
                </a:path>
              </a:pathLst>
            </a:custGeom>
            <a:noFill/>
            <a:ln w="9525">
              <a:solidFill>
                <a:srgbClr val="B8C7D6"/>
              </a:solidFill>
            </a:ln>
          </p:spPr>
        </p:sp>
        <p:sp>
          <p:nvSpPr>
            <p:cNvPr id="20" name="Line 20"/>
            <p:cNvSpPr/>
            <p:nvPr/>
          </p:nvSpPr>
          <p:spPr>
            <a:xfrm>
              <a:off x="495300" y="3095625"/>
              <a:ext cx="11201400" cy="9525"/>
            </a:xfrm>
            <a:custGeom>
              <a:avLst/>
              <a:gdLst/>
              <a:ahLst/>
              <a:cxnLst/>
              <a:rect l="l" t="t" r="r" b="b"/>
              <a:pathLst>
                <a:path w="11201400" h="9525">
                  <a:moveTo>
                    <a:pt x="0" y="0"/>
                  </a:moveTo>
                  <a:lnTo>
                    <a:pt x="11201400" y="0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21" name="Line 21"/>
            <p:cNvSpPr/>
            <p:nvPr/>
          </p:nvSpPr>
          <p:spPr>
            <a:xfrm>
              <a:off x="495300" y="4257675"/>
              <a:ext cx="11201400" cy="9525"/>
            </a:xfrm>
            <a:custGeom>
              <a:avLst/>
              <a:gdLst/>
              <a:ahLst/>
              <a:cxnLst/>
              <a:rect l="l" t="t" r="r" b="b"/>
              <a:pathLst>
                <a:path w="11201400" h="9525">
                  <a:moveTo>
                    <a:pt x="0" y="0"/>
                  </a:moveTo>
                  <a:lnTo>
                    <a:pt x="11201400" y="0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22" name="Line 22"/>
            <p:cNvSpPr/>
            <p:nvPr/>
          </p:nvSpPr>
          <p:spPr>
            <a:xfrm>
              <a:off x="495300" y="5429250"/>
              <a:ext cx="11201400" cy="9525"/>
            </a:xfrm>
            <a:custGeom>
              <a:avLst/>
              <a:gdLst/>
              <a:ahLst/>
              <a:cxnLst/>
              <a:rect l="l" t="t" r="r" b="b"/>
              <a:pathLst>
                <a:path w="11201400" h="9525">
                  <a:moveTo>
                    <a:pt x="0" y="0"/>
                  </a:moveTo>
                  <a:lnTo>
                    <a:pt x="11201400" y="0"/>
                  </a:lnTo>
                </a:path>
              </a:pathLst>
            </a:custGeom>
            <a:noFill/>
            <a:ln w="9525">
              <a:solidFill>
                <a:srgbClr val="B8C7D6"/>
              </a:solidFill>
            </a:ln>
          </p:spPr>
        </p:sp>
        <p:grpSp>
          <p:nvGrpSpPr>
            <p:cNvPr id="26" name="Group 26"/>
            <p:cNvGrpSpPr/>
            <p:nvPr/>
          </p:nvGrpSpPr>
          <p:grpSpPr>
            <a:xfrm>
              <a:off x="704850" y="1428750"/>
              <a:ext cx="10782300" cy="361950"/>
              <a:chOff x="704850" y="1428750"/>
              <a:chExt cx="10782300" cy="361950"/>
            </a:xfrm>
          </p:grpSpPr>
          <p:sp>
            <p:nvSpPr>
              <p:cNvPr id="23" name="TextBox 23"/>
              <p:cNvSpPr txBox="1"/>
              <p:nvPr/>
            </p:nvSpPr>
            <p:spPr>
              <a:xfrm>
                <a:off x="704850" y="1428750"/>
                <a:ext cx="3314700" cy="3619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575" b="1" dirty="0">
                    <a:solidFill>
                      <a:srgbClr val="FFFFFF"/>
                    </a:solidFill>
                    <a:latin typeface="Arial"/>
                    <a:ea typeface="Microsoft YaHei"/>
                    <a:cs typeface="Arial"/>
                  </a:rPr>
                  <a:t>方案</a:t>
                </a:r>
              </a:p>
            </p:txBody>
          </p:sp>
          <p:sp>
            <p:nvSpPr>
              <p:cNvPr id="24" name="TextBox 24"/>
              <p:cNvSpPr txBox="1"/>
              <p:nvPr/>
            </p:nvSpPr>
            <p:spPr>
              <a:xfrm>
                <a:off x="4438650" y="1428750"/>
                <a:ext cx="3314700" cy="3619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575" b="1" dirty="0">
                    <a:solidFill>
                      <a:srgbClr val="FFFFFF"/>
                    </a:solidFill>
                    <a:latin typeface="Arial"/>
                    <a:ea typeface="Microsoft YaHei"/>
                    <a:cs typeface="Arial"/>
                  </a:rPr>
                  <a:t>代价</a:t>
                </a:r>
              </a:p>
            </p:txBody>
          </p:sp>
          <p:sp>
            <p:nvSpPr>
              <p:cNvPr id="25" name="TextBox 25"/>
              <p:cNvSpPr txBox="1"/>
              <p:nvPr/>
            </p:nvSpPr>
            <p:spPr>
              <a:xfrm>
                <a:off x="8172450" y="1428750"/>
                <a:ext cx="3314700" cy="3619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575" b="1" dirty="0">
                    <a:solidFill>
                      <a:srgbClr val="FFFFFF"/>
                    </a:solidFill>
                    <a:latin typeface="Arial"/>
                    <a:ea typeface="Microsoft YaHei"/>
                    <a:cs typeface="Arial"/>
                  </a:rPr>
                  <a:t>结论</a:t>
                </a:r>
              </a:p>
            </p:txBody>
          </p:sp>
        </p:grpSp>
        <p:grpSp>
          <p:nvGrpSpPr>
            <p:cNvPr id="36" name="Group 36"/>
            <p:cNvGrpSpPr/>
            <p:nvPr/>
          </p:nvGrpSpPr>
          <p:grpSpPr>
            <a:xfrm>
              <a:off x="723900" y="2105025"/>
              <a:ext cx="10744200" cy="3086100"/>
              <a:chOff x="723900" y="2105025"/>
              <a:chExt cx="10744200" cy="3086100"/>
            </a:xfrm>
          </p:grpSpPr>
          <p:sp>
            <p:nvSpPr>
              <p:cNvPr id="27" name="TextBox 27"/>
              <p:cNvSpPr txBox="1"/>
              <p:nvPr/>
            </p:nvSpPr>
            <p:spPr>
              <a:xfrm>
                <a:off x="723900" y="210502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直连实现</a:t>
                </a:r>
              </a:p>
            </p:txBody>
          </p:sp>
          <p:sp>
            <p:nvSpPr>
              <p:cNvPr id="28" name="TextBox 28"/>
              <p:cNvSpPr txBox="1"/>
              <p:nvPr/>
            </p:nvSpPr>
            <p:spPr>
              <a:xfrm>
                <a:off x="4457700" y="210502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快但耦合</a:t>
                </a:r>
              </a:p>
            </p:txBody>
          </p:sp>
          <p:sp>
            <p:nvSpPr>
              <p:cNvPr id="29" name="TextBox 29"/>
              <p:cNvSpPr txBox="1"/>
              <p:nvPr/>
            </p:nvSpPr>
            <p:spPr>
              <a:xfrm>
                <a:off x="8191500" y="210502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Demo 可用</a:t>
                </a:r>
              </a:p>
            </p:txBody>
          </p:sp>
          <p:sp>
            <p:nvSpPr>
              <p:cNvPr id="30" name="TextBox 30"/>
              <p:cNvSpPr txBox="1"/>
              <p:nvPr/>
            </p:nvSpPr>
            <p:spPr>
              <a:xfrm>
                <a:off x="723900" y="326707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平台化</a:t>
                </a:r>
              </a:p>
            </p:txBody>
          </p:sp>
          <p:sp>
            <p:nvSpPr>
              <p:cNvPr id="31" name="TextBox 31"/>
              <p:cNvSpPr txBox="1"/>
              <p:nvPr/>
            </p:nvSpPr>
            <p:spPr>
              <a:xfrm>
                <a:off x="4457700" y="326707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前期成本高</a:t>
                </a:r>
              </a:p>
            </p:txBody>
          </p:sp>
          <p:sp>
            <p:nvSpPr>
              <p:cNvPr id="32" name="TextBox 32"/>
              <p:cNvSpPr txBox="1"/>
              <p:nvPr/>
            </p:nvSpPr>
            <p:spPr>
              <a:xfrm>
                <a:off x="8191500" y="326707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生产首选</a:t>
                </a:r>
              </a:p>
            </p:txBody>
          </p:sp>
          <p:sp>
            <p:nvSpPr>
              <p:cNvPr id="33" name="TextBox 33"/>
              <p:cNvSpPr txBox="1"/>
              <p:nvPr/>
            </p:nvSpPr>
            <p:spPr>
              <a:xfrm>
                <a:off x="723900" y="442912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保持简单</a:t>
                </a:r>
              </a:p>
            </p:txBody>
          </p:sp>
          <p:sp>
            <p:nvSpPr>
              <p:cNvPr id="34" name="TextBox 34"/>
              <p:cNvSpPr txBox="1"/>
              <p:nvPr/>
            </p:nvSpPr>
            <p:spPr>
              <a:xfrm>
                <a:off x="4457700" y="442912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能力上限</a:t>
                </a:r>
              </a:p>
            </p:txBody>
          </p:sp>
          <p:sp>
            <p:nvSpPr>
              <p:cNvPr id="35" name="TextBox 35"/>
              <p:cNvSpPr txBox="1"/>
              <p:nvPr/>
            </p:nvSpPr>
            <p:spPr>
              <a:xfrm>
                <a:off x="8191500" y="442912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按场景取舍</a:t>
                </a:r>
              </a:p>
            </p:txBody>
          </p:sp>
        </p:grpSp>
        <p:sp>
          <p:nvSpPr>
            <p:cNvPr id="37" name="TextBox 37"/>
            <p:cNvSpPr txBox="1"/>
            <p:nvPr/>
          </p:nvSpPr>
          <p:spPr>
            <a:xfrm>
              <a:off x="828675" y="5581650"/>
              <a:ext cx="10534650" cy="4191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500" b="1" dirty="0">
                  <a:solidFill>
                    <a:srgbClr val="0E7490"/>
                  </a:solidFill>
                  <a:latin typeface="Arial"/>
                  <a:ea typeface="Microsoft YaHei"/>
                  <a:cs typeface="Arial"/>
                </a:rPr>
                <a:t>「动态 Graph」的选型以证据与约束为</a:t>
              </a:r>
            </a:p>
          </p:txBody>
        </p:sp>
      </p:grp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666750"/>
          </a:xfrm>
          <a:prstGeom prst="rect">
            <a:avLst/>
          </a:prstGeom>
          <a:solidFill>
            <a:srgbClr val="0E7490"/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0"/>
            <a:ext cx="57150" cy="666750"/>
          </a:xfrm>
          <a:prstGeom prst="rect">
            <a:avLst/>
          </a:prstGeom>
          <a:solidFill>
            <a:srgbClr val="CC0000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381000" y="123825"/>
            <a:ext cx="762000" cy="4000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1275" b="1" dirty="0">
                <a:solidFill>
                  <a:srgbClr val="9FD3FF"/>
                </a:solidFill>
                <a:latin typeface="Arial"/>
                <a:ea typeface="Microsoft YaHei"/>
                <a:cs typeface="Arial"/>
              </a:rPr>
              <a:t>37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257300" y="95250"/>
            <a:ext cx="8096250" cy="457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21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生产化：动态 Graph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0001250" y="76200"/>
            <a:ext cx="1619250" cy="5143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3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DataAgent</a:t>
            </a:r>
          </a:p>
        </p:txBody>
      </p:sp>
      <p:sp>
        <p:nvSpPr>
          <p:cNvPr id="8" name="Rectangle 8"/>
          <p:cNvSpPr/>
          <p:nvPr/>
        </p:nvSpPr>
        <p:spPr>
          <a:xfrm>
            <a:off x="0" y="666750"/>
            <a:ext cx="12192000" cy="476250"/>
          </a:xfrm>
          <a:prstGeom prst="rect">
            <a:avLst/>
          </a:prstGeom>
          <a:solidFill>
            <a:srgbClr val="E8F4FC"/>
          </a:solidFill>
          <a:ln>
            <a:noFill/>
          </a:ln>
        </p:spPr>
      </p:sp>
      <p:sp>
        <p:nvSpPr>
          <p:cNvPr id="9" name="Rectangle 9"/>
          <p:cNvSpPr/>
          <p:nvPr/>
        </p:nvSpPr>
        <p:spPr>
          <a:xfrm>
            <a:off x="0" y="666750"/>
            <a:ext cx="57150" cy="476250"/>
          </a:xfrm>
          <a:prstGeom prst="rect">
            <a:avLst/>
          </a:prstGeom>
          <a:solidFill>
            <a:srgbClr val="06B6D4"/>
          </a:solidFill>
          <a:ln>
            <a:noFill/>
          </a:ln>
        </p:spPr>
      </p:sp>
      <p:sp>
        <p:nvSpPr>
          <p:cNvPr id="10" name="TextBox 10"/>
          <p:cNvSpPr txBox="1"/>
          <p:nvPr/>
        </p:nvSpPr>
        <p:spPr>
          <a:xfrm>
            <a:off x="381000" y="714375"/>
            <a:ext cx="10001250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1350" dirty="0">
                <a:solidFill>
                  <a:srgbClr val="26384A"/>
                </a:solidFill>
                <a:latin typeface="Arial"/>
                <a:ea typeface="Microsoft YaHei"/>
                <a:cs typeface="Arial"/>
              </a:rPr>
              <a:t>企业级落地三机制</a:t>
            </a:r>
          </a:p>
        </p:txBody>
      </p:sp>
      <p:sp>
        <p:nvSpPr>
          <p:cNvPr id="11" name="Line 11"/>
          <p:cNvSpPr/>
          <p:nvPr/>
        </p:nvSpPr>
        <p:spPr>
          <a:xfrm>
            <a:off x="381000" y="6334125"/>
            <a:ext cx="11430000" cy="9525"/>
          </a:xfrm>
          <a:custGeom>
            <a:avLst/>
            <a:gdLst/>
            <a:ahLst/>
            <a:cxnLst/>
            <a:rect l="l" t="t" r="r" b="b"/>
            <a:pathLst>
              <a:path w="11430000" h="9525">
                <a:moveTo>
                  <a:pt x="0" y="0"/>
                </a:moveTo>
                <a:lnTo>
                  <a:pt x="11430000" y="0"/>
                </a:lnTo>
              </a:path>
            </a:pathLst>
          </a:custGeom>
          <a:noFill/>
          <a:ln w="9525">
            <a:solidFill>
              <a:srgbClr val="E8F4FC"/>
            </a:solidFill>
          </a:ln>
        </p:spPr>
      </p:sp>
      <p:sp>
        <p:nvSpPr>
          <p:cNvPr id="12" name="TextBox 12"/>
          <p:cNvSpPr txBox="1"/>
          <p:nvPr/>
        </p:nvSpPr>
        <p:spPr>
          <a:xfrm>
            <a:off x="381000" y="6477000"/>
            <a:ext cx="4953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课程第15讲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4381500" y="6477000"/>
            <a:ext cx="3429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Agent Runtime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0763250" y="6457950"/>
            <a:ext cx="857250" cy="266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050" dirty="0">
                <a:solidFill>
                  <a:srgbClr val="52657A"/>
                </a:solidFill>
                <a:latin typeface="Arial"/>
                <a:ea typeface="Microsoft YaHei"/>
                <a:cs typeface="Arial"/>
              </a:rPr>
              <a:t>37</a:t>
            </a:r>
          </a:p>
        </p:txBody>
      </p:sp>
      <p:grpSp>
        <p:nvGrpSpPr>
          <p:cNvPr id="38" name="EasySlides Component: matrix"/>
          <p:cNvGrpSpPr/>
          <p:nvPr/>
        </p:nvGrpSpPr>
        <p:grpSpPr>
          <a:xfrm>
            <a:off x="495300" y="1285875"/>
            <a:ext cx="11201400" cy="4905375"/>
            <a:chOff x="495300" y="1285875"/>
            <a:chExt cx="11201400" cy="4905375"/>
          </a:xfrm>
        </p:grpSpPr>
        <p:sp>
          <p:nvSpPr>
            <p:cNvPr id="15" name="Rectangle 15"/>
            <p:cNvSpPr/>
            <p:nvPr/>
          </p:nvSpPr>
          <p:spPr>
            <a:xfrm>
              <a:off x="495300" y="1285875"/>
              <a:ext cx="11201400" cy="4905375"/>
            </a:xfrm>
            <a:prstGeom prst="roundRect">
              <a:avLst>
                <a:gd name="adj" fmla="val 777"/>
              </a:avLst>
            </a:prstGeom>
            <a:solidFill>
              <a:srgbClr val="FFFFFF"/>
            </a:solidFill>
            <a:ln w="11430">
              <a:solidFill>
                <a:srgbClr val="B8C7D6"/>
              </a:solidFill>
            </a:ln>
          </p:spPr>
        </p:sp>
        <p:sp>
          <p:nvSpPr>
            <p:cNvPr id="16" name="Rectangle 16"/>
            <p:cNvSpPr/>
            <p:nvPr/>
          </p:nvSpPr>
          <p:spPr>
            <a:xfrm>
              <a:off x="495300" y="1285875"/>
              <a:ext cx="11201400" cy="647700"/>
            </a:xfrm>
            <a:prstGeom prst="roundRect">
              <a:avLst>
                <a:gd name="adj" fmla="val 5882"/>
              </a:avLst>
            </a:prstGeom>
            <a:solidFill>
              <a:srgbClr val="0E7490"/>
            </a:solidFill>
            <a:ln>
              <a:noFill/>
            </a:ln>
          </p:spPr>
        </p:sp>
        <p:sp>
          <p:nvSpPr>
            <p:cNvPr id="17" name="Line 17"/>
            <p:cNvSpPr/>
            <p:nvPr/>
          </p:nvSpPr>
          <p:spPr>
            <a:xfrm>
              <a:off x="4229100" y="1285875"/>
              <a:ext cx="9525" cy="4143375"/>
            </a:xfrm>
            <a:custGeom>
              <a:avLst/>
              <a:gdLst/>
              <a:ahLst/>
              <a:cxnLst/>
              <a:rect l="l" t="t" r="r" b="b"/>
              <a:pathLst>
                <a:path w="9525" h="4143375">
                  <a:moveTo>
                    <a:pt x="0" y="0"/>
                  </a:moveTo>
                  <a:lnTo>
                    <a:pt x="0" y="4143375"/>
                  </a:lnTo>
                </a:path>
              </a:pathLst>
            </a:custGeom>
            <a:noFill/>
            <a:ln w="9525">
              <a:solidFill>
                <a:srgbClr val="B8C7D6"/>
              </a:solidFill>
            </a:ln>
          </p:spPr>
        </p:sp>
        <p:sp>
          <p:nvSpPr>
            <p:cNvPr id="18" name="Line 18"/>
            <p:cNvSpPr/>
            <p:nvPr/>
          </p:nvSpPr>
          <p:spPr>
            <a:xfrm>
              <a:off x="7962900" y="1285875"/>
              <a:ext cx="9525" cy="4143375"/>
            </a:xfrm>
            <a:custGeom>
              <a:avLst/>
              <a:gdLst/>
              <a:ahLst/>
              <a:cxnLst/>
              <a:rect l="l" t="t" r="r" b="b"/>
              <a:pathLst>
                <a:path w="9525" h="4143375">
                  <a:moveTo>
                    <a:pt x="0" y="0"/>
                  </a:moveTo>
                  <a:lnTo>
                    <a:pt x="0" y="4143375"/>
                  </a:lnTo>
                </a:path>
              </a:pathLst>
            </a:custGeom>
            <a:noFill/>
            <a:ln w="9525">
              <a:solidFill>
                <a:srgbClr val="B8C7D6"/>
              </a:solidFill>
            </a:ln>
          </p:spPr>
        </p:sp>
        <p:sp>
          <p:nvSpPr>
            <p:cNvPr id="19" name="Line 19"/>
            <p:cNvSpPr/>
            <p:nvPr/>
          </p:nvSpPr>
          <p:spPr>
            <a:xfrm>
              <a:off x="495300" y="1933575"/>
              <a:ext cx="11201400" cy="9525"/>
            </a:xfrm>
            <a:custGeom>
              <a:avLst/>
              <a:gdLst/>
              <a:ahLst/>
              <a:cxnLst/>
              <a:rect l="l" t="t" r="r" b="b"/>
              <a:pathLst>
                <a:path w="11201400" h="9525">
                  <a:moveTo>
                    <a:pt x="0" y="0"/>
                  </a:moveTo>
                  <a:lnTo>
                    <a:pt x="11201400" y="0"/>
                  </a:lnTo>
                </a:path>
              </a:pathLst>
            </a:custGeom>
            <a:noFill/>
            <a:ln w="9525">
              <a:solidFill>
                <a:srgbClr val="B8C7D6"/>
              </a:solidFill>
            </a:ln>
          </p:spPr>
        </p:sp>
        <p:sp>
          <p:nvSpPr>
            <p:cNvPr id="20" name="Line 20"/>
            <p:cNvSpPr/>
            <p:nvPr/>
          </p:nvSpPr>
          <p:spPr>
            <a:xfrm>
              <a:off x="495300" y="3095625"/>
              <a:ext cx="11201400" cy="9525"/>
            </a:xfrm>
            <a:custGeom>
              <a:avLst/>
              <a:gdLst/>
              <a:ahLst/>
              <a:cxnLst/>
              <a:rect l="l" t="t" r="r" b="b"/>
              <a:pathLst>
                <a:path w="11201400" h="9525">
                  <a:moveTo>
                    <a:pt x="0" y="0"/>
                  </a:moveTo>
                  <a:lnTo>
                    <a:pt x="11201400" y="0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21" name="Line 21"/>
            <p:cNvSpPr/>
            <p:nvPr/>
          </p:nvSpPr>
          <p:spPr>
            <a:xfrm>
              <a:off x="495300" y="4257675"/>
              <a:ext cx="11201400" cy="9525"/>
            </a:xfrm>
            <a:custGeom>
              <a:avLst/>
              <a:gdLst/>
              <a:ahLst/>
              <a:cxnLst/>
              <a:rect l="l" t="t" r="r" b="b"/>
              <a:pathLst>
                <a:path w="11201400" h="9525">
                  <a:moveTo>
                    <a:pt x="0" y="0"/>
                  </a:moveTo>
                  <a:lnTo>
                    <a:pt x="11201400" y="0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22" name="Line 22"/>
            <p:cNvSpPr/>
            <p:nvPr/>
          </p:nvSpPr>
          <p:spPr>
            <a:xfrm>
              <a:off x="495300" y="5429250"/>
              <a:ext cx="11201400" cy="9525"/>
            </a:xfrm>
            <a:custGeom>
              <a:avLst/>
              <a:gdLst/>
              <a:ahLst/>
              <a:cxnLst/>
              <a:rect l="l" t="t" r="r" b="b"/>
              <a:pathLst>
                <a:path w="11201400" h="9525">
                  <a:moveTo>
                    <a:pt x="0" y="0"/>
                  </a:moveTo>
                  <a:lnTo>
                    <a:pt x="11201400" y="0"/>
                  </a:lnTo>
                </a:path>
              </a:pathLst>
            </a:custGeom>
            <a:noFill/>
            <a:ln w="9525">
              <a:solidFill>
                <a:srgbClr val="B8C7D6"/>
              </a:solidFill>
            </a:ln>
          </p:spPr>
        </p:sp>
        <p:grpSp>
          <p:nvGrpSpPr>
            <p:cNvPr id="26" name="Group 26"/>
            <p:cNvGrpSpPr/>
            <p:nvPr/>
          </p:nvGrpSpPr>
          <p:grpSpPr>
            <a:xfrm>
              <a:off x="704850" y="1428750"/>
              <a:ext cx="10782300" cy="361950"/>
              <a:chOff x="704850" y="1428750"/>
              <a:chExt cx="10782300" cy="361950"/>
            </a:xfrm>
          </p:grpSpPr>
          <p:sp>
            <p:nvSpPr>
              <p:cNvPr id="23" name="TextBox 23"/>
              <p:cNvSpPr txBox="1"/>
              <p:nvPr/>
            </p:nvSpPr>
            <p:spPr>
              <a:xfrm>
                <a:off x="704850" y="1428750"/>
                <a:ext cx="3314700" cy="3619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575" b="1" dirty="0">
                    <a:solidFill>
                      <a:srgbClr val="FFFFFF"/>
                    </a:solidFill>
                    <a:latin typeface="Arial"/>
                    <a:ea typeface="Microsoft YaHei"/>
                    <a:cs typeface="Arial"/>
                  </a:rPr>
                  <a:t>阶段</a:t>
                </a:r>
              </a:p>
            </p:txBody>
          </p:sp>
          <p:sp>
            <p:nvSpPr>
              <p:cNvPr id="24" name="TextBox 24"/>
              <p:cNvSpPr txBox="1"/>
              <p:nvPr/>
            </p:nvSpPr>
            <p:spPr>
              <a:xfrm>
                <a:off x="4438650" y="1428750"/>
                <a:ext cx="3314700" cy="3619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575" b="1" dirty="0">
                    <a:solidFill>
                      <a:srgbClr val="FFFFFF"/>
                    </a:solidFill>
                    <a:latin typeface="Arial"/>
                    <a:ea typeface="Microsoft YaHei"/>
                    <a:cs typeface="Arial"/>
                  </a:rPr>
                  <a:t>机制</a:t>
                </a:r>
              </a:p>
            </p:txBody>
          </p:sp>
          <p:sp>
            <p:nvSpPr>
              <p:cNvPr id="25" name="TextBox 25"/>
              <p:cNvSpPr txBox="1"/>
              <p:nvPr/>
            </p:nvSpPr>
            <p:spPr>
              <a:xfrm>
                <a:off x="8172450" y="1428750"/>
                <a:ext cx="3314700" cy="3619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575" b="1" dirty="0">
                    <a:solidFill>
                      <a:srgbClr val="FFFFFF"/>
                    </a:solidFill>
                    <a:latin typeface="Arial"/>
                    <a:ea typeface="Microsoft YaHei"/>
                    <a:cs typeface="Arial"/>
                  </a:rPr>
                  <a:t>审计/落点</a:t>
                </a:r>
              </a:p>
            </p:txBody>
          </p:sp>
        </p:grpSp>
        <p:grpSp>
          <p:nvGrpSpPr>
            <p:cNvPr id="36" name="Group 36"/>
            <p:cNvGrpSpPr/>
            <p:nvPr/>
          </p:nvGrpSpPr>
          <p:grpSpPr>
            <a:xfrm>
              <a:off x="723900" y="2105025"/>
              <a:ext cx="10744200" cy="3086100"/>
              <a:chOff x="723900" y="2105025"/>
              <a:chExt cx="10744200" cy="3086100"/>
            </a:xfrm>
          </p:grpSpPr>
          <p:sp>
            <p:nvSpPr>
              <p:cNvPr id="27" name="TextBox 27"/>
              <p:cNvSpPr txBox="1"/>
              <p:nvPr/>
            </p:nvSpPr>
            <p:spPr>
              <a:xfrm>
                <a:off x="723900" y="210502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中断</a:t>
                </a:r>
              </a:p>
            </p:txBody>
          </p:sp>
          <p:sp>
            <p:nvSpPr>
              <p:cNvPr id="28" name="TextBox 28"/>
              <p:cNvSpPr txBox="1"/>
              <p:nvPr/>
            </p:nvSpPr>
            <p:spPr>
              <a:xfrm>
                <a:off x="4457700" y="210502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ApprovalPending</a:t>
                </a:r>
              </a:p>
            </p:txBody>
          </p:sp>
          <p:sp>
            <p:nvSpPr>
              <p:cNvPr id="29" name="TextBox 29"/>
              <p:cNvSpPr txBox="1"/>
              <p:nvPr/>
            </p:nvSpPr>
            <p:spPr>
              <a:xfrm>
                <a:off x="8191500" y="210502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waiting_approval</a:t>
                </a:r>
              </a:p>
            </p:txBody>
          </p:sp>
          <p:sp>
            <p:nvSpPr>
              <p:cNvPr id="30" name="TextBox 30"/>
              <p:cNvSpPr txBox="1"/>
              <p:nvPr/>
            </p:nvSpPr>
            <p:spPr>
              <a:xfrm>
                <a:off x="723900" y="326707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决议</a:t>
                </a:r>
              </a:p>
            </p:txBody>
          </p:sp>
          <p:sp>
            <p:nvSpPr>
              <p:cNvPr id="31" name="TextBox 31"/>
              <p:cNvSpPr txBox="1"/>
              <p:nvPr/>
            </p:nvSpPr>
            <p:spPr>
              <a:xfrm>
                <a:off x="4457700" y="326707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decided_by/at</a:t>
                </a:r>
              </a:p>
            </p:txBody>
          </p:sp>
          <p:sp>
            <p:nvSpPr>
              <p:cNvPr id="32" name="TextBox 32"/>
              <p:cNvSpPr txBox="1"/>
              <p:nvPr/>
            </p:nvSpPr>
            <p:spPr>
              <a:xfrm>
                <a:off x="8191500" y="326707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approve/reject</a:t>
                </a:r>
              </a:p>
            </p:txBody>
          </p:sp>
          <p:sp>
            <p:nvSpPr>
              <p:cNvPr id="33" name="TextBox 33"/>
              <p:cNvSpPr txBox="1"/>
              <p:nvPr/>
            </p:nvSpPr>
            <p:spPr>
              <a:xfrm>
                <a:off x="723900" y="442912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恢复</a:t>
                </a:r>
              </a:p>
            </p:txBody>
          </p:sp>
          <p:sp>
            <p:nvSpPr>
              <p:cNvPr id="34" name="TextBox 34"/>
              <p:cNvSpPr txBox="1"/>
              <p:nvPr/>
            </p:nvSpPr>
            <p:spPr>
              <a:xfrm>
                <a:off x="4457700" y="442912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pre_approved</a:t>
                </a:r>
              </a:p>
            </p:txBody>
          </p:sp>
          <p:sp>
            <p:nvSpPr>
              <p:cNvPr id="35" name="TextBox 35"/>
              <p:cNvSpPr txBox="1"/>
              <p:nvPr/>
            </p:nvSpPr>
            <p:spPr>
              <a:xfrm>
                <a:off x="8191500" y="442912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succeeded/canceled</a:t>
                </a:r>
              </a:p>
            </p:txBody>
          </p:sp>
        </p:grpSp>
        <p:sp>
          <p:nvSpPr>
            <p:cNvPr id="37" name="TextBox 37"/>
            <p:cNvSpPr txBox="1"/>
            <p:nvPr/>
          </p:nvSpPr>
          <p:spPr>
            <a:xfrm>
              <a:off x="828675" y="5581650"/>
              <a:ext cx="10534650" cy="4191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500" b="1" dirty="0">
                  <a:solidFill>
                    <a:srgbClr val="0E7490"/>
                  </a:solidFill>
                  <a:latin typeface="Arial"/>
                  <a:ea typeface="Microsoft YaHei"/>
                  <a:cs typeface="Arial"/>
                </a:rPr>
                <a:t>HITL：中断-审批-恢复 全真实落库</a:t>
              </a:r>
            </a:p>
          </p:txBody>
        </p:sp>
      </p:grp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666750"/>
          </a:xfrm>
          <a:prstGeom prst="rect">
            <a:avLst/>
          </a:prstGeom>
          <a:solidFill>
            <a:srgbClr val="0E7490"/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0"/>
            <a:ext cx="57150" cy="666750"/>
          </a:xfrm>
          <a:prstGeom prst="rect">
            <a:avLst/>
          </a:prstGeom>
          <a:solidFill>
            <a:srgbClr val="CC0000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381000" y="123825"/>
            <a:ext cx="762000" cy="4000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1275" b="1" dirty="0">
                <a:solidFill>
                  <a:srgbClr val="9FD3FF"/>
                </a:solidFill>
                <a:latin typeface="Arial"/>
                <a:ea typeface="Microsoft YaHei"/>
                <a:cs typeface="Arial"/>
              </a:rPr>
              <a:t>38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257300" y="95250"/>
            <a:ext cx="8096250" cy="457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21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企业治理：动态 Graph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0001250" y="76200"/>
            <a:ext cx="1619250" cy="5143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3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DataAgent</a:t>
            </a:r>
          </a:p>
        </p:txBody>
      </p:sp>
      <p:sp>
        <p:nvSpPr>
          <p:cNvPr id="8" name="Rectangle 8"/>
          <p:cNvSpPr/>
          <p:nvPr/>
        </p:nvSpPr>
        <p:spPr>
          <a:xfrm>
            <a:off x="0" y="666750"/>
            <a:ext cx="12192000" cy="476250"/>
          </a:xfrm>
          <a:prstGeom prst="rect">
            <a:avLst/>
          </a:prstGeom>
          <a:solidFill>
            <a:srgbClr val="E8F4FC"/>
          </a:solidFill>
          <a:ln>
            <a:noFill/>
          </a:ln>
        </p:spPr>
      </p:sp>
      <p:sp>
        <p:nvSpPr>
          <p:cNvPr id="9" name="Rectangle 9"/>
          <p:cNvSpPr/>
          <p:nvPr/>
        </p:nvSpPr>
        <p:spPr>
          <a:xfrm>
            <a:off x="0" y="666750"/>
            <a:ext cx="57150" cy="476250"/>
          </a:xfrm>
          <a:prstGeom prst="rect">
            <a:avLst/>
          </a:prstGeom>
          <a:solidFill>
            <a:srgbClr val="06B6D4"/>
          </a:solidFill>
          <a:ln>
            <a:noFill/>
          </a:ln>
        </p:spPr>
      </p:sp>
      <p:sp>
        <p:nvSpPr>
          <p:cNvPr id="10" name="TextBox 10"/>
          <p:cNvSpPr txBox="1"/>
          <p:nvPr/>
        </p:nvSpPr>
        <p:spPr>
          <a:xfrm>
            <a:off x="381000" y="714375"/>
            <a:ext cx="10001250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1350" dirty="0">
                <a:solidFill>
                  <a:srgbClr val="26384A"/>
                </a:solidFill>
                <a:latin typeface="Arial"/>
                <a:ea typeface="Microsoft YaHei"/>
                <a:cs typeface="Arial"/>
              </a:rPr>
              <a:t>三项已闭合边界</a:t>
            </a:r>
          </a:p>
        </p:txBody>
      </p:sp>
      <p:sp>
        <p:nvSpPr>
          <p:cNvPr id="11" name="Line 11"/>
          <p:cNvSpPr/>
          <p:nvPr/>
        </p:nvSpPr>
        <p:spPr>
          <a:xfrm>
            <a:off x="381000" y="6334125"/>
            <a:ext cx="11430000" cy="9525"/>
          </a:xfrm>
          <a:custGeom>
            <a:avLst/>
            <a:gdLst/>
            <a:ahLst/>
            <a:cxnLst/>
            <a:rect l="l" t="t" r="r" b="b"/>
            <a:pathLst>
              <a:path w="11430000" h="9525">
                <a:moveTo>
                  <a:pt x="0" y="0"/>
                </a:moveTo>
                <a:lnTo>
                  <a:pt x="11430000" y="0"/>
                </a:lnTo>
              </a:path>
            </a:pathLst>
          </a:custGeom>
          <a:noFill/>
          <a:ln w="9525">
            <a:solidFill>
              <a:srgbClr val="E8F4FC"/>
            </a:solidFill>
          </a:ln>
        </p:spPr>
      </p:sp>
      <p:sp>
        <p:nvSpPr>
          <p:cNvPr id="12" name="TextBox 12"/>
          <p:cNvSpPr txBox="1"/>
          <p:nvPr/>
        </p:nvSpPr>
        <p:spPr>
          <a:xfrm>
            <a:off x="381000" y="6477000"/>
            <a:ext cx="4953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课程第15讲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4381500" y="6477000"/>
            <a:ext cx="3429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Agent Runtime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0763250" y="6457950"/>
            <a:ext cx="857250" cy="266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050" dirty="0">
                <a:solidFill>
                  <a:srgbClr val="52657A"/>
                </a:solidFill>
                <a:latin typeface="Arial"/>
                <a:ea typeface="Microsoft YaHei"/>
                <a:cs typeface="Arial"/>
              </a:rPr>
              <a:t>38</a:t>
            </a:r>
          </a:p>
        </p:txBody>
      </p:sp>
      <p:grpSp>
        <p:nvGrpSpPr>
          <p:cNvPr id="21" name="EasySlides Component: evidence_01"/>
          <p:cNvGrpSpPr/>
          <p:nvPr/>
        </p:nvGrpSpPr>
        <p:grpSpPr>
          <a:xfrm>
            <a:off x="495300" y="3524250"/>
            <a:ext cx="11201400" cy="1285875"/>
            <a:chOff x="495300" y="3524250"/>
            <a:chExt cx="11201400" cy="1285875"/>
          </a:xfrm>
        </p:grpSpPr>
        <p:sp>
          <p:nvSpPr>
            <p:cNvPr id="15" name="Rectangle 15"/>
            <p:cNvSpPr/>
            <p:nvPr/>
          </p:nvSpPr>
          <p:spPr>
            <a:xfrm>
              <a:off x="495300" y="3524250"/>
              <a:ext cx="11201400" cy="1285875"/>
            </a:xfrm>
            <a:prstGeom prst="roundRect">
              <a:avLst>
                <a:gd name="adj" fmla="val 2963"/>
              </a:avLst>
            </a:prstGeom>
            <a:solidFill>
              <a:srgbClr val="FFFFFF"/>
            </a:solidFill>
            <a:ln w="11430">
              <a:solidFill>
                <a:srgbClr val="B8C7D6"/>
              </a:solidFill>
            </a:ln>
          </p:spPr>
        </p:sp>
        <p:sp>
          <p:nvSpPr>
            <p:cNvPr id="16" name="Rectangle 16"/>
            <p:cNvSpPr/>
            <p:nvPr/>
          </p:nvSpPr>
          <p:spPr>
            <a:xfrm>
              <a:off x="495300" y="3524250"/>
              <a:ext cx="76200" cy="1285875"/>
            </a:xfrm>
            <a:prstGeom prst="roundRect">
              <a:avLst>
                <a:gd name="adj" fmla="val 50000"/>
              </a:avLst>
            </a:prstGeom>
            <a:solidFill>
              <a:srgbClr val="06B6D4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733425" y="3971925"/>
              <a:ext cx="438150" cy="5238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650" b="1" dirty="0">
                  <a:solidFill>
                    <a:srgbClr val="06B6D4"/>
                  </a:solidFill>
                  <a:latin typeface="Arial"/>
                  <a:ea typeface="Microsoft YaHei"/>
                  <a:cs typeface="Arial"/>
                </a:rPr>
                <a:t>01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1447800" y="3752850"/>
              <a:ext cx="2667000" cy="78105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575" b="1" dirty="0">
                  <a:solidFill>
                    <a:srgbClr val="0E7490"/>
                  </a:solidFill>
                  <a:latin typeface="Arial"/>
                  <a:ea typeface="Microsoft YaHei"/>
                  <a:cs typeface="Arial"/>
                </a:rPr>
                <a:t>认证</a:t>
              </a:r>
            </a:p>
          </p:txBody>
        </p:sp>
        <p:sp>
          <p:nvSpPr>
            <p:cNvPr id="19" name="Line 19"/>
            <p:cNvSpPr/>
            <p:nvPr/>
          </p:nvSpPr>
          <p:spPr>
            <a:xfrm>
              <a:off x="4362450" y="3752850"/>
              <a:ext cx="9525" cy="828675"/>
            </a:xfrm>
            <a:custGeom>
              <a:avLst/>
              <a:gdLst/>
              <a:ahLst/>
              <a:cxnLst/>
              <a:rect l="l" t="t" r="r" b="b"/>
              <a:pathLst>
                <a:path w="9525" h="828675">
                  <a:moveTo>
                    <a:pt x="0" y="0"/>
                  </a:moveTo>
                  <a:lnTo>
                    <a:pt x="0" y="828675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4686300" y="3752850"/>
              <a:ext cx="6572250" cy="78105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425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未认证401/越权403（LAN实测）</a:t>
              </a:r>
            </a:p>
          </p:txBody>
        </p:sp>
      </p:grpSp>
      <p:grpSp>
        <p:nvGrpSpPr>
          <p:cNvPr id="28" name="EasySlides Component: evidence_02"/>
          <p:cNvGrpSpPr/>
          <p:nvPr/>
        </p:nvGrpSpPr>
        <p:grpSpPr>
          <a:xfrm>
            <a:off x="495300" y="4905375"/>
            <a:ext cx="11201400" cy="1285875"/>
            <a:chOff x="495300" y="4905375"/>
            <a:chExt cx="11201400" cy="1285875"/>
          </a:xfrm>
        </p:grpSpPr>
        <p:sp>
          <p:nvSpPr>
            <p:cNvPr id="22" name="Rectangle 22"/>
            <p:cNvSpPr/>
            <p:nvPr/>
          </p:nvSpPr>
          <p:spPr>
            <a:xfrm>
              <a:off x="495300" y="4905375"/>
              <a:ext cx="11201400" cy="1285875"/>
            </a:xfrm>
            <a:prstGeom prst="roundRect">
              <a:avLst>
                <a:gd name="adj" fmla="val 2963"/>
              </a:avLst>
            </a:prstGeom>
            <a:solidFill>
              <a:srgbClr val="FFFFFF"/>
            </a:solidFill>
            <a:ln w="11430">
              <a:solidFill>
                <a:srgbClr val="B8C7D6"/>
              </a:solidFill>
            </a:ln>
          </p:spPr>
        </p:sp>
        <p:sp>
          <p:nvSpPr>
            <p:cNvPr id="23" name="Rectangle 23"/>
            <p:cNvSpPr/>
            <p:nvPr/>
          </p:nvSpPr>
          <p:spPr>
            <a:xfrm>
              <a:off x="495300" y="4905375"/>
              <a:ext cx="76200" cy="1285875"/>
            </a:xfrm>
            <a:prstGeom prst="roundRect">
              <a:avLst>
                <a:gd name="adj" fmla="val 50000"/>
              </a:avLst>
            </a:prstGeom>
            <a:solidFill>
              <a:srgbClr val="06B6D4"/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733425" y="5353050"/>
              <a:ext cx="438150" cy="5238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650" b="1" dirty="0">
                  <a:solidFill>
                    <a:srgbClr val="06B6D4"/>
                  </a:solidFill>
                  <a:latin typeface="Arial"/>
                  <a:ea typeface="Microsoft YaHei"/>
                  <a:cs typeface="Arial"/>
                </a:rPr>
                <a:t>02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1447800" y="5133975"/>
              <a:ext cx="2667000" cy="78105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575" b="1" dirty="0">
                  <a:solidFill>
                    <a:srgbClr val="0E7490"/>
                  </a:solidFill>
                  <a:latin typeface="Arial"/>
                  <a:ea typeface="Microsoft YaHei"/>
                  <a:cs typeface="Arial"/>
                </a:rPr>
                <a:t>队列</a:t>
              </a:r>
            </a:p>
          </p:txBody>
        </p:sp>
        <p:sp>
          <p:nvSpPr>
            <p:cNvPr id="26" name="Line 26"/>
            <p:cNvSpPr/>
            <p:nvPr/>
          </p:nvSpPr>
          <p:spPr>
            <a:xfrm>
              <a:off x="4362450" y="5133975"/>
              <a:ext cx="9525" cy="828675"/>
            </a:xfrm>
            <a:custGeom>
              <a:avLst/>
              <a:gdLst/>
              <a:ahLst/>
              <a:cxnLst/>
              <a:rect l="l" t="t" r="r" b="b"/>
              <a:pathLst>
                <a:path w="9525" h="828675">
                  <a:moveTo>
                    <a:pt x="0" y="0"/>
                  </a:moveTo>
                  <a:lnTo>
                    <a:pt x="0" y="828675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4686300" y="5133975"/>
              <a:ext cx="6572250" cy="78105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425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queued→running→终态全落库（LAN实测）</a:t>
              </a:r>
            </a:p>
          </p:txBody>
        </p:sp>
      </p:grpSp>
      <p:grpSp>
        <p:nvGrpSpPr>
          <p:cNvPr id="34" name="EasySlides Component: metric_01"/>
          <p:cNvGrpSpPr/>
          <p:nvPr/>
        </p:nvGrpSpPr>
        <p:grpSpPr>
          <a:xfrm>
            <a:off x="495300" y="1285875"/>
            <a:ext cx="3505200" cy="1809750"/>
            <a:chOff x="495300" y="1285875"/>
            <a:chExt cx="3505200" cy="1809750"/>
          </a:xfrm>
        </p:grpSpPr>
        <p:sp>
          <p:nvSpPr>
            <p:cNvPr id="29" name="Rectangle 29"/>
            <p:cNvSpPr/>
            <p:nvPr/>
          </p:nvSpPr>
          <p:spPr>
            <a:xfrm>
              <a:off x="495300" y="1285875"/>
              <a:ext cx="3505200" cy="1809750"/>
            </a:xfrm>
            <a:prstGeom prst="roundRect">
              <a:avLst>
                <a:gd name="adj" fmla="val 2105"/>
              </a:avLst>
            </a:prstGeom>
            <a:solidFill>
              <a:srgbClr val="F0F9FC"/>
            </a:solidFill>
            <a:ln w="11430">
              <a:solidFill>
                <a:srgbClr val="B8C7D6"/>
              </a:solidFill>
            </a:ln>
          </p:spPr>
        </p:sp>
        <p:sp>
          <p:nvSpPr>
            <p:cNvPr id="30" name="Rectangle 30"/>
            <p:cNvSpPr/>
            <p:nvPr/>
          </p:nvSpPr>
          <p:spPr>
            <a:xfrm>
              <a:off x="495300" y="1285875"/>
              <a:ext cx="3505200" cy="66675"/>
            </a:xfrm>
            <a:prstGeom prst="roundRect">
              <a:avLst>
                <a:gd name="adj" fmla="val 50000"/>
              </a:avLst>
            </a:prstGeom>
            <a:solidFill>
              <a:srgbClr val="06B6D4"/>
            </a:solidFill>
            <a:ln>
              <a:noFill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762000" y="1619250"/>
              <a:ext cx="2971800" cy="7143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3150" b="1" dirty="0">
                  <a:solidFill>
                    <a:srgbClr val="0E7490"/>
                  </a:solidFill>
                  <a:latin typeface="Arial"/>
                  <a:ea typeface="Microsoft YaHei"/>
                  <a:cs typeface="Arial"/>
                </a:rPr>
                <a:t>JWT</a:t>
              </a:r>
            </a:p>
          </p:txBody>
        </p:sp>
        <p:sp>
          <p:nvSpPr>
            <p:cNvPr id="32" name="Line 32"/>
            <p:cNvSpPr/>
            <p:nvPr/>
          </p:nvSpPr>
          <p:spPr>
            <a:xfrm>
              <a:off x="990600" y="2476500"/>
              <a:ext cx="2514600" cy="9525"/>
            </a:xfrm>
            <a:custGeom>
              <a:avLst/>
              <a:gdLst/>
              <a:ahLst/>
              <a:cxnLst/>
              <a:rect l="l" t="t" r="r" b="b"/>
              <a:pathLst>
                <a:path w="2514600" h="9525">
                  <a:moveTo>
                    <a:pt x="0" y="0"/>
                  </a:moveTo>
                  <a:lnTo>
                    <a:pt x="2514600" y="0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762000" y="2562225"/>
              <a:ext cx="2971800" cy="3429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350" dirty="0">
                  <a:solidFill>
                    <a:srgbClr val="52657A"/>
                  </a:solidFill>
                  <a:latin typeface="Arial"/>
                  <a:ea typeface="Microsoft YaHei"/>
                  <a:cs typeface="Arial"/>
                </a:rPr>
                <a:t>HS256+四角色RBAC</a:t>
              </a:r>
            </a:p>
          </p:txBody>
        </p:sp>
      </p:grpSp>
      <p:grpSp>
        <p:nvGrpSpPr>
          <p:cNvPr id="40" name="EasySlides Component: metric_02"/>
          <p:cNvGrpSpPr/>
          <p:nvPr/>
        </p:nvGrpSpPr>
        <p:grpSpPr>
          <a:xfrm>
            <a:off x="4343400" y="1285875"/>
            <a:ext cx="3505200" cy="1809750"/>
            <a:chOff x="4343400" y="1285875"/>
            <a:chExt cx="3505200" cy="1809750"/>
          </a:xfrm>
        </p:grpSpPr>
        <p:sp>
          <p:nvSpPr>
            <p:cNvPr id="35" name="Rectangle 35"/>
            <p:cNvSpPr/>
            <p:nvPr/>
          </p:nvSpPr>
          <p:spPr>
            <a:xfrm>
              <a:off x="4343400" y="1285875"/>
              <a:ext cx="3505200" cy="1809750"/>
            </a:xfrm>
            <a:prstGeom prst="roundRect">
              <a:avLst>
                <a:gd name="adj" fmla="val 2105"/>
              </a:avLst>
            </a:prstGeom>
            <a:solidFill>
              <a:srgbClr val="F0F9FC"/>
            </a:solidFill>
            <a:ln w="11430">
              <a:solidFill>
                <a:srgbClr val="B8C7D6"/>
              </a:solidFill>
            </a:ln>
          </p:spPr>
        </p:sp>
        <p:sp>
          <p:nvSpPr>
            <p:cNvPr id="36" name="Rectangle 36"/>
            <p:cNvSpPr/>
            <p:nvPr/>
          </p:nvSpPr>
          <p:spPr>
            <a:xfrm>
              <a:off x="4343400" y="1285875"/>
              <a:ext cx="3505200" cy="66675"/>
            </a:xfrm>
            <a:prstGeom prst="roundRect">
              <a:avLst>
                <a:gd name="adj" fmla="val 50000"/>
              </a:avLst>
            </a:prstGeom>
            <a:solidFill>
              <a:srgbClr val="06B6D4"/>
            </a:solidFill>
            <a:ln>
              <a:noFill/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4610100" y="1619250"/>
              <a:ext cx="2971800" cy="7143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3150" b="1" dirty="0">
                  <a:solidFill>
                    <a:srgbClr val="0E7490"/>
                  </a:solidFill>
                  <a:latin typeface="Arial"/>
                  <a:ea typeface="Microsoft YaHei"/>
                  <a:cs typeface="Arial"/>
                </a:rPr>
                <a:t>队列</a:t>
              </a:r>
            </a:p>
          </p:txBody>
        </p:sp>
        <p:sp>
          <p:nvSpPr>
            <p:cNvPr id="38" name="Line 38"/>
            <p:cNvSpPr/>
            <p:nvPr/>
          </p:nvSpPr>
          <p:spPr>
            <a:xfrm>
              <a:off x="4838700" y="2476500"/>
              <a:ext cx="2514600" cy="9525"/>
            </a:xfrm>
            <a:custGeom>
              <a:avLst/>
              <a:gdLst/>
              <a:ahLst/>
              <a:cxnLst/>
              <a:rect l="l" t="t" r="r" b="b"/>
              <a:pathLst>
                <a:path w="2514600" h="9525">
                  <a:moveTo>
                    <a:pt x="0" y="0"/>
                  </a:moveTo>
                  <a:lnTo>
                    <a:pt x="2514600" y="0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4610100" y="2562225"/>
              <a:ext cx="2971800" cy="3429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350" dirty="0">
                  <a:solidFill>
                    <a:srgbClr val="52657A"/>
                  </a:solidFill>
                  <a:latin typeface="Arial"/>
                  <a:ea typeface="Microsoft YaHei"/>
                  <a:cs typeface="Arial"/>
                </a:rPr>
                <a:t>Pulsar/Redis Worker落库</a:t>
              </a:r>
            </a:p>
          </p:txBody>
        </p:sp>
      </p:grpSp>
      <p:grpSp>
        <p:nvGrpSpPr>
          <p:cNvPr id="46" name="EasySlides Component: metric_03"/>
          <p:cNvGrpSpPr/>
          <p:nvPr/>
        </p:nvGrpSpPr>
        <p:grpSpPr>
          <a:xfrm>
            <a:off x="8191500" y="1285875"/>
            <a:ext cx="3505200" cy="1809750"/>
            <a:chOff x="8191500" y="1285875"/>
            <a:chExt cx="3505200" cy="1809750"/>
          </a:xfrm>
        </p:grpSpPr>
        <p:sp>
          <p:nvSpPr>
            <p:cNvPr id="41" name="Rectangle 41"/>
            <p:cNvSpPr/>
            <p:nvPr/>
          </p:nvSpPr>
          <p:spPr>
            <a:xfrm>
              <a:off x="8191500" y="1285875"/>
              <a:ext cx="3505200" cy="1809750"/>
            </a:xfrm>
            <a:prstGeom prst="roundRect">
              <a:avLst>
                <a:gd name="adj" fmla="val 2105"/>
              </a:avLst>
            </a:prstGeom>
            <a:solidFill>
              <a:srgbClr val="F0F9FC"/>
            </a:solidFill>
            <a:ln w="11430">
              <a:solidFill>
                <a:srgbClr val="B8C7D6"/>
              </a:solidFill>
            </a:ln>
          </p:spPr>
        </p:sp>
        <p:sp>
          <p:nvSpPr>
            <p:cNvPr id="42" name="Rectangle 42"/>
            <p:cNvSpPr/>
            <p:nvPr/>
          </p:nvSpPr>
          <p:spPr>
            <a:xfrm>
              <a:off x="8191500" y="1285875"/>
              <a:ext cx="3505200" cy="66675"/>
            </a:xfrm>
            <a:prstGeom prst="roundRect">
              <a:avLst>
                <a:gd name="adj" fmla="val 50000"/>
              </a:avLst>
            </a:prstGeom>
            <a:solidFill>
              <a:srgbClr val="06B6D4"/>
            </a:solidFill>
            <a:ln>
              <a:noFill/>
            </a:ln>
          </p:spPr>
        </p:sp>
        <p:sp>
          <p:nvSpPr>
            <p:cNvPr id="43" name="TextBox 43"/>
            <p:cNvSpPr txBox="1"/>
            <p:nvPr/>
          </p:nvSpPr>
          <p:spPr>
            <a:xfrm>
              <a:off x="8458200" y="1619250"/>
              <a:ext cx="2971800" cy="7143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3150" b="1" dirty="0">
                  <a:solidFill>
                    <a:srgbClr val="0E7490"/>
                  </a:solidFill>
                  <a:latin typeface="Arial"/>
                  <a:ea typeface="Microsoft YaHei"/>
                  <a:cs typeface="Arial"/>
                </a:rPr>
                <a:t>审批</a:t>
              </a:r>
            </a:p>
          </p:txBody>
        </p:sp>
        <p:sp>
          <p:nvSpPr>
            <p:cNvPr id="44" name="Line 44"/>
            <p:cNvSpPr/>
            <p:nvPr/>
          </p:nvSpPr>
          <p:spPr>
            <a:xfrm>
              <a:off x="8686800" y="2476500"/>
              <a:ext cx="2514600" cy="9525"/>
            </a:xfrm>
            <a:custGeom>
              <a:avLst/>
              <a:gdLst/>
              <a:ahLst/>
              <a:cxnLst/>
              <a:rect l="l" t="t" r="r" b="b"/>
              <a:pathLst>
                <a:path w="2514600" h="9525">
                  <a:moveTo>
                    <a:pt x="0" y="0"/>
                  </a:moveTo>
                  <a:lnTo>
                    <a:pt x="2514600" y="0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45" name="TextBox 45"/>
            <p:cNvSpPr txBox="1"/>
            <p:nvPr/>
          </p:nvSpPr>
          <p:spPr>
            <a:xfrm>
              <a:off x="8458200" y="2562225"/>
              <a:ext cx="2971800" cy="3429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350" dirty="0">
                  <a:solidFill>
                    <a:srgbClr val="52657A"/>
                  </a:solidFill>
                  <a:latin typeface="Arial"/>
                  <a:ea typeface="Microsoft YaHei"/>
                  <a:cs typeface="Arial"/>
                </a:rPr>
                <a:t>HITL 中断-恢复</a:t>
              </a:r>
            </a:p>
          </p:txBody>
        </p:sp>
      </p:grp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666750"/>
          </a:xfrm>
          <a:prstGeom prst="rect">
            <a:avLst/>
          </a:prstGeom>
          <a:solidFill>
            <a:srgbClr val="0E7490"/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0"/>
            <a:ext cx="57150" cy="666750"/>
          </a:xfrm>
          <a:prstGeom prst="rect">
            <a:avLst/>
          </a:prstGeom>
          <a:solidFill>
            <a:srgbClr val="CC0000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381000" y="123825"/>
            <a:ext cx="762000" cy="4000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1275" b="1" dirty="0">
                <a:solidFill>
                  <a:srgbClr val="9FD3FF"/>
                </a:solidFill>
                <a:latin typeface="Arial"/>
                <a:ea typeface="Microsoft YaHei"/>
                <a:cs typeface="Arial"/>
              </a:rPr>
              <a:t>39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257300" y="95250"/>
            <a:ext cx="8096250" cy="457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21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优化拓展：动态 Graph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0001250" y="76200"/>
            <a:ext cx="1619250" cy="5143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3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DataAgent</a:t>
            </a:r>
          </a:p>
        </p:txBody>
      </p:sp>
      <p:sp>
        <p:nvSpPr>
          <p:cNvPr id="8" name="Rectangle 8"/>
          <p:cNvSpPr/>
          <p:nvPr/>
        </p:nvSpPr>
        <p:spPr>
          <a:xfrm>
            <a:off x="0" y="666750"/>
            <a:ext cx="12192000" cy="476250"/>
          </a:xfrm>
          <a:prstGeom prst="rect">
            <a:avLst/>
          </a:prstGeom>
          <a:solidFill>
            <a:srgbClr val="E8F4FC"/>
          </a:solidFill>
          <a:ln>
            <a:noFill/>
          </a:ln>
        </p:spPr>
      </p:sp>
      <p:sp>
        <p:nvSpPr>
          <p:cNvPr id="9" name="Rectangle 9"/>
          <p:cNvSpPr/>
          <p:nvPr/>
        </p:nvSpPr>
        <p:spPr>
          <a:xfrm>
            <a:off x="0" y="666750"/>
            <a:ext cx="57150" cy="476250"/>
          </a:xfrm>
          <a:prstGeom prst="rect">
            <a:avLst/>
          </a:prstGeom>
          <a:solidFill>
            <a:srgbClr val="06B6D4"/>
          </a:solidFill>
          <a:ln>
            <a:noFill/>
          </a:ln>
        </p:spPr>
      </p:sp>
      <p:sp>
        <p:nvSpPr>
          <p:cNvPr id="10" name="TextBox 10"/>
          <p:cNvSpPr txBox="1"/>
          <p:nvPr/>
        </p:nvSpPr>
        <p:spPr>
          <a:xfrm>
            <a:off x="381000" y="714375"/>
            <a:ext cx="10001250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1350" dirty="0">
                <a:solidFill>
                  <a:srgbClr val="26384A"/>
                </a:solidFill>
                <a:latin typeface="Arial"/>
                <a:ea typeface="Microsoft YaHei"/>
                <a:cs typeface="Arial"/>
              </a:rPr>
              <a:t>三个可持续优化抓手</a:t>
            </a:r>
          </a:p>
        </p:txBody>
      </p:sp>
      <p:sp>
        <p:nvSpPr>
          <p:cNvPr id="11" name="Line 11"/>
          <p:cNvSpPr/>
          <p:nvPr/>
        </p:nvSpPr>
        <p:spPr>
          <a:xfrm>
            <a:off x="381000" y="6334125"/>
            <a:ext cx="11430000" cy="9525"/>
          </a:xfrm>
          <a:custGeom>
            <a:avLst/>
            <a:gdLst/>
            <a:ahLst/>
            <a:cxnLst/>
            <a:rect l="l" t="t" r="r" b="b"/>
            <a:pathLst>
              <a:path w="11430000" h="9525">
                <a:moveTo>
                  <a:pt x="0" y="0"/>
                </a:moveTo>
                <a:lnTo>
                  <a:pt x="11430000" y="0"/>
                </a:lnTo>
              </a:path>
            </a:pathLst>
          </a:custGeom>
          <a:noFill/>
          <a:ln w="9525">
            <a:solidFill>
              <a:srgbClr val="E8F4FC"/>
            </a:solidFill>
          </a:ln>
        </p:spPr>
      </p:sp>
      <p:sp>
        <p:nvSpPr>
          <p:cNvPr id="12" name="TextBox 12"/>
          <p:cNvSpPr txBox="1"/>
          <p:nvPr/>
        </p:nvSpPr>
        <p:spPr>
          <a:xfrm>
            <a:off x="381000" y="6477000"/>
            <a:ext cx="4953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课程第15讲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4381500" y="6477000"/>
            <a:ext cx="3429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Agent Runtime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0763250" y="6457950"/>
            <a:ext cx="857250" cy="266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050" dirty="0">
                <a:solidFill>
                  <a:srgbClr val="52657A"/>
                </a:solidFill>
                <a:latin typeface="Arial"/>
                <a:ea typeface="Microsoft YaHei"/>
                <a:cs typeface="Arial"/>
              </a:rPr>
              <a:t>39</a:t>
            </a:r>
          </a:p>
        </p:txBody>
      </p:sp>
      <p:grpSp>
        <p:nvGrpSpPr>
          <p:cNvPr id="21" name="EasySlides Component: evidence_01"/>
          <p:cNvGrpSpPr/>
          <p:nvPr/>
        </p:nvGrpSpPr>
        <p:grpSpPr>
          <a:xfrm>
            <a:off x="495300" y="3524250"/>
            <a:ext cx="11201400" cy="1285875"/>
            <a:chOff x="495300" y="3524250"/>
            <a:chExt cx="11201400" cy="1285875"/>
          </a:xfrm>
        </p:grpSpPr>
        <p:sp>
          <p:nvSpPr>
            <p:cNvPr id="15" name="Rectangle 15"/>
            <p:cNvSpPr/>
            <p:nvPr/>
          </p:nvSpPr>
          <p:spPr>
            <a:xfrm>
              <a:off x="495300" y="3524250"/>
              <a:ext cx="11201400" cy="1285875"/>
            </a:xfrm>
            <a:prstGeom prst="roundRect">
              <a:avLst>
                <a:gd name="adj" fmla="val 2963"/>
              </a:avLst>
            </a:prstGeom>
            <a:solidFill>
              <a:srgbClr val="FFFFFF"/>
            </a:solidFill>
            <a:ln w="11430">
              <a:solidFill>
                <a:srgbClr val="B8C7D6"/>
              </a:solidFill>
            </a:ln>
          </p:spPr>
        </p:sp>
        <p:sp>
          <p:nvSpPr>
            <p:cNvPr id="16" name="Rectangle 16"/>
            <p:cNvSpPr/>
            <p:nvPr/>
          </p:nvSpPr>
          <p:spPr>
            <a:xfrm>
              <a:off x="495300" y="3524250"/>
              <a:ext cx="76200" cy="1285875"/>
            </a:xfrm>
            <a:prstGeom prst="roundRect">
              <a:avLst>
                <a:gd name="adj" fmla="val 50000"/>
              </a:avLst>
            </a:prstGeom>
            <a:solidFill>
              <a:srgbClr val="06B6D4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733425" y="3971925"/>
              <a:ext cx="438150" cy="5238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650" b="1" dirty="0">
                  <a:solidFill>
                    <a:srgbClr val="06B6D4"/>
                  </a:solidFill>
                  <a:latin typeface="Arial"/>
                  <a:ea typeface="Microsoft YaHei"/>
                  <a:cs typeface="Arial"/>
                </a:rPr>
                <a:t>01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1447800" y="3752850"/>
              <a:ext cx="2667000" cy="78105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575" b="1" dirty="0">
                  <a:solidFill>
                    <a:srgbClr val="0E7490"/>
                  </a:solidFill>
                  <a:latin typeface="Arial"/>
                  <a:ea typeface="Microsoft YaHei"/>
                  <a:cs typeface="Arial"/>
                </a:rPr>
                <a:t>资产化</a:t>
              </a:r>
            </a:p>
          </p:txBody>
        </p:sp>
        <p:sp>
          <p:nvSpPr>
            <p:cNvPr id="19" name="Line 19"/>
            <p:cNvSpPr/>
            <p:nvPr/>
          </p:nvSpPr>
          <p:spPr>
            <a:xfrm>
              <a:off x="4362450" y="3752850"/>
              <a:ext cx="9525" cy="828675"/>
            </a:xfrm>
            <a:custGeom>
              <a:avLst/>
              <a:gdLst/>
              <a:ahLst/>
              <a:cxnLst/>
              <a:rect l="l" t="t" r="r" b="b"/>
              <a:pathLst>
                <a:path w="9525" h="828675">
                  <a:moveTo>
                    <a:pt x="0" y="0"/>
                  </a:moveTo>
                  <a:lnTo>
                    <a:pt x="0" y="828675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4686300" y="3752850"/>
              <a:ext cx="6572250" cy="78105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425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「动态 Graph」优化一：把人工经验固化为资产（规则/</a:t>
              </a:r>
            </a:p>
          </p:txBody>
        </p:sp>
      </p:grpSp>
      <p:grpSp>
        <p:nvGrpSpPr>
          <p:cNvPr id="28" name="EasySlides Component: evidence_02"/>
          <p:cNvGrpSpPr/>
          <p:nvPr/>
        </p:nvGrpSpPr>
        <p:grpSpPr>
          <a:xfrm>
            <a:off x="495300" y="4905375"/>
            <a:ext cx="11201400" cy="1285875"/>
            <a:chOff x="495300" y="4905375"/>
            <a:chExt cx="11201400" cy="1285875"/>
          </a:xfrm>
        </p:grpSpPr>
        <p:sp>
          <p:nvSpPr>
            <p:cNvPr id="22" name="Rectangle 22"/>
            <p:cNvSpPr/>
            <p:nvPr/>
          </p:nvSpPr>
          <p:spPr>
            <a:xfrm>
              <a:off x="495300" y="4905375"/>
              <a:ext cx="11201400" cy="1285875"/>
            </a:xfrm>
            <a:prstGeom prst="roundRect">
              <a:avLst>
                <a:gd name="adj" fmla="val 2963"/>
              </a:avLst>
            </a:prstGeom>
            <a:solidFill>
              <a:srgbClr val="FFFFFF"/>
            </a:solidFill>
            <a:ln w="11430">
              <a:solidFill>
                <a:srgbClr val="B8C7D6"/>
              </a:solidFill>
            </a:ln>
          </p:spPr>
        </p:sp>
        <p:sp>
          <p:nvSpPr>
            <p:cNvPr id="23" name="Rectangle 23"/>
            <p:cNvSpPr/>
            <p:nvPr/>
          </p:nvSpPr>
          <p:spPr>
            <a:xfrm>
              <a:off x="495300" y="4905375"/>
              <a:ext cx="76200" cy="1285875"/>
            </a:xfrm>
            <a:prstGeom prst="roundRect">
              <a:avLst>
                <a:gd name="adj" fmla="val 50000"/>
              </a:avLst>
            </a:prstGeom>
            <a:solidFill>
              <a:srgbClr val="06B6D4"/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733425" y="5353050"/>
              <a:ext cx="438150" cy="5238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650" b="1" dirty="0">
                  <a:solidFill>
                    <a:srgbClr val="06B6D4"/>
                  </a:solidFill>
                  <a:latin typeface="Arial"/>
                  <a:ea typeface="Microsoft YaHei"/>
                  <a:cs typeface="Arial"/>
                </a:rPr>
                <a:t>02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1447800" y="5133975"/>
              <a:ext cx="2667000" cy="78105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575" b="1" dirty="0">
                  <a:solidFill>
                    <a:srgbClr val="0E7490"/>
                  </a:solidFill>
                  <a:latin typeface="Arial"/>
                  <a:ea typeface="Microsoft YaHei"/>
                  <a:cs typeface="Arial"/>
                </a:rPr>
                <a:t>基线化</a:t>
              </a:r>
            </a:p>
          </p:txBody>
        </p:sp>
        <p:sp>
          <p:nvSpPr>
            <p:cNvPr id="26" name="Line 26"/>
            <p:cNvSpPr/>
            <p:nvPr/>
          </p:nvSpPr>
          <p:spPr>
            <a:xfrm>
              <a:off x="4362450" y="5133975"/>
              <a:ext cx="9525" cy="828675"/>
            </a:xfrm>
            <a:custGeom>
              <a:avLst/>
              <a:gdLst/>
              <a:ahLst/>
              <a:cxnLst/>
              <a:rect l="l" t="t" r="r" b="b"/>
              <a:pathLst>
                <a:path w="9525" h="828675">
                  <a:moveTo>
                    <a:pt x="0" y="0"/>
                  </a:moveTo>
                  <a:lnTo>
                    <a:pt x="0" y="828675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4686300" y="5133975"/>
              <a:ext cx="6572250" cy="78105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425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「动态 Graph」优化二：建立基线对照（关闭/盲选/受控三</a:t>
              </a:r>
            </a:p>
          </p:txBody>
        </p:sp>
      </p:grpSp>
      <p:grpSp>
        <p:nvGrpSpPr>
          <p:cNvPr id="34" name="EasySlides Component: metric_01"/>
          <p:cNvGrpSpPr/>
          <p:nvPr/>
        </p:nvGrpSpPr>
        <p:grpSpPr>
          <a:xfrm>
            <a:off x="495300" y="1285875"/>
            <a:ext cx="3505200" cy="1809750"/>
            <a:chOff x="495300" y="1285875"/>
            <a:chExt cx="3505200" cy="1809750"/>
          </a:xfrm>
        </p:grpSpPr>
        <p:sp>
          <p:nvSpPr>
            <p:cNvPr id="29" name="Rectangle 29"/>
            <p:cNvSpPr/>
            <p:nvPr/>
          </p:nvSpPr>
          <p:spPr>
            <a:xfrm>
              <a:off x="495300" y="1285875"/>
              <a:ext cx="3505200" cy="1809750"/>
            </a:xfrm>
            <a:prstGeom prst="roundRect">
              <a:avLst>
                <a:gd name="adj" fmla="val 2105"/>
              </a:avLst>
            </a:prstGeom>
            <a:solidFill>
              <a:srgbClr val="F0F9FC"/>
            </a:solidFill>
            <a:ln w="11430">
              <a:solidFill>
                <a:srgbClr val="B8C7D6"/>
              </a:solidFill>
            </a:ln>
          </p:spPr>
        </p:sp>
        <p:sp>
          <p:nvSpPr>
            <p:cNvPr id="30" name="Rectangle 30"/>
            <p:cNvSpPr/>
            <p:nvPr/>
          </p:nvSpPr>
          <p:spPr>
            <a:xfrm>
              <a:off x="495300" y="1285875"/>
              <a:ext cx="3505200" cy="66675"/>
            </a:xfrm>
            <a:prstGeom prst="roundRect">
              <a:avLst>
                <a:gd name="adj" fmla="val 50000"/>
              </a:avLst>
            </a:prstGeom>
            <a:solidFill>
              <a:srgbClr val="06B6D4"/>
            </a:solidFill>
            <a:ln>
              <a:noFill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762000" y="1619250"/>
              <a:ext cx="2971800" cy="7143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3150" b="1" dirty="0">
                  <a:solidFill>
                    <a:srgbClr val="0E7490"/>
                  </a:solidFill>
                  <a:latin typeface="Arial"/>
                  <a:ea typeface="Microsoft YaHei"/>
                  <a:cs typeface="Arial"/>
                </a:rPr>
                <a:t>资产化</a:t>
              </a:r>
            </a:p>
          </p:txBody>
        </p:sp>
        <p:sp>
          <p:nvSpPr>
            <p:cNvPr id="32" name="Line 32"/>
            <p:cNvSpPr/>
            <p:nvPr/>
          </p:nvSpPr>
          <p:spPr>
            <a:xfrm>
              <a:off x="990600" y="2476500"/>
              <a:ext cx="2514600" cy="9525"/>
            </a:xfrm>
            <a:custGeom>
              <a:avLst/>
              <a:gdLst/>
              <a:ahLst/>
              <a:cxnLst/>
              <a:rect l="l" t="t" r="r" b="b"/>
              <a:pathLst>
                <a:path w="2514600" h="9525">
                  <a:moveTo>
                    <a:pt x="0" y="0"/>
                  </a:moveTo>
                  <a:lnTo>
                    <a:pt x="2514600" y="0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762000" y="2562225"/>
              <a:ext cx="2971800" cy="3429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350" dirty="0">
                  <a:solidFill>
                    <a:srgbClr val="52657A"/>
                  </a:solidFill>
                  <a:latin typeface="Arial"/>
                  <a:ea typeface="Microsoft YaHei"/>
                  <a:cs typeface="Arial"/>
                </a:rPr>
                <a:t>经验固化为规则/Skill</a:t>
              </a:r>
            </a:p>
          </p:txBody>
        </p:sp>
      </p:grpSp>
      <p:grpSp>
        <p:nvGrpSpPr>
          <p:cNvPr id="40" name="EasySlides Component: metric_02"/>
          <p:cNvGrpSpPr/>
          <p:nvPr/>
        </p:nvGrpSpPr>
        <p:grpSpPr>
          <a:xfrm>
            <a:off x="4343400" y="1285875"/>
            <a:ext cx="3505200" cy="1809750"/>
            <a:chOff x="4343400" y="1285875"/>
            <a:chExt cx="3505200" cy="1809750"/>
          </a:xfrm>
        </p:grpSpPr>
        <p:sp>
          <p:nvSpPr>
            <p:cNvPr id="35" name="Rectangle 35"/>
            <p:cNvSpPr/>
            <p:nvPr/>
          </p:nvSpPr>
          <p:spPr>
            <a:xfrm>
              <a:off x="4343400" y="1285875"/>
              <a:ext cx="3505200" cy="1809750"/>
            </a:xfrm>
            <a:prstGeom prst="roundRect">
              <a:avLst>
                <a:gd name="adj" fmla="val 2105"/>
              </a:avLst>
            </a:prstGeom>
            <a:solidFill>
              <a:srgbClr val="F0F9FC"/>
            </a:solidFill>
            <a:ln w="11430">
              <a:solidFill>
                <a:srgbClr val="B8C7D6"/>
              </a:solidFill>
            </a:ln>
          </p:spPr>
        </p:sp>
        <p:sp>
          <p:nvSpPr>
            <p:cNvPr id="36" name="Rectangle 36"/>
            <p:cNvSpPr/>
            <p:nvPr/>
          </p:nvSpPr>
          <p:spPr>
            <a:xfrm>
              <a:off x="4343400" y="1285875"/>
              <a:ext cx="3505200" cy="66675"/>
            </a:xfrm>
            <a:prstGeom prst="roundRect">
              <a:avLst>
                <a:gd name="adj" fmla="val 50000"/>
              </a:avLst>
            </a:prstGeom>
            <a:solidFill>
              <a:srgbClr val="06B6D4"/>
            </a:solidFill>
            <a:ln>
              <a:noFill/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4610100" y="1619250"/>
              <a:ext cx="2971800" cy="7143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3150" b="1" dirty="0">
                  <a:solidFill>
                    <a:srgbClr val="0E7490"/>
                  </a:solidFill>
                  <a:latin typeface="Arial"/>
                  <a:ea typeface="Microsoft YaHei"/>
                  <a:cs typeface="Arial"/>
                </a:rPr>
                <a:t>基线化</a:t>
              </a:r>
            </a:p>
          </p:txBody>
        </p:sp>
        <p:sp>
          <p:nvSpPr>
            <p:cNvPr id="38" name="Line 38"/>
            <p:cNvSpPr/>
            <p:nvPr/>
          </p:nvSpPr>
          <p:spPr>
            <a:xfrm>
              <a:off x="4838700" y="2476500"/>
              <a:ext cx="2514600" cy="9525"/>
            </a:xfrm>
            <a:custGeom>
              <a:avLst/>
              <a:gdLst/>
              <a:ahLst/>
              <a:cxnLst/>
              <a:rect l="l" t="t" r="r" b="b"/>
              <a:pathLst>
                <a:path w="2514600" h="9525">
                  <a:moveTo>
                    <a:pt x="0" y="0"/>
                  </a:moveTo>
                  <a:lnTo>
                    <a:pt x="2514600" y="0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4610100" y="2562225"/>
              <a:ext cx="2971800" cy="3429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350" dirty="0">
                  <a:solidFill>
                    <a:srgbClr val="52657A"/>
                  </a:solidFill>
                  <a:latin typeface="Arial"/>
                  <a:ea typeface="Microsoft YaHei"/>
                  <a:cs typeface="Arial"/>
                </a:rPr>
                <a:t>对照实验证明增量</a:t>
              </a:r>
            </a:p>
          </p:txBody>
        </p:sp>
      </p:grpSp>
      <p:grpSp>
        <p:nvGrpSpPr>
          <p:cNvPr id="46" name="EasySlides Component: metric_03"/>
          <p:cNvGrpSpPr/>
          <p:nvPr/>
        </p:nvGrpSpPr>
        <p:grpSpPr>
          <a:xfrm>
            <a:off x="8191500" y="1285875"/>
            <a:ext cx="3505200" cy="1809750"/>
            <a:chOff x="8191500" y="1285875"/>
            <a:chExt cx="3505200" cy="1809750"/>
          </a:xfrm>
        </p:grpSpPr>
        <p:sp>
          <p:nvSpPr>
            <p:cNvPr id="41" name="Rectangle 41"/>
            <p:cNvSpPr/>
            <p:nvPr/>
          </p:nvSpPr>
          <p:spPr>
            <a:xfrm>
              <a:off x="8191500" y="1285875"/>
              <a:ext cx="3505200" cy="1809750"/>
            </a:xfrm>
            <a:prstGeom prst="roundRect">
              <a:avLst>
                <a:gd name="adj" fmla="val 2105"/>
              </a:avLst>
            </a:prstGeom>
            <a:solidFill>
              <a:srgbClr val="F0F9FC"/>
            </a:solidFill>
            <a:ln w="11430">
              <a:solidFill>
                <a:srgbClr val="B8C7D6"/>
              </a:solidFill>
            </a:ln>
          </p:spPr>
        </p:sp>
        <p:sp>
          <p:nvSpPr>
            <p:cNvPr id="42" name="Rectangle 42"/>
            <p:cNvSpPr/>
            <p:nvPr/>
          </p:nvSpPr>
          <p:spPr>
            <a:xfrm>
              <a:off x="8191500" y="1285875"/>
              <a:ext cx="3505200" cy="66675"/>
            </a:xfrm>
            <a:prstGeom prst="roundRect">
              <a:avLst>
                <a:gd name="adj" fmla="val 50000"/>
              </a:avLst>
            </a:prstGeom>
            <a:solidFill>
              <a:srgbClr val="06B6D4"/>
            </a:solidFill>
            <a:ln>
              <a:noFill/>
            </a:ln>
          </p:spPr>
        </p:sp>
        <p:sp>
          <p:nvSpPr>
            <p:cNvPr id="43" name="TextBox 43"/>
            <p:cNvSpPr txBox="1"/>
            <p:nvPr/>
          </p:nvSpPr>
          <p:spPr>
            <a:xfrm>
              <a:off x="8458200" y="1619250"/>
              <a:ext cx="2971800" cy="7143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3150" b="1" dirty="0">
                  <a:solidFill>
                    <a:srgbClr val="0E7490"/>
                  </a:solidFill>
                  <a:latin typeface="Arial"/>
                  <a:ea typeface="Microsoft YaHei"/>
                  <a:cs typeface="Arial"/>
                </a:rPr>
                <a:t>观测化</a:t>
              </a:r>
            </a:p>
          </p:txBody>
        </p:sp>
        <p:sp>
          <p:nvSpPr>
            <p:cNvPr id="44" name="Line 44"/>
            <p:cNvSpPr/>
            <p:nvPr/>
          </p:nvSpPr>
          <p:spPr>
            <a:xfrm>
              <a:off x="8686800" y="2476500"/>
              <a:ext cx="2514600" cy="9525"/>
            </a:xfrm>
            <a:custGeom>
              <a:avLst/>
              <a:gdLst/>
              <a:ahLst/>
              <a:cxnLst/>
              <a:rect l="l" t="t" r="r" b="b"/>
              <a:pathLst>
                <a:path w="2514600" h="9525">
                  <a:moveTo>
                    <a:pt x="0" y="0"/>
                  </a:moveTo>
                  <a:lnTo>
                    <a:pt x="2514600" y="0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45" name="TextBox 45"/>
            <p:cNvSpPr txBox="1"/>
            <p:nvPr/>
          </p:nvSpPr>
          <p:spPr>
            <a:xfrm>
              <a:off x="8458200" y="2562225"/>
              <a:ext cx="2971800" cy="3429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350" dirty="0">
                  <a:solidFill>
                    <a:srgbClr val="52657A"/>
                  </a:solidFill>
                  <a:latin typeface="Arial"/>
                  <a:ea typeface="Microsoft YaHei"/>
                  <a:cs typeface="Arial"/>
                </a:rPr>
                <a:t>Trace/Baseline 先行</a:t>
              </a:r>
            </a:p>
          </p:txBody>
        </p:sp>
      </p:grp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E7490"/>
          </a:solidFill>
          <a:ln>
            <a:noFill/>
          </a:ln>
        </p:spPr>
      </p:sp>
      <p:sp>
        <p:nvSpPr>
          <p:cNvPr id="3" name="Freeform 3"/>
          <p:cNvSpPr/>
          <p:nvPr/>
        </p:nvSpPr>
        <p:spPr>
          <a:xfrm>
            <a:off x="5715000" y="0"/>
            <a:ext cx="6477000" cy="6858000"/>
          </a:xfrm>
          <a:custGeom>
            <a:avLst/>
            <a:gdLst/>
            <a:ahLst/>
            <a:cxnLst/>
            <a:rect l="l" t="t" r="r" b="b"/>
            <a:pathLst>
              <a:path w="6477000" h="6858000">
                <a:moveTo>
                  <a:pt x="1905000" y="0"/>
                </a:moveTo>
                <a:lnTo>
                  <a:pt x="6477000" y="0"/>
                </a:lnTo>
                <a:lnTo>
                  <a:pt x="6477000" y="6858000"/>
                </a:lnTo>
                <a:lnTo>
                  <a:pt x="0" y="6858000"/>
                </a:lnTo>
                <a:close/>
              </a:path>
            </a:pathLst>
          </a:custGeom>
          <a:solidFill>
            <a:srgbClr val="06B6D4">
              <a:alpha val="20000"/>
            </a:srgbClr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2286000"/>
            <a:ext cx="114300" cy="2286000"/>
          </a:xfrm>
          <a:prstGeom prst="rect">
            <a:avLst/>
          </a:prstGeom>
          <a:solidFill>
            <a:srgbClr val="CC0000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476250" y="2095500"/>
            <a:ext cx="2952750" cy="31432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8750" b="1" dirty="0">
                <a:solidFill>
                  <a:srgbClr val="FFFFFF">
                    <a:alphaMod val="10000"/>
                  </a:srgbClr>
                </a:solidFill>
                <a:latin typeface="Arial"/>
                <a:ea typeface="Microsoft YaHei"/>
                <a:cs typeface="Arial"/>
              </a:rPr>
              <a:t>40</a:t>
            </a:r>
          </a:p>
        </p:txBody>
      </p:sp>
      <p:sp>
        <p:nvSpPr>
          <p:cNvPr id="6" name="Line 6"/>
          <p:cNvSpPr/>
          <p:nvPr/>
        </p:nvSpPr>
        <p:spPr>
          <a:xfrm>
            <a:off x="3619500" y="2505075"/>
            <a:ext cx="1143000" cy="9525"/>
          </a:xfrm>
          <a:custGeom>
            <a:avLst/>
            <a:gdLst/>
            <a:ahLst/>
            <a:cxnLst/>
            <a:rect l="l" t="t" r="r" b="b"/>
            <a:pathLst>
              <a:path w="1143000" h="9525">
                <a:moveTo>
                  <a:pt x="0" y="0"/>
                </a:moveTo>
                <a:lnTo>
                  <a:pt x="1143000" y="0"/>
                </a:lnTo>
              </a:path>
            </a:pathLst>
          </a:custGeom>
          <a:noFill/>
          <a:ln w="57150">
            <a:solidFill>
              <a:srgbClr val="CC0000"/>
            </a:solidFill>
          </a:ln>
        </p:spPr>
      </p:sp>
      <p:sp>
        <p:nvSpPr>
          <p:cNvPr id="7" name="TextBox 7"/>
          <p:cNvSpPr txBox="1"/>
          <p:nvPr/>
        </p:nvSpPr>
        <p:spPr>
          <a:xfrm>
            <a:off x="3619500" y="2667000"/>
            <a:ext cx="7429500" cy="8763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42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概念详解：多 Agent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3619500" y="3648075"/>
            <a:ext cx="7620000" cy="4191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1800" dirty="0">
                <a:solidFill>
                  <a:srgbClr val="E8F4FC"/>
                </a:solidFill>
                <a:latin typeface="Arial"/>
                <a:ea typeface="Microsoft YaHei"/>
                <a:cs typeface="Arial"/>
              </a:rPr>
              <a:t>把「多 Agent Graph」当工程对象看：多角色。它有明确的输入契约、失败语义与度量口径。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6762750" y="6286500"/>
            <a:ext cx="4095750" cy="2857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r"/>
            <a:r>
              <a:rPr lang="zh-CN" sz="1200" dirty="0">
                <a:solidFill>
                  <a:srgbClr val="FFFFFF">
                    <a:alphaMod val="55000"/>
                  </a:srgbClr>
                </a:solidFill>
                <a:latin typeface="Arial"/>
                <a:ea typeface="Microsoft YaHei"/>
                <a:cs typeface="Arial"/>
              </a:rPr>
              <a:t>Agent Runtime 的混合架构选型与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666750"/>
          </a:xfrm>
          <a:prstGeom prst="rect">
            <a:avLst/>
          </a:prstGeom>
          <a:solidFill>
            <a:srgbClr val="0E7490"/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0"/>
            <a:ext cx="57150" cy="666750"/>
          </a:xfrm>
          <a:prstGeom prst="rect">
            <a:avLst/>
          </a:prstGeom>
          <a:solidFill>
            <a:srgbClr val="CC0000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381000" y="123825"/>
            <a:ext cx="762000" cy="4000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1275" b="1" dirty="0">
                <a:solidFill>
                  <a:srgbClr val="9FD3FF"/>
                </a:solidFill>
                <a:latin typeface="Arial"/>
                <a:ea typeface="Microsoft YaHei"/>
                <a:cs typeface="Arial"/>
              </a:rPr>
              <a:t>41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257300" y="95250"/>
            <a:ext cx="8096250" cy="457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21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定义与内涵：多 Agent Graph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0001250" y="76200"/>
            <a:ext cx="1619250" cy="5143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3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DataAgent</a:t>
            </a:r>
          </a:p>
        </p:txBody>
      </p:sp>
      <p:sp>
        <p:nvSpPr>
          <p:cNvPr id="8" name="Rectangle 8"/>
          <p:cNvSpPr/>
          <p:nvPr/>
        </p:nvSpPr>
        <p:spPr>
          <a:xfrm>
            <a:off x="0" y="666750"/>
            <a:ext cx="12192000" cy="476250"/>
          </a:xfrm>
          <a:prstGeom prst="rect">
            <a:avLst/>
          </a:prstGeom>
          <a:solidFill>
            <a:srgbClr val="E8F4FC"/>
          </a:solidFill>
          <a:ln>
            <a:noFill/>
          </a:ln>
        </p:spPr>
      </p:sp>
      <p:sp>
        <p:nvSpPr>
          <p:cNvPr id="9" name="Rectangle 9"/>
          <p:cNvSpPr/>
          <p:nvPr/>
        </p:nvSpPr>
        <p:spPr>
          <a:xfrm>
            <a:off x="0" y="666750"/>
            <a:ext cx="57150" cy="476250"/>
          </a:xfrm>
          <a:prstGeom prst="rect">
            <a:avLst/>
          </a:prstGeom>
          <a:solidFill>
            <a:srgbClr val="06B6D4"/>
          </a:solidFill>
          <a:ln>
            <a:noFill/>
          </a:ln>
        </p:spPr>
      </p:sp>
      <p:sp>
        <p:nvSpPr>
          <p:cNvPr id="10" name="TextBox 10"/>
          <p:cNvSpPr txBox="1"/>
          <p:nvPr/>
        </p:nvSpPr>
        <p:spPr>
          <a:xfrm>
            <a:off x="381000" y="714375"/>
            <a:ext cx="10001250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1350" dirty="0">
                <a:solidFill>
                  <a:srgbClr val="26384A"/>
                </a:solidFill>
                <a:latin typeface="Arial"/>
                <a:ea typeface="Microsoft YaHei"/>
                <a:cs typeface="Arial"/>
              </a:rPr>
              <a:t>把多 Agent Graph讲透：是什么、不</a:t>
            </a:r>
          </a:p>
        </p:txBody>
      </p:sp>
      <p:sp>
        <p:nvSpPr>
          <p:cNvPr id="11" name="Line 11"/>
          <p:cNvSpPr/>
          <p:nvPr/>
        </p:nvSpPr>
        <p:spPr>
          <a:xfrm>
            <a:off x="381000" y="6334125"/>
            <a:ext cx="11430000" cy="9525"/>
          </a:xfrm>
          <a:custGeom>
            <a:avLst/>
            <a:gdLst/>
            <a:ahLst/>
            <a:cxnLst/>
            <a:rect l="l" t="t" r="r" b="b"/>
            <a:pathLst>
              <a:path w="11430000" h="9525">
                <a:moveTo>
                  <a:pt x="0" y="0"/>
                </a:moveTo>
                <a:lnTo>
                  <a:pt x="11430000" y="0"/>
                </a:lnTo>
              </a:path>
            </a:pathLst>
          </a:custGeom>
          <a:noFill/>
          <a:ln w="9525">
            <a:solidFill>
              <a:srgbClr val="E8F4FC"/>
            </a:solidFill>
          </a:ln>
        </p:spPr>
      </p:sp>
      <p:sp>
        <p:nvSpPr>
          <p:cNvPr id="12" name="TextBox 12"/>
          <p:cNvSpPr txBox="1"/>
          <p:nvPr/>
        </p:nvSpPr>
        <p:spPr>
          <a:xfrm>
            <a:off x="381000" y="6477000"/>
            <a:ext cx="4953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课程第15讲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4381500" y="6477000"/>
            <a:ext cx="3429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Agent Runtime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0763250" y="6457950"/>
            <a:ext cx="857250" cy="266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050" dirty="0">
                <a:solidFill>
                  <a:srgbClr val="52657A"/>
                </a:solidFill>
                <a:latin typeface="Arial"/>
                <a:ea typeface="Microsoft YaHei"/>
                <a:cs typeface="Arial"/>
              </a:rPr>
              <a:t>41</a:t>
            </a:r>
          </a:p>
        </p:txBody>
      </p:sp>
      <p:grpSp>
        <p:nvGrpSpPr>
          <p:cNvPr id="21" name="EasySlides Component: evidence_01"/>
          <p:cNvGrpSpPr/>
          <p:nvPr/>
        </p:nvGrpSpPr>
        <p:grpSpPr>
          <a:xfrm>
            <a:off x="495300" y="2095500"/>
            <a:ext cx="11201400" cy="1285875"/>
            <a:chOff x="495300" y="2095500"/>
            <a:chExt cx="11201400" cy="1285875"/>
          </a:xfrm>
        </p:grpSpPr>
        <p:sp>
          <p:nvSpPr>
            <p:cNvPr id="15" name="Rectangle 15"/>
            <p:cNvSpPr/>
            <p:nvPr/>
          </p:nvSpPr>
          <p:spPr>
            <a:xfrm>
              <a:off x="495300" y="2095500"/>
              <a:ext cx="11201400" cy="1285875"/>
            </a:xfrm>
            <a:prstGeom prst="roundRect">
              <a:avLst>
                <a:gd name="adj" fmla="val 2963"/>
              </a:avLst>
            </a:prstGeom>
            <a:solidFill>
              <a:srgbClr val="FFFFFF"/>
            </a:solidFill>
            <a:ln w="11430">
              <a:solidFill>
                <a:srgbClr val="B8C7D6"/>
              </a:solidFill>
            </a:ln>
          </p:spPr>
        </p:sp>
        <p:sp>
          <p:nvSpPr>
            <p:cNvPr id="16" name="Rectangle 16"/>
            <p:cNvSpPr/>
            <p:nvPr/>
          </p:nvSpPr>
          <p:spPr>
            <a:xfrm>
              <a:off x="495300" y="2095500"/>
              <a:ext cx="76200" cy="1285875"/>
            </a:xfrm>
            <a:prstGeom prst="roundRect">
              <a:avLst>
                <a:gd name="adj" fmla="val 50000"/>
              </a:avLst>
            </a:prstGeom>
            <a:solidFill>
              <a:srgbClr val="06B6D4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733425" y="2543175"/>
              <a:ext cx="438150" cy="5238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650" b="1" dirty="0">
                  <a:solidFill>
                    <a:srgbClr val="06B6D4"/>
                  </a:solidFill>
                  <a:latin typeface="Arial"/>
                  <a:ea typeface="Microsoft YaHei"/>
                  <a:cs typeface="Arial"/>
                </a:rPr>
                <a:t>01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1447800" y="2324100"/>
              <a:ext cx="2667000" cy="78105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575" b="1" dirty="0">
                  <a:solidFill>
                    <a:srgbClr val="0E7490"/>
                  </a:solidFill>
                  <a:latin typeface="Arial"/>
                  <a:ea typeface="Microsoft YaHei"/>
                  <a:cs typeface="Arial"/>
                </a:rPr>
                <a:t>定义</a:t>
              </a:r>
            </a:p>
          </p:txBody>
        </p:sp>
        <p:sp>
          <p:nvSpPr>
            <p:cNvPr id="19" name="Line 19"/>
            <p:cNvSpPr/>
            <p:nvPr/>
          </p:nvSpPr>
          <p:spPr>
            <a:xfrm>
              <a:off x="4362450" y="2324100"/>
              <a:ext cx="9525" cy="828675"/>
            </a:xfrm>
            <a:custGeom>
              <a:avLst/>
              <a:gdLst/>
              <a:ahLst/>
              <a:cxnLst/>
              <a:rect l="l" t="t" r="r" b="b"/>
              <a:pathLst>
                <a:path w="9525" h="828675">
                  <a:moveTo>
                    <a:pt x="0" y="0"/>
                  </a:moveTo>
                  <a:lnTo>
                    <a:pt x="0" y="828675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4686300" y="2324100"/>
              <a:ext cx="6572250" cy="78105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425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把「多 Agent Graph」当工程对象看：多角色。它有明确的输入契约、失败语</a:t>
              </a:r>
            </a:p>
          </p:txBody>
        </p:sp>
      </p:grpSp>
      <p:grpSp>
        <p:nvGrpSpPr>
          <p:cNvPr id="28" name="EasySlides Component: evidence_02"/>
          <p:cNvGrpSpPr/>
          <p:nvPr/>
        </p:nvGrpSpPr>
        <p:grpSpPr>
          <a:xfrm>
            <a:off x="495300" y="3571875"/>
            <a:ext cx="11201400" cy="1285875"/>
            <a:chOff x="495300" y="3571875"/>
            <a:chExt cx="11201400" cy="1285875"/>
          </a:xfrm>
        </p:grpSpPr>
        <p:sp>
          <p:nvSpPr>
            <p:cNvPr id="22" name="Rectangle 22"/>
            <p:cNvSpPr/>
            <p:nvPr/>
          </p:nvSpPr>
          <p:spPr>
            <a:xfrm>
              <a:off x="495300" y="3571875"/>
              <a:ext cx="11201400" cy="1285875"/>
            </a:xfrm>
            <a:prstGeom prst="roundRect">
              <a:avLst>
                <a:gd name="adj" fmla="val 2963"/>
              </a:avLst>
            </a:prstGeom>
            <a:solidFill>
              <a:srgbClr val="FFFFFF"/>
            </a:solidFill>
            <a:ln w="11430">
              <a:solidFill>
                <a:srgbClr val="B8C7D6"/>
              </a:solidFill>
            </a:ln>
          </p:spPr>
        </p:sp>
        <p:sp>
          <p:nvSpPr>
            <p:cNvPr id="23" name="Rectangle 23"/>
            <p:cNvSpPr/>
            <p:nvPr/>
          </p:nvSpPr>
          <p:spPr>
            <a:xfrm>
              <a:off x="495300" y="3571875"/>
              <a:ext cx="76200" cy="1285875"/>
            </a:xfrm>
            <a:prstGeom prst="roundRect">
              <a:avLst>
                <a:gd name="adj" fmla="val 50000"/>
              </a:avLst>
            </a:prstGeom>
            <a:solidFill>
              <a:srgbClr val="06B6D4"/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733425" y="4019550"/>
              <a:ext cx="438150" cy="5238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650" b="1" dirty="0">
                  <a:solidFill>
                    <a:srgbClr val="06B6D4"/>
                  </a:solidFill>
                  <a:latin typeface="Arial"/>
                  <a:ea typeface="Microsoft YaHei"/>
                  <a:cs typeface="Arial"/>
                </a:rPr>
                <a:t>02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1447800" y="3800475"/>
              <a:ext cx="2667000" cy="78105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575" b="1" dirty="0">
                  <a:solidFill>
                    <a:srgbClr val="0E7490"/>
                  </a:solidFill>
                  <a:latin typeface="Arial"/>
                  <a:ea typeface="Microsoft YaHei"/>
                  <a:cs typeface="Arial"/>
                </a:rPr>
                <a:t>何时选</a:t>
              </a:r>
            </a:p>
          </p:txBody>
        </p:sp>
        <p:sp>
          <p:nvSpPr>
            <p:cNvPr id="26" name="Line 26"/>
            <p:cNvSpPr/>
            <p:nvPr/>
          </p:nvSpPr>
          <p:spPr>
            <a:xfrm>
              <a:off x="4362450" y="3800475"/>
              <a:ext cx="9525" cy="828675"/>
            </a:xfrm>
            <a:custGeom>
              <a:avLst/>
              <a:gdLst/>
              <a:ahLst/>
              <a:cxnLst/>
              <a:rect l="l" t="t" r="r" b="b"/>
              <a:pathLst>
                <a:path w="9525" h="828675">
                  <a:moveTo>
                    <a:pt x="0" y="0"/>
                  </a:moveTo>
                  <a:lnTo>
                    <a:pt x="0" y="828675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4686300" y="3800475"/>
              <a:ext cx="6572250" cy="78105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425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何时选维度：多角色</a:t>
              </a:r>
            </a:p>
          </p:txBody>
        </p:sp>
      </p:grpSp>
      <p:grpSp>
        <p:nvGrpSpPr>
          <p:cNvPr id="35" name="EasySlides Component: evidence_03"/>
          <p:cNvGrpSpPr/>
          <p:nvPr/>
        </p:nvGrpSpPr>
        <p:grpSpPr>
          <a:xfrm>
            <a:off x="495300" y="4905375"/>
            <a:ext cx="11201400" cy="1285875"/>
            <a:chOff x="495300" y="4905375"/>
            <a:chExt cx="11201400" cy="1285875"/>
          </a:xfrm>
        </p:grpSpPr>
        <p:sp>
          <p:nvSpPr>
            <p:cNvPr id="29" name="Rectangle 29"/>
            <p:cNvSpPr/>
            <p:nvPr/>
          </p:nvSpPr>
          <p:spPr>
            <a:xfrm>
              <a:off x="495300" y="4905375"/>
              <a:ext cx="11201400" cy="1285875"/>
            </a:xfrm>
            <a:prstGeom prst="roundRect">
              <a:avLst>
                <a:gd name="adj" fmla="val 2963"/>
              </a:avLst>
            </a:prstGeom>
            <a:solidFill>
              <a:srgbClr val="FFFFFF"/>
            </a:solidFill>
            <a:ln w="11430">
              <a:solidFill>
                <a:srgbClr val="B8C7D6"/>
              </a:solidFill>
            </a:ln>
          </p:spPr>
        </p:sp>
        <p:sp>
          <p:nvSpPr>
            <p:cNvPr id="30" name="Rectangle 30"/>
            <p:cNvSpPr/>
            <p:nvPr/>
          </p:nvSpPr>
          <p:spPr>
            <a:xfrm>
              <a:off x="495300" y="4905375"/>
              <a:ext cx="76200" cy="1285875"/>
            </a:xfrm>
            <a:prstGeom prst="roundRect">
              <a:avLst>
                <a:gd name="adj" fmla="val 50000"/>
              </a:avLst>
            </a:prstGeom>
            <a:solidFill>
              <a:srgbClr val="06B6D4"/>
            </a:solidFill>
            <a:ln>
              <a:noFill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733425" y="5353050"/>
              <a:ext cx="438150" cy="5238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650" b="1" dirty="0">
                  <a:solidFill>
                    <a:srgbClr val="06B6D4"/>
                  </a:solidFill>
                  <a:latin typeface="Arial"/>
                  <a:ea typeface="Microsoft YaHei"/>
                  <a:cs typeface="Arial"/>
                </a:rPr>
                <a:t>03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1447800" y="5133975"/>
              <a:ext cx="2667000" cy="78105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575" b="1" dirty="0">
                  <a:solidFill>
                    <a:srgbClr val="0E7490"/>
                  </a:solidFill>
                  <a:latin typeface="Arial"/>
                  <a:ea typeface="Microsoft YaHei"/>
                  <a:cs typeface="Arial"/>
                </a:rPr>
                <a:t>要点</a:t>
              </a:r>
            </a:p>
          </p:txBody>
        </p:sp>
        <p:sp>
          <p:nvSpPr>
            <p:cNvPr id="33" name="Line 33"/>
            <p:cNvSpPr/>
            <p:nvPr/>
          </p:nvSpPr>
          <p:spPr>
            <a:xfrm>
              <a:off x="4362450" y="5133975"/>
              <a:ext cx="9525" cy="828675"/>
            </a:xfrm>
            <a:custGeom>
              <a:avLst/>
              <a:gdLst/>
              <a:ahLst/>
              <a:cxnLst/>
              <a:rect l="l" t="t" r="r" b="b"/>
              <a:pathLst>
                <a:path w="9525" h="828675">
                  <a:moveTo>
                    <a:pt x="0" y="0"/>
                  </a:moveTo>
                  <a:lnTo>
                    <a:pt x="0" y="828675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4686300" y="5133975"/>
              <a:ext cx="6572250" cy="78105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425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要点维度：多角色</a:t>
              </a:r>
            </a:p>
          </p:txBody>
        </p:sp>
      </p:grpSp>
      <p:grpSp>
        <p:nvGrpSpPr>
          <p:cNvPr id="39" name="EasySlides Component: synthesis"/>
          <p:cNvGrpSpPr/>
          <p:nvPr/>
        </p:nvGrpSpPr>
        <p:grpSpPr>
          <a:xfrm>
            <a:off x="495300" y="1285875"/>
            <a:ext cx="11201400" cy="714375"/>
            <a:chOff x="495300" y="1285875"/>
            <a:chExt cx="11201400" cy="714375"/>
          </a:xfrm>
        </p:grpSpPr>
        <p:sp>
          <p:nvSpPr>
            <p:cNvPr id="36" name="Rectangle 36"/>
            <p:cNvSpPr/>
            <p:nvPr/>
          </p:nvSpPr>
          <p:spPr>
            <a:xfrm>
              <a:off x="495300" y="1285875"/>
              <a:ext cx="11201400" cy="714375"/>
            </a:xfrm>
            <a:prstGeom prst="roundRect">
              <a:avLst>
                <a:gd name="adj" fmla="val 5333"/>
              </a:avLst>
            </a:prstGeom>
            <a:solidFill>
              <a:srgbClr val="0E7490"/>
            </a:solidFill>
            <a:ln>
              <a:noFill/>
            </a:ln>
          </p:spPr>
        </p:sp>
        <p:sp>
          <p:nvSpPr>
            <p:cNvPr id="37" name="Rectangle 37"/>
            <p:cNvSpPr/>
            <p:nvPr/>
          </p:nvSpPr>
          <p:spPr>
            <a:xfrm>
              <a:off x="495300" y="1285875"/>
              <a:ext cx="76200" cy="714375"/>
            </a:xfrm>
            <a:prstGeom prst="roundRect">
              <a:avLst>
                <a:gd name="adj" fmla="val 50000"/>
              </a:avLst>
            </a:prstGeom>
            <a:solidFill>
              <a:srgbClr val="CC0000"/>
            </a:solidFill>
            <a:ln>
              <a:noFill/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876300" y="1419225"/>
              <a:ext cx="10439400" cy="4476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65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自主与流程的混合编排：Harness 负责探索，Workflow 负责收口。</a:t>
              </a:r>
            </a:p>
          </p:txBody>
        </p:sp>
      </p:grp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666750"/>
          </a:xfrm>
          <a:prstGeom prst="rect">
            <a:avLst/>
          </a:prstGeom>
          <a:solidFill>
            <a:srgbClr val="0E7490"/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0"/>
            <a:ext cx="57150" cy="666750"/>
          </a:xfrm>
          <a:prstGeom prst="rect">
            <a:avLst/>
          </a:prstGeom>
          <a:solidFill>
            <a:srgbClr val="CC0000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381000" y="123825"/>
            <a:ext cx="762000" cy="4000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1275" b="1" dirty="0">
                <a:solidFill>
                  <a:srgbClr val="9FD3FF"/>
                </a:solidFill>
                <a:latin typeface="Arial"/>
                <a:ea typeface="Microsoft YaHei"/>
                <a:cs typeface="Arial"/>
              </a:rPr>
              <a:t>42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257300" y="95250"/>
            <a:ext cx="8096250" cy="457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21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机制图解：多 Agent Graph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0001250" y="76200"/>
            <a:ext cx="1619250" cy="5143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3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DataAgent</a:t>
            </a:r>
          </a:p>
        </p:txBody>
      </p:sp>
      <p:sp>
        <p:nvSpPr>
          <p:cNvPr id="8" name="Rectangle 8"/>
          <p:cNvSpPr/>
          <p:nvPr/>
        </p:nvSpPr>
        <p:spPr>
          <a:xfrm>
            <a:off x="0" y="666750"/>
            <a:ext cx="12192000" cy="476250"/>
          </a:xfrm>
          <a:prstGeom prst="rect">
            <a:avLst/>
          </a:prstGeom>
          <a:solidFill>
            <a:srgbClr val="E8F4FC"/>
          </a:solidFill>
          <a:ln>
            <a:noFill/>
          </a:ln>
        </p:spPr>
      </p:sp>
      <p:sp>
        <p:nvSpPr>
          <p:cNvPr id="9" name="Rectangle 9"/>
          <p:cNvSpPr/>
          <p:nvPr/>
        </p:nvSpPr>
        <p:spPr>
          <a:xfrm>
            <a:off x="0" y="666750"/>
            <a:ext cx="57150" cy="476250"/>
          </a:xfrm>
          <a:prstGeom prst="rect">
            <a:avLst/>
          </a:prstGeom>
          <a:solidFill>
            <a:srgbClr val="06B6D4"/>
          </a:solidFill>
          <a:ln>
            <a:noFill/>
          </a:ln>
        </p:spPr>
      </p:sp>
      <p:sp>
        <p:nvSpPr>
          <p:cNvPr id="10" name="TextBox 10"/>
          <p:cNvSpPr txBox="1"/>
          <p:nvPr/>
        </p:nvSpPr>
        <p:spPr>
          <a:xfrm>
            <a:off x="381000" y="714375"/>
            <a:ext cx="10001250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1350" dirty="0">
                <a:solidFill>
                  <a:srgbClr val="26384A"/>
                </a:solidFill>
                <a:latin typeface="Arial"/>
                <a:ea typeface="Microsoft YaHei"/>
                <a:cs typeface="Arial"/>
              </a:rPr>
              <a:t>一图看懂运行机制与数据流</a:t>
            </a:r>
          </a:p>
        </p:txBody>
      </p:sp>
      <p:sp>
        <p:nvSpPr>
          <p:cNvPr id="11" name="Line 11"/>
          <p:cNvSpPr/>
          <p:nvPr/>
        </p:nvSpPr>
        <p:spPr>
          <a:xfrm>
            <a:off x="381000" y="6334125"/>
            <a:ext cx="11430000" cy="9525"/>
          </a:xfrm>
          <a:custGeom>
            <a:avLst/>
            <a:gdLst/>
            <a:ahLst/>
            <a:cxnLst/>
            <a:rect l="l" t="t" r="r" b="b"/>
            <a:pathLst>
              <a:path w="11430000" h="9525">
                <a:moveTo>
                  <a:pt x="0" y="0"/>
                </a:moveTo>
                <a:lnTo>
                  <a:pt x="11430000" y="0"/>
                </a:lnTo>
              </a:path>
            </a:pathLst>
          </a:custGeom>
          <a:noFill/>
          <a:ln w="9525">
            <a:solidFill>
              <a:srgbClr val="E8F4FC"/>
            </a:solidFill>
          </a:ln>
        </p:spPr>
      </p:sp>
      <p:sp>
        <p:nvSpPr>
          <p:cNvPr id="12" name="TextBox 12"/>
          <p:cNvSpPr txBox="1"/>
          <p:nvPr/>
        </p:nvSpPr>
        <p:spPr>
          <a:xfrm>
            <a:off x="381000" y="6477000"/>
            <a:ext cx="4953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课程第15讲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4381500" y="6477000"/>
            <a:ext cx="3429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Agent Runtime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0763250" y="6457950"/>
            <a:ext cx="857250" cy="266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050" dirty="0">
                <a:solidFill>
                  <a:srgbClr val="52657A"/>
                </a:solidFill>
                <a:latin typeface="Arial"/>
                <a:ea typeface="Microsoft YaHei"/>
                <a:cs typeface="Arial"/>
              </a:rPr>
              <a:t>42</a:t>
            </a:r>
          </a:p>
        </p:txBody>
      </p:sp>
      <p:grpSp>
        <p:nvGrpSpPr>
          <p:cNvPr id="26" name="EasySlides Component: evidence"/>
          <p:cNvGrpSpPr/>
          <p:nvPr/>
        </p:nvGrpSpPr>
        <p:grpSpPr>
          <a:xfrm>
            <a:off x="7124700" y="1285875"/>
            <a:ext cx="4572000" cy="4905375"/>
            <a:chOff x="7124700" y="1285875"/>
            <a:chExt cx="4572000" cy="4905375"/>
          </a:xfrm>
        </p:grpSpPr>
        <p:sp>
          <p:nvSpPr>
            <p:cNvPr id="15" name="Rectangle 15"/>
            <p:cNvSpPr/>
            <p:nvPr/>
          </p:nvSpPr>
          <p:spPr>
            <a:xfrm>
              <a:off x="7124700" y="1285875"/>
              <a:ext cx="4572000" cy="4905375"/>
            </a:xfrm>
            <a:prstGeom prst="roundRect">
              <a:avLst>
                <a:gd name="adj" fmla="val 833"/>
              </a:avLst>
            </a:prstGeom>
            <a:solidFill>
              <a:srgbClr val="F0F9FC"/>
            </a:solidFill>
            <a:ln w="11430">
              <a:solidFill>
                <a:srgbClr val="B8C7D6"/>
              </a:solidFill>
            </a:ln>
          </p:spPr>
        </p:sp>
        <p:sp>
          <p:nvSpPr>
            <p:cNvPr id="16" name="Rectangle 16"/>
            <p:cNvSpPr/>
            <p:nvPr/>
          </p:nvSpPr>
          <p:spPr>
            <a:xfrm>
              <a:off x="7124700" y="1285875"/>
              <a:ext cx="76200" cy="4905375"/>
            </a:xfrm>
            <a:prstGeom prst="rect">
              <a:avLst/>
            </a:prstGeom>
            <a:solidFill>
              <a:srgbClr val="06B6D4"/>
            </a:solidFill>
            <a:ln>
              <a:noFill/>
            </a:ln>
          </p:spPr>
        </p:sp>
        <p:sp>
          <p:nvSpPr>
            <p:cNvPr id="17" name="Rectangle 17"/>
            <p:cNvSpPr/>
            <p:nvPr/>
          </p:nvSpPr>
          <p:spPr>
            <a:xfrm>
              <a:off x="7391400" y="1552575"/>
              <a:ext cx="4038600" cy="1257300"/>
            </a:xfrm>
            <a:prstGeom prst="roundRect">
              <a:avLst>
                <a:gd name="adj" fmla="val 1515"/>
              </a:avLst>
            </a:prstGeom>
            <a:solidFill>
              <a:srgbClr val="FFFFFF"/>
            </a:solidFill>
            <a:ln w="9525">
              <a:solidFill>
                <a:srgbClr val="D4E2EE"/>
              </a:solidFill>
            </a:ln>
          </p:spPr>
        </p:sp>
        <p:sp>
          <p:nvSpPr>
            <p:cNvPr id="18" name="Rectangle 18"/>
            <p:cNvSpPr/>
            <p:nvPr/>
          </p:nvSpPr>
          <p:spPr>
            <a:xfrm>
              <a:off x="7391400" y="3105150"/>
              <a:ext cx="4038600" cy="1257300"/>
            </a:xfrm>
            <a:prstGeom prst="roundRect">
              <a:avLst>
                <a:gd name="adj" fmla="val 1515"/>
              </a:avLst>
            </a:prstGeom>
            <a:solidFill>
              <a:srgbClr val="FFFFFF"/>
            </a:solidFill>
            <a:ln w="9525">
              <a:solidFill>
                <a:srgbClr val="D4E2EE"/>
              </a:solidFill>
            </a:ln>
          </p:spPr>
        </p:sp>
        <p:sp>
          <p:nvSpPr>
            <p:cNvPr id="19" name="Rectangle 19"/>
            <p:cNvSpPr/>
            <p:nvPr/>
          </p:nvSpPr>
          <p:spPr>
            <a:xfrm>
              <a:off x="7391400" y="4657725"/>
              <a:ext cx="4038600" cy="1257300"/>
            </a:xfrm>
            <a:prstGeom prst="roundRect">
              <a:avLst>
                <a:gd name="adj" fmla="val 1515"/>
              </a:avLst>
            </a:prstGeom>
            <a:solidFill>
              <a:srgbClr val="FFFFFF"/>
            </a:solidFill>
            <a:ln w="9525">
              <a:solidFill>
                <a:srgbClr val="D4E2EE"/>
              </a:solidFill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7605712" y="1745456"/>
              <a:ext cx="220156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06B6D4"/>
                  </a:solidFill>
                  <a:latin typeface="Arial"/>
                  <a:ea typeface="Microsoft YaHei"/>
                  <a:cs typeface="Arial"/>
                </a:rPr>
                <a:t>01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7605712" y="3298031"/>
              <a:ext cx="220156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06B6D4"/>
                  </a:solidFill>
                  <a:latin typeface="Arial"/>
                  <a:ea typeface="Microsoft YaHei"/>
                  <a:cs typeface="Arial"/>
                </a:rPr>
                <a:t>02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7605712" y="4850606"/>
              <a:ext cx="220156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CC0000"/>
                  </a:solidFill>
                  <a:latin typeface="Arial"/>
                  <a:ea typeface="Microsoft YaHei"/>
                  <a:cs typeface="Arial"/>
                </a:rPr>
                <a:t>03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7848600" y="1819275"/>
              <a:ext cx="3314700" cy="7239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425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「多 Agent Graph」之所以可靠，是因为它把不确定性关进笼子：预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7848600" y="3371850"/>
              <a:ext cx="3314700" cy="7239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425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关键环节：契约→执行→验证→留痕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7848600" y="4924425"/>
              <a:ext cx="3314700" cy="7239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425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落点：仓库验证</a:t>
              </a:r>
            </a:p>
          </p:txBody>
        </p:sp>
      </p:grpSp>
      <p:grpSp>
        <p:nvGrpSpPr>
          <p:cNvPr id="32" name="EasySlides Component: figure"/>
          <p:cNvGrpSpPr/>
          <p:nvPr/>
        </p:nvGrpSpPr>
        <p:grpSpPr>
          <a:xfrm>
            <a:off x="495300" y="1285875"/>
            <a:ext cx="6400800" cy="4905375"/>
            <a:chOff x="495300" y="1285875"/>
            <a:chExt cx="6400800" cy="4905375"/>
          </a:xfrm>
        </p:grpSpPr>
        <p:sp>
          <p:nvSpPr>
            <p:cNvPr id="27" name="Rectangle 27"/>
            <p:cNvSpPr/>
            <p:nvPr/>
          </p:nvSpPr>
          <p:spPr>
            <a:xfrm>
              <a:off x="495300" y="1285875"/>
              <a:ext cx="6400800" cy="4905375"/>
            </a:xfrm>
            <a:prstGeom prst="roundRect">
              <a:avLst>
                <a:gd name="adj" fmla="val 777"/>
              </a:avLst>
            </a:prstGeom>
            <a:solidFill>
              <a:srgbClr val="FFFFFF"/>
            </a:solidFill>
            <a:ln w="11430">
              <a:solidFill>
                <a:srgbClr val="B8C7D6"/>
              </a:solidFill>
            </a:ln>
          </p:spPr>
        </p:sp>
        <p:sp>
          <p:nvSpPr>
            <p:cNvPr id="28" name="Rectangle 28"/>
            <p:cNvSpPr/>
            <p:nvPr/>
          </p:nvSpPr>
          <p:spPr>
            <a:xfrm>
              <a:off x="647700" y="1438275"/>
              <a:ext cx="6096000" cy="3905250"/>
            </a:xfrm>
            <a:prstGeom prst="roundRect">
              <a:avLst>
                <a:gd name="adj" fmla="val 488"/>
              </a:avLst>
            </a:prstGeom>
            <a:solidFill>
              <a:srgbClr val="F0F9FC"/>
            </a:solidFill>
            <a:ln w="9525">
              <a:solidFill>
                <a:srgbClr val="D4E2EE"/>
              </a:solidFill>
            </a:ln>
          </p:spPr>
        </p:sp>
        <p:pic>
          <p:nvPicPr>
            <p:cNvPr id="29" name="Image 29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647700" y="1605643"/>
              <a:ext cx="6096000" cy="3570514"/>
            </a:xfrm>
            <a:prstGeom prst="rect">
              <a:avLst/>
            </a:prstGeom>
          </p:spPr>
        </p:pic>
        <p:sp>
          <p:nvSpPr>
            <p:cNvPr id="30" name="Line 30"/>
            <p:cNvSpPr/>
            <p:nvPr/>
          </p:nvSpPr>
          <p:spPr>
            <a:xfrm>
              <a:off x="723900" y="5534025"/>
              <a:ext cx="5943600" cy="9525"/>
            </a:xfrm>
            <a:custGeom>
              <a:avLst/>
              <a:gdLst/>
              <a:ahLst/>
              <a:cxnLst/>
              <a:rect l="l" t="t" r="r" b="b"/>
              <a:pathLst>
                <a:path w="5943600" h="9525">
                  <a:moveTo>
                    <a:pt x="0" y="0"/>
                  </a:moveTo>
                  <a:lnTo>
                    <a:pt x="5943600" y="0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800100" y="5610225"/>
              <a:ext cx="5791200" cy="4572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350" dirty="0">
                  <a:solidFill>
                    <a:srgbClr val="52657A"/>
                  </a:solidFill>
                  <a:latin typeface="Arial"/>
                  <a:ea typeface="Microsoft YaHei"/>
                  <a:cs typeface="Arial"/>
                </a:rPr>
                <a:t>图：多 Agent Graph 的机制与数据流（hub 视角）</a:t>
              </a:r>
            </a:p>
          </p:txBody>
        </p:sp>
      </p:grp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666750"/>
          </a:xfrm>
          <a:prstGeom prst="rect">
            <a:avLst/>
          </a:prstGeom>
          <a:solidFill>
            <a:srgbClr val="0E7490"/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0"/>
            <a:ext cx="57150" cy="666750"/>
          </a:xfrm>
          <a:prstGeom prst="rect">
            <a:avLst/>
          </a:prstGeom>
          <a:solidFill>
            <a:srgbClr val="CC0000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381000" y="123825"/>
            <a:ext cx="762000" cy="4000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1275" b="1" dirty="0">
                <a:solidFill>
                  <a:srgbClr val="9FD3FF"/>
                </a:solidFill>
                <a:latin typeface="Arial"/>
                <a:ea typeface="Microsoft YaHei"/>
                <a:cs typeface="Arial"/>
              </a:rPr>
              <a:t>43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257300" y="95250"/>
            <a:ext cx="8096250" cy="457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21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深入原理：多 Agent Graph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0001250" y="76200"/>
            <a:ext cx="1619250" cy="5143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3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DataAgent</a:t>
            </a:r>
          </a:p>
        </p:txBody>
      </p:sp>
      <p:sp>
        <p:nvSpPr>
          <p:cNvPr id="8" name="Rectangle 8"/>
          <p:cNvSpPr/>
          <p:nvPr/>
        </p:nvSpPr>
        <p:spPr>
          <a:xfrm>
            <a:off x="0" y="666750"/>
            <a:ext cx="12192000" cy="476250"/>
          </a:xfrm>
          <a:prstGeom prst="rect">
            <a:avLst/>
          </a:prstGeom>
          <a:solidFill>
            <a:srgbClr val="E8F4FC"/>
          </a:solidFill>
          <a:ln>
            <a:noFill/>
          </a:ln>
        </p:spPr>
      </p:sp>
      <p:sp>
        <p:nvSpPr>
          <p:cNvPr id="9" name="Rectangle 9"/>
          <p:cNvSpPr/>
          <p:nvPr/>
        </p:nvSpPr>
        <p:spPr>
          <a:xfrm>
            <a:off x="0" y="666750"/>
            <a:ext cx="57150" cy="476250"/>
          </a:xfrm>
          <a:prstGeom prst="rect">
            <a:avLst/>
          </a:prstGeom>
          <a:solidFill>
            <a:srgbClr val="06B6D4"/>
          </a:solidFill>
          <a:ln>
            <a:noFill/>
          </a:ln>
        </p:spPr>
      </p:sp>
      <p:sp>
        <p:nvSpPr>
          <p:cNvPr id="10" name="TextBox 10"/>
          <p:cNvSpPr txBox="1"/>
          <p:nvPr/>
        </p:nvSpPr>
        <p:spPr>
          <a:xfrm>
            <a:off x="381000" y="714375"/>
            <a:ext cx="10001250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1350" dirty="0">
                <a:solidFill>
                  <a:srgbClr val="26384A"/>
                </a:solidFill>
                <a:latin typeface="Arial"/>
                <a:ea typeface="Microsoft YaHei"/>
                <a:cs typeface="Arial"/>
              </a:rPr>
              <a:t>正确姿势 vs 常见误用</a:t>
            </a:r>
          </a:p>
        </p:txBody>
      </p:sp>
      <p:sp>
        <p:nvSpPr>
          <p:cNvPr id="11" name="Line 11"/>
          <p:cNvSpPr/>
          <p:nvPr/>
        </p:nvSpPr>
        <p:spPr>
          <a:xfrm>
            <a:off x="381000" y="6334125"/>
            <a:ext cx="11430000" cy="9525"/>
          </a:xfrm>
          <a:custGeom>
            <a:avLst/>
            <a:gdLst/>
            <a:ahLst/>
            <a:cxnLst/>
            <a:rect l="l" t="t" r="r" b="b"/>
            <a:pathLst>
              <a:path w="11430000" h="9525">
                <a:moveTo>
                  <a:pt x="0" y="0"/>
                </a:moveTo>
                <a:lnTo>
                  <a:pt x="11430000" y="0"/>
                </a:lnTo>
              </a:path>
            </a:pathLst>
          </a:custGeom>
          <a:noFill/>
          <a:ln w="9525">
            <a:solidFill>
              <a:srgbClr val="E8F4FC"/>
            </a:solidFill>
          </a:ln>
        </p:spPr>
      </p:sp>
      <p:sp>
        <p:nvSpPr>
          <p:cNvPr id="12" name="TextBox 12"/>
          <p:cNvSpPr txBox="1"/>
          <p:nvPr/>
        </p:nvSpPr>
        <p:spPr>
          <a:xfrm>
            <a:off x="381000" y="6477000"/>
            <a:ext cx="4953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课程第15讲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4381500" y="6477000"/>
            <a:ext cx="3429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Agent Runtime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0763250" y="6457950"/>
            <a:ext cx="857250" cy="266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050" dirty="0">
                <a:solidFill>
                  <a:srgbClr val="52657A"/>
                </a:solidFill>
                <a:latin typeface="Arial"/>
                <a:ea typeface="Microsoft YaHei"/>
                <a:cs typeface="Arial"/>
              </a:rPr>
              <a:t>43</a:t>
            </a:r>
          </a:p>
        </p:txBody>
      </p:sp>
      <p:grpSp>
        <p:nvGrpSpPr>
          <p:cNvPr id="22" name="EasySlides Component: left"/>
          <p:cNvGrpSpPr/>
          <p:nvPr/>
        </p:nvGrpSpPr>
        <p:grpSpPr>
          <a:xfrm>
            <a:off x="495300" y="1285875"/>
            <a:ext cx="5410200" cy="4000500"/>
            <a:chOff x="495300" y="1285875"/>
            <a:chExt cx="5410200" cy="4000500"/>
          </a:xfrm>
        </p:grpSpPr>
        <p:sp>
          <p:nvSpPr>
            <p:cNvPr id="15" name="Rectangle 15"/>
            <p:cNvSpPr/>
            <p:nvPr/>
          </p:nvSpPr>
          <p:spPr>
            <a:xfrm>
              <a:off x="495300" y="1285875"/>
              <a:ext cx="5410200" cy="4000500"/>
            </a:xfrm>
            <a:prstGeom prst="roundRect">
              <a:avLst>
                <a:gd name="adj" fmla="val 952"/>
              </a:avLst>
            </a:prstGeom>
            <a:solidFill>
              <a:srgbClr val="FFFFFF"/>
            </a:solidFill>
            <a:ln w="11430">
              <a:solidFill>
                <a:srgbClr val="B8C7D6"/>
              </a:solidFill>
            </a:ln>
          </p:spPr>
        </p:sp>
        <p:sp>
          <p:nvSpPr>
            <p:cNvPr id="16" name="Rectangle 16"/>
            <p:cNvSpPr/>
            <p:nvPr/>
          </p:nvSpPr>
          <p:spPr>
            <a:xfrm>
              <a:off x="495300" y="1285875"/>
              <a:ext cx="5410200" cy="609600"/>
            </a:xfrm>
            <a:prstGeom prst="roundRect">
              <a:avLst>
                <a:gd name="adj" fmla="val 6250"/>
              </a:avLst>
            </a:prstGeom>
            <a:solidFill>
              <a:srgbClr val="E8F4FC"/>
            </a:solidFill>
            <a:ln>
              <a:noFill/>
            </a:ln>
          </p:spPr>
        </p:sp>
        <p:sp>
          <p:nvSpPr>
            <p:cNvPr id="17" name="Rectangle 17"/>
            <p:cNvSpPr/>
            <p:nvPr/>
          </p:nvSpPr>
          <p:spPr>
            <a:xfrm>
              <a:off x="495300" y="1285875"/>
              <a:ext cx="57150" cy="609600"/>
            </a:xfrm>
            <a:prstGeom prst="rect">
              <a:avLst/>
            </a:prstGeom>
            <a:solidFill>
              <a:srgbClr val="06B6D4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800100" y="1419225"/>
              <a:ext cx="4800600" cy="3429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725" b="1" dirty="0">
                  <a:solidFill>
                    <a:srgbClr val="0E7490"/>
                  </a:solidFill>
                  <a:latin typeface="Arial"/>
                  <a:ea typeface="Microsoft YaHei"/>
                  <a:cs typeface="Arial"/>
                </a:rPr>
                <a:t>正确姿势</a:t>
              </a:r>
            </a:p>
          </p:txBody>
        </p:sp>
        <p:sp>
          <p:nvSpPr>
            <p:cNvPr id="19" name="Line 19"/>
            <p:cNvSpPr/>
            <p:nvPr/>
          </p:nvSpPr>
          <p:spPr>
            <a:xfrm>
              <a:off x="800100" y="2276475"/>
              <a:ext cx="4800600" cy="9525"/>
            </a:xfrm>
            <a:custGeom>
              <a:avLst/>
              <a:gdLst/>
              <a:ahLst/>
              <a:cxnLst/>
              <a:rect l="l" t="t" r="r" b="b"/>
              <a:pathLst>
                <a:path w="4800600" h="9525">
                  <a:moveTo>
                    <a:pt x="0" y="0"/>
                  </a:moveTo>
                  <a:lnTo>
                    <a:pt x="4800600" y="0"/>
                  </a:lnTo>
                </a:path>
              </a:pathLst>
            </a:custGeom>
            <a:noFill/>
            <a:ln w="19050">
              <a:solidFill>
                <a:srgbClr val="D4E2EE"/>
              </a:solidFill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1028700" y="2505075"/>
              <a:ext cx="4343400" cy="20955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650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正确姿势：先定义「多 Agent Graph」的契约与不变量，再谈实现；所有旁路都必须被</a:t>
              </a:r>
            </a:p>
            <a:p>
              <a:pPr algn="l"/>
              <a:r>
                <a:rPr lang="zh-CN" sz="1650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契约先行，证据留痕</a:t>
              </a:r>
            </a:p>
          </p:txBody>
        </p:sp>
        <p:sp>
          <p:nvSpPr>
            <p:cNvPr id="21" name="Line 21"/>
            <p:cNvSpPr/>
            <p:nvPr/>
          </p:nvSpPr>
          <p:spPr>
            <a:xfrm>
              <a:off x="800100" y="4905375"/>
              <a:ext cx="4800600" cy="9525"/>
            </a:xfrm>
            <a:custGeom>
              <a:avLst/>
              <a:gdLst/>
              <a:ahLst/>
              <a:cxnLst/>
              <a:rect l="l" t="t" r="r" b="b"/>
              <a:pathLst>
                <a:path w="4800600" h="9525">
                  <a:moveTo>
                    <a:pt x="0" y="0"/>
                  </a:moveTo>
                  <a:lnTo>
                    <a:pt x="4800600" y="0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</p:grpSp>
      <p:grpSp>
        <p:nvGrpSpPr>
          <p:cNvPr id="30" name="EasySlides Component: right"/>
          <p:cNvGrpSpPr/>
          <p:nvPr/>
        </p:nvGrpSpPr>
        <p:grpSpPr>
          <a:xfrm>
            <a:off x="6286500" y="1285875"/>
            <a:ext cx="5410200" cy="4000500"/>
            <a:chOff x="6286500" y="1285875"/>
            <a:chExt cx="5410200" cy="4000500"/>
          </a:xfrm>
        </p:grpSpPr>
        <p:sp>
          <p:nvSpPr>
            <p:cNvPr id="23" name="Rectangle 23"/>
            <p:cNvSpPr/>
            <p:nvPr/>
          </p:nvSpPr>
          <p:spPr>
            <a:xfrm>
              <a:off x="6286500" y="1285875"/>
              <a:ext cx="5410200" cy="4000500"/>
            </a:xfrm>
            <a:prstGeom prst="roundRect">
              <a:avLst>
                <a:gd name="adj" fmla="val 952"/>
              </a:avLst>
            </a:prstGeom>
            <a:solidFill>
              <a:srgbClr val="FFFFFF"/>
            </a:solidFill>
            <a:ln w="11430">
              <a:solidFill>
                <a:srgbClr val="B8C7D6"/>
              </a:solidFill>
            </a:ln>
          </p:spPr>
        </p:sp>
        <p:sp>
          <p:nvSpPr>
            <p:cNvPr id="24" name="Rectangle 24"/>
            <p:cNvSpPr/>
            <p:nvPr/>
          </p:nvSpPr>
          <p:spPr>
            <a:xfrm>
              <a:off x="6286500" y="1285875"/>
              <a:ext cx="5410200" cy="609600"/>
            </a:xfrm>
            <a:prstGeom prst="roundRect">
              <a:avLst>
                <a:gd name="adj" fmla="val 6250"/>
              </a:avLst>
            </a:prstGeom>
            <a:solidFill>
              <a:srgbClr val="E8F4FC"/>
            </a:solidFill>
            <a:ln>
              <a:noFill/>
            </a:ln>
          </p:spPr>
        </p:sp>
        <p:sp>
          <p:nvSpPr>
            <p:cNvPr id="25" name="Rectangle 25"/>
            <p:cNvSpPr/>
            <p:nvPr/>
          </p:nvSpPr>
          <p:spPr>
            <a:xfrm>
              <a:off x="6286500" y="1285875"/>
              <a:ext cx="57150" cy="609600"/>
            </a:xfrm>
            <a:prstGeom prst="rect">
              <a:avLst/>
            </a:prstGeom>
            <a:solidFill>
              <a:srgbClr val="06B6D4"/>
            </a:solidFill>
            <a:ln>
              <a:noFill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6591300" y="1419225"/>
              <a:ext cx="4800600" cy="3429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725" b="1" dirty="0">
                  <a:solidFill>
                    <a:srgbClr val="0E7490"/>
                  </a:solidFill>
                  <a:latin typeface="Arial"/>
                  <a:ea typeface="Microsoft YaHei"/>
                  <a:cs typeface="Arial"/>
                </a:rPr>
                <a:t>常见误用</a:t>
              </a:r>
            </a:p>
          </p:txBody>
        </p:sp>
        <p:sp>
          <p:nvSpPr>
            <p:cNvPr id="27" name="Line 27"/>
            <p:cNvSpPr/>
            <p:nvPr/>
          </p:nvSpPr>
          <p:spPr>
            <a:xfrm>
              <a:off x="6591300" y="2276475"/>
              <a:ext cx="4800600" cy="9525"/>
            </a:xfrm>
            <a:custGeom>
              <a:avLst/>
              <a:gdLst/>
              <a:ahLst/>
              <a:cxnLst/>
              <a:rect l="l" t="t" r="r" b="b"/>
              <a:pathLst>
                <a:path w="4800600" h="9525">
                  <a:moveTo>
                    <a:pt x="0" y="0"/>
                  </a:moveTo>
                  <a:lnTo>
                    <a:pt x="4800600" y="0"/>
                  </a:lnTo>
                </a:path>
              </a:pathLst>
            </a:custGeom>
            <a:noFill/>
            <a:ln w="19050">
              <a:solidFill>
                <a:srgbClr val="D4E2EE"/>
              </a:solidFill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6819900" y="2505075"/>
              <a:ext cx="4343400" cy="20955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650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常见误用：把「多 Agent Graph」当成一次性胶水代码，没有版本、没有度量、没有回</a:t>
              </a:r>
            </a:p>
            <a:p>
              <a:pPr algn="l"/>
              <a:r>
                <a:rPr lang="zh-CN" sz="1650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无版本/无度量/无回滚</a:t>
              </a:r>
            </a:p>
          </p:txBody>
        </p:sp>
        <p:sp>
          <p:nvSpPr>
            <p:cNvPr id="29" name="Line 29"/>
            <p:cNvSpPr/>
            <p:nvPr/>
          </p:nvSpPr>
          <p:spPr>
            <a:xfrm>
              <a:off x="6591300" y="4905375"/>
              <a:ext cx="4800600" cy="9525"/>
            </a:xfrm>
            <a:custGeom>
              <a:avLst/>
              <a:gdLst/>
              <a:ahLst/>
              <a:cxnLst/>
              <a:rect l="l" t="t" r="r" b="b"/>
              <a:pathLst>
                <a:path w="4800600" h="9525">
                  <a:moveTo>
                    <a:pt x="0" y="0"/>
                  </a:moveTo>
                  <a:lnTo>
                    <a:pt x="4800600" y="0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</p:grpSp>
      <p:grpSp>
        <p:nvGrpSpPr>
          <p:cNvPr id="34" name="EasySlides Component: synthesis"/>
          <p:cNvGrpSpPr/>
          <p:nvPr/>
        </p:nvGrpSpPr>
        <p:grpSpPr>
          <a:xfrm>
            <a:off x="495300" y="5476875"/>
            <a:ext cx="11201400" cy="714375"/>
            <a:chOff x="495300" y="5476875"/>
            <a:chExt cx="11201400" cy="714375"/>
          </a:xfrm>
        </p:grpSpPr>
        <p:sp>
          <p:nvSpPr>
            <p:cNvPr id="31" name="Rectangle 31"/>
            <p:cNvSpPr/>
            <p:nvPr/>
          </p:nvSpPr>
          <p:spPr>
            <a:xfrm>
              <a:off x="495300" y="5476875"/>
              <a:ext cx="11201400" cy="714375"/>
            </a:xfrm>
            <a:prstGeom prst="roundRect">
              <a:avLst>
                <a:gd name="adj" fmla="val 5333"/>
              </a:avLst>
            </a:prstGeom>
            <a:solidFill>
              <a:srgbClr val="0E7490"/>
            </a:solidFill>
            <a:ln>
              <a:noFill/>
            </a:ln>
          </p:spPr>
        </p:sp>
        <p:sp>
          <p:nvSpPr>
            <p:cNvPr id="32" name="Rectangle 32"/>
            <p:cNvSpPr/>
            <p:nvPr/>
          </p:nvSpPr>
          <p:spPr>
            <a:xfrm>
              <a:off x="495300" y="5476875"/>
              <a:ext cx="76200" cy="714375"/>
            </a:xfrm>
            <a:prstGeom prst="roundRect">
              <a:avLst>
                <a:gd name="adj" fmla="val 50000"/>
              </a:avLst>
            </a:prstGeom>
            <a:solidFill>
              <a:srgbClr val="CC0000"/>
            </a:solidFill>
            <a:ln>
              <a:noFill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876300" y="5610225"/>
              <a:ext cx="10439400" cy="4476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65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治理视角：控制权矩阵与自主性预算划定行动边界。</a:t>
              </a:r>
            </a:p>
          </p:txBody>
        </p:sp>
      </p:grp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666750"/>
          </a:xfrm>
          <a:prstGeom prst="rect">
            <a:avLst/>
          </a:prstGeom>
          <a:solidFill>
            <a:srgbClr val="0E7490"/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0"/>
            <a:ext cx="57150" cy="666750"/>
          </a:xfrm>
          <a:prstGeom prst="rect">
            <a:avLst/>
          </a:prstGeom>
          <a:solidFill>
            <a:srgbClr val="CC0000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381000" y="123825"/>
            <a:ext cx="762000" cy="4000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1275" b="1" dirty="0">
                <a:solidFill>
                  <a:srgbClr val="9FD3FF"/>
                </a:solidFill>
                <a:latin typeface="Arial"/>
                <a:ea typeface="Microsoft YaHei"/>
                <a:cs typeface="Arial"/>
              </a:rPr>
              <a:t>44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257300" y="95250"/>
            <a:ext cx="8096250" cy="457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21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代码契约：多 Agent Graph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0001250" y="76200"/>
            <a:ext cx="1619250" cy="5143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3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DataAgent</a:t>
            </a:r>
          </a:p>
        </p:txBody>
      </p:sp>
      <p:sp>
        <p:nvSpPr>
          <p:cNvPr id="8" name="Rectangle 8"/>
          <p:cNvSpPr/>
          <p:nvPr/>
        </p:nvSpPr>
        <p:spPr>
          <a:xfrm>
            <a:off x="0" y="666750"/>
            <a:ext cx="12192000" cy="476250"/>
          </a:xfrm>
          <a:prstGeom prst="rect">
            <a:avLst/>
          </a:prstGeom>
          <a:solidFill>
            <a:srgbClr val="E8F4FC"/>
          </a:solidFill>
          <a:ln>
            <a:noFill/>
          </a:ln>
        </p:spPr>
      </p:sp>
      <p:sp>
        <p:nvSpPr>
          <p:cNvPr id="9" name="Rectangle 9"/>
          <p:cNvSpPr/>
          <p:nvPr/>
        </p:nvSpPr>
        <p:spPr>
          <a:xfrm>
            <a:off x="0" y="666750"/>
            <a:ext cx="57150" cy="476250"/>
          </a:xfrm>
          <a:prstGeom prst="rect">
            <a:avLst/>
          </a:prstGeom>
          <a:solidFill>
            <a:srgbClr val="06B6D4"/>
          </a:solidFill>
          <a:ln>
            <a:noFill/>
          </a:ln>
        </p:spPr>
      </p:sp>
      <p:sp>
        <p:nvSpPr>
          <p:cNvPr id="10" name="TextBox 10"/>
          <p:cNvSpPr txBox="1"/>
          <p:nvPr/>
        </p:nvSpPr>
        <p:spPr>
          <a:xfrm>
            <a:off x="381000" y="714375"/>
            <a:ext cx="10001250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1350" dirty="0">
                <a:solidFill>
                  <a:srgbClr val="26384A"/>
                </a:solidFill>
                <a:latin typeface="Arial"/>
                <a:ea typeface="Microsoft YaHei"/>
                <a:cs typeface="Arial"/>
              </a:rPr>
              <a:t>仓库真实代码 · 契约切面</a:t>
            </a:r>
          </a:p>
        </p:txBody>
      </p:sp>
      <p:sp>
        <p:nvSpPr>
          <p:cNvPr id="11" name="Line 11"/>
          <p:cNvSpPr/>
          <p:nvPr/>
        </p:nvSpPr>
        <p:spPr>
          <a:xfrm>
            <a:off x="381000" y="6334125"/>
            <a:ext cx="11430000" cy="9525"/>
          </a:xfrm>
          <a:custGeom>
            <a:avLst/>
            <a:gdLst/>
            <a:ahLst/>
            <a:cxnLst/>
            <a:rect l="l" t="t" r="r" b="b"/>
            <a:pathLst>
              <a:path w="11430000" h="9525">
                <a:moveTo>
                  <a:pt x="0" y="0"/>
                </a:moveTo>
                <a:lnTo>
                  <a:pt x="11430000" y="0"/>
                </a:lnTo>
              </a:path>
            </a:pathLst>
          </a:custGeom>
          <a:noFill/>
          <a:ln w="9525">
            <a:solidFill>
              <a:srgbClr val="E8F4FC"/>
            </a:solidFill>
          </a:ln>
        </p:spPr>
      </p:sp>
      <p:sp>
        <p:nvSpPr>
          <p:cNvPr id="12" name="TextBox 12"/>
          <p:cNvSpPr txBox="1"/>
          <p:nvPr/>
        </p:nvSpPr>
        <p:spPr>
          <a:xfrm>
            <a:off x="381000" y="6477000"/>
            <a:ext cx="4953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课程第15讲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4381500" y="6477000"/>
            <a:ext cx="3429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Agent Runtime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0763250" y="6457950"/>
            <a:ext cx="857250" cy="266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050" dirty="0">
                <a:solidFill>
                  <a:srgbClr val="52657A"/>
                </a:solidFill>
                <a:latin typeface="Arial"/>
                <a:ea typeface="Microsoft YaHei"/>
                <a:cs typeface="Arial"/>
              </a:rPr>
              <a:t>44</a:t>
            </a:r>
          </a:p>
        </p:txBody>
      </p:sp>
      <p:grpSp>
        <p:nvGrpSpPr>
          <p:cNvPr id="26" name="EasySlides Component: evidence"/>
          <p:cNvGrpSpPr/>
          <p:nvPr/>
        </p:nvGrpSpPr>
        <p:grpSpPr>
          <a:xfrm>
            <a:off x="7124700" y="1285875"/>
            <a:ext cx="4572000" cy="4905375"/>
            <a:chOff x="7124700" y="1285875"/>
            <a:chExt cx="4572000" cy="4905375"/>
          </a:xfrm>
        </p:grpSpPr>
        <p:sp>
          <p:nvSpPr>
            <p:cNvPr id="15" name="Rectangle 15"/>
            <p:cNvSpPr/>
            <p:nvPr/>
          </p:nvSpPr>
          <p:spPr>
            <a:xfrm>
              <a:off x="7124700" y="1285875"/>
              <a:ext cx="4572000" cy="4905375"/>
            </a:xfrm>
            <a:prstGeom prst="roundRect">
              <a:avLst>
                <a:gd name="adj" fmla="val 833"/>
              </a:avLst>
            </a:prstGeom>
            <a:solidFill>
              <a:srgbClr val="F0F9FC"/>
            </a:solidFill>
            <a:ln w="11430">
              <a:solidFill>
                <a:srgbClr val="B8C7D6"/>
              </a:solidFill>
            </a:ln>
          </p:spPr>
        </p:sp>
        <p:sp>
          <p:nvSpPr>
            <p:cNvPr id="16" name="Rectangle 16"/>
            <p:cNvSpPr/>
            <p:nvPr/>
          </p:nvSpPr>
          <p:spPr>
            <a:xfrm>
              <a:off x="7124700" y="1285875"/>
              <a:ext cx="76200" cy="4905375"/>
            </a:xfrm>
            <a:prstGeom prst="rect">
              <a:avLst/>
            </a:prstGeom>
            <a:solidFill>
              <a:srgbClr val="06B6D4"/>
            </a:solidFill>
            <a:ln>
              <a:noFill/>
            </a:ln>
          </p:spPr>
        </p:sp>
        <p:sp>
          <p:nvSpPr>
            <p:cNvPr id="17" name="Rectangle 17"/>
            <p:cNvSpPr/>
            <p:nvPr/>
          </p:nvSpPr>
          <p:spPr>
            <a:xfrm>
              <a:off x="7391400" y="1552575"/>
              <a:ext cx="4038600" cy="1257300"/>
            </a:xfrm>
            <a:prstGeom prst="roundRect">
              <a:avLst>
                <a:gd name="adj" fmla="val 1515"/>
              </a:avLst>
            </a:prstGeom>
            <a:solidFill>
              <a:srgbClr val="FFFFFF"/>
            </a:solidFill>
            <a:ln w="9525">
              <a:solidFill>
                <a:srgbClr val="D4E2EE"/>
              </a:solidFill>
            </a:ln>
          </p:spPr>
        </p:sp>
        <p:sp>
          <p:nvSpPr>
            <p:cNvPr id="18" name="Rectangle 18"/>
            <p:cNvSpPr/>
            <p:nvPr/>
          </p:nvSpPr>
          <p:spPr>
            <a:xfrm>
              <a:off x="7391400" y="3105150"/>
              <a:ext cx="4038600" cy="1257300"/>
            </a:xfrm>
            <a:prstGeom prst="roundRect">
              <a:avLst>
                <a:gd name="adj" fmla="val 1515"/>
              </a:avLst>
            </a:prstGeom>
            <a:solidFill>
              <a:srgbClr val="FFFFFF"/>
            </a:solidFill>
            <a:ln w="9525">
              <a:solidFill>
                <a:srgbClr val="D4E2EE"/>
              </a:solidFill>
            </a:ln>
          </p:spPr>
        </p:sp>
        <p:sp>
          <p:nvSpPr>
            <p:cNvPr id="19" name="Rectangle 19"/>
            <p:cNvSpPr/>
            <p:nvPr/>
          </p:nvSpPr>
          <p:spPr>
            <a:xfrm>
              <a:off x="7391400" y="4657725"/>
              <a:ext cx="4038600" cy="1257300"/>
            </a:xfrm>
            <a:prstGeom prst="roundRect">
              <a:avLst>
                <a:gd name="adj" fmla="val 1515"/>
              </a:avLst>
            </a:prstGeom>
            <a:solidFill>
              <a:srgbClr val="FFFFFF"/>
            </a:solidFill>
            <a:ln w="9525">
              <a:solidFill>
                <a:srgbClr val="D4E2EE"/>
              </a:solidFill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7605712" y="1745456"/>
              <a:ext cx="220156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06B6D4"/>
                  </a:solidFill>
                  <a:latin typeface="Arial"/>
                  <a:ea typeface="Microsoft YaHei"/>
                  <a:cs typeface="Arial"/>
                </a:rPr>
                <a:t>01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7605712" y="3298031"/>
              <a:ext cx="220156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06B6D4"/>
                  </a:solidFill>
                  <a:latin typeface="Arial"/>
                  <a:ea typeface="Microsoft YaHei"/>
                  <a:cs typeface="Arial"/>
                </a:rPr>
                <a:t>02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7605712" y="4850606"/>
              <a:ext cx="220156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CC0000"/>
                  </a:solidFill>
                  <a:latin typeface="Arial"/>
                  <a:ea typeface="Microsoft YaHei"/>
                  <a:cs typeface="Arial"/>
                </a:rPr>
                <a:t>03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7848600" y="1819275"/>
              <a:ext cx="3314700" cy="7239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425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文件：workflow.py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7848600" y="3371850"/>
              <a:ext cx="3314700" cy="7239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425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切面：契约——先读接口再读实现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7848600" y="4924425"/>
              <a:ext cx="3314700" cy="7239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425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测试见 tests/ 目录</a:t>
              </a:r>
            </a:p>
          </p:txBody>
        </p:sp>
      </p:grpSp>
      <p:grpSp>
        <p:nvGrpSpPr>
          <p:cNvPr id="32" name="EasySlides Component: figure"/>
          <p:cNvGrpSpPr/>
          <p:nvPr/>
        </p:nvGrpSpPr>
        <p:grpSpPr>
          <a:xfrm>
            <a:off x="495300" y="1285875"/>
            <a:ext cx="6400800" cy="4905375"/>
            <a:chOff x="495300" y="1285875"/>
            <a:chExt cx="6400800" cy="4905375"/>
          </a:xfrm>
        </p:grpSpPr>
        <p:sp>
          <p:nvSpPr>
            <p:cNvPr id="27" name="Rectangle 27"/>
            <p:cNvSpPr/>
            <p:nvPr/>
          </p:nvSpPr>
          <p:spPr>
            <a:xfrm>
              <a:off x="495300" y="1285875"/>
              <a:ext cx="6400800" cy="4905375"/>
            </a:xfrm>
            <a:prstGeom prst="roundRect">
              <a:avLst>
                <a:gd name="adj" fmla="val 777"/>
              </a:avLst>
            </a:prstGeom>
            <a:solidFill>
              <a:srgbClr val="FFFFFF"/>
            </a:solidFill>
            <a:ln w="11430">
              <a:solidFill>
                <a:srgbClr val="B8C7D6"/>
              </a:solidFill>
            </a:ln>
          </p:spPr>
        </p:sp>
        <p:sp>
          <p:nvSpPr>
            <p:cNvPr id="28" name="Rectangle 28"/>
            <p:cNvSpPr/>
            <p:nvPr/>
          </p:nvSpPr>
          <p:spPr>
            <a:xfrm>
              <a:off x="647700" y="1438275"/>
              <a:ext cx="6096000" cy="3905250"/>
            </a:xfrm>
            <a:prstGeom prst="roundRect">
              <a:avLst>
                <a:gd name="adj" fmla="val 488"/>
              </a:avLst>
            </a:prstGeom>
            <a:solidFill>
              <a:srgbClr val="F0F9FC"/>
            </a:solidFill>
            <a:ln w="9525">
              <a:solidFill>
                <a:srgbClr val="D4E2EE"/>
              </a:solidFill>
            </a:ln>
          </p:spPr>
        </p:sp>
        <p:pic>
          <p:nvPicPr>
            <p:cNvPr id="29" name="Image 29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647700" y="1605643"/>
              <a:ext cx="6096000" cy="3570514"/>
            </a:xfrm>
            <a:prstGeom prst="rect">
              <a:avLst/>
            </a:prstGeom>
          </p:spPr>
        </p:pic>
        <p:sp>
          <p:nvSpPr>
            <p:cNvPr id="30" name="Line 30"/>
            <p:cNvSpPr/>
            <p:nvPr/>
          </p:nvSpPr>
          <p:spPr>
            <a:xfrm>
              <a:off x="723900" y="5534025"/>
              <a:ext cx="5943600" cy="9525"/>
            </a:xfrm>
            <a:custGeom>
              <a:avLst/>
              <a:gdLst/>
              <a:ahLst/>
              <a:cxnLst/>
              <a:rect l="l" t="t" r="r" b="b"/>
              <a:pathLst>
                <a:path w="5943600" h="9525">
                  <a:moveTo>
                    <a:pt x="0" y="0"/>
                  </a:moveTo>
                  <a:lnTo>
                    <a:pt x="5943600" y="0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800100" y="5610225"/>
              <a:ext cx="5791200" cy="4572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350" dirty="0">
                  <a:solidFill>
                    <a:srgbClr val="52657A"/>
                  </a:solidFill>
                  <a:latin typeface="Arial"/>
                  <a:ea typeface="Microsoft YaHei"/>
                  <a:cs typeface="Arial"/>
                </a:rPr>
                <a:t>代码：workflow.py · 契约（概念4 多 Agent Graph）</a:t>
              </a:r>
            </a:p>
          </p:txBody>
        </p:sp>
      </p:grp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666750"/>
          </a:xfrm>
          <a:prstGeom prst="rect">
            <a:avLst/>
          </a:prstGeom>
          <a:solidFill>
            <a:srgbClr val="0E7490"/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0"/>
            <a:ext cx="57150" cy="666750"/>
          </a:xfrm>
          <a:prstGeom prst="rect">
            <a:avLst/>
          </a:prstGeom>
          <a:solidFill>
            <a:srgbClr val="CC0000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381000" y="123825"/>
            <a:ext cx="762000" cy="4000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1275" b="1" dirty="0">
                <a:solidFill>
                  <a:srgbClr val="9FD3FF"/>
                </a:solidFill>
                <a:latin typeface="Arial"/>
                <a:ea typeface="Microsoft YaHei"/>
                <a:cs typeface="Arial"/>
              </a:rPr>
              <a:t>45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257300" y="95250"/>
            <a:ext cx="8096250" cy="457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21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代码实现：多 Agent Graph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0001250" y="76200"/>
            <a:ext cx="1619250" cy="5143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3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DataAgent</a:t>
            </a:r>
          </a:p>
        </p:txBody>
      </p:sp>
      <p:sp>
        <p:nvSpPr>
          <p:cNvPr id="8" name="Rectangle 8"/>
          <p:cNvSpPr/>
          <p:nvPr/>
        </p:nvSpPr>
        <p:spPr>
          <a:xfrm>
            <a:off x="0" y="666750"/>
            <a:ext cx="12192000" cy="476250"/>
          </a:xfrm>
          <a:prstGeom prst="rect">
            <a:avLst/>
          </a:prstGeom>
          <a:solidFill>
            <a:srgbClr val="E8F4FC"/>
          </a:solidFill>
          <a:ln>
            <a:noFill/>
          </a:ln>
        </p:spPr>
      </p:sp>
      <p:sp>
        <p:nvSpPr>
          <p:cNvPr id="9" name="Rectangle 9"/>
          <p:cNvSpPr/>
          <p:nvPr/>
        </p:nvSpPr>
        <p:spPr>
          <a:xfrm>
            <a:off x="0" y="666750"/>
            <a:ext cx="57150" cy="476250"/>
          </a:xfrm>
          <a:prstGeom prst="rect">
            <a:avLst/>
          </a:prstGeom>
          <a:solidFill>
            <a:srgbClr val="06B6D4"/>
          </a:solidFill>
          <a:ln>
            <a:noFill/>
          </a:ln>
        </p:spPr>
      </p:sp>
      <p:sp>
        <p:nvSpPr>
          <p:cNvPr id="10" name="TextBox 10"/>
          <p:cNvSpPr txBox="1"/>
          <p:nvPr/>
        </p:nvSpPr>
        <p:spPr>
          <a:xfrm>
            <a:off x="381000" y="714375"/>
            <a:ext cx="10001250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1350" dirty="0">
                <a:solidFill>
                  <a:srgbClr val="26384A"/>
                </a:solidFill>
                <a:latin typeface="Arial"/>
                <a:ea typeface="Microsoft YaHei"/>
                <a:cs typeface="Arial"/>
              </a:rPr>
              <a:t>仓库真实代码 · 实现切面</a:t>
            </a:r>
          </a:p>
        </p:txBody>
      </p:sp>
      <p:sp>
        <p:nvSpPr>
          <p:cNvPr id="11" name="Line 11"/>
          <p:cNvSpPr/>
          <p:nvPr/>
        </p:nvSpPr>
        <p:spPr>
          <a:xfrm>
            <a:off x="381000" y="6334125"/>
            <a:ext cx="11430000" cy="9525"/>
          </a:xfrm>
          <a:custGeom>
            <a:avLst/>
            <a:gdLst/>
            <a:ahLst/>
            <a:cxnLst/>
            <a:rect l="l" t="t" r="r" b="b"/>
            <a:pathLst>
              <a:path w="11430000" h="9525">
                <a:moveTo>
                  <a:pt x="0" y="0"/>
                </a:moveTo>
                <a:lnTo>
                  <a:pt x="11430000" y="0"/>
                </a:lnTo>
              </a:path>
            </a:pathLst>
          </a:custGeom>
          <a:noFill/>
          <a:ln w="9525">
            <a:solidFill>
              <a:srgbClr val="E8F4FC"/>
            </a:solidFill>
          </a:ln>
        </p:spPr>
      </p:sp>
      <p:sp>
        <p:nvSpPr>
          <p:cNvPr id="12" name="TextBox 12"/>
          <p:cNvSpPr txBox="1"/>
          <p:nvPr/>
        </p:nvSpPr>
        <p:spPr>
          <a:xfrm>
            <a:off x="381000" y="6477000"/>
            <a:ext cx="4953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课程第15讲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4381500" y="6477000"/>
            <a:ext cx="3429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Agent Runtime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0763250" y="6457950"/>
            <a:ext cx="857250" cy="266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050" dirty="0">
                <a:solidFill>
                  <a:srgbClr val="52657A"/>
                </a:solidFill>
                <a:latin typeface="Arial"/>
                <a:ea typeface="Microsoft YaHei"/>
                <a:cs typeface="Arial"/>
              </a:rPr>
              <a:t>45</a:t>
            </a:r>
          </a:p>
        </p:txBody>
      </p:sp>
      <p:grpSp>
        <p:nvGrpSpPr>
          <p:cNvPr id="26" name="EasySlides Component: evidence"/>
          <p:cNvGrpSpPr/>
          <p:nvPr/>
        </p:nvGrpSpPr>
        <p:grpSpPr>
          <a:xfrm>
            <a:off x="7124700" y="1285875"/>
            <a:ext cx="4572000" cy="4905375"/>
            <a:chOff x="7124700" y="1285875"/>
            <a:chExt cx="4572000" cy="4905375"/>
          </a:xfrm>
        </p:grpSpPr>
        <p:sp>
          <p:nvSpPr>
            <p:cNvPr id="15" name="Rectangle 15"/>
            <p:cNvSpPr/>
            <p:nvPr/>
          </p:nvSpPr>
          <p:spPr>
            <a:xfrm>
              <a:off x="7124700" y="1285875"/>
              <a:ext cx="4572000" cy="4905375"/>
            </a:xfrm>
            <a:prstGeom prst="roundRect">
              <a:avLst>
                <a:gd name="adj" fmla="val 833"/>
              </a:avLst>
            </a:prstGeom>
            <a:solidFill>
              <a:srgbClr val="F0F9FC"/>
            </a:solidFill>
            <a:ln w="11430">
              <a:solidFill>
                <a:srgbClr val="B8C7D6"/>
              </a:solidFill>
            </a:ln>
          </p:spPr>
        </p:sp>
        <p:sp>
          <p:nvSpPr>
            <p:cNvPr id="16" name="Rectangle 16"/>
            <p:cNvSpPr/>
            <p:nvPr/>
          </p:nvSpPr>
          <p:spPr>
            <a:xfrm>
              <a:off x="7124700" y="1285875"/>
              <a:ext cx="76200" cy="4905375"/>
            </a:xfrm>
            <a:prstGeom prst="rect">
              <a:avLst/>
            </a:prstGeom>
            <a:solidFill>
              <a:srgbClr val="06B6D4"/>
            </a:solidFill>
            <a:ln>
              <a:noFill/>
            </a:ln>
          </p:spPr>
        </p:sp>
        <p:sp>
          <p:nvSpPr>
            <p:cNvPr id="17" name="Rectangle 17"/>
            <p:cNvSpPr/>
            <p:nvPr/>
          </p:nvSpPr>
          <p:spPr>
            <a:xfrm>
              <a:off x="7391400" y="1552575"/>
              <a:ext cx="4038600" cy="1257300"/>
            </a:xfrm>
            <a:prstGeom prst="roundRect">
              <a:avLst>
                <a:gd name="adj" fmla="val 1515"/>
              </a:avLst>
            </a:prstGeom>
            <a:solidFill>
              <a:srgbClr val="FFFFFF"/>
            </a:solidFill>
            <a:ln w="9525">
              <a:solidFill>
                <a:srgbClr val="D4E2EE"/>
              </a:solidFill>
            </a:ln>
          </p:spPr>
        </p:sp>
        <p:sp>
          <p:nvSpPr>
            <p:cNvPr id="18" name="Rectangle 18"/>
            <p:cNvSpPr/>
            <p:nvPr/>
          </p:nvSpPr>
          <p:spPr>
            <a:xfrm>
              <a:off x="7391400" y="3105150"/>
              <a:ext cx="4038600" cy="1257300"/>
            </a:xfrm>
            <a:prstGeom prst="roundRect">
              <a:avLst>
                <a:gd name="adj" fmla="val 1515"/>
              </a:avLst>
            </a:prstGeom>
            <a:solidFill>
              <a:srgbClr val="FFFFFF"/>
            </a:solidFill>
            <a:ln w="9525">
              <a:solidFill>
                <a:srgbClr val="D4E2EE"/>
              </a:solidFill>
            </a:ln>
          </p:spPr>
        </p:sp>
        <p:sp>
          <p:nvSpPr>
            <p:cNvPr id="19" name="Rectangle 19"/>
            <p:cNvSpPr/>
            <p:nvPr/>
          </p:nvSpPr>
          <p:spPr>
            <a:xfrm>
              <a:off x="7391400" y="4657725"/>
              <a:ext cx="4038600" cy="1257300"/>
            </a:xfrm>
            <a:prstGeom prst="roundRect">
              <a:avLst>
                <a:gd name="adj" fmla="val 1515"/>
              </a:avLst>
            </a:prstGeom>
            <a:solidFill>
              <a:srgbClr val="FFFFFF"/>
            </a:solidFill>
            <a:ln w="9525">
              <a:solidFill>
                <a:srgbClr val="D4E2EE"/>
              </a:solidFill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7605712" y="1745456"/>
              <a:ext cx="220156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06B6D4"/>
                  </a:solidFill>
                  <a:latin typeface="Arial"/>
                  <a:ea typeface="Microsoft YaHei"/>
                  <a:cs typeface="Arial"/>
                </a:rPr>
                <a:t>01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7605712" y="3298031"/>
              <a:ext cx="220156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06B6D4"/>
                  </a:solidFill>
                  <a:latin typeface="Arial"/>
                  <a:ea typeface="Microsoft YaHei"/>
                  <a:cs typeface="Arial"/>
                </a:rPr>
                <a:t>02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7605712" y="4850606"/>
              <a:ext cx="220156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CC0000"/>
                  </a:solidFill>
                  <a:latin typeface="Arial"/>
                  <a:ea typeface="Microsoft YaHei"/>
                  <a:cs typeface="Arial"/>
                </a:rPr>
                <a:t>03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7848600" y="1819275"/>
              <a:ext cx="3314700" cy="7239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425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文件：workflow.py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7848600" y="3371850"/>
              <a:ext cx="3314700" cy="7239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425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切面：实现——先读接口再读实现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7848600" y="4924425"/>
              <a:ext cx="3314700" cy="7239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425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测试见 tests/ 目录</a:t>
              </a:r>
            </a:p>
          </p:txBody>
        </p:sp>
      </p:grpSp>
      <p:grpSp>
        <p:nvGrpSpPr>
          <p:cNvPr id="32" name="EasySlides Component: figure"/>
          <p:cNvGrpSpPr/>
          <p:nvPr/>
        </p:nvGrpSpPr>
        <p:grpSpPr>
          <a:xfrm>
            <a:off x="495300" y="1285875"/>
            <a:ext cx="6400800" cy="4905375"/>
            <a:chOff x="495300" y="1285875"/>
            <a:chExt cx="6400800" cy="4905375"/>
          </a:xfrm>
        </p:grpSpPr>
        <p:sp>
          <p:nvSpPr>
            <p:cNvPr id="27" name="Rectangle 27"/>
            <p:cNvSpPr/>
            <p:nvPr/>
          </p:nvSpPr>
          <p:spPr>
            <a:xfrm>
              <a:off x="495300" y="1285875"/>
              <a:ext cx="6400800" cy="4905375"/>
            </a:xfrm>
            <a:prstGeom prst="roundRect">
              <a:avLst>
                <a:gd name="adj" fmla="val 777"/>
              </a:avLst>
            </a:prstGeom>
            <a:solidFill>
              <a:srgbClr val="FFFFFF"/>
            </a:solidFill>
            <a:ln w="11430">
              <a:solidFill>
                <a:srgbClr val="B8C7D6"/>
              </a:solidFill>
            </a:ln>
          </p:spPr>
        </p:sp>
        <p:sp>
          <p:nvSpPr>
            <p:cNvPr id="28" name="Rectangle 28"/>
            <p:cNvSpPr/>
            <p:nvPr/>
          </p:nvSpPr>
          <p:spPr>
            <a:xfrm>
              <a:off x="647700" y="1438275"/>
              <a:ext cx="6096000" cy="3905250"/>
            </a:xfrm>
            <a:prstGeom prst="roundRect">
              <a:avLst>
                <a:gd name="adj" fmla="val 488"/>
              </a:avLst>
            </a:prstGeom>
            <a:solidFill>
              <a:srgbClr val="F0F9FC"/>
            </a:solidFill>
            <a:ln w="9525">
              <a:solidFill>
                <a:srgbClr val="D4E2EE"/>
              </a:solidFill>
            </a:ln>
          </p:spPr>
        </p:sp>
        <p:pic>
          <p:nvPicPr>
            <p:cNvPr id="29" name="Image 29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647700" y="1605643"/>
              <a:ext cx="6096000" cy="3570514"/>
            </a:xfrm>
            <a:prstGeom prst="rect">
              <a:avLst/>
            </a:prstGeom>
          </p:spPr>
        </p:pic>
        <p:sp>
          <p:nvSpPr>
            <p:cNvPr id="30" name="Line 30"/>
            <p:cNvSpPr/>
            <p:nvPr/>
          </p:nvSpPr>
          <p:spPr>
            <a:xfrm>
              <a:off x="723900" y="5534025"/>
              <a:ext cx="5943600" cy="9525"/>
            </a:xfrm>
            <a:custGeom>
              <a:avLst/>
              <a:gdLst/>
              <a:ahLst/>
              <a:cxnLst/>
              <a:rect l="l" t="t" r="r" b="b"/>
              <a:pathLst>
                <a:path w="5943600" h="9525">
                  <a:moveTo>
                    <a:pt x="0" y="0"/>
                  </a:moveTo>
                  <a:lnTo>
                    <a:pt x="5943600" y="0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800100" y="5610225"/>
              <a:ext cx="5791200" cy="4572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350" dirty="0">
                  <a:solidFill>
                    <a:srgbClr val="52657A"/>
                  </a:solidFill>
                  <a:latin typeface="Arial"/>
                  <a:ea typeface="Microsoft YaHei"/>
                  <a:cs typeface="Arial"/>
                </a:rPr>
                <a:t>代码：workflow.py · 实现（概念4 多 Agent Graph）</a:t>
              </a:r>
            </a:p>
          </p:txBody>
        </p:sp>
      </p:grp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666750"/>
          </a:xfrm>
          <a:prstGeom prst="rect">
            <a:avLst/>
          </a:prstGeom>
          <a:solidFill>
            <a:srgbClr val="0E7490"/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0"/>
            <a:ext cx="57150" cy="666750"/>
          </a:xfrm>
          <a:prstGeom prst="rect">
            <a:avLst/>
          </a:prstGeom>
          <a:solidFill>
            <a:srgbClr val="CC0000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381000" y="123825"/>
            <a:ext cx="762000" cy="4000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1275" b="1" dirty="0">
                <a:solidFill>
                  <a:srgbClr val="9FD3FF"/>
                </a:solidFill>
                <a:latin typeface="Arial"/>
                <a:ea typeface="Microsoft YaHei"/>
                <a:cs typeface="Arial"/>
              </a:rPr>
              <a:t>46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257300" y="95250"/>
            <a:ext cx="8096250" cy="457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21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应用实践：多 Agent Graph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0001250" y="76200"/>
            <a:ext cx="1619250" cy="5143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3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DataAgent</a:t>
            </a:r>
          </a:p>
        </p:txBody>
      </p:sp>
      <p:sp>
        <p:nvSpPr>
          <p:cNvPr id="8" name="Rectangle 8"/>
          <p:cNvSpPr/>
          <p:nvPr/>
        </p:nvSpPr>
        <p:spPr>
          <a:xfrm>
            <a:off x="0" y="666750"/>
            <a:ext cx="12192000" cy="476250"/>
          </a:xfrm>
          <a:prstGeom prst="rect">
            <a:avLst/>
          </a:prstGeom>
          <a:solidFill>
            <a:srgbClr val="E8F4FC"/>
          </a:solidFill>
          <a:ln>
            <a:noFill/>
          </a:ln>
        </p:spPr>
      </p:sp>
      <p:sp>
        <p:nvSpPr>
          <p:cNvPr id="9" name="Rectangle 9"/>
          <p:cNvSpPr/>
          <p:nvPr/>
        </p:nvSpPr>
        <p:spPr>
          <a:xfrm>
            <a:off x="0" y="666750"/>
            <a:ext cx="57150" cy="476250"/>
          </a:xfrm>
          <a:prstGeom prst="rect">
            <a:avLst/>
          </a:prstGeom>
          <a:solidFill>
            <a:srgbClr val="06B6D4"/>
          </a:solidFill>
          <a:ln>
            <a:noFill/>
          </a:ln>
        </p:spPr>
      </p:sp>
      <p:sp>
        <p:nvSpPr>
          <p:cNvPr id="10" name="TextBox 10"/>
          <p:cNvSpPr txBox="1"/>
          <p:nvPr/>
        </p:nvSpPr>
        <p:spPr>
          <a:xfrm>
            <a:off x="381000" y="714375"/>
            <a:ext cx="10001250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1350" dirty="0">
                <a:solidFill>
                  <a:srgbClr val="26384A"/>
                </a:solidFill>
                <a:latin typeface="Arial"/>
                <a:ea typeface="Microsoft YaHei"/>
                <a:cs typeface="Arial"/>
              </a:rPr>
              <a:t>三步落地：闭环→灰度→放开</a:t>
            </a:r>
          </a:p>
        </p:txBody>
      </p:sp>
      <p:sp>
        <p:nvSpPr>
          <p:cNvPr id="11" name="Line 11"/>
          <p:cNvSpPr/>
          <p:nvPr/>
        </p:nvSpPr>
        <p:spPr>
          <a:xfrm>
            <a:off x="381000" y="6334125"/>
            <a:ext cx="11430000" cy="9525"/>
          </a:xfrm>
          <a:custGeom>
            <a:avLst/>
            <a:gdLst/>
            <a:ahLst/>
            <a:cxnLst/>
            <a:rect l="l" t="t" r="r" b="b"/>
            <a:pathLst>
              <a:path w="11430000" h="9525">
                <a:moveTo>
                  <a:pt x="0" y="0"/>
                </a:moveTo>
                <a:lnTo>
                  <a:pt x="11430000" y="0"/>
                </a:lnTo>
              </a:path>
            </a:pathLst>
          </a:custGeom>
          <a:noFill/>
          <a:ln w="9525">
            <a:solidFill>
              <a:srgbClr val="E8F4FC"/>
            </a:solidFill>
          </a:ln>
        </p:spPr>
      </p:sp>
      <p:sp>
        <p:nvSpPr>
          <p:cNvPr id="12" name="TextBox 12"/>
          <p:cNvSpPr txBox="1"/>
          <p:nvPr/>
        </p:nvSpPr>
        <p:spPr>
          <a:xfrm>
            <a:off x="381000" y="6477000"/>
            <a:ext cx="4953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课程第15讲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4381500" y="6477000"/>
            <a:ext cx="3429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Agent Runtime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0763250" y="6457950"/>
            <a:ext cx="857250" cy="266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050" dirty="0">
                <a:solidFill>
                  <a:srgbClr val="52657A"/>
                </a:solidFill>
                <a:latin typeface="Arial"/>
                <a:ea typeface="Microsoft YaHei"/>
                <a:cs typeface="Arial"/>
              </a:rPr>
              <a:t>46</a:t>
            </a:r>
          </a:p>
        </p:txBody>
      </p:sp>
      <p:grpSp>
        <p:nvGrpSpPr>
          <p:cNvPr id="22" name="EasySlides Component: step_01"/>
          <p:cNvGrpSpPr/>
          <p:nvPr/>
        </p:nvGrpSpPr>
        <p:grpSpPr>
          <a:xfrm>
            <a:off x="495300" y="1285875"/>
            <a:ext cx="3505200" cy="3476625"/>
            <a:chOff x="495300" y="1285875"/>
            <a:chExt cx="3505200" cy="3476625"/>
          </a:xfrm>
        </p:grpSpPr>
        <p:sp>
          <p:nvSpPr>
            <p:cNvPr id="15" name="Rectangle 15"/>
            <p:cNvSpPr/>
            <p:nvPr/>
          </p:nvSpPr>
          <p:spPr>
            <a:xfrm>
              <a:off x="495300" y="1285875"/>
              <a:ext cx="3505200" cy="3476625"/>
            </a:xfrm>
            <a:prstGeom prst="roundRect">
              <a:avLst>
                <a:gd name="adj" fmla="val 1096"/>
              </a:avLst>
            </a:prstGeom>
            <a:solidFill>
              <a:srgbClr val="FFFFFF"/>
            </a:solidFill>
            <a:ln w="11430">
              <a:solidFill>
                <a:srgbClr val="B8C7D6"/>
              </a:solidFill>
            </a:ln>
          </p:spPr>
        </p:sp>
        <p:sp>
          <p:nvSpPr>
            <p:cNvPr id="16" name="Ellipse 16"/>
            <p:cNvSpPr/>
            <p:nvPr/>
          </p:nvSpPr>
          <p:spPr>
            <a:xfrm>
              <a:off x="695325" y="1495425"/>
              <a:ext cx="476250" cy="476250"/>
            </a:xfrm>
            <a:prstGeom prst="ellipse">
              <a:avLst/>
            </a:prstGeom>
            <a:solidFill>
              <a:srgbClr val="06B6D4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714375" y="1504950"/>
              <a:ext cx="438150" cy="4572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35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1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1314450" y="1524000"/>
              <a:ext cx="2324100" cy="42862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650" b="1" dirty="0">
                  <a:solidFill>
                    <a:srgbClr val="0E7490"/>
                  </a:solidFill>
                  <a:latin typeface="Arial"/>
                  <a:ea typeface="Microsoft YaHei"/>
                  <a:cs typeface="Arial"/>
                </a:rPr>
                <a:t>最小闭环</a:t>
              </a:r>
            </a:p>
          </p:txBody>
        </p:sp>
        <p:sp>
          <p:nvSpPr>
            <p:cNvPr id="19" name="Line 19"/>
            <p:cNvSpPr/>
            <p:nvPr/>
          </p:nvSpPr>
          <p:spPr>
            <a:xfrm>
              <a:off x="800100" y="2181225"/>
              <a:ext cx="2895600" cy="9525"/>
            </a:xfrm>
            <a:custGeom>
              <a:avLst/>
              <a:gdLst/>
              <a:ahLst/>
              <a:cxnLst/>
              <a:rect l="l" t="t" r="r" b="b"/>
              <a:pathLst>
                <a:path w="2895600" h="9525">
                  <a:moveTo>
                    <a:pt x="0" y="0"/>
                  </a:moveTo>
                  <a:lnTo>
                    <a:pt x="2895600" y="0"/>
                  </a:lnTo>
                </a:path>
              </a:pathLst>
            </a:custGeom>
            <a:noFill/>
            <a:ln w="19050">
              <a:solidFill>
                <a:srgbClr val="D4E2EE"/>
              </a:solidFill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952500" y="2476500"/>
              <a:ext cx="2590800" cy="16668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500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把「多 Agent Graph」落到业务：先小流量灰度验证效果与成本，再</a:t>
              </a:r>
            </a:p>
          </p:txBody>
        </p:sp>
        <p:sp>
          <p:nvSpPr>
            <p:cNvPr id="21" name="Rectangle 21"/>
            <p:cNvSpPr/>
            <p:nvPr/>
          </p:nvSpPr>
          <p:spPr>
            <a:xfrm>
              <a:off x="800100" y="4391025"/>
              <a:ext cx="762000" cy="66675"/>
            </a:xfrm>
            <a:prstGeom prst="rect">
              <a:avLst/>
            </a:prstGeom>
            <a:solidFill>
              <a:srgbClr val="CC0000"/>
            </a:solidFill>
            <a:ln>
              <a:noFill/>
            </a:ln>
          </p:spPr>
        </p:sp>
      </p:grpSp>
      <p:grpSp>
        <p:nvGrpSpPr>
          <p:cNvPr id="30" name="EasySlides Component: step_02"/>
          <p:cNvGrpSpPr/>
          <p:nvPr/>
        </p:nvGrpSpPr>
        <p:grpSpPr>
          <a:xfrm>
            <a:off x="4343400" y="1285875"/>
            <a:ext cx="3505200" cy="3476625"/>
            <a:chOff x="4343400" y="1285875"/>
            <a:chExt cx="3505200" cy="3476625"/>
          </a:xfrm>
        </p:grpSpPr>
        <p:sp>
          <p:nvSpPr>
            <p:cNvPr id="23" name="Rectangle 23"/>
            <p:cNvSpPr/>
            <p:nvPr/>
          </p:nvSpPr>
          <p:spPr>
            <a:xfrm>
              <a:off x="4343400" y="1285875"/>
              <a:ext cx="3505200" cy="3476625"/>
            </a:xfrm>
            <a:prstGeom prst="roundRect">
              <a:avLst>
                <a:gd name="adj" fmla="val 1096"/>
              </a:avLst>
            </a:prstGeom>
            <a:solidFill>
              <a:srgbClr val="FFFFFF"/>
            </a:solidFill>
            <a:ln w="11430">
              <a:solidFill>
                <a:srgbClr val="B8C7D6"/>
              </a:solidFill>
            </a:ln>
          </p:spPr>
        </p:sp>
        <p:sp>
          <p:nvSpPr>
            <p:cNvPr id="24" name="Ellipse 24"/>
            <p:cNvSpPr/>
            <p:nvPr/>
          </p:nvSpPr>
          <p:spPr>
            <a:xfrm>
              <a:off x="4543425" y="1495425"/>
              <a:ext cx="476250" cy="476250"/>
            </a:xfrm>
            <a:prstGeom prst="ellipse">
              <a:avLst/>
            </a:prstGeom>
            <a:solidFill>
              <a:srgbClr val="06B6D4"/>
            </a:solidFill>
            <a:ln>
              <a:noFill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4562475" y="1504950"/>
              <a:ext cx="438150" cy="4572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35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2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5162550" y="1524000"/>
              <a:ext cx="2324100" cy="42862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650" b="1" dirty="0">
                  <a:solidFill>
                    <a:srgbClr val="0E7490"/>
                  </a:solidFill>
                  <a:latin typeface="Arial"/>
                  <a:ea typeface="Microsoft YaHei"/>
                  <a:cs typeface="Arial"/>
                </a:rPr>
                <a:t>灰度验证</a:t>
              </a:r>
            </a:p>
          </p:txBody>
        </p:sp>
        <p:sp>
          <p:nvSpPr>
            <p:cNvPr id="27" name="Line 27"/>
            <p:cNvSpPr/>
            <p:nvPr/>
          </p:nvSpPr>
          <p:spPr>
            <a:xfrm>
              <a:off x="4648200" y="2181225"/>
              <a:ext cx="2895600" cy="9525"/>
            </a:xfrm>
            <a:custGeom>
              <a:avLst/>
              <a:gdLst/>
              <a:ahLst/>
              <a:cxnLst/>
              <a:rect l="l" t="t" r="r" b="b"/>
              <a:pathLst>
                <a:path w="2895600" h="9525">
                  <a:moveTo>
                    <a:pt x="0" y="0"/>
                  </a:moveTo>
                  <a:lnTo>
                    <a:pt x="2895600" y="0"/>
                  </a:lnTo>
                </a:path>
              </a:pathLst>
            </a:custGeom>
            <a:noFill/>
            <a:ln w="19050">
              <a:solidFill>
                <a:srgbClr val="D4E2EE"/>
              </a:solidFill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4800600" y="2476500"/>
              <a:ext cx="2590800" cy="16668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500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小流量对照基线，观察效果/成本/时延</a:t>
              </a:r>
            </a:p>
          </p:txBody>
        </p:sp>
        <p:sp>
          <p:nvSpPr>
            <p:cNvPr id="29" name="Rectangle 29"/>
            <p:cNvSpPr/>
            <p:nvPr/>
          </p:nvSpPr>
          <p:spPr>
            <a:xfrm>
              <a:off x="4648200" y="4391025"/>
              <a:ext cx="762000" cy="66675"/>
            </a:xfrm>
            <a:prstGeom prst="rect">
              <a:avLst/>
            </a:prstGeom>
            <a:solidFill>
              <a:srgbClr val="CC0000"/>
            </a:solidFill>
            <a:ln>
              <a:noFill/>
            </a:ln>
          </p:spPr>
        </p:sp>
      </p:grpSp>
      <p:grpSp>
        <p:nvGrpSpPr>
          <p:cNvPr id="38" name="EasySlides Component: step_03"/>
          <p:cNvGrpSpPr/>
          <p:nvPr/>
        </p:nvGrpSpPr>
        <p:grpSpPr>
          <a:xfrm>
            <a:off x="8191500" y="1285875"/>
            <a:ext cx="3505200" cy="3476625"/>
            <a:chOff x="8191500" y="1285875"/>
            <a:chExt cx="3505200" cy="3476625"/>
          </a:xfrm>
        </p:grpSpPr>
        <p:sp>
          <p:nvSpPr>
            <p:cNvPr id="31" name="Rectangle 31"/>
            <p:cNvSpPr/>
            <p:nvPr/>
          </p:nvSpPr>
          <p:spPr>
            <a:xfrm>
              <a:off x="8191500" y="1285875"/>
              <a:ext cx="3505200" cy="3476625"/>
            </a:xfrm>
            <a:prstGeom prst="roundRect">
              <a:avLst>
                <a:gd name="adj" fmla="val 1096"/>
              </a:avLst>
            </a:prstGeom>
            <a:solidFill>
              <a:srgbClr val="FFFFFF"/>
            </a:solidFill>
            <a:ln w="11430">
              <a:solidFill>
                <a:srgbClr val="B8C7D6"/>
              </a:solidFill>
            </a:ln>
          </p:spPr>
        </p:sp>
        <p:sp>
          <p:nvSpPr>
            <p:cNvPr id="32" name="Ellipse 32"/>
            <p:cNvSpPr/>
            <p:nvPr/>
          </p:nvSpPr>
          <p:spPr>
            <a:xfrm>
              <a:off x="8391525" y="1495425"/>
              <a:ext cx="476250" cy="476250"/>
            </a:xfrm>
            <a:prstGeom prst="ellipse">
              <a:avLst/>
            </a:prstGeom>
            <a:solidFill>
              <a:srgbClr val="06B6D4"/>
            </a:solidFill>
            <a:ln>
              <a:noFill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8410575" y="1504950"/>
              <a:ext cx="438150" cy="4572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35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3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9010650" y="1524000"/>
              <a:ext cx="2324100" cy="42862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650" b="1" dirty="0">
                  <a:solidFill>
                    <a:srgbClr val="0E7490"/>
                  </a:solidFill>
                  <a:latin typeface="Arial"/>
                  <a:ea typeface="Microsoft YaHei"/>
                  <a:cs typeface="Arial"/>
                </a:rPr>
                <a:t>逐步放开</a:t>
              </a:r>
            </a:p>
          </p:txBody>
        </p:sp>
        <p:sp>
          <p:nvSpPr>
            <p:cNvPr id="35" name="Line 35"/>
            <p:cNvSpPr/>
            <p:nvPr/>
          </p:nvSpPr>
          <p:spPr>
            <a:xfrm>
              <a:off x="8496300" y="2181225"/>
              <a:ext cx="2895600" cy="9525"/>
            </a:xfrm>
            <a:custGeom>
              <a:avLst/>
              <a:gdLst/>
              <a:ahLst/>
              <a:cxnLst/>
              <a:rect l="l" t="t" r="r" b="b"/>
              <a:pathLst>
                <a:path w="2895600" h="9525">
                  <a:moveTo>
                    <a:pt x="0" y="0"/>
                  </a:moveTo>
                  <a:lnTo>
                    <a:pt x="2895600" y="0"/>
                  </a:lnTo>
                </a:path>
              </a:pathLst>
            </a:custGeom>
            <a:noFill/>
            <a:ln w="19050">
              <a:solidFill>
                <a:srgbClr val="D4E2EE"/>
              </a:solidFill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8648700" y="2476500"/>
              <a:ext cx="2590800" cy="16668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500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按租户/场景分批，异常即回滚</a:t>
              </a:r>
            </a:p>
          </p:txBody>
        </p:sp>
        <p:sp>
          <p:nvSpPr>
            <p:cNvPr id="37" name="Rectangle 37"/>
            <p:cNvSpPr/>
            <p:nvPr/>
          </p:nvSpPr>
          <p:spPr>
            <a:xfrm>
              <a:off x="8496300" y="4391025"/>
              <a:ext cx="762000" cy="66675"/>
            </a:xfrm>
            <a:prstGeom prst="rect">
              <a:avLst/>
            </a:prstGeom>
            <a:solidFill>
              <a:srgbClr val="CC0000"/>
            </a:solidFill>
            <a:ln>
              <a:noFill/>
            </a:ln>
          </p:spPr>
        </p:sp>
      </p:grpSp>
      <p:grpSp>
        <p:nvGrpSpPr>
          <p:cNvPr id="42" name="EasySlides Component: synthesis"/>
          <p:cNvGrpSpPr/>
          <p:nvPr/>
        </p:nvGrpSpPr>
        <p:grpSpPr>
          <a:xfrm>
            <a:off x="495300" y="5476875"/>
            <a:ext cx="11201400" cy="714375"/>
            <a:chOff x="495300" y="5476875"/>
            <a:chExt cx="11201400" cy="714375"/>
          </a:xfrm>
        </p:grpSpPr>
        <p:sp>
          <p:nvSpPr>
            <p:cNvPr id="39" name="Rectangle 39"/>
            <p:cNvSpPr/>
            <p:nvPr/>
          </p:nvSpPr>
          <p:spPr>
            <a:xfrm>
              <a:off x="495300" y="5476875"/>
              <a:ext cx="11201400" cy="714375"/>
            </a:xfrm>
            <a:prstGeom prst="roundRect">
              <a:avLst>
                <a:gd name="adj" fmla="val 5333"/>
              </a:avLst>
            </a:prstGeom>
            <a:solidFill>
              <a:srgbClr val="0E7490"/>
            </a:solidFill>
            <a:ln>
              <a:noFill/>
            </a:ln>
          </p:spPr>
        </p:sp>
        <p:sp>
          <p:nvSpPr>
            <p:cNvPr id="40" name="Rectangle 40"/>
            <p:cNvSpPr/>
            <p:nvPr/>
          </p:nvSpPr>
          <p:spPr>
            <a:xfrm>
              <a:off x="495300" y="5476875"/>
              <a:ext cx="76200" cy="714375"/>
            </a:xfrm>
            <a:prstGeom prst="roundRect">
              <a:avLst>
                <a:gd name="adj" fmla="val 50000"/>
              </a:avLst>
            </a:prstGeom>
            <a:solidFill>
              <a:srgbClr val="CC0000"/>
            </a:solidFill>
            <a:ln>
              <a:noFill/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876300" y="5610225"/>
              <a:ext cx="10439400" cy="4476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65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案例视角：预算审批链路的审批-幂等-验真闭环实测。</a:t>
              </a:r>
            </a:p>
          </p:txBody>
        </p:sp>
      </p:grp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666750"/>
          </a:xfrm>
          <a:prstGeom prst="rect">
            <a:avLst/>
          </a:prstGeom>
          <a:solidFill>
            <a:srgbClr val="0E7490"/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0"/>
            <a:ext cx="57150" cy="666750"/>
          </a:xfrm>
          <a:prstGeom prst="rect">
            <a:avLst/>
          </a:prstGeom>
          <a:solidFill>
            <a:srgbClr val="CC0000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381000" y="123825"/>
            <a:ext cx="762000" cy="4000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1275" b="1" dirty="0">
                <a:solidFill>
                  <a:srgbClr val="9FD3FF"/>
                </a:solidFill>
                <a:latin typeface="Arial"/>
                <a:ea typeface="Microsoft YaHei"/>
                <a:cs typeface="Arial"/>
              </a:rPr>
              <a:t>47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257300" y="95250"/>
            <a:ext cx="8096250" cy="457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21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陷阱与排查：多 Agent Graph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0001250" y="76200"/>
            <a:ext cx="1619250" cy="5143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3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DataAgent</a:t>
            </a:r>
          </a:p>
        </p:txBody>
      </p:sp>
      <p:sp>
        <p:nvSpPr>
          <p:cNvPr id="8" name="Rectangle 8"/>
          <p:cNvSpPr/>
          <p:nvPr/>
        </p:nvSpPr>
        <p:spPr>
          <a:xfrm>
            <a:off x="0" y="666750"/>
            <a:ext cx="12192000" cy="476250"/>
          </a:xfrm>
          <a:prstGeom prst="rect">
            <a:avLst/>
          </a:prstGeom>
          <a:solidFill>
            <a:srgbClr val="E8F4FC"/>
          </a:solidFill>
          <a:ln>
            <a:noFill/>
          </a:ln>
        </p:spPr>
      </p:sp>
      <p:sp>
        <p:nvSpPr>
          <p:cNvPr id="9" name="Rectangle 9"/>
          <p:cNvSpPr/>
          <p:nvPr/>
        </p:nvSpPr>
        <p:spPr>
          <a:xfrm>
            <a:off x="0" y="666750"/>
            <a:ext cx="57150" cy="476250"/>
          </a:xfrm>
          <a:prstGeom prst="rect">
            <a:avLst/>
          </a:prstGeom>
          <a:solidFill>
            <a:srgbClr val="06B6D4"/>
          </a:solidFill>
          <a:ln>
            <a:noFill/>
          </a:ln>
        </p:spPr>
      </p:sp>
      <p:sp>
        <p:nvSpPr>
          <p:cNvPr id="10" name="TextBox 10"/>
          <p:cNvSpPr txBox="1"/>
          <p:nvPr/>
        </p:nvSpPr>
        <p:spPr>
          <a:xfrm>
            <a:off x="381000" y="714375"/>
            <a:ext cx="10001250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1350" dirty="0">
                <a:solidFill>
                  <a:srgbClr val="26384A"/>
                </a:solidFill>
                <a:latin typeface="Arial"/>
                <a:ea typeface="Microsoft YaHei"/>
                <a:cs typeface="Arial"/>
              </a:rPr>
              <a:t>症状→根因→处置</a:t>
            </a:r>
          </a:p>
        </p:txBody>
      </p:sp>
      <p:sp>
        <p:nvSpPr>
          <p:cNvPr id="11" name="Line 11"/>
          <p:cNvSpPr/>
          <p:nvPr/>
        </p:nvSpPr>
        <p:spPr>
          <a:xfrm>
            <a:off x="381000" y="6334125"/>
            <a:ext cx="11430000" cy="9525"/>
          </a:xfrm>
          <a:custGeom>
            <a:avLst/>
            <a:gdLst/>
            <a:ahLst/>
            <a:cxnLst/>
            <a:rect l="l" t="t" r="r" b="b"/>
            <a:pathLst>
              <a:path w="11430000" h="9525">
                <a:moveTo>
                  <a:pt x="0" y="0"/>
                </a:moveTo>
                <a:lnTo>
                  <a:pt x="11430000" y="0"/>
                </a:lnTo>
              </a:path>
            </a:pathLst>
          </a:custGeom>
          <a:noFill/>
          <a:ln w="9525">
            <a:solidFill>
              <a:srgbClr val="E8F4FC"/>
            </a:solidFill>
          </a:ln>
        </p:spPr>
      </p:sp>
      <p:sp>
        <p:nvSpPr>
          <p:cNvPr id="12" name="TextBox 12"/>
          <p:cNvSpPr txBox="1"/>
          <p:nvPr/>
        </p:nvSpPr>
        <p:spPr>
          <a:xfrm>
            <a:off x="381000" y="6477000"/>
            <a:ext cx="4953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课程第15讲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4381500" y="6477000"/>
            <a:ext cx="3429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Agent Runtime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0763250" y="6457950"/>
            <a:ext cx="857250" cy="266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050" dirty="0">
                <a:solidFill>
                  <a:srgbClr val="52657A"/>
                </a:solidFill>
                <a:latin typeface="Arial"/>
                <a:ea typeface="Microsoft YaHei"/>
                <a:cs typeface="Arial"/>
              </a:rPr>
              <a:t>47</a:t>
            </a:r>
          </a:p>
        </p:txBody>
      </p:sp>
      <p:grpSp>
        <p:nvGrpSpPr>
          <p:cNvPr id="38" name="EasySlides Component: matrix"/>
          <p:cNvGrpSpPr/>
          <p:nvPr/>
        </p:nvGrpSpPr>
        <p:grpSpPr>
          <a:xfrm>
            <a:off x="495300" y="1285875"/>
            <a:ext cx="11201400" cy="4905375"/>
            <a:chOff x="495300" y="1285875"/>
            <a:chExt cx="11201400" cy="4905375"/>
          </a:xfrm>
        </p:grpSpPr>
        <p:sp>
          <p:nvSpPr>
            <p:cNvPr id="15" name="Rectangle 15"/>
            <p:cNvSpPr/>
            <p:nvPr/>
          </p:nvSpPr>
          <p:spPr>
            <a:xfrm>
              <a:off x="495300" y="1285875"/>
              <a:ext cx="11201400" cy="4905375"/>
            </a:xfrm>
            <a:prstGeom prst="roundRect">
              <a:avLst>
                <a:gd name="adj" fmla="val 777"/>
              </a:avLst>
            </a:prstGeom>
            <a:solidFill>
              <a:srgbClr val="FFFFFF"/>
            </a:solidFill>
            <a:ln w="11430">
              <a:solidFill>
                <a:srgbClr val="B8C7D6"/>
              </a:solidFill>
            </a:ln>
          </p:spPr>
        </p:sp>
        <p:sp>
          <p:nvSpPr>
            <p:cNvPr id="16" name="Rectangle 16"/>
            <p:cNvSpPr/>
            <p:nvPr/>
          </p:nvSpPr>
          <p:spPr>
            <a:xfrm>
              <a:off x="495300" y="1285875"/>
              <a:ext cx="11201400" cy="647700"/>
            </a:xfrm>
            <a:prstGeom prst="roundRect">
              <a:avLst>
                <a:gd name="adj" fmla="val 5882"/>
              </a:avLst>
            </a:prstGeom>
            <a:solidFill>
              <a:srgbClr val="0E7490"/>
            </a:solidFill>
            <a:ln>
              <a:noFill/>
            </a:ln>
          </p:spPr>
        </p:sp>
        <p:sp>
          <p:nvSpPr>
            <p:cNvPr id="17" name="Line 17"/>
            <p:cNvSpPr/>
            <p:nvPr/>
          </p:nvSpPr>
          <p:spPr>
            <a:xfrm>
              <a:off x="4229100" y="1285875"/>
              <a:ext cx="9525" cy="4143375"/>
            </a:xfrm>
            <a:custGeom>
              <a:avLst/>
              <a:gdLst/>
              <a:ahLst/>
              <a:cxnLst/>
              <a:rect l="l" t="t" r="r" b="b"/>
              <a:pathLst>
                <a:path w="9525" h="4143375">
                  <a:moveTo>
                    <a:pt x="0" y="0"/>
                  </a:moveTo>
                  <a:lnTo>
                    <a:pt x="0" y="4143375"/>
                  </a:lnTo>
                </a:path>
              </a:pathLst>
            </a:custGeom>
            <a:noFill/>
            <a:ln w="9525">
              <a:solidFill>
                <a:srgbClr val="B8C7D6"/>
              </a:solidFill>
            </a:ln>
          </p:spPr>
        </p:sp>
        <p:sp>
          <p:nvSpPr>
            <p:cNvPr id="18" name="Line 18"/>
            <p:cNvSpPr/>
            <p:nvPr/>
          </p:nvSpPr>
          <p:spPr>
            <a:xfrm>
              <a:off x="7962900" y="1285875"/>
              <a:ext cx="9525" cy="4143375"/>
            </a:xfrm>
            <a:custGeom>
              <a:avLst/>
              <a:gdLst/>
              <a:ahLst/>
              <a:cxnLst/>
              <a:rect l="l" t="t" r="r" b="b"/>
              <a:pathLst>
                <a:path w="9525" h="4143375">
                  <a:moveTo>
                    <a:pt x="0" y="0"/>
                  </a:moveTo>
                  <a:lnTo>
                    <a:pt x="0" y="4143375"/>
                  </a:lnTo>
                </a:path>
              </a:pathLst>
            </a:custGeom>
            <a:noFill/>
            <a:ln w="9525">
              <a:solidFill>
                <a:srgbClr val="B8C7D6"/>
              </a:solidFill>
            </a:ln>
          </p:spPr>
        </p:sp>
        <p:sp>
          <p:nvSpPr>
            <p:cNvPr id="19" name="Line 19"/>
            <p:cNvSpPr/>
            <p:nvPr/>
          </p:nvSpPr>
          <p:spPr>
            <a:xfrm>
              <a:off x="495300" y="1933575"/>
              <a:ext cx="11201400" cy="9525"/>
            </a:xfrm>
            <a:custGeom>
              <a:avLst/>
              <a:gdLst/>
              <a:ahLst/>
              <a:cxnLst/>
              <a:rect l="l" t="t" r="r" b="b"/>
              <a:pathLst>
                <a:path w="11201400" h="9525">
                  <a:moveTo>
                    <a:pt x="0" y="0"/>
                  </a:moveTo>
                  <a:lnTo>
                    <a:pt x="11201400" y="0"/>
                  </a:lnTo>
                </a:path>
              </a:pathLst>
            </a:custGeom>
            <a:noFill/>
            <a:ln w="9525">
              <a:solidFill>
                <a:srgbClr val="B8C7D6"/>
              </a:solidFill>
            </a:ln>
          </p:spPr>
        </p:sp>
        <p:sp>
          <p:nvSpPr>
            <p:cNvPr id="20" name="Line 20"/>
            <p:cNvSpPr/>
            <p:nvPr/>
          </p:nvSpPr>
          <p:spPr>
            <a:xfrm>
              <a:off x="495300" y="3095625"/>
              <a:ext cx="11201400" cy="9525"/>
            </a:xfrm>
            <a:custGeom>
              <a:avLst/>
              <a:gdLst/>
              <a:ahLst/>
              <a:cxnLst/>
              <a:rect l="l" t="t" r="r" b="b"/>
              <a:pathLst>
                <a:path w="11201400" h="9525">
                  <a:moveTo>
                    <a:pt x="0" y="0"/>
                  </a:moveTo>
                  <a:lnTo>
                    <a:pt x="11201400" y="0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21" name="Line 21"/>
            <p:cNvSpPr/>
            <p:nvPr/>
          </p:nvSpPr>
          <p:spPr>
            <a:xfrm>
              <a:off x="495300" y="4257675"/>
              <a:ext cx="11201400" cy="9525"/>
            </a:xfrm>
            <a:custGeom>
              <a:avLst/>
              <a:gdLst/>
              <a:ahLst/>
              <a:cxnLst/>
              <a:rect l="l" t="t" r="r" b="b"/>
              <a:pathLst>
                <a:path w="11201400" h="9525">
                  <a:moveTo>
                    <a:pt x="0" y="0"/>
                  </a:moveTo>
                  <a:lnTo>
                    <a:pt x="11201400" y="0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22" name="Line 22"/>
            <p:cNvSpPr/>
            <p:nvPr/>
          </p:nvSpPr>
          <p:spPr>
            <a:xfrm>
              <a:off x="495300" y="5429250"/>
              <a:ext cx="11201400" cy="9525"/>
            </a:xfrm>
            <a:custGeom>
              <a:avLst/>
              <a:gdLst/>
              <a:ahLst/>
              <a:cxnLst/>
              <a:rect l="l" t="t" r="r" b="b"/>
              <a:pathLst>
                <a:path w="11201400" h="9525">
                  <a:moveTo>
                    <a:pt x="0" y="0"/>
                  </a:moveTo>
                  <a:lnTo>
                    <a:pt x="11201400" y="0"/>
                  </a:lnTo>
                </a:path>
              </a:pathLst>
            </a:custGeom>
            <a:noFill/>
            <a:ln w="9525">
              <a:solidFill>
                <a:srgbClr val="B8C7D6"/>
              </a:solidFill>
            </a:ln>
          </p:spPr>
        </p:sp>
        <p:grpSp>
          <p:nvGrpSpPr>
            <p:cNvPr id="26" name="Group 26"/>
            <p:cNvGrpSpPr/>
            <p:nvPr/>
          </p:nvGrpSpPr>
          <p:grpSpPr>
            <a:xfrm>
              <a:off x="704850" y="1428750"/>
              <a:ext cx="10782300" cy="361950"/>
              <a:chOff x="704850" y="1428750"/>
              <a:chExt cx="10782300" cy="361950"/>
            </a:xfrm>
          </p:grpSpPr>
          <p:sp>
            <p:nvSpPr>
              <p:cNvPr id="23" name="TextBox 23"/>
              <p:cNvSpPr txBox="1"/>
              <p:nvPr/>
            </p:nvSpPr>
            <p:spPr>
              <a:xfrm>
                <a:off x="704850" y="1428750"/>
                <a:ext cx="3314700" cy="3619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575" b="1" dirty="0">
                    <a:solidFill>
                      <a:srgbClr val="FFFFFF"/>
                    </a:solidFill>
                    <a:latin typeface="Arial"/>
                    <a:ea typeface="Microsoft YaHei"/>
                    <a:cs typeface="Arial"/>
                  </a:rPr>
                  <a:t>症状</a:t>
                </a:r>
              </a:p>
            </p:txBody>
          </p:sp>
          <p:sp>
            <p:nvSpPr>
              <p:cNvPr id="24" name="TextBox 24"/>
              <p:cNvSpPr txBox="1"/>
              <p:nvPr/>
            </p:nvSpPr>
            <p:spPr>
              <a:xfrm>
                <a:off x="4438650" y="1428750"/>
                <a:ext cx="3314700" cy="3619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575" b="1" dirty="0">
                    <a:solidFill>
                      <a:srgbClr val="FFFFFF"/>
                    </a:solidFill>
                    <a:latin typeface="Arial"/>
                    <a:ea typeface="Microsoft YaHei"/>
                    <a:cs typeface="Arial"/>
                  </a:rPr>
                  <a:t>根因</a:t>
                </a:r>
              </a:p>
            </p:txBody>
          </p:sp>
          <p:sp>
            <p:nvSpPr>
              <p:cNvPr id="25" name="TextBox 25"/>
              <p:cNvSpPr txBox="1"/>
              <p:nvPr/>
            </p:nvSpPr>
            <p:spPr>
              <a:xfrm>
                <a:off x="8172450" y="1428750"/>
                <a:ext cx="3314700" cy="3619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575" b="1" dirty="0">
                    <a:solidFill>
                      <a:srgbClr val="FFFFFF"/>
                    </a:solidFill>
                    <a:latin typeface="Arial"/>
                    <a:ea typeface="Microsoft YaHei"/>
                    <a:cs typeface="Arial"/>
                  </a:rPr>
                  <a:t>处置</a:t>
                </a:r>
              </a:p>
            </p:txBody>
          </p:sp>
        </p:grpSp>
        <p:grpSp>
          <p:nvGrpSpPr>
            <p:cNvPr id="36" name="Group 36"/>
            <p:cNvGrpSpPr/>
            <p:nvPr/>
          </p:nvGrpSpPr>
          <p:grpSpPr>
            <a:xfrm>
              <a:off x="723900" y="2105025"/>
              <a:ext cx="10744200" cy="3086100"/>
              <a:chOff x="723900" y="2105025"/>
              <a:chExt cx="10744200" cy="3086100"/>
            </a:xfrm>
          </p:grpSpPr>
          <p:sp>
            <p:nvSpPr>
              <p:cNvPr id="27" name="TextBox 27"/>
              <p:cNvSpPr txBox="1"/>
              <p:nvPr/>
            </p:nvSpPr>
            <p:spPr>
              <a:xfrm>
                <a:off x="723900" y="210502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「多 Agent Graph</a:t>
                </a:r>
              </a:p>
            </p:txBody>
          </p:sp>
          <p:sp>
            <p:nvSpPr>
              <p:cNvPr id="28" name="TextBox 28"/>
              <p:cNvSpPr txBox="1"/>
              <p:nvPr/>
            </p:nvSpPr>
            <p:spPr>
              <a:xfrm>
                <a:off x="4457700" y="210502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缺少验证/预算</a:t>
                </a:r>
              </a:p>
            </p:txBody>
          </p:sp>
          <p:sp>
            <p:nvSpPr>
              <p:cNvPr id="29" name="TextBox 29"/>
              <p:cNvSpPr txBox="1"/>
              <p:nvPr/>
            </p:nvSpPr>
            <p:spPr>
              <a:xfrm>
                <a:off x="8191500" y="210502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验真+预算上限</a:t>
                </a:r>
              </a:p>
            </p:txBody>
          </p:sp>
          <p:sp>
            <p:nvSpPr>
              <p:cNvPr id="30" name="TextBox 30"/>
              <p:cNvSpPr txBox="1"/>
              <p:nvPr/>
            </p:nvSpPr>
            <p:spPr>
              <a:xfrm>
                <a:off x="723900" y="326707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结果不可解释</a:t>
                </a:r>
              </a:p>
            </p:txBody>
          </p:sp>
          <p:sp>
            <p:nvSpPr>
              <p:cNvPr id="31" name="TextBox 31"/>
              <p:cNvSpPr txBox="1"/>
              <p:nvPr/>
            </p:nvSpPr>
            <p:spPr>
              <a:xfrm>
                <a:off x="4457700" y="326707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无 Trace 留痕</a:t>
                </a:r>
              </a:p>
            </p:txBody>
          </p:sp>
          <p:sp>
            <p:nvSpPr>
              <p:cNvPr id="32" name="TextBox 32"/>
              <p:cNvSpPr txBox="1"/>
              <p:nvPr/>
            </p:nvSpPr>
            <p:spPr>
              <a:xfrm>
                <a:off x="8191500" y="326707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接入统一 Trace</a:t>
                </a:r>
              </a:p>
            </p:txBody>
          </p:sp>
          <p:sp>
            <p:nvSpPr>
              <p:cNvPr id="33" name="TextBox 33"/>
              <p:cNvSpPr txBox="1"/>
              <p:nvPr/>
            </p:nvSpPr>
            <p:spPr>
              <a:xfrm>
                <a:off x="723900" y="442912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效果悄悄退化</a:t>
                </a:r>
              </a:p>
            </p:txBody>
          </p:sp>
          <p:sp>
            <p:nvSpPr>
              <p:cNvPr id="34" name="TextBox 34"/>
              <p:cNvSpPr txBox="1"/>
              <p:nvPr/>
            </p:nvSpPr>
            <p:spPr>
              <a:xfrm>
                <a:off x="4457700" y="442912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无回归基线</a:t>
                </a:r>
              </a:p>
            </p:txBody>
          </p:sp>
          <p:sp>
            <p:nvSpPr>
              <p:cNvPr id="35" name="TextBox 35"/>
              <p:cNvSpPr txBox="1"/>
              <p:nvPr/>
            </p:nvSpPr>
            <p:spPr>
              <a:xfrm>
                <a:off x="8191500" y="442912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评测+回归门禁</a:t>
                </a:r>
              </a:p>
            </p:txBody>
          </p:sp>
        </p:grpSp>
        <p:sp>
          <p:nvSpPr>
            <p:cNvPr id="37" name="TextBox 37"/>
            <p:cNvSpPr txBox="1"/>
            <p:nvPr/>
          </p:nvSpPr>
          <p:spPr>
            <a:xfrm>
              <a:off x="828675" y="5581650"/>
              <a:ext cx="10534650" cy="4191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500" b="1" dirty="0">
                  <a:solidFill>
                    <a:srgbClr val="0E7490"/>
                  </a:solidFill>
                  <a:latin typeface="Arial"/>
                  <a:ea typeface="Microsoft YaHei"/>
                  <a:cs typeface="Arial"/>
                </a:rPr>
                <a:t>先止血，再根因，最后沉淀为回归用例</a:t>
              </a:r>
            </a:p>
          </p:txBody>
        </p:sp>
      </p:grp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666750"/>
          </a:xfrm>
          <a:prstGeom prst="rect">
            <a:avLst/>
          </a:prstGeom>
          <a:solidFill>
            <a:srgbClr val="0E7490"/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0"/>
            <a:ext cx="57150" cy="666750"/>
          </a:xfrm>
          <a:prstGeom prst="rect">
            <a:avLst/>
          </a:prstGeom>
          <a:solidFill>
            <a:srgbClr val="CC0000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381000" y="123825"/>
            <a:ext cx="762000" cy="4000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1275" b="1" dirty="0">
                <a:solidFill>
                  <a:srgbClr val="9FD3FF"/>
                </a:solidFill>
                <a:latin typeface="Arial"/>
                <a:ea typeface="Microsoft YaHei"/>
                <a:cs typeface="Arial"/>
              </a:rPr>
              <a:t>48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257300" y="95250"/>
            <a:ext cx="8096250" cy="457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21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工程决策：多 Agent Graph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0001250" y="76200"/>
            <a:ext cx="1619250" cy="5143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3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DataAgent</a:t>
            </a:r>
          </a:p>
        </p:txBody>
      </p:sp>
      <p:sp>
        <p:nvSpPr>
          <p:cNvPr id="8" name="Rectangle 8"/>
          <p:cNvSpPr/>
          <p:nvPr/>
        </p:nvSpPr>
        <p:spPr>
          <a:xfrm>
            <a:off x="0" y="666750"/>
            <a:ext cx="12192000" cy="476250"/>
          </a:xfrm>
          <a:prstGeom prst="rect">
            <a:avLst/>
          </a:prstGeom>
          <a:solidFill>
            <a:srgbClr val="E8F4FC"/>
          </a:solidFill>
          <a:ln>
            <a:noFill/>
          </a:ln>
        </p:spPr>
      </p:sp>
      <p:sp>
        <p:nvSpPr>
          <p:cNvPr id="9" name="Rectangle 9"/>
          <p:cNvSpPr/>
          <p:nvPr/>
        </p:nvSpPr>
        <p:spPr>
          <a:xfrm>
            <a:off x="0" y="666750"/>
            <a:ext cx="57150" cy="476250"/>
          </a:xfrm>
          <a:prstGeom prst="rect">
            <a:avLst/>
          </a:prstGeom>
          <a:solidFill>
            <a:srgbClr val="06B6D4"/>
          </a:solidFill>
          <a:ln>
            <a:noFill/>
          </a:ln>
        </p:spPr>
      </p:sp>
      <p:sp>
        <p:nvSpPr>
          <p:cNvPr id="10" name="TextBox 10"/>
          <p:cNvSpPr txBox="1"/>
          <p:nvPr/>
        </p:nvSpPr>
        <p:spPr>
          <a:xfrm>
            <a:off x="381000" y="714375"/>
            <a:ext cx="10001250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1350" dirty="0">
                <a:solidFill>
                  <a:srgbClr val="26384A"/>
                </a:solidFill>
                <a:latin typeface="Arial"/>
                <a:ea typeface="Microsoft YaHei"/>
                <a:cs typeface="Arial"/>
              </a:rPr>
              <a:t>候选方案 × 取舍（ADR）</a:t>
            </a:r>
          </a:p>
        </p:txBody>
      </p:sp>
      <p:sp>
        <p:nvSpPr>
          <p:cNvPr id="11" name="Line 11"/>
          <p:cNvSpPr/>
          <p:nvPr/>
        </p:nvSpPr>
        <p:spPr>
          <a:xfrm>
            <a:off x="381000" y="6334125"/>
            <a:ext cx="11430000" cy="9525"/>
          </a:xfrm>
          <a:custGeom>
            <a:avLst/>
            <a:gdLst/>
            <a:ahLst/>
            <a:cxnLst/>
            <a:rect l="l" t="t" r="r" b="b"/>
            <a:pathLst>
              <a:path w="11430000" h="9525">
                <a:moveTo>
                  <a:pt x="0" y="0"/>
                </a:moveTo>
                <a:lnTo>
                  <a:pt x="11430000" y="0"/>
                </a:lnTo>
              </a:path>
            </a:pathLst>
          </a:custGeom>
          <a:noFill/>
          <a:ln w="9525">
            <a:solidFill>
              <a:srgbClr val="E8F4FC"/>
            </a:solidFill>
          </a:ln>
        </p:spPr>
      </p:sp>
      <p:sp>
        <p:nvSpPr>
          <p:cNvPr id="12" name="TextBox 12"/>
          <p:cNvSpPr txBox="1"/>
          <p:nvPr/>
        </p:nvSpPr>
        <p:spPr>
          <a:xfrm>
            <a:off x="381000" y="6477000"/>
            <a:ext cx="4953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课程第15讲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4381500" y="6477000"/>
            <a:ext cx="3429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Agent Runtime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0763250" y="6457950"/>
            <a:ext cx="857250" cy="266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050" dirty="0">
                <a:solidFill>
                  <a:srgbClr val="52657A"/>
                </a:solidFill>
                <a:latin typeface="Arial"/>
                <a:ea typeface="Microsoft YaHei"/>
                <a:cs typeface="Arial"/>
              </a:rPr>
              <a:t>48</a:t>
            </a:r>
          </a:p>
        </p:txBody>
      </p:sp>
      <p:grpSp>
        <p:nvGrpSpPr>
          <p:cNvPr id="38" name="EasySlides Component: matrix"/>
          <p:cNvGrpSpPr/>
          <p:nvPr/>
        </p:nvGrpSpPr>
        <p:grpSpPr>
          <a:xfrm>
            <a:off x="495300" y="1285875"/>
            <a:ext cx="11201400" cy="4905375"/>
            <a:chOff x="495300" y="1285875"/>
            <a:chExt cx="11201400" cy="4905375"/>
          </a:xfrm>
        </p:grpSpPr>
        <p:sp>
          <p:nvSpPr>
            <p:cNvPr id="15" name="Rectangle 15"/>
            <p:cNvSpPr/>
            <p:nvPr/>
          </p:nvSpPr>
          <p:spPr>
            <a:xfrm>
              <a:off x="495300" y="1285875"/>
              <a:ext cx="11201400" cy="4905375"/>
            </a:xfrm>
            <a:prstGeom prst="roundRect">
              <a:avLst>
                <a:gd name="adj" fmla="val 777"/>
              </a:avLst>
            </a:prstGeom>
            <a:solidFill>
              <a:srgbClr val="FFFFFF"/>
            </a:solidFill>
            <a:ln w="11430">
              <a:solidFill>
                <a:srgbClr val="B8C7D6"/>
              </a:solidFill>
            </a:ln>
          </p:spPr>
        </p:sp>
        <p:sp>
          <p:nvSpPr>
            <p:cNvPr id="16" name="Rectangle 16"/>
            <p:cNvSpPr/>
            <p:nvPr/>
          </p:nvSpPr>
          <p:spPr>
            <a:xfrm>
              <a:off x="495300" y="1285875"/>
              <a:ext cx="11201400" cy="647700"/>
            </a:xfrm>
            <a:prstGeom prst="roundRect">
              <a:avLst>
                <a:gd name="adj" fmla="val 5882"/>
              </a:avLst>
            </a:prstGeom>
            <a:solidFill>
              <a:srgbClr val="0E7490"/>
            </a:solidFill>
            <a:ln>
              <a:noFill/>
            </a:ln>
          </p:spPr>
        </p:sp>
        <p:sp>
          <p:nvSpPr>
            <p:cNvPr id="17" name="Line 17"/>
            <p:cNvSpPr/>
            <p:nvPr/>
          </p:nvSpPr>
          <p:spPr>
            <a:xfrm>
              <a:off x="4229100" y="1285875"/>
              <a:ext cx="9525" cy="4143375"/>
            </a:xfrm>
            <a:custGeom>
              <a:avLst/>
              <a:gdLst/>
              <a:ahLst/>
              <a:cxnLst/>
              <a:rect l="l" t="t" r="r" b="b"/>
              <a:pathLst>
                <a:path w="9525" h="4143375">
                  <a:moveTo>
                    <a:pt x="0" y="0"/>
                  </a:moveTo>
                  <a:lnTo>
                    <a:pt x="0" y="4143375"/>
                  </a:lnTo>
                </a:path>
              </a:pathLst>
            </a:custGeom>
            <a:noFill/>
            <a:ln w="9525">
              <a:solidFill>
                <a:srgbClr val="B8C7D6"/>
              </a:solidFill>
            </a:ln>
          </p:spPr>
        </p:sp>
        <p:sp>
          <p:nvSpPr>
            <p:cNvPr id="18" name="Line 18"/>
            <p:cNvSpPr/>
            <p:nvPr/>
          </p:nvSpPr>
          <p:spPr>
            <a:xfrm>
              <a:off x="7962900" y="1285875"/>
              <a:ext cx="9525" cy="4143375"/>
            </a:xfrm>
            <a:custGeom>
              <a:avLst/>
              <a:gdLst/>
              <a:ahLst/>
              <a:cxnLst/>
              <a:rect l="l" t="t" r="r" b="b"/>
              <a:pathLst>
                <a:path w="9525" h="4143375">
                  <a:moveTo>
                    <a:pt x="0" y="0"/>
                  </a:moveTo>
                  <a:lnTo>
                    <a:pt x="0" y="4143375"/>
                  </a:lnTo>
                </a:path>
              </a:pathLst>
            </a:custGeom>
            <a:noFill/>
            <a:ln w="9525">
              <a:solidFill>
                <a:srgbClr val="B8C7D6"/>
              </a:solidFill>
            </a:ln>
          </p:spPr>
        </p:sp>
        <p:sp>
          <p:nvSpPr>
            <p:cNvPr id="19" name="Line 19"/>
            <p:cNvSpPr/>
            <p:nvPr/>
          </p:nvSpPr>
          <p:spPr>
            <a:xfrm>
              <a:off x="495300" y="1933575"/>
              <a:ext cx="11201400" cy="9525"/>
            </a:xfrm>
            <a:custGeom>
              <a:avLst/>
              <a:gdLst/>
              <a:ahLst/>
              <a:cxnLst/>
              <a:rect l="l" t="t" r="r" b="b"/>
              <a:pathLst>
                <a:path w="11201400" h="9525">
                  <a:moveTo>
                    <a:pt x="0" y="0"/>
                  </a:moveTo>
                  <a:lnTo>
                    <a:pt x="11201400" y="0"/>
                  </a:lnTo>
                </a:path>
              </a:pathLst>
            </a:custGeom>
            <a:noFill/>
            <a:ln w="9525">
              <a:solidFill>
                <a:srgbClr val="B8C7D6"/>
              </a:solidFill>
            </a:ln>
          </p:spPr>
        </p:sp>
        <p:sp>
          <p:nvSpPr>
            <p:cNvPr id="20" name="Line 20"/>
            <p:cNvSpPr/>
            <p:nvPr/>
          </p:nvSpPr>
          <p:spPr>
            <a:xfrm>
              <a:off x="495300" y="3095625"/>
              <a:ext cx="11201400" cy="9525"/>
            </a:xfrm>
            <a:custGeom>
              <a:avLst/>
              <a:gdLst/>
              <a:ahLst/>
              <a:cxnLst/>
              <a:rect l="l" t="t" r="r" b="b"/>
              <a:pathLst>
                <a:path w="11201400" h="9525">
                  <a:moveTo>
                    <a:pt x="0" y="0"/>
                  </a:moveTo>
                  <a:lnTo>
                    <a:pt x="11201400" y="0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21" name="Line 21"/>
            <p:cNvSpPr/>
            <p:nvPr/>
          </p:nvSpPr>
          <p:spPr>
            <a:xfrm>
              <a:off x="495300" y="4257675"/>
              <a:ext cx="11201400" cy="9525"/>
            </a:xfrm>
            <a:custGeom>
              <a:avLst/>
              <a:gdLst/>
              <a:ahLst/>
              <a:cxnLst/>
              <a:rect l="l" t="t" r="r" b="b"/>
              <a:pathLst>
                <a:path w="11201400" h="9525">
                  <a:moveTo>
                    <a:pt x="0" y="0"/>
                  </a:moveTo>
                  <a:lnTo>
                    <a:pt x="11201400" y="0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22" name="Line 22"/>
            <p:cNvSpPr/>
            <p:nvPr/>
          </p:nvSpPr>
          <p:spPr>
            <a:xfrm>
              <a:off x="495300" y="5429250"/>
              <a:ext cx="11201400" cy="9525"/>
            </a:xfrm>
            <a:custGeom>
              <a:avLst/>
              <a:gdLst/>
              <a:ahLst/>
              <a:cxnLst/>
              <a:rect l="l" t="t" r="r" b="b"/>
              <a:pathLst>
                <a:path w="11201400" h="9525">
                  <a:moveTo>
                    <a:pt x="0" y="0"/>
                  </a:moveTo>
                  <a:lnTo>
                    <a:pt x="11201400" y="0"/>
                  </a:lnTo>
                </a:path>
              </a:pathLst>
            </a:custGeom>
            <a:noFill/>
            <a:ln w="9525">
              <a:solidFill>
                <a:srgbClr val="B8C7D6"/>
              </a:solidFill>
            </a:ln>
          </p:spPr>
        </p:sp>
        <p:grpSp>
          <p:nvGrpSpPr>
            <p:cNvPr id="26" name="Group 26"/>
            <p:cNvGrpSpPr/>
            <p:nvPr/>
          </p:nvGrpSpPr>
          <p:grpSpPr>
            <a:xfrm>
              <a:off x="704850" y="1428750"/>
              <a:ext cx="10782300" cy="361950"/>
              <a:chOff x="704850" y="1428750"/>
              <a:chExt cx="10782300" cy="361950"/>
            </a:xfrm>
          </p:grpSpPr>
          <p:sp>
            <p:nvSpPr>
              <p:cNvPr id="23" name="TextBox 23"/>
              <p:cNvSpPr txBox="1"/>
              <p:nvPr/>
            </p:nvSpPr>
            <p:spPr>
              <a:xfrm>
                <a:off x="704850" y="1428750"/>
                <a:ext cx="3314700" cy="3619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575" b="1" dirty="0">
                    <a:solidFill>
                      <a:srgbClr val="FFFFFF"/>
                    </a:solidFill>
                    <a:latin typeface="Arial"/>
                    <a:ea typeface="Microsoft YaHei"/>
                    <a:cs typeface="Arial"/>
                  </a:rPr>
                  <a:t>方案</a:t>
                </a:r>
              </a:p>
            </p:txBody>
          </p:sp>
          <p:sp>
            <p:nvSpPr>
              <p:cNvPr id="24" name="TextBox 24"/>
              <p:cNvSpPr txBox="1"/>
              <p:nvPr/>
            </p:nvSpPr>
            <p:spPr>
              <a:xfrm>
                <a:off x="4438650" y="1428750"/>
                <a:ext cx="3314700" cy="3619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575" b="1" dirty="0">
                    <a:solidFill>
                      <a:srgbClr val="FFFFFF"/>
                    </a:solidFill>
                    <a:latin typeface="Arial"/>
                    <a:ea typeface="Microsoft YaHei"/>
                    <a:cs typeface="Arial"/>
                  </a:rPr>
                  <a:t>代价</a:t>
                </a:r>
              </a:p>
            </p:txBody>
          </p:sp>
          <p:sp>
            <p:nvSpPr>
              <p:cNvPr id="25" name="TextBox 25"/>
              <p:cNvSpPr txBox="1"/>
              <p:nvPr/>
            </p:nvSpPr>
            <p:spPr>
              <a:xfrm>
                <a:off x="8172450" y="1428750"/>
                <a:ext cx="3314700" cy="3619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575" b="1" dirty="0">
                    <a:solidFill>
                      <a:srgbClr val="FFFFFF"/>
                    </a:solidFill>
                    <a:latin typeface="Arial"/>
                    <a:ea typeface="Microsoft YaHei"/>
                    <a:cs typeface="Arial"/>
                  </a:rPr>
                  <a:t>结论</a:t>
                </a:r>
              </a:p>
            </p:txBody>
          </p:sp>
        </p:grpSp>
        <p:grpSp>
          <p:nvGrpSpPr>
            <p:cNvPr id="36" name="Group 36"/>
            <p:cNvGrpSpPr/>
            <p:nvPr/>
          </p:nvGrpSpPr>
          <p:grpSpPr>
            <a:xfrm>
              <a:off x="723900" y="2105025"/>
              <a:ext cx="10744200" cy="3086100"/>
              <a:chOff x="723900" y="2105025"/>
              <a:chExt cx="10744200" cy="3086100"/>
            </a:xfrm>
          </p:grpSpPr>
          <p:sp>
            <p:nvSpPr>
              <p:cNvPr id="27" name="TextBox 27"/>
              <p:cNvSpPr txBox="1"/>
              <p:nvPr/>
            </p:nvSpPr>
            <p:spPr>
              <a:xfrm>
                <a:off x="723900" y="210502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直连实现</a:t>
                </a:r>
              </a:p>
            </p:txBody>
          </p:sp>
          <p:sp>
            <p:nvSpPr>
              <p:cNvPr id="28" name="TextBox 28"/>
              <p:cNvSpPr txBox="1"/>
              <p:nvPr/>
            </p:nvSpPr>
            <p:spPr>
              <a:xfrm>
                <a:off x="4457700" y="210502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快但耦合</a:t>
                </a:r>
              </a:p>
            </p:txBody>
          </p:sp>
          <p:sp>
            <p:nvSpPr>
              <p:cNvPr id="29" name="TextBox 29"/>
              <p:cNvSpPr txBox="1"/>
              <p:nvPr/>
            </p:nvSpPr>
            <p:spPr>
              <a:xfrm>
                <a:off x="8191500" y="210502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Demo 可用</a:t>
                </a:r>
              </a:p>
            </p:txBody>
          </p:sp>
          <p:sp>
            <p:nvSpPr>
              <p:cNvPr id="30" name="TextBox 30"/>
              <p:cNvSpPr txBox="1"/>
              <p:nvPr/>
            </p:nvSpPr>
            <p:spPr>
              <a:xfrm>
                <a:off x="723900" y="326707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平台化</a:t>
                </a:r>
              </a:p>
            </p:txBody>
          </p:sp>
          <p:sp>
            <p:nvSpPr>
              <p:cNvPr id="31" name="TextBox 31"/>
              <p:cNvSpPr txBox="1"/>
              <p:nvPr/>
            </p:nvSpPr>
            <p:spPr>
              <a:xfrm>
                <a:off x="4457700" y="326707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前期成本高</a:t>
                </a:r>
              </a:p>
            </p:txBody>
          </p:sp>
          <p:sp>
            <p:nvSpPr>
              <p:cNvPr id="32" name="TextBox 32"/>
              <p:cNvSpPr txBox="1"/>
              <p:nvPr/>
            </p:nvSpPr>
            <p:spPr>
              <a:xfrm>
                <a:off x="8191500" y="326707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生产首选</a:t>
                </a:r>
              </a:p>
            </p:txBody>
          </p:sp>
          <p:sp>
            <p:nvSpPr>
              <p:cNvPr id="33" name="TextBox 33"/>
              <p:cNvSpPr txBox="1"/>
              <p:nvPr/>
            </p:nvSpPr>
            <p:spPr>
              <a:xfrm>
                <a:off x="723900" y="442912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保持简单</a:t>
                </a:r>
              </a:p>
            </p:txBody>
          </p:sp>
          <p:sp>
            <p:nvSpPr>
              <p:cNvPr id="34" name="TextBox 34"/>
              <p:cNvSpPr txBox="1"/>
              <p:nvPr/>
            </p:nvSpPr>
            <p:spPr>
              <a:xfrm>
                <a:off x="4457700" y="442912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能力上限</a:t>
                </a:r>
              </a:p>
            </p:txBody>
          </p:sp>
          <p:sp>
            <p:nvSpPr>
              <p:cNvPr id="35" name="TextBox 35"/>
              <p:cNvSpPr txBox="1"/>
              <p:nvPr/>
            </p:nvSpPr>
            <p:spPr>
              <a:xfrm>
                <a:off x="8191500" y="442912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按场景取舍</a:t>
                </a:r>
              </a:p>
            </p:txBody>
          </p:sp>
        </p:grpSp>
        <p:sp>
          <p:nvSpPr>
            <p:cNvPr id="37" name="TextBox 37"/>
            <p:cNvSpPr txBox="1"/>
            <p:nvPr/>
          </p:nvSpPr>
          <p:spPr>
            <a:xfrm>
              <a:off x="828675" y="5581650"/>
              <a:ext cx="10534650" cy="4191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500" b="1" dirty="0">
                  <a:solidFill>
                    <a:srgbClr val="0E7490"/>
                  </a:solidFill>
                  <a:latin typeface="Arial"/>
                  <a:ea typeface="Microsoft YaHei"/>
                  <a:cs typeface="Arial"/>
                </a:rPr>
                <a:t>「多 Agent Graph」的选型以证</a:t>
              </a:r>
            </a:p>
          </p:txBody>
        </p:sp>
      </p:grp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666750"/>
          </a:xfrm>
          <a:prstGeom prst="rect">
            <a:avLst/>
          </a:prstGeom>
          <a:solidFill>
            <a:srgbClr val="0E7490"/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0"/>
            <a:ext cx="57150" cy="666750"/>
          </a:xfrm>
          <a:prstGeom prst="rect">
            <a:avLst/>
          </a:prstGeom>
          <a:solidFill>
            <a:srgbClr val="CC0000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381000" y="123825"/>
            <a:ext cx="762000" cy="4000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1275" b="1" dirty="0">
                <a:solidFill>
                  <a:srgbClr val="9FD3FF"/>
                </a:solidFill>
                <a:latin typeface="Arial"/>
                <a:ea typeface="Microsoft YaHei"/>
                <a:cs typeface="Arial"/>
              </a:rPr>
              <a:t>49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257300" y="95250"/>
            <a:ext cx="8096250" cy="457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21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生产化：多 Agent Graph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0001250" y="76200"/>
            <a:ext cx="1619250" cy="5143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3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DataAgent</a:t>
            </a:r>
          </a:p>
        </p:txBody>
      </p:sp>
      <p:sp>
        <p:nvSpPr>
          <p:cNvPr id="8" name="Rectangle 8"/>
          <p:cNvSpPr/>
          <p:nvPr/>
        </p:nvSpPr>
        <p:spPr>
          <a:xfrm>
            <a:off x="0" y="666750"/>
            <a:ext cx="12192000" cy="476250"/>
          </a:xfrm>
          <a:prstGeom prst="rect">
            <a:avLst/>
          </a:prstGeom>
          <a:solidFill>
            <a:srgbClr val="E8F4FC"/>
          </a:solidFill>
          <a:ln>
            <a:noFill/>
          </a:ln>
        </p:spPr>
      </p:sp>
      <p:sp>
        <p:nvSpPr>
          <p:cNvPr id="9" name="Rectangle 9"/>
          <p:cNvSpPr/>
          <p:nvPr/>
        </p:nvSpPr>
        <p:spPr>
          <a:xfrm>
            <a:off x="0" y="666750"/>
            <a:ext cx="57150" cy="476250"/>
          </a:xfrm>
          <a:prstGeom prst="rect">
            <a:avLst/>
          </a:prstGeom>
          <a:solidFill>
            <a:srgbClr val="06B6D4"/>
          </a:solidFill>
          <a:ln>
            <a:noFill/>
          </a:ln>
        </p:spPr>
      </p:sp>
      <p:sp>
        <p:nvSpPr>
          <p:cNvPr id="10" name="TextBox 10"/>
          <p:cNvSpPr txBox="1"/>
          <p:nvPr/>
        </p:nvSpPr>
        <p:spPr>
          <a:xfrm>
            <a:off x="381000" y="714375"/>
            <a:ext cx="10001250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1350" dirty="0">
                <a:solidFill>
                  <a:srgbClr val="26384A"/>
                </a:solidFill>
                <a:latin typeface="Arial"/>
                <a:ea typeface="Microsoft YaHei"/>
                <a:cs typeface="Arial"/>
              </a:rPr>
              <a:t>企业级落地三机制</a:t>
            </a:r>
          </a:p>
        </p:txBody>
      </p:sp>
      <p:sp>
        <p:nvSpPr>
          <p:cNvPr id="11" name="Line 11"/>
          <p:cNvSpPr/>
          <p:nvPr/>
        </p:nvSpPr>
        <p:spPr>
          <a:xfrm>
            <a:off x="381000" y="6334125"/>
            <a:ext cx="11430000" cy="9525"/>
          </a:xfrm>
          <a:custGeom>
            <a:avLst/>
            <a:gdLst/>
            <a:ahLst/>
            <a:cxnLst/>
            <a:rect l="l" t="t" r="r" b="b"/>
            <a:pathLst>
              <a:path w="11430000" h="9525">
                <a:moveTo>
                  <a:pt x="0" y="0"/>
                </a:moveTo>
                <a:lnTo>
                  <a:pt x="11430000" y="0"/>
                </a:lnTo>
              </a:path>
            </a:pathLst>
          </a:custGeom>
          <a:noFill/>
          <a:ln w="9525">
            <a:solidFill>
              <a:srgbClr val="E8F4FC"/>
            </a:solidFill>
          </a:ln>
        </p:spPr>
      </p:sp>
      <p:sp>
        <p:nvSpPr>
          <p:cNvPr id="12" name="TextBox 12"/>
          <p:cNvSpPr txBox="1"/>
          <p:nvPr/>
        </p:nvSpPr>
        <p:spPr>
          <a:xfrm>
            <a:off x="381000" y="6477000"/>
            <a:ext cx="4953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课程第15讲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4381500" y="6477000"/>
            <a:ext cx="3429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Agent Runtime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0763250" y="6457950"/>
            <a:ext cx="857250" cy="266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050" dirty="0">
                <a:solidFill>
                  <a:srgbClr val="52657A"/>
                </a:solidFill>
                <a:latin typeface="Arial"/>
                <a:ea typeface="Microsoft YaHei"/>
                <a:cs typeface="Arial"/>
              </a:rPr>
              <a:t>49</a:t>
            </a:r>
          </a:p>
        </p:txBody>
      </p:sp>
      <p:grpSp>
        <p:nvGrpSpPr>
          <p:cNvPr id="38" name="EasySlides Component: matrix"/>
          <p:cNvGrpSpPr/>
          <p:nvPr/>
        </p:nvGrpSpPr>
        <p:grpSpPr>
          <a:xfrm>
            <a:off x="495300" y="1285875"/>
            <a:ext cx="11201400" cy="4905375"/>
            <a:chOff x="495300" y="1285875"/>
            <a:chExt cx="11201400" cy="4905375"/>
          </a:xfrm>
        </p:grpSpPr>
        <p:sp>
          <p:nvSpPr>
            <p:cNvPr id="15" name="Rectangle 15"/>
            <p:cNvSpPr/>
            <p:nvPr/>
          </p:nvSpPr>
          <p:spPr>
            <a:xfrm>
              <a:off x="495300" y="1285875"/>
              <a:ext cx="11201400" cy="4905375"/>
            </a:xfrm>
            <a:prstGeom prst="roundRect">
              <a:avLst>
                <a:gd name="adj" fmla="val 777"/>
              </a:avLst>
            </a:prstGeom>
            <a:solidFill>
              <a:srgbClr val="FFFFFF"/>
            </a:solidFill>
            <a:ln w="11430">
              <a:solidFill>
                <a:srgbClr val="B8C7D6"/>
              </a:solidFill>
            </a:ln>
          </p:spPr>
        </p:sp>
        <p:sp>
          <p:nvSpPr>
            <p:cNvPr id="16" name="Rectangle 16"/>
            <p:cNvSpPr/>
            <p:nvPr/>
          </p:nvSpPr>
          <p:spPr>
            <a:xfrm>
              <a:off x="495300" y="1285875"/>
              <a:ext cx="11201400" cy="647700"/>
            </a:xfrm>
            <a:prstGeom prst="roundRect">
              <a:avLst>
                <a:gd name="adj" fmla="val 5882"/>
              </a:avLst>
            </a:prstGeom>
            <a:solidFill>
              <a:srgbClr val="0E7490"/>
            </a:solidFill>
            <a:ln>
              <a:noFill/>
            </a:ln>
          </p:spPr>
        </p:sp>
        <p:sp>
          <p:nvSpPr>
            <p:cNvPr id="17" name="Line 17"/>
            <p:cNvSpPr/>
            <p:nvPr/>
          </p:nvSpPr>
          <p:spPr>
            <a:xfrm>
              <a:off x="4229100" y="1285875"/>
              <a:ext cx="9525" cy="4143375"/>
            </a:xfrm>
            <a:custGeom>
              <a:avLst/>
              <a:gdLst/>
              <a:ahLst/>
              <a:cxnLst/>
              <a:rect l="l" t="t" r="r" b="b"/>
              <a:pathLst>
                <a:path w="9525" h="4143375">
                  <a:moveTo>
                    <a:pt x="0" y="0"/>
                  </a:moveTo>
                  <a:lnTo>
                    <a:pt x="0" y="4143375"/>
                  </a:lnTo>
                </a:path>
              </a:pathLst>
            </a:custGeom>
            <a:noFill/>
            <a:ln w="9525">
              <a:solidFill>
                <a:srgbClr val="B8C7D6"/>
              </a:solidFill>
            </a:ln>
          </p:spPr>
        </p:sp>
        <p:sp>
          <p:nvSpPr>
            <p:cNvPr id="18" name="Line 18"/>
            <p:cNvSpPr/>
            <p:nvPr/>
          </p:nvSpPr>
          <p:spPr>
            <a:xfrm>
              <a:off x="7962900" y="1285875"/>
              <a:ext cx="9525" cy="4143375"/>
            </a:xfrm>
            <a:custGeom>
              <a:avLst/>
              <a:gdLst/>
              <a:ahLst/>
              <a:cxnLst/>
              <a:rect l="l" t="t" r="r" b="b"/>
              <a:pathLst>
                <a:path w="9525" h="4143375">
                  <a:moveTo>
                    <a:pt x="0" y="0"/>
                  </a:moveTo>
                  <a:lnTo>
                    <a:pt x="0" y="4143375"/>
                  </a:lnTo>
                </a:path>
              </a:pathLst>
            </a:custGeom>
            <a:noFill/>
            <a:ln w="9525">
              <a:solidFill>
                <a:srgbClr val="B8C7D6"/>
              </a:solidFill>
            </a:ln>
          </p:spPr>
        </p:sp>
        <p:sp>
          <p:nvSpPr>
            <p:cNvPr id="19" name="Line 19"/>
            <p:cNvSpPr/>
            <p:nvPr/>
          </p:nvSpPr>
          <p:spPr>
            <a:xfrm>
              <a:off x="495300" y="1933575"/>
              <a:ext cx="11201400" cy="9525"/>
            </a:xfrm>
            <a:custGeom>
              <a:avLst/>
              <a:gdLst/>
              <a:ahLst/>
              <a:cxnLst/>
              <a:rect l="l" t="t" r="r" b="b"/>
              <a:pathLst>
                <a:path w="11201400" h="9525">
                  <a:moveTo>
                    <a:pt x="0" y="0"/>
                  </a:moveTo>
                  <a:lnTo>
                    <a:pt x="11201400" y="0"/>
                  </a:lnTo>
                </a:path>
              </a:pathLst>
            </a:custGeom>
            <a:noFill/>
            <a:ln w="9525">
              <a:solidFill>
                <a:srgbClr val="B8C7D6"/>
              </a:solidFill>
            </a:ln>
          </p:spPr>
        </p:sp>
        <p:sp>
          <p:nvSpPr>
            <p:cNvPr id="20" name="Line 20"/>
            <p:cNvSpPr/>
            <p:nvPr/>
          </p:nvSpPr>
          <p:spPr>
            <a:xfrm>
              <a:off x="495300" y="3095625"/>
              <a:ext cx="11201400" cy="9525"/>
            </a:xfrm>
            <a:custGeom>
              <a:avLst/>
              <a:gdLst/>
              <a:ahLst/>
              <a:cxnLst/>
              <a:rect l="l" t="t" r="r" b="b"/>
              <a:pathLst>
                <a:path w="11201400" h="9525">
                  <a:moveTo>
                    <a:pt x="0" y="0"/>
                  </a:moveTo>
                  <a:lnTo>
                    <a:pt x="11201400" y="0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21" name="Line 21"/>
            <p:cNvSpPr/>
            <p:nvPr/>
          </p:nvSpPr>
          <p:spPr>
            <a:xfrm>
              <a:off x="495300" y="4257675"/>
              <a:ext cx="11201400" cy="9525"/>
            </a:xfrm>
            <a:custGeom>
              <a:avLst/>
              <a:gdLst/>
              <a:ahLst/>
              <a:cxnLst/>
              <a:rect l="l" t="t" r="r" b="b"/>
              <a:pathLst>
                <a:path w="11201400" h="9525">
                  <a:moveTo>
                    <a:pt x="0" y="0"/>
                  </a:moveTo>
                  <a:lnTo>
                    <a:pt x="11201400" y="0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22" name="Line 22"/>
            <p:cNvSpPr/>
            <p:nvPr/>
          </p:nvSpPr>
          <p:spPr>
            <a:xfrm>
              <a:off x="495300" y="5429250"/>
              <a:ext cx="11201400" cy="9525"/>
            </a:xfrm>
            <a:custGeom>
              <a:avLst/>
              <a:gdLst/>
              <a:ahLst/>
              <a:cxnLst/>
              <a:rect l="l" t="t" r="r" b="b"/>
              <a:pathLst>
                <a:path w="11201400" h="9525">
                  <a:moveTo>
                    <a:pt x="0" y="0"/>
                  </a:moveTo>
                  <a:lnTo>
                    <a:pt x="11201400" y="0"/>
                  </a:lnTo>
                </a:path>
              </a:pathLst>
            </a:custGeom>
            <a:noFill/>
            <a:ln w="9525">
              <a:solidFill>
                <a:srgbClr val="B8C7D6"/>
              </a:solidFill>
            </a:ln>
          </p:spPr>
        </p:sp>
        <p:grpSp>
          <p:nvGrpSpPr>
            <p:cNvPr id="26" name="Group 26"/>
            <p:cNvGrpSpPr/>
            <p:nvPr/>
          </p:nvGrpSpPr>
          <p:grpSpPr>
            <a:xfrm>
              <a:off x="704850" y="1428750"/>
              <a:ext cx="10782300" cy="361950"/>
              <a:chOff x="704850" y="1428750"/>
              <a:chExt cx="10782300" cy="361950"/>
            </a:xfrm>
          </p:grpSpPr>
          <p:sp>
            <p:nvSpPr>
              <p:cNvPr id="23" name="TextBox 23"/>
              <p:cNvSpPr txBox="1"/>
              <p:nvPr/>
            </p:nvSpPr>
            <p:spPr>
              <a:xfrm>
                <a:off x="704850" y="1428750"/>
                <a:ext cx="3314700" cy="3619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575" b="1" dirty="0">
                    <a:solidFill>
                      <a:srgbClr val="FFFFFF"/>
                    </a:solidFill>
                    <a:latin typeface="Arial"/>
                    <a:ea typeface="Microsoft YaHei"/>
                    <a:cs typeface="Arial"/>
                  </a:rPr>
                  <a:t>阶段</a:t>
                </a:r>
              </a:p>
            </p:txBody>
          </p:sp>
          <p:sp>
            <p:nvSpPr>
              <p:cNvPr id="24" name="TextBox 24"/>
              <p:cNvSpPr txBox="1"/>
              <p:nvPr/>
            </p:nvSpPr>
            <p:spPr>
              <a:xfrm>
                <a:off x="4438650" y="1428750"/>
                <a:ext cx="3314700" cy="3619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575" b="1" dirty="0">
                    <a:solidFill>
                      <a:srgbClr val="FFFFFF"/>
                    </a:solidFill>
                    <a:latin typeface="Arial"/>
                    <a:ea typeface="Microsoft YaHei"/>
                    <a:cs typeface="Arial"/>
                  </a:rPr>
                  <a:t>机制</a:t>
                </a:r>
              </a:p>
            </p:txBody>
          </p:sp>
          <p:sp>
            <p:nvSpPr>
              <p:cNvPr id="25" name="TextBox 25"/>
              <p:cNvSpPr txBox="1"/>
              <p:nvPr/>
            </p:nvSpPr>
            <p:spPr>
              <a:xfrm>
                <a:off x="8172450" y="1428750"/>
                <a:ext cx="3314700" cy="3619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575" b="1" dirty="0">
                    <a:solidFill>
                      <a:srgbClr val="FFFFFF"/>
                    </a:solidFill>
                    <a:latin typeface="Arial"/>
                    <a:ea typeface="Microsoft YaHei"/>
                    <a:cs typeface="Arial"/>
                  </a:rPr>
                  <a:t>审计/落点</a:t>
                </a:r>
              </a:p>
            </p:txBody>
          </p:sp>
        </p:grpSp>
        <p:grpSp>
          <p:nvGrpSpPr>
            <p:cNvPr id="36" name="Group 36"/>
            <p:cNvGrpSpPr/>
            <p:nvPr/>
          </p:nvGrpSpPr>
          <p:grpSpPr>
            <a:xfrm>
              <a:off x="723900" y="2105025"/>
              <a:ext cx="10744200" cy="3086100"/>
              <a:chOff x="723900" y="2105025"/>
              <a:chExt cx="10744200" cy="3086100"/>
            </a:xfrm>
          </p:grpSpPr>
          <p:sp>
            <p:nvSpPr>
              <p:cNvPr id="27" name="TextBox 27"/>
              <p:cNvSpPr txBox="1"/>
              <p:nvPr/>
            </p:nvSpPr>
            <p:spPr>
              <a:xfrm>
                <a:off x="723900" y="210502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中断</a:t>
                </a:r>
              </a:p>
            </p:txBody>
          </p:sp>
          <p:sp>
            <p:nvSpPr>
              <p:cNvPr id="28" name="TextBox 28"/>
              <p:cNvSpPr txBox="1"/>
              <p:nvPr/>
            </p:nvSpPr>
            <p:spPr>
              <a:xfrm>
                <a:off x="4457700" y="210502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ApprovalPending</a:t>
                </a:r>
              </a:p>
            </p:txBody>
          </p:sp>
          <p:sp>
            <p:nvSpPr>
              <p:cNvPr id="29" name="TextBox 29"/>
              <p:cNvSpPr txBox="1"/>
              <p:nvPr/>
            </p:nvSpPr>
            <p:spPr>
              <a:xfrm>
                <a:off x="8191500" y="210502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waiting_approval</a:t>
                </a:r>
              </a:p>
            </p:txBody>
          </p:sp>
          <p:sp>
            <p:nvSpPr>
              <p:cNvPr id="30" name="TextBox 30"/>
              <p:cNvSpPr txBox="1"/>
              <p:nvPr/>
            </p:nvSpPr>
            <p:spPr>
              <a:xfrm>
                <a:off x="723900" y="326707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决议</a:t>
                </a:r>
              </a:p>
            </p:txBody>
          </p:sp>
          <p:sp>
            <p:nvSpPr>
              <p:cNvPr id="31" name="TextBox 31"/>
              <p:cNvSpPr txBox="1"/>
              <p:nvPr/>
            </p:nvSpPr>
            <p:spPr>
              <a:xfrm>
                <a:off x="4457700" y="326707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decided_by/at</a:t>
                </a:r>
              </a:p>
            </p:txBody>
          </p:sp>
          <p:sp>
            <p:nvSpPr>
              <p:cNvPr id="32" name="TextBox 32"/>
              <p:cNvSpPr txBox="1"/>
              <p:nvPr/>
            </p:nvSpPr>
            <p:spPr>
              <a:xfrm>
                <a:off x="8191500" y="326707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approve/reject</a:t>
                </a:r>
              </a:p>
            </p:txBody>
          </p:sp>
          <p:sp>
            <p:nvSpPr>
              <p:cNvPr id="33" name="TextBox 33"/>
              <p:cNvSpPr txBox="1"/>
              <p:nvPr/>
            </p:nvSpPr>
            <p:spPr>
              <a:xfrm>
                <a:off x="723900" y="442912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恢复</a:t>
                </a:r>
              </a:p>
            </p:txBody>
          </p:sp>
          <p:sp>
            <p:nvSpPr>
              <p:cNvPr id="34" name="TextBox 34"/>
              <p:cNvSpPr txBox="1"/>
              <p:nvPr/>
            </p:nvSpPr>
            <p:spPr>
              <a:xfrm>
                <a:off x="4457700" y="442912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pre_approved</a:t>
                </a:r>
              </a:p>
            </p:txBody>
          </p:sp>
          <p:sp>
            <p:nvSpPr>
              <p:cNvPr id="35" name="TextBox 35"/>
              <p:cNvSpPr txBox="1"/>
              <p:nvPr/>
            </p:nvSpPr>
            <p:spPr>
              <a:xfrm>
                <a:off x="8191500" y="442912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succeeded/canceled</a:t>
                </a:r>
              </a:p>
            </p:txBody>
          </p:sp>
        </p:grpSp>
        <p:sp>
          <p:nvSpPr>
            <p:cNvPr id="37" name="TextBox 37"/>
            <p:cNvSpPr txBox="1"/>
            <p:nvPr/>
          </p:nvSpPr>
          <p:spPr>
            <a:xfrm>
              <a:off x="828675" y="5581650"/>
              <a:ext cx="10534650" cy="4191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500" b="1" dirty="0">
                  <a:solidFill>
                    <a:srgbClr val="0E7490"/>
                  </a:solidFill>
                  <a:latin typeface="Arial"/>
                  <a:ea typeface="Microsoft YaHei"/>
                  <a:cs typeface="Arial"/>
                </a:rPr>
                <a:t>HITL：中断-审批-恢复 全真实落库</a:t>
              </a:r>
            </a:p>
          </p:txBody>
        </p:sp>
      </p:grp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666750"/>
          </a:xfrm>
          <a:prstGeom prst="rect">
            <a:avLst/>
          </a:prstGeom>
          <a:solidFill>
            <a:srgbClr val="0E7490"/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0"/>
            <a:ext cx="57150" cy="666750"/>
          </a:xfrm>
          <a:prstGeom prst="rect">
            <a:avLst/>
          </a:prstGeom>
          <a:solidFill>
            <a:srgbClr val="CC0000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381000" y="123825"/>
            <a:ext cx="762000" cy="4000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1275" b="1" dirty="0">
                <a:solidFill>
                  <a:srgbClr val="9FD3FF"/>
                </a:solidFill>
                <a:latin typeface="Arial"/>
                <a:ea typeface="Microsoft YaHei"/>
                <a:cs typeface="Arial"/>
              </a:rPr>
              <a:t>50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257300" y="95250"/>
            <a:ext cx="8096250" cy="457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21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企业治理：多 Agent Graph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0001250" y="76200"/>
            <a:ext cx="1619250" cy="5143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3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DataAgent</a:t>
            </a:r>
          </a:p>
        </p:txBody>
      </p:sp>
      <p:sp>
        <p:nvSpPr>
          <p:cNvPr id="8" name="Rectangle 8"/>
          <p:cNvSpPr/>
          <p:nvPr/>
        </p:nvSpPr>
        <p:spPr>
          <a:xfrm>
            <a:off x="0" y="666750"/>
            <a:ext cx="12192000" cy="476250"/>
          </a:xfrm>
          <a:prstGeom prst="rect">
            <a:avLst/>
          </a:prstGeom>
          <a:solidFill>
            <a:srgbClr val="E8F4FC"/>
          </a:solidFill>
          <a:ln>
            <a:noFill/>
          </a:ln>
        </p:spPr>
      </p:sp>
      <p:sp>
        <p:nvSpPr>
          <p:cNvPr id="9" name="Rectangle 9"/>
          <p:cNvSpPr/>
          <p:nvPr/>
        </p:nvSpPr>
        <p:spPr>
          <a:xfrm>
            <a:off x="0" y="666750"/>
            <a:ext cx="57150" cy="476250"/>
          </a:xfrm>
          <a:prstGeom prst="rect">
            <a:avLst/>
          </a:prstGeom>
          <a:solidFill>
            <a:srgbClr val="06B6D4"/>
          </a:solidFill>
          <a:ln>
            <a:noFill/>
          </a:ln>
        </p:spPr>
      </p:sp>
      <p:sp>
        <p:nvSpPr>
          <p:cNvPr id="10" name="TextBox 10"/>
          <p:cNvSpPr txBox="1"/>
          <p:nvPr/>
        </p:nvSpPr>
        <p:spPr>
          <a:xfrm>
            <a:off x="381000" y="714375"/>
            <a:ext cx="10001250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1350" dirty="0">
                <a:solidFill>
                  <a:srgbClr val="26384A"/>
                </a:solidFill>
                <a:latin typeface="Arial"/>
                <a:ea typeface="Microsoft YaHei"/>
                <a:cs typeface="Arial"/>
              </a:rPr>
              <a:t>三项已闭合边界</a:t>
            </a:r>
          </a:p>
        </p:txBody>
      </p:sp>
      <p:sp>
        <p:nvSpPr>
          <p:cNvPr id="11" name="Line 11"/>
          <p:cNvSpPr/>
          <p:nvPr/>
        </p:nvSpPr>
        <p:spPr>
          <a:xfrm>
            <a:off x="381000" y="6334125"/>
            <a:ext cx="11430000" cy="9525"/>
          </a:xfrm>
          <a:custGeom>
            <a:avLst/>
            <a:gdLst/>
            <a:ahLst/>
            <a:cxnLst/>
            <a:rect l="l" t="t" r="r" b="b"/>
            <a:pathLst>
              <a:path w="11430000" h="9525">
                <a:moveTo>
                  <a:pt x="0" y="0"/>
                </a:moveTo>
                <a:lnTo>
                  <a:pt x="11430000" y="0"/>
                </a:lnTo>
              </a:path>
            </a:pathLst>
          </a:custGeom>
          <a:noFill/>
          <a:ln w="9525">
            <a:solidFill>
              <a:srgbClr val="E8F4FC"/>
            </a:solidFill>
          </a:ln>
        </p:spPr>
      </p:sp>
      <p:sp>
        <p:nvSpPr>
          <p:cNvPr id="12" name="TextBox 12"/>
          <p:cNvSpPr txBox="1"/>
          <p:nvPr/>
        </p:nvSpPr>
        <p:spPr>
          <a:xfrm>
            <a:off x="381000" y="6477000"/>
            <a:ext cx="4953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课程第15讲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4381500" y="6477000"/>
            <a:ext cx="3429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Agent Runtime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0763250" y="6457950"/>
            <a:ext cx="857250" cy="266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050" dirty="0">
                <a:solidFill>
                  <a:srgbClr val="52657A"/>
                </a:solidFill>
                <a:latin typeface="Arial"/>
                <a:ea typeface="Microsoft YaHei"/>
                <a:cs typeface="Arial"/>
              </a:rPr>
              <a:t>50</a:t>
            </a:r>
          </a:p>
        </p:txBody>
      </p:sp>
      <p:grpSp>
        <p:nvGrpSpPr>
          <p:cNvPr id="21" name="EasySlides Component: evidence_01"/>
          <p:cNvGrpSpPr/>
          <p:nvPr/>
        </p:nvGrpSpPr>
        <p:grpSpPr>
          <a:xfrm>
            <a:off x="495300" y="3524250"/>
            <a:ext cx="11201400" cy="1285875"/>
            <a:chOff x="495300" y="3524250"/>
            <a:chExt cx="11201400" cy="1285875"/>
          </a:xfrm>
        </p:grpSpPr>
        <p:sp>
          <p:nvSpPr>
            <p:cNvPr id="15" name="Rectangle 15"/>
            <p:cNvSpPr/>
            <p:nvPr/>
          </p:nvSpPr>
          <p:spPr>
            <a:xfrm>
              <a:off x="495300" y="3524250"/>
              <a:ext cx="11201400" cy="1285875"/>
            </a:xfrm>
            <a:prstGeom prst="roundRect">
              <a:avLst>
                <a:gd name="adj" fmla="val 2963"/>
              </a:avLst>
            </a:prstGeom>
            <a:solidFill>
              <a:srgbClr val="FFFFFF"/>
            </a:solidFill>
            <a:ln w="11430">
              <a:solidFill>
                <a:srgbClr val="B8C7D6"/>
              </a:solidFill>
            </a:ln>
          </p:spPr>
        </p:sp>
        <p:sp>
          <p:nvSpPr>
            <p:cNvPr id="16" name="Rectangle 16"/>
            <p:cNvSpPr/>
            <p:nvPr/>
          </p:nvSpPr>
          <p:spPr>
            <a:xfrm>
              <a:off x="495300" y="3524250"/>
              <a:ext cx="76200" cy="1285875"/>
            </a:xfrm>
            <a:prstGeom prst="roundRect">
              <a:avLst>
                <a:gd name="adj" fmla="val 50000"/>
              </a:avLst>
            </a:prstGeom>
            <a:solidFill>
              <a:srgbClr val="06B6D4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733425" y="3971925"/>
              <a:ext cx="438150" cy="5238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650" b="1" dirty="0">
                  <a:solidFill>
                    <a:srgbClr val="06B6D4"/>
                  </a:solidFill>
                  <a:latin typeface="Arial"/>
                  <a:ea typeface="Microsoft YaHei"/>
                  <a:cs typeface="Arial"/>
                </a:rPr>
                <a:t>01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1447800" y="3752850"/>
              <a:ext cx="2667000" cy="78105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575" b="1" dirty="0">
                  <a:solidFill>
                    <a:srgbClr val="0E7490"/>
                  </a:solidFill>
                  <a:latin typeface="Arial"/>
                  <a:ea typeface="Microsoft YaHei"/>
                  <a:cs typeface="Arial"/>
                </a:rPr>
                <a:t>认证</a:t>
              </a:r>
            </a:p>
          </p:txBody>
        </p:sp>
        <p:sp>
          <p:nvSpPr>
            <p:cNvPr id="19" name="Line 19"/>
            <p:cNvSpPr/>
            <p:nvPr/>
          </p:nvSpPr>
          <p:spPr>
            <a:xfrm>
              <a:off x="4362450" y="3752850"/>
              <a:ext cx="9525" cy="828675"/>
            </a:xfrm>
            <a:custGeom>
              <a:avLst/>
              <a:gdLst/>
              <a:ahLst/>
              <a:cxnLst/>
              <a:rect l="l" t="t" r="r" b="b"/>
              <a:pathLst>
                <a:path w="9525" h="828675">
                  <a:moveTo>
                    <a:pt x="0" y="0"/>
                  </a:moveTo>
                  <a:lnTo>
                    <a:pt x="0" y="828675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4686300" y="3752850"/>
              <a:ext cx="6572250" cy="78105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425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未认证401/越权403（LAN实测）</a:t>
              </a:r>
            </a:p>
          </p:txBody>
        </p:sp>
      </p:grpSp>
      <p:grpSp>
        <p:nvGrpSpPr>
          <p:cNvPr id="28" name="EasySlides Component: evidence_02"/>
          <p:cNvGrpSpPr/>
          <p:nvPr/>
        </p:nvGrpSpPr>
        <p:grpSpPr>
          <a:xfrm>
            <a:off x="495300" y="4905375"/>
            <a:ext cx="11201400" cy="1285875"/>
            <a:chOff x="495300" y="4905375"/>
            <a:chExt cx="11201400" cy="1285875"/>
          </a:xfrm>
        </p:grpSpPr>
        <p:sp>
          <p:nvSpPr>
            <p:cNvPr id="22" name="Rectangle 22"/>
            <p:cNvSpPr/>
            <p:nvPr/>
          </p:nvSpPr>
          <p:spPr>
            <a:xfrm>
              <a:off x="495300" y="4905375"/>
              <a:ext cx="11201400" cy="1285875"/>
            </a:xfrm>
            <a:prstGeom prst="roundRect">
              <a:avLst>
                <a:gd name="adj" fmla="val 2963"/>
              </a:avLst>
            </a:prstGeom>
            <a:solidFill>
              <a:srgbClr val="FFFFFF"/>
            </a:solidFill>
            <a:ln w="11430">
              <a:solidFill>
                <a:srgbClr val="B8C7D6"/>
              </a:solidFill>
            </a:ln>
          </p:spPr>
        </p:sp>
        <p:sp>
          <p:nvSpPr>
            <p:cNvPr id="23" name="Rectangle 23"/>
            <p:cNvSpPr/>
            <p:nvPr/>
          </p:nvSpPr>
          <p:spPr>
            <a:xfrm>
              <a:off x="495300" y="4905375"/>
              <a:ext cx="76200" cy="1285875"/>
            </a:xfrm>
            <a:prstGeom prst="roundRect">
              <a:avLst>
                <a:gd name="adj" fmla="val 50000"/>
              </a:avLst>
            </a:prstGeom>
            <a:solidFill>
              <a:srgbClr val="06B6D4"/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733425" y="5353050"/>
              <a:ext cx="438150" cy="5238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650" b="1" dirty="0">
                  <a:solidFill>
                    <a:srgbClr val="06B6D4"/>
                  </a:solidFill>
                  <a:latin typeface="Arial"/>
                  <a:ea typeface="Microsoft YaHei"/>
                  <a:cs typeface="Arial"/>
                </a:rPr>
                <a:t>02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1447800" y="5133975"/>
              <a:ext cx="2667000" cy="78105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575" b="1" dirty="0">
                  <a:solidFill>
                    <a:srgbClr val="0E7490"/>
                  </a:solidFill>
                  <a:latin typeface="Arial"/>
                  <a:ea typeface="Microsoft YaHei"/>
                  <a:cs typeface="Arial"/>
                </a:rPr>
                <a:t>队列</a:t>
              </a:r>
            </a:p>
          </p:txBody>
        </p:sp>
        <p:sp>
          <p:nvSpPr>
            <p:cNvPr id="26" name="Line 26"/>
            <p:cNvSpPr/>
            <p:nvPr/>
          </p:nvSpPr>
          <p:spPr>
            <a:xfrm>
              <a:off x="4362450" y="5133975"/>
              <a:ext cx="9525" cy="828675"/>
            </a:xfrm>
            <a:custGeom>
              <a:avLst/>
              <a:gdLst/>
              <a:ahLst/>
              <a:cxnLst/>
              <a:rect l="l" t="t" r="r" b="b"/>
              <a:pathLst>
                <a:path w="9525" h="828675">
                  <a:moveTo>
                    <a:pt x="0" y="0"/>
                  </a:moveTo>
                  <a:lnTo>
                    <a:pt x="0" y="828675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4686300" y="5133975"/>
              <a:ext cx="6572250" cy="78105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425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queued→running→终态全落库（LAN实测）</a:t>
              </a:r>
            </a:p>
          </p:txBody>
        </p:sp>
      </p:grpSp>
      <p:grpSp>
        <p:nvGrpSpPr>
          <p:cNvPr id="34" name="EasySlides Component: metric_01"/>
          <p:cNvGrpSpPr/>
          <p:nvPr/>
        </p:nvGrpSpPr>
        <p:grpSpPr>
          <a:xfrm>
            <a:off x="495300" y="1285875"/>
            <a:ext cx="3505200" cy="1809750"/>
            <a:chOff x="495300" y="1285875"/>
            <a:chExt cx="3505200" cy="1809750"/>
          </a:xfrm>
        </p:grpSpPr>
        <p:sp>
          <p:nvSpPr>
            <p:cNvPr id="29" name="Rectangle 29"/>
            <p:cNvSpPr/>
            <p:nvPr/>
          </p:nvSpPr>
          <p:spPr>
            <a:xfrm>
              <a:off x="495300" y="1285875"/>
              <a:ext cx="3505200" cy="1809750"/>
            </a:xfrm>
            <a:prstGeom prst="roundRect">
              <a:avLst>
                <a:gd name="adj" fmla="val 2105"/>
              </a:avLst>
            </a:prstGeom>
            <a:solidFill>
              <a:srgbClr val="F0F9FC"/>
            </a:solidFill>
            <a:ln w="11430">
              <a:solidFill>
                <a:srgbClr val="B8C7D6"/>
              </a:solidFill>
            </a:ln>
          </p:spPr>
        </p:sp>
        <p:sp>
          <p:nvSpPr>
            <p:cNvPr id="30" name="Rectangle 30"/>
            <p:cNvSpPr/>
            <p:nvPr/>
          </p:nvSpPr>
          <p:spPr>
            <a:xfrm>
              <a:off x="495300" y="1285875"/>
              <a:ext cx="3505200" cy="66675"/>
            </a:xfrm>
            <a:prstGeom prst="roundRect">
              <a:avLst>
                <a:gd name="adj" fmla="val 50000"/>
              </a:avLst>
            </a:prstGeom>
            <a:solidFill>
              <a:srgbClr val="06B6D4"/>
            </a:solidFill>
            <a:ln>
              <a:noFill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762000" y="1619250"/>
              <a:ext cx="2971800" cy="7143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3150" b="1" dirty="0">
                  <a:solidFill>
                    <a:srgbClr val="0E7490"/>
                  </a:solidFill>
                  <a:latin typeface="Arial"/>
                  <a:ea typeface="Microsoft YaHei"/>
                  <a:cs typeface="Arial"/>
                </a:rPr>
                <a:t>JWT</a:t>
              </a:r>
            </a:p>
          </p:txBody>
        </p:sp>
        <p:sp>
          <p:nvSpPr>
            <p:cNvPr id="32" name="Line 32"/>
            <p:cNvSpPr/>
            <p:nvPr/>
          </p:nvSpPr>
          <p:spPr>
            <a:xfrm>
              <a:off x="990600" y="2476500"/>
              <a:ext cx="2514600" cy="9525"/>
            </a:xfrm>
            <a:custGeom>
              <a:avLst/>
              <a:gdLst/>
              <a:ahLst/>
              <a:cxnLst/>
              <a:rect l="l" t="t" r="r" b="b"/>
              <a:pathLst>
                <a:path w="2514600" h="9525">
                  <a:moveTo>
                    <a:pt x="0" y="0"/>
                  </a:moveTo>
                  <a:lnTo>
                    <a:pt x="2514600" y="0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762000" y="2562225"/>
              <a:ext cx="2971800" cy="3429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350" dirty="0">
                  <a:solidFill>
                    <a:srgbClr val="52657A"/>
                  </a:solidFill>
                  <a:latin typeface="Arial"/>
                  <a:ea typeface="Microsoft YaHei"/>
                  <a:cs typeface="Arial"/>
                </a:rPr>
                <a:t>HS256+四角色RBAC</a:t>
              </a:r>
            </a:p>
          </p:txBody>
        </p:sp>
      </p:grpSp>
      <p:grpSp>
        <p:nvGrpSpPr>
          <p:cNvPr id="40" name="EasySlides Component: metric_02"/>
          <p:cNvGrpSpPr/>
          <p:nvPr/>
        </p:nvGrpSpPr>
        <p:grpSpPr>
          <a:xfrm>
            <a:off x="4343400" y="1285875"/>
            <a:ext cx="3505200" cy="1809750"/>
            <a:chOff x="4343400" y="1285875"/>
            <a:chExt cx="3505200" cy="1809750"/>
          </a:xfrm>
        </p:grpSpPr>
        <p:sp>
          <p:nvSpPr>
            <p:cNvPr id="35" name="Rectangle 35"/>
            <p:cNvSpPr/>
            <p:nvPr/>
          </p:nvSpPr>
          <p:spPr>
            <a:xfrm>
              <a:off x="4343400" y="1285875"/>
              <a:ext cx="3505200" cy="1809750"/>
            </a:xfrm>
            <a:prstGeom prst="roundRect">
              <a:avLst>
                <a:gd name="adj" fmla="val 2105"/>
              </a:avLst>
            </a:prstGeom>
            <a:solidFill>
              <a:srgbClr val="F0F9FC"/>
            </a:solidFill>
            <a:ln w="11430">
              <a:solidFill>
                <a:srgbClr val="B8C7D6"/>
              </a:solidFill>
            </a:ln>
          </p:spPr>
        </p:sp>
        <p:sp>
          <p:nvSpPr>
            <p:cNvPr id="36" name="Rectangle 36"/>
            <p:cNvSpPr/>
            <p:nvPr/>
          </p:nvSpPr>
          <p:spPr>
            <a:xfrm>
              <a:off x="4343400" y="1285875"/>
              <a:ext cx="3505200" cy="66675"/>
            </a:xfrm>
            <a:prstGeom prst="roundRect">
              <a:avLst>
                <a:gd name="adj" fmla="val 50000"/>
              </a:avLst>
            </a:prstGeom>
            <a:solidFill>
              <a:srgbClr val="06B6D4"/>
            </a:solidFill>
            <a:ln>
              <a:noFill/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4610100" y="1619250"/>
              <a:ext cx="2971800" cy="7143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3150" b="1" dirty="0">
                  <a:solidFill>
                    <a:srgbClr val="0E7490"/>
                  </a:solidFill>
                  <a:latin typeface="Arial"/>
                  <a:ea typeface="Microsoft YaHei"/>
                  <a:cs typeface="Arial"/>
                </a:rPr>
                <a:t>队列</a:t>
              </a:r>
            </a:p>
          </p:txBody>
        </p:sp>
        <p:sp>
          <p:nvSpPr>
            <p:cNvPr id="38" name="Line 38"/>
            <p:cNvSpPr/>
            <p:nvPr/>
          </p:nvSpPr>
          <p:spPr>
            <a:xfrm>
              <a:off x="4838700" y="2476500"/>
              <a:ext cx="2514600" cy="9525"/>
            </a:xfrm>
            <a:custGeom>
              <a:avLst/>
              <a:gdLst/>
              <a:ahLst/>
              <a:cxnLst/>
              <a:rect l="l" t="t" r="r" b="b"/>
              <a:pathLst>
                <a:path w="2514600" h="9525">
                  <a:moveTo>
                    <a:pt x="0" y="0"/>
                  </a:moveTo>
                  <a:lnTo>
                    <a:pt x="2514600" y="0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4610100" y="2562225"/>
              <a:ext cx="2971800" cy="3429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350" dirty="0">
                  <a:solidFill>
                    <a:srgbClr val="52657A"/>
                  </a:solidFill>
                  <a:latin typeface="Arial"/>
                  <a:ea typeface="Microsoft YaHei"/>
                  <a:cs typeface="Arial"/>
                </a:rPr>
                <a:t>Pulsar/Redis Worker落库</a:t>
              </a:r>
            </a:p>
          </p:txBody>
        </p:sp>
      </p:grpSp>
      <p:grpSp>
        <p:nvGrpSpPr>
          <p:cNvPr id="46" name="EasySlides Component: metric_03"/>
          <p:cNvGrpSpPr/>
          <p:nvPr/>
        </p:nvGrpSpPr>
        <p:grpSpPr>
          <a:xfrm>
            <a:off x="8191500" y="1285875"/>
            <a:ext cx="3505200" cy="1809750"/>
            <a:chOff x="8191500" y="1285875"/>
            <a:chExt cx="3505200" cy="1809750"/>
          </a:xfrm>
        </p:grpSpPr>
        <p:sp>
          <p:nvSpPr>
            <p:cNvPr id="41" name="Rectangle 41"/>
            <p:cNvSpPr/>
            <p:nvPr/>
          </p:nvSpPr>
          <p:spPr>
            <a:xfrm>
              <a:off x="8191500" y="1285875"/>
              <a:ext cx="3505200" cy="1809750"/>
            </a:xfrm>
            <a:prstGeom prst="roundRect">
              <a:avLst>
                <a:gd name="adj" fmla="val 2105"/>
              </a:avLst>
            </a:prstGeom>
            <a:solidFill>
              <a:srgbClr val="F0F9FC"/>
            </a:solidFill>
            <a:ln w="11430">
              <a:solidFill>
                <a:srgbClr val="B8C7D6"/>
              </a:solidFill>
            </a:ln>
          </p:spPr>
        </p:sp>
        <p:sp>
          <p:nvSpPr>
            <p:cNvPr id="42" name="Rectangle 42"/>
            <p:cNvSpPr/>
            <p:nvPr/>
          </p:nvSpPr>
          <p:spPr>
            <a:xfrm>
              <a:off x="8191500" y="1285875"/>
              <a:ext cx="3505200" cy="66675"/>
            </a:xfrm>
            <a:prstGeom prst="roundRect">
              <a:avLst>
                <a:gd name="adj" fmla="val 50000"/>
              </a:avLst>
            </a:prstGeom>
            <a:solidFill>
              <a:srgbClr val="06B6D4"/>
            </a:solidFill>
            <a:ln>
              <a:noFill/>
            </a:ln>
          </p:spPr>
        </p:sp>
        <p:sp>
          <p:nvSpPr>
            <p:cNvPr id="43" name="TextBox 43"/>
            <p:cNvSpPr txBox="1"/>
            <p:nvPr/>
          </p:nvSpPr>
          <p:spPr>
            <a:xfrm>
              <a:off x="8458200" y="1619250"/>
              <a:ext cx="2971800" cy="7143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3150" b="1" dirty="0">
                  <a:solidFill>
                    <a:srgbClr val="0E7490"/>
                  </a:solidFill>
                  <a:latin typeface="Arial"/>
                  <a:ea typeface="Microsoft YaHei"/>
                  <a:cs typeface="Arial"/>
                </a:rPr>
                <a:t>审批</a:t>
              </a:r>
            </a:p>
          </p:txBody>
        </p:sp>
        <p:sp>
          <p:nvSpPr>
            <p:cNvPr id="44" name="Line 44"/>
            <p:cNvSpPr/>
            <p:nvPr/>
          </p:nvSpPr>
          <p:spPr>
            <a:xfrm>
              <a:off x="8686800" y="2476500"/>
              <a:ext cx="2514600" cy="9525"/>
            </a:xfrm>
            <a:custGeom>
              <a:avLst/>
              <a:gdLst/>
              <a:ahLst/>
              <a:cxnLst/>
              <a:rect l="l" t="t" r="r" b="b"/>
              <a:pathLst>
                <a:path w="2514600" h="9525">
                  <a:moveTo>
                    <a:pt x="0" y="0"/>
                  </a:moveTo>
                  <a:lnTo>
                    <a:pt x="2514600" y="0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45" name="TextBox 45"/>
            <p:cNvSpPr txBox="1"/>
            <p:nvPr/>
          </p:nvSpPr>
          <p:spPr>
            <a:xfrm>
              <a:off x="8458200" y="2562225"/>
              <a:ext cx="2971800" cy="3429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350" dirty="0">
                  <a:solidFill>
                    <a:srgbClr val="52657A"/>
                  </a:solidFill>
                  <a:latin typeface="Arial"/>
                  <a:ea typeface="Microsoft YaHei"/>
                  <a:cs typeface="Arial"/>
                </a:rPr>
                <a:t>HITL 中断-恢复</a:t>
              </a:r>
            </a:p>
          </p:txBody>
        </p:sp>
      </p:grp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666750"/>
          </a:xfrm>
          <a:prstGeom prst="rect">
            <a:avLst/>
          </a:prstGeom>
          <a:solidFill>
            <a:srgbClr val="0E7490"/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0"/>
            <a:ext cx="57150" cy="666750"/>
          </a:xfrm>
          <a:prstGeom prst="rect">
            <a:avLst/>
          </a:prstGeom>
          <a:solidFill>
            <a:srgbClr val="CC0000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381000" y="123825"/>
            <a:ext cx="762000" cy="4000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1275" b="1" dirty="0">
                <a:solidFill>
                  <a:srgbClr val="9FD3FF"/>
                </a:solidFill>
                <a:latin typeface="Arial"/>
                <a:ea typeface="Microsoft YaHei"/>
                <a:cs typeface="Arial"/>
              </a:rPr>
              <a:t>51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257300" y="95250"/>
            <a:ext cx="8096250" cy="457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21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优化拓展：多 Agent Graph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0001250" y="76200"/>
            <a:ext cx="1619250" cy="5143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3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DataAgent</a:t>
            </a:r>
          </a:p>
        </p:txBody>
      </p:sp>
      <p:sp>
        <p:nvSpPr>
          <p:cNvPr id="8" name="Rectangle 8"/>
          <p:cNvSpPr/>
          <p:nvPr/>
        </p:nvSpPr>
        <p:spPr>
          <a:xfrm>
            <a:off x="0" y="666750"/>
            <a:ext cx="12192000" cy="476250"/>
          </a:xfrm>
          <a:prstGeom prst="rect">
            <a:avLst/>
          </a:prstGeom>
          <a:solidFill>
            <a:srgbClr val="E8F4FC"/>
          </a:solidFill>
          <a:ln>
            <a:noFill/>
          </a:ln>
        </p:spPr>
      </p:sp>
      <p:sp>
        <p:nvSpPr>
          <p:cNvPr id="9" name="Rectangle 9"/>
          <p:cNvSpPr/>
          <p:nvPr/>
        </p:nvSpPr>
        <p:spPr>
          <a:xfrm>
            <a:off x="0" y="666750"/>
            <a:ext cx="57150" cy="476250"/>
          </a:xfrm>
          <a:prstGeom prst="rect">
            <a:avLst/>
          </a:prstGeom>
          <a:solidFill>
            <a:srgbClr val="06B6D4"/>
          </a:solidFill>
          <a:ln>
            <a:noFill/>
          </a:ln>
        </p:spPr>
      </p:sp>
      <p:sp>
        <p:nvSpPr>
          <p:cNvPr id="10" name="TextBox 10"/>
          <p:cNvSpPr txBox="1"/>
          <p:nvPr/>
        </p:nvSpPr>
        <p:spPr>
          <a:xfrm>
            <a:off x="381000" y="714375"/>
            <a:ext cx="10001250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1350" dirty="0">
                <a:solidFill>
                  <a:srgbClr val="26384A"/>
                </a:solidFill>
                <a:latin typeface="Arial"/>
                <a:ea typeface="Microsoft YaHei"/>
                <a:cs typeface="Arial"/>
              </a:rPr>
              <a:t>三个可持续优化抓手</a:t>
            </a:r>
          </a:p>
        </p:txBody>
      </p:sp>
      <p:sp>
        <p:nvSpPr>
          <p:cNvPr id="11" name="Line 11"/>
          <p:cNvSpPr/>
          <p:nvPr/>
        </p:nvSpPr>
        <p:spPr>
          <a:xfrm>
            <a:off x="381000" y="6334125"/>
            <a:ext cx="11430000" cy="9525"/>
          </a:xfrm>
          <a:custGeom>
            <a:avLst/>
            <a:gdLst/>
            <a:ahLst/>
            <a:cxnLst/>
            <a:rect l="l" t="t" r="r" b="b"/>
            <a:pathLst>
              <a:path w="11430000" h="9525">
                <a:moveTo>
                  <a:pt x="0" y="0"/>
                </a:moveTo>
                <a:lnTo>
                  <a:pt x="11430000" y="0"/>
                </a:lnTo>
              </a:path>
            </a:pathLst>
          </a:custGeom>
          <a:noFill/>
          <a:ln w="9525">
            <a:solidFill>
              <a:srgbClr val="E8F4FC"/>
            </a:solidFill>
          </a:ln>
        </p:spPr>
      </p:sp>
      <p:sp>
        <p:nvSpPr>
          <p:cNvPr id="12" name="TextBox 12"/>
          <p:cNvSpPr txBox="1"/>
          <p:nvPr/>
        </p:nvSpPr>
        <p:spPr>
          <a:xfrm>
            <a:off x="381000" y="6477000"/>
            <a:ext cx="4953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课程第15讲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4381500" y="6477000"/>
            <a:ext cx="3429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Agent Runtime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0763250" y="6457950"/>
            <a:ext cx="857250" cy="266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050" dirty="0">
                <a:solidFill>
                  <a:srgbClr val="52657A"/>
                </a:solidFill>
                <a:latin typeface="Arial"/>
                <a:ea typeface="Microsoft YaHei"/>
                <a:cs typeface="Arial"/>
              </a:rPr>
              <a:t>51</a:t>
            </a:r>
          </a:p>
        </p:txBody>
      </p:sp>
      <p:grpSp>
        <p:nvGrpSpPr>
          <p:cNvPr id="21" name="EasySlides Component: evidence_01"/>
          <p:cNvGrpSpPr/>
          <p:nvPr/>
        </p:nvGrpSpPr>
        <p:grpSpPr>
          <a:xfrm>
            <a:off x="495300" y="3524250"/>
            <a:ext cx="11201400" cy="1285875"/>
            <a:chOff x="495300" y="3524250"/>
            <a:chExt cx="11201400" cy="1285875"/>
          </a:xfrm>
        </p:grpSpPr>
        <p:sp>
          <p:nvSpPr>
            <p:cNvPr id="15" name="Rectangle 15"/>
            <p:cNvSpPr/>
            <p:nvPr/>
          </p:nvSpPr>
          <p:spPr>
            <a:xfrm>
              <a:off x="495300" y="3524250"/>
              <a:ext cx="11201400" cy="1285875"/>
            </a:xfrm>
            <a:prstGeom prst="roundRect">
              <a:avLst>
                <a:gd name="adj" fmla="val 2963"/>
              </a:avLst>
            </a:prstGeom>
            <a:solidFill>
              <a:srgbClr val="FFFFFF"/>
            </a:solidFill>
            <a:ln w="11430">
              <a:solidFill>
                <a:srgbClr val="B8C7D6"/>
              </a:solidFill>
            </a:ln>
          </p:spPr>
        </p:sp>
        <p:sp>
          <p:nvSpPr>
            <p:cNvPr id="16" name="Rectangle 16"/>
            <p:cNvSpPr/>
            <p:nvPr/>
          </p:nvSpPr>
          <p:spPr>
            <a:xfrm>
              <a:off x="495300" y="3524250"/>
              <a:ext cx="76200" cy="1285875"/>
            </a:xfrm>
            <a:prstGeom prst="roundRect">
              <a:avLst>
                <a:gd name="adj" fmla="val 50000"/>
              </a:avLst>
            </a:prstGeom>
            <a:solidFill>
              <a:srgbClr val="06B6D4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733425" y="3971925"/>
              <a:ext cx="438150" cy="5238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650" b="1" dirty="0">
                  <a:solidFill>
                    <a:srgbClr val="06B6D4"/>
                  </a:solidFill>
                  <a:latin typeface="Arial"/>
                  <a:ea typeface="Microsoft YaHei"/>
                  <a:cs typeface="Arial"/>
                </a:rPr>
                <a:t>01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1447800" y="3752850"/>
              <a:ext cx="2667000" cy="78105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575" b="1" dirty="0">
                  <a:solidFill>
                    <a:srgbClr val="0E7490"/>
                  </a:solidFill>
                  <a:latin typeface="Arial"/>
                  <a:ea typeface="Microsoft YaHei"/>
                  <a:cs typeface="Arial"/>
                </a:rPr>
                <a:t>资产化</a:t>
              </a:r>
            </a:p>
          </p:txBody>
        </p:sp>
        <p:sp>
          <p:nvSpPr>
            <p:cNvPr id="19" name="Line 19"/>
            <p:cNvSpPr/>
            <p:nvPr/>
          </p:nvSpPr>
          <p:spPr>
            <a:xfrm>
              <a:off x="4362450" y="3752850"/>
              <a:ext cx="9525" cy="828675"/>
            </a:xfrm>
            <a:custGeom>
              <a:avLst/>
              <a:gdLst/>
              <a:ahLst/>
              <a:cxnLst/>
              <a:rect l="l" t="t" r="r" b="b"/>
              <a:pathLst>
                <a:path w="9525" h="828675">
                  <a:moveTo>
                    <a:pt x="0" y="0"/>
                  </a:moveTo>
                  <a:lnTo>
                    <a:pt x="0" y="828675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4686300" y="3752850"/>
              <a:ext cx="6572250" cy="78105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425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「多 Agent Graph」优化一：把人工经验固化为资产（</a:t>
              </a:r>
            </a:p>
          </p:txBody>
        </p:sp>
      </p:grpSp>
      <p:grpSp>
        <p:nvGrpSpPr>
          <p:cNvPr id="28" name="EasySlides Component: evidence_02"/>
          <p:cNvGrpSpPr/>
          <p:nvPr/>
        </p:nvGrpSpPr>
        <p:grpSpPr>
          <a:xfrm>
            <a:off x="495300" y="4905375"/>
            <a:ext cx="11201400" cy="1285875"/>
            <a:chOff x="495300" y="4905375"/>
            <a:chExt cx="11201400" cy="1285875"/>
          </a:xfrm>
        </p:grpSpPr>
        <p:sp>
          <p:nvSpPr>
            <p:cNvPr id="22" name="Rectangle 22"/>
            <p:cNvSpPr/>
            <p:nvPr/>
          </p:nvSpPr>
          <p:spPr>
            <a:xfrm>
              <a:off x="495300" y="4905375"/>
              <a:ext cx="11201400" cy="1285875"/>
            </a:xfrm>
            <a:prstGeom prst="roundRect">
              <a:avLst>
                <a:gd name="adj" fmla="val 2963"/>
              </a:avLst>
            </a:prstGeom>
            <a:solidFill>
              <a:srgbClr val="FFFFFF"/>
            </a:solidFill>
            <a:ln w="11430">
              <a:solidFill>
                <a:srgbClr val="B8C7D6"/>
              </a:solidFill>
            </a:ln>
          </p:spPr>
        </p:sp>
        <p:sp>
          <p:nvSpPr>
            <p:cNvPr id="23" name="Rectangle 23"/>
            <p:cNvSpPr/>
            <p:nvPr/>
          </p:nvSpPr>
          <p:spPr>
            <a:xfrm>
              <a:off x="495300" y="4905375"/>
              <a:ext cx="76200" cy="1285875"/>
            </a:xfrm>
            <a:prstGeom prst="roundRect">
              <a:avLst>
                <a:gd name="adj" fmla="val 50000"/>
              </a:avLst>
            </a:prstGeom>
            <a:solidFill>
              <a:srgbClr val="06B6D4"/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733425" y="5353050"/>
              <a:ext cx="438150" cy="5238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650" b="1" dirty="0">
                  <a:solidFill>
                    <a:srgbClr val="06B6D4"/>
                  </a:solidFill>
                  <a:latin typeface="Arial"/>
                  <a:ea typeface="Microsoft YaHei"/>
                  <a:cs typeface="Arial"/>
                </a:rPr>
                <a:t>02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1447800" y="5133975"/>
              <a:ext cx="2667000" cy="78105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575" b="1" dirty="0">
                  <a:solidFill>
                    <a:srgbClr val="0E7490"/>
                  </a:solidFill>
                  <a:latin typeface="Arial"/>
                  <a:ea typeface="Microsoft YaHei"/>
                  <a:cs typeface="Arial"/>
                </a:rPr>
                <a:t>基线化</a:t>
              </a:r>
            </a:p>
          </p:txBody>
        </p:sp>
        <p:sp>
          <p:nvSpPr>
            <p:cNvPr id="26" name="Line 26"/>
            <p:cNvSpPr/>
            <p:nvPr/>
          </p:nvSpPr>
          <p:spPr>
            <a:xfrm>
              <a:off x="4362450" y="5133975"/>
              <a:ext cx="9525" cy="828675"/>
            </a:xfrm>
            <a:custGeom>
              <a:avLst/>
              <a:gdLst/>
              <a:ahLst/>
              <a:cxnLst/>
              <a:rect l="l" t="t" r="r" b="b"/>
              <a:pathLst>
                <a:path w="9525" h="828675">
                  <a:moveTo>
                    <a:pt x="0" y="0"/>
                  </a:moveTo>
                  <a:lnTo>
                    <a:pt x="0" y="828675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4686300" y="5133975"/>
              <a:ext cx="6572250" cy="78105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425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「多 Agent Graph」优化二：建立基线对照（关闭/盲</a:t>
              </a:r>
            </a:p>
          </p:txBody>
        </p:sp>
      </p:grpSp>
      <p:grpSp>
        <p:nvGrpSpPr>
          <p:cNvPr id="34" name="EasySlides Component: metric_01"/>
          <p:cNvGrpSpPr/>
          <p:nvPr/>
        </p:nvGrpSpPr>
        <p:grpSpPr>
          <a:xfrm>
            <a:off x="495300" y="1285875"/>
            <a:ext cx="3505200" cy="1809750"/>
            <a:chOff x="495300" y="1285875"/>
            <a:chExt cx="3505200" cy="1809750"/>
          </a:xfrm>
        </p:grpSpPr>
        <p:sp>
          <p:nvSpPr>
            <p:cNvPr id="29" name="Rectangle 29"/>
            <p:cNvSpPr/>
            <p:nvPr/>
          </p:nvSpPr>
          <p:spPr>
            <a:xfrm>
              <a:off x="495300" y="1285875"/>
              <a:ext cx="3505200" cy="1809750"/>
            </a:xfrm>
            <a:prstGeom prst="roundRect">
              <a:avLst>
                <a:gd name="adj" fmla="val 2105"/>
              </a:avLst>
            </a:prstGeom>
            <a:solidFill>
              <a:srgbClr val="F0F9FC"/>
            </a:solidFill>
            <a:ln w="11430">
              <a:solidFill>
                <a:srgbClr val="B8C7D6"/>
              </a:solidFill>
            </a:ln>
          </p:spPr>
        </p:sp>
        <p:sp>
          <p:nvSpPr>
            <p:cNvPr id="30" name="Rectangle 30"/>
            <p:cNvSpPr/>
            <p:nvPr/>
          </p:nvSpPr>
          <p:spPr>
            <a:xfrm>
              <a:off x="495300" y="1285875"/>
              <a:ext cx="3505200" cy="66675"/>
            </a:xfrm>
            <a:prstGeom prst="roundRect">
              <a:avLst>
                <a:gd name="adj" fmla="val 50000"/>
              </a:avLst>
            </a:prstGeom>
            <a:solidFill>
              <a:srgbClr val="06B6D4"/>
            </a:solidFill>
            <a:ln>
              <a:noFill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762000" y="1619250"/>
              <a:ext cx="2971800" cy="7143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3150" b="1" dirty="0">
                  <a:solidFill>
                    <a:srgbClr val="0E7490"/>
                  </a:solidFill>
                  <a:latin typeface="Arial"/>
                  <a:ea typeface="Microsoft YaHei"/>
                  <a:cs typeface="Arial"/>
                </a:rPr>
                <a:t>资产化</a:t>
              </a:r>
            </a:p>
          </p:txBody>
        </p:sp>
        <p:sp>
          <p:nvSpPr>
            <p:cNvPr id="32" name="Line 32"/>
            <p:cNvSpPr/>
            <p:nvPr/>
          </p:nvSpPr>
          <p:spPr>
            <a:xfrm>
              <a:off x="990600" y="2476500"/>
              <a:ext cx="2514600" cy="9525"/>
            </a:xfrm>
            <a:custGeom>
              <a:avLst/>
              <a:gdLst/>
              <a:ahLst/>
              <a:cxnLst/>
              <a:rect l="l" t="t" r="r" b="b"/>
              <a:pathLst>
                <a:path w="2514600" h="9525">
                  <a:moveTo>
                    <a:pt x="0" y="0"/>
                  </a:moveTo>
                  <a:lnTo>
                    <a:pt x="2514600" y="0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762000" y="2562225"/>
              <a:ext cx="2971800" cy="3429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350" dirty="0">
                  <a:solidFill>
                    <a:srgbClr val="52657A"/>
                  </a:solidFill>
                  <a:latin typeface="Arial"/>
                  <a:ea typeface="Microsoft YaHei"/>
                  <a:cs typeface="Arial"/>
                </a:rPr>
                <a:t>经验固化为规则/Skill</a:t>
              </a:r>
            </a:p>
          </p:txBody>
        </p:sp>
      </p:grpSp>
      <p:grpSp>
        <p:nvGrpSpPr>
          <p:cNvPr id="40" name="EasySlides Component: metric_02"/>
          <p:cNvGrpSpPr/>
          <p:nvPr/>
        </p:nvGrpSpPr>
        <p:grpSpPr>
          <a:xfrm>
            <a:off x="4343400" y="1285875"/>
            <a:ext cx="3505200" cy="1809750"/>
            <a:chOff x="4343400" y="1285875"/>
            <a:chExt cx="3505200" cy="1809750"/>
          </a:xfrm>
        </p:grpSpPr>
        <p:sp>
          <p:nvSpPr>
            <p:cNvPr id="35" name="Rectangle 35"/>
            <p:cNvSpPr/>
            <p:nvPr/>
          </p:nvSpPr>
          <p:spPr>
            <a:xfrm>
              <a:off x="4343400" y="1285875"/>
              <a:ext cx="3505200" cy="1809750"/>
            </a:xfrm>
            <a:prstGeom prst="roundRect">
              <a:avLst>
                <a:gd name="adj" fmla="val 2105"/>
              </a:avLst>
            </a:prstGeom>
            <a:solidFill>
              <a:srgbClr val="F0F9FC"/>
            </a:solidFill>
            <a:ln w="11430">
              <a:solidFill>
                <a:srgbClr val="B8C7D6"/>
              </a:solidFill>
            </a:ln>
          </p:spPr>
        </p:sp>
        <p:sp>
          <p:nvSpPr>
            <p:cNvPr id="36" name="Rectangle 36"/>
            <p:cNvSpPr/>
            <p:nvPr/>
          </p:nvSpPr>
          <p:spPr>
            <a:xfrm>
              <a:off x="4343400" y="1285875"/>
              <a:ext cx="3505200" cy="66675"/>
            </a:xfrm>
            <a:prstGeom prst="roundRect">
              <a:avLst>
                <a:gd name="adj" fmla="val 50000"/>
              </a:avLst>
            </a:prstGeom>
            <a:solidFill>
              <a:srgbClr val="06B6D4"/>
            </a:solidFill>
            <a:ln>
              <a:noFill/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4610100" y="1619250"/>
              <a:ext cx="2971800" cy="7143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3150" b="1" dirty="0">
                  <a:solidFill>
                    <a:srgbClr val="0E7490"/>
                  </a:solidFill>
                  <a:latin typeface="Arial"/>
                  <a:ea typeface="Microsoft YaHei"/>
                  <a:cs typeface="Arial"/>
                </a:rPr>
                <a:t>基线化</a:t>
              </a:r>
            </a:p>
          </p:txBody>
        </p:sp>
        <p:sp>
          <p:nvSpPr>
            <p:cNvPr id="38" name="Line 38"/>
            <p:cNvSpPr/>
            <p:nvPr/>
          </p:nvSpPr>
          <p:spPr>
            <a:xfrm>
              <a:off x="4838700" y="2476500"/>
              <a:ext cx="2514600" cy="9525"/>
            </a:xfrm>
            <a:custGeom>
              <a:avLst/>
              <a:gdLst/>
              <a:ahLst/>
              <a:cxnLst/>
              <a:rect l="l" t="t" r="r" b="b"/>
              <a:pathLst>
                <a:path w="2514600" h="9525">
                  <a:moveTo>
                    <a:pt x="0" y="0"/>
                  </a:moveTo>
                  <a:lnTo>
                    <a:pt x="2514600" y="0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4610100" y="2562225"/>
              <a:ext cx="2971800" cy="3429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350" dirty="0">
                  <a:solidFill>
                    <a:srgbClr val="52657A"/>
                  </a:solidFill>
                  <a:latin typeface="Arial"/>
                  <a:ea typeface="Microsoft YaHei"/>
                  <a:cs typeface="Arial"/>
                </a:rPr>
                <a:t>对照实验证明增量</a:t>
              </a:r>
            </a:p>
          </p:txBody>
        </p:sp>
      </p:grpSp>
      <p:grpSp>
        <p:nvGrpSpPr>
          <p:cNvPr id="46" name="EasySlides Component: metric_03"/>
          <p:cNvGrpSpPr/>
          <p:nvPr/>
        </p:nvGrpSpPr>
        <p:grpSpPr>
          <a:xfrm>
            <a:off x="8191500" y="1285875"/>
            <a:ext cx="3505200" cy="1809750"/>
            <a:chOff x="8191500" y="1285875"/>
            <a:chExt cx="3505200" cy="1809750"/>
          </a:xfrm>
        </p:grpSpPr>
        <p:sp>
          <p:nvSpPr>
            <p:cNvPr id="41" name="Rectangle 41"/>
            <p:cNvSpPr/>
            <p:nvPr/>
          </p:nvSpPr>
          <p:spPr>
            <a:xfrm>
              <a:off x="8191500" y="1285875"/>
              <a:ext cx="3505200" cy="1809750"/>
            </a:xfrm>
            <a:prstGeom prst="roundRect">
              <a:avLst>
                <a:gd name="adj" fmla="val 2105"/>
              </a:avLst>
            </a:prstGeom>
            <a:solidFill>
              <a:srgbClr val="F0F9FC"/>
            </a:solidFill>
            <a:ln w="11430">
              <a:solidFill>
                <a:srgbClr val="B8C7D6"/>
              </a:solidFill>
            </a:ln>
          </p:spPr>
        </p:sp>
        <p:sp>
          <p:nvSpPr>
            <p:cNvPr id="42" name="Rectangle 42"/>
            <p:cNvSpPr/>
            <p:nvPr/>
          </p:nvSpPr>
          <p:spPr>
            <a:xfrm>
              <a:off x="8191500" y="1285875"/>
              <a:ext cx="3505200" cy="66675"/>
            </a:xfrm>
            <a:prstGeom prst="roundRect">
              <a:avLst>
                <a:gd name="adj" fmla="val 50000"/>
              </a:avLst>
            </a:prstGeom>
            <a:solidFill>
              <a:srgbClr val="06B6D4"/>
            </a:solidFill>
            <a:ln>
              <a:noFill/>
            </a:ln>
          </p:spPr>
        </p:sp>
        <p:sp>
          <p:nvSpPr>
            <p:cNvPr id="43" name="TextBox 43"/>
            <p:cNvSpPr txBox="1"/>
            <p:nvPr/>
          </p:nvSpPr>
          <p:spPr>
            <a:xfrm>
              <a:off x="8458200" y="1619250"/>
              <a:ext cx="2971800" cy="7143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3150" b="1" dirty="0">
                  <a:solidFill>
                    <a:srgbClr val="0E7490"/>
                  </a:solidFill>
                  <a:latin typeface="Arial"/>
                  <a:ea typeface="Microsoft YaHei"/>
                  <a:cs typeface="Arial"/>
                </a:rPr>
                <a:t>观测化</a:t>
              </a:r>
            </a:p>
          </p:txBody>
        </p:sp>
        <p:sp>
          <p:nvSpPr>
            <p:cNvPr id="44" name="Line 44"/>
            <p:cNvSpPr/>
            <p:nvPr/>
          </p:nvSpPr>
          <p:spPr>
            <a:xfrm>
              <a:off x="8686800" y="2476500"/>
              <a:ext cx="2514600" cy="9525"/>
            </a:xfrm>
            <a:custGeom>
              <a:avLst/>
              <a:gdLst/>
              <a:ahLst/>
              <a:cxnLst/>
              <a:rect l="l" t="t" r="r" b="b"/>
              <a:pathLst>
                <a:path w="2514600" h="9525">
                  <a:moveTo>
                    <a:pt x="0" y="0"/>
                  </a:moveTo>
                  <a:lnTo>
                    <a:pt x="2514600" y="0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45" name="TextBox 45"/>
            <p:cNvSpPr txBox="1"/>
            <p:nvPr/>
          </p:nvSpPr>
          <p:spPr>
            <a:xfrm>
              <a:off x="8458200" y="2562225"/>
              <a:ext cx="2971800" cy="3429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350" dirty="0">
                  <a:solidFill>
                    <a:srgbClr val="52657A"/>
                  </a:solidFill>
                  <a:latin typeface="Arial"/>
                  <a:ea typeface="Microsoft YaHei"/>
                  <a:cs typeface="Arial"/>
                </a:rPr>
                <a:t>Trace/Baseline 先行</a:t>
              </a:r>
            </a:p>
          </p:txBody>
        </p:sp>
      </p:grp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E7490"/>
          </a:solidFill>
          <a:ln>
            <a:noFill/>
          </a:ln>
        </p:spPr>
      </p:sp>
      <p:sp>
        <p:nvSpPr>
          <p:cNvPr id="3" name="Freeform 3"/>
          <p:cNvSpPr/>
          <p:nvPr/>
        </p:nvSpPr>
        <p:spPr>
          <a:xfrm>
            <a:off x="5715000" y="0"/>
            <a:ext cx="6477000" cy="6858000"/>
          </a:xfrm>
          <a:custGeom>
            <a:avLst/>
            <a:gdLst/>
            <a:ahLst/>
            <a:cxnLst/>
            <a:rect l="l" t="t" r="r" b="b"/>
            <a:pathLst>
              <a:path w="6477000" h="6858000">
                <a:moveTo>
                  <a:pt x="1905000" y="0"/>
                </a:moveTo>
                <a:lnTo>
                  <a:pt x="6477000" y="0"/>
                </a:lnTo>
                <a:lnTo>
                  <a:pt x="6477000" y="6858000"/>
                </a:lnTo>
                <a:lnTo>
                  <a:pt x="0" y="6858000"/>
                </a:lnTo>
                <a:close/>
              </a:path>
            </a:pathLst>
          </a:custGeom>
          <a:solidFill>
            <a:srgbClr val="06B6D4">
              <a:alpha val="20000"/>
            </a:srgbClr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2286000"/>
            <a:ext cx="114300" cy="2286000"/>
          </a:xfrm>
          <a:prstGeom prst="rect">
            <a:avLst/>
          </a:prstGeom>
          <a:solidFill>
            <a:srgbClr val="CC0000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476250" y="2095500"/>
            <a:ext cx="2952750" cy="31432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8750" b="1" dirty="0">
                <a:solidFill>
                  <a:srgbClr val="FFFFFF">
                    <a:alphaMod val="10000"/>
                  </a:srgbClr>
                </a:solidFill>
                <a:latin typeface="Arial"/>
                <a:ea typeface="Microsoft YaHei"/>
                <a:cs typeface="Arial"/>
              </a:rPr>
              <a:t>52</a:t>
            </a:r>
          </a:p>
        </p:txBody>
      </p:sp>
      <p:sp>
        <p:nvSpPr>
          <p:cNvPr id="6" name="Line 6"/>
          <p:cNvSpPr/>
          <p:nvPr/>
        </p:nvSpPr>
        <p:spPr>
          <a:xfrm>
            <a:off x="3619500" y="2505075"/>
            <a:ext cx="1143000" cy="9525"/>
          </a:xfrm>
          <a:custGeom>
            <a:avLst/>
            <a:gdLst/>
            <a:ahLst/>
            <a:cxnLst/>
            <a:rect l="l" t="t" r="r" b="b"/>
            <a:pathLst>
              <a:path w="1143000" h="9525">
                <a:moveTo>
                  <a:pt x="0" y="0"/>
                </a:moveTo>
                <a:lnTo>
                  <a:pt x="1143000" y="0"/>
                </a:lnTo>
              </a:path>
            </a:pathLst>
          </a:custGeom>
          <a:noFill/>
          <a:ln w="57150">
            <a:solidFill>
              <a:srgbClr val="CC0000"/>
            </a:solidFill>
          </a:ln>
        </p:spPr>
      </p:sp>
      <p:sp>
        <p:nvSpPr>
          <p:cNvPr id="7" name="TextBox 7"/>
          <p:cNvSpPr txBox="1"/>
          <p:nvPr/>
        </p:nvSpPr>
        <p:spPr>
          <a:xfrm>
            <a:off x="3619500" y="2667000"/>
            <a:ext cx="7429500" cy="8763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42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概念详解：混合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3619500" y="3648075"/>
            <a:ext cx="7620000" cy="4191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1800" dirty="0">
                <a:solidFill>
                  <a:srgbClr val="E8F4FC"/>
                </a:solidFill>
                <a:latin typeface="Arial"/>
                <a:ea typeface="Microsoft YaHei"/>
                <a:cs typeface="Arial"/>
              </a:rPr>
              <a:t>「混合」指企业生产。在企业级语境下，它同时约束接口契约、生命周期与治理边界，而不只是一个名词。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6762750" y="6286500"/>
            <a:ext cx="4095750" cy="2857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r"/>
            <a:r>
              <a:rPr lang="zh-CN" sz="1200" dirty="0">
                <a:solidFill>
                  <a:srgbClr val="FFFFFF">
                    <a:alphaMod val="55000"/>
                  </a:srgbClr>
                </a:solidFill>
                <a:latin typeface="Arial"/>
                <a:ea typeface="Microsoft YaHei"/>
                <a:cs typeface="Arial"/>
              </a:rPr>
              <a:t>Agent Runtime 的混合架构选型与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666750"/>
          </a:xfrm>
          <a:prstGeom prst="rect">
            <a:avLst/>
          </a:prstGeom>
          <a:solidFill>
            <a:srgbClr val="0E7490"/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0"/>
            <a:ext cx="57150" cy="666750"/>
          </a:xfrm>
          <a:prstGeom prst="rect">
            <a:avLst/>
          </a:prstGeom>
          <a:solidFill>
            <a:srgbClr val="CC0000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381000" y="123825"/>
            <a:ext cx="762000" cy="4000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1275" b="1" dirty="0">
                <a:solidFill>
                  <a:srgbClr val="9FD3FF"/>
                </a:solidFill>
                <a:latin typeface="Arial"/>
                <a:ea typeface="Microsoft YaHei"/>
                <a:cs typeface="Arial"/>
              </a:rPr>
              <a:t>53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257300" y="95250"/>
            <a:ext cx="8096250" cy="457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21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定义与内涵：混合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0001250" y="76200"/>
            <a:ext cx="1619250" cy="5143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3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DataAgent</a:t>
            </a:r>
          </a:p>
        </p:txBody>
      </p:sp>
      <p:sp>
        <p:nvSpPr>
          <p:cNvPr id="8" name="Rectangle 8"/>
          <p:cNvSpPr/>
          <p:nvPr/>
        </p:nvSpPr>
        <p:spPr>
          <a:xfrm>
            <a:off x="0" y="666750"/>
            <a:ext cx="12192000" cy="476250"/>
          </a:xfrm>
          <a:prstGeom prst="rect">
            <a:avLst/>
          </a:prstGeom>
          <a:solidFill>
            <a:srgbClr val="E8F4FC"/>
          </a:solidFill>
          <a:ln>
            <a:noFill/>
          </a:ln>
        </p:spPr>
      </p:sp>
      <p:sp>
        <p:nvSpPr>
          <p:cNvPr id="9" name="Rectangle 9"/>
          <p:cNvSpPr/>
          <p:nvPr/>
        </p:nvSpPr>
        <p:spPr>
          <a:xfrm>
            <a:off x="0" y="666750"/>
            <a:ext cx="57150" cy="476250"/>
          </a:xfrm>
          <a:prstGeom prst="rect">
            <a:avLst/>
          </a:prstGeom>
          <a:solidFill>
            <a:srgbClr val="06B6D4"/>
          </a:solidFill>
          <a:ln>
            <a:noFill/>
          </a:ln>
        </p:spPr>
      </p:sp>
      <p:sp>
        <p:nvSpPr>
          <p:cNvPr id="10" name="TextBox 10"/>
          <p:cNvSpPr txBox="1"/>
          <p:nvPr/>
        </p:nvSpPr>
        <p:spPr>
          <a:xfrm>
            <a:off x="381000" y="714375"/>
            <a:ext cx="10001250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1350" dirty="0">
                <a:solidFill>
                  <a:srgbClr val="26384A"/>
                </a:solidFill>
                <a:latin typeface="Arial"/>
                <a:ea typeface="Microsoft YaHei"/>
                <a:cs typeface="Arial"/>
              </a:rPr>
              <a:t>把混合讲透：是什么、不是什么</a:t>
            </a:r>
          </a:p>
        </p:txBody>
      </p:sp>
      <p:sp>
        <p:nvSpPr>
          <p:cNvPr id="11" name="Line 11"/>
          <p:cNvSpPr/>
          <p:nvPr/>
        </p:nvSpPr>
        <p:spPr>
          <a:xfrm>
            <a:off x="381000" y="6334125"/>
            <a:ext cx="11430000" cy="9525"/>
          </a:xfrm>
          <a:custGeom>
            <a:avLst/>
            <a:gdLst/>
            <a:ahLst/>
            <a:cxnLst/>
            <a:rect l="l" t="t" r="r" b="b"/>
            <a:pathLst>
              <a:path w="11430000" h="9525">
                <a:moveTo>
                  <a:pt x="0" y="0"/>
                </a:moveTo>
                <a:lnTo>
                  <a:pt x="11430000" y="0"/>
                </a:lnTo>
              </a:path>
            </a:pathLst>
          </a:custGeom>
          <a:noFill/>
          <a:ln w="9525">
            <a:solidFill>
              <a:srgbClr val="E8F4FC"/>
            </a:solidFill>
          </a:ln>
        </p:spPr>
      </p:sp>
      <p:sp>
        <p:nvSpPr>
          <p:cNvPr id="12" name="TextBox 12"/>
          <p:cNvSpPr txBox="1"/>
          <p:nvPr/>
        </p:nvSpPr>
        <p:spPr>
          <a:xfrm>
            <a:off x="381000" y="6477000"/>
            <a:ext cx="4953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课程第15讲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4381500" y="6477000"/>
            <a:ext cx="3429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Agent Runtime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0763250" y="6457950"/>
            <a:ext cx="857250" cy="266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050" dirty="0">
                <a:solidFill>
                  <a:srgbClr val="52657A"/>
                </a:solidFill>
                <a:latin typeface="Arial"/>
                <a:ea typeface="Microsoft YaHei"/>
                <a:cs typeface="Arial"/>
              </a:rPr>
              <a:t>53</a:t>
            </a:r>
          </a:p>
        </p:txBody>
      </p:sp>
      <p:grpSp>
        <p:nvGrpSpPr>
          <p:cNvPr id="21" name="EasySlides Component: evidence_01"/>
          <p:cNvGrpSpPr/>
          <p:nvPr/>
        </p:nvGrpSpPr>
        <p:grpSpPr>
          <a:xfrm>
            <a:off x="495300" y="2095500"/>
            <a:ext cx="11201400" cy="1285875"/>
            <a:chOff x="495300" y="2095500"/>
            <a:chExt cx="11201400" cy="1285875"/>
          </a:xfrm>
        </p:grpSpPr>
        <p:sp>
          <p:nvSpPr>
            <p:cNvPr id="15" name="Rectangle 15"/>
            <p:cNvSpPr/>
            <p:nvPr/>
          </p:nvSpPr>
          <p:spPr>
            <a:xfrm>
              <a:off x="495300" y="2095500"/>
              <a:ext cx="11201400" cy="1285875"/>
            </a:xfrm>
            <a:prstGeom prst="roundRect">
              <a:avLst>
                <a:gd name="adj" fmla="val 2963"/>
              </a:avLst>
            </a:prstGeom>
            <a:solidFill>
              <a:srgbClr val="FFFFFF"/>
            </a:solidFill>
            <a:ln w="11430">
              <a:solidFill>
                <a:srgbClr val="B8C7D6"/>
              </a:solidFill>
            </a:ln>
          </p:spPr>
        </p:sp>
        <p:sp>
          <p:nvSpPr>
            <p:cNvPr id="16" name="Rectangle 16"/>
            <p:cNvSpPr/>
            <p:nvPr/>
          </p:nvSpPr>
          <p:spPr>
            <a:xfrm>
              <a:off x="495300" y="2095500"/>
              <a:ext cx="76200" cy="1285875"/>
            </a:xfrm>
            <a:prstGeom prst="roundRect">
              <a:avLst>
                <a:gd name="adj" fmla="val 50000"/>
              </a:avLst>
            </a:prstGeom>
            <a:solidFill>
              <a:srgbClr val="06B6D4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733425" y="2543175"/>
              <a:ext cx="438150" cy="5238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650" b="1" dirty="0">
                  <a:solidFill>
                    <a:srgbClr val="06B6D4"/>
                  </a:solidFill>
                  <a:latin typeface="Arial"/>
                  <a:ea typeface="Microsoft YaHei"/>
                  <a:cs typeface="Arial"/>
                </a:rPr>
                <a:t>01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1447800" y="2324100"/>
              <a:ext cx="2667000" cy="78105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575" b="1" dirty="0">
                  <a:solidFill>
                    <a:srgbClr val="0E7490"/>
                  </a:solidFill>
                  <a:latin typeface="Arial"/>
                  <a:ea typeface="Microsoft YaHei"/>
                  <a:cs typeface="Arial"/>
                </a:rPr>
                <a:t>定义</a:t>
              </a:r>
            </a:p>
          </p:txBody>
        </p:sp>
        <p:sp>
          <p:nvSpPr>
            <p:cNvPr id="19" name="Line 19"/>
            <p:cNvSpPr/>
            <p:nvPr/>
          </p:nvSpPr>
          <p:spPr>
            <a:xfrm>
              <a:off x="4362450" y="2324100"/>
              <a:ext cx="9525" cy="828675"/>
            </a:xfrm>
            <a:custGeom>
              <a:avLst/>
              <a:gdLst/>
              <a:ahLst/>
              <a:cxnLst/>
              <a:rect l="l" t="t" r="r" b="b"/>
              <a:pathLst>
                <a:path w="9525" h="828675">
                  <a:moveTo>
                    <a:pt x="0" y="0"/>
                  </a:moveTo>
                  <a:lnTo>
                    <a:pt x="0" y="828675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4686300" y="2324100"/>
              <a:ext cx="6572250" cy="78105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425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「混合」指企业生产。在企业级语境下，它同时约束接口契约、生命周期与治理边界，而不</a:t>
              </a:r>
            </a:p>
          </p:txBody>
        </p:sp>
      </p:grpSp>
      <p:grpSp>
        <p:nvGrpSpPr>
          <p:cNvPr id="28" name="EasySlides Component: evidence_02"/>
          <p:cNvGrpSpPr/>
          <p:nvPr/>
        </p:nvGrpSpPr>
        <p:grpSpPr>
          <a:xfrm>
            <a:off x="495300" y="3571875"/>
            <a:ext cx="11201400" cy="1285875"/>
            <a:chOff x="495300" y="3571875"/>
            <a:chExt cx="11201400" cy="1285875"/>
          </a:xfrm>
        </p:grpSpPr>
        <p:sp>
          <p:nvSpPr>
            <p:cNvPr id="22" name="Rectangle 22"/>
            <p:cNvSpPr/>
            <p:nvPr/>
          </p:nvSpPr>
          <p:spPr>
            <a:xfrm>
              <a:off x="495300" y="3571875"/>
              <a:ext cx="11201400" cy="1285875"/>
            </a:xfrm>
            <a:prstGeom prst="roundRect">
              <a:avLst>
                <a:gd name="adj" fmla="val 2963"/>
              </a:avLst>
            </a:prstGeom>
            <a:solidFill>
              <a:srgbClr val="FFFFFF"/>
            </a:solidFill>
            <a:ln w="11430">
              <a:solidFill>
                <a:srgbClr val="B8C7D6"/>
              </a:solidFill>
            </a:ln>
          </p:spPr>
        </p:sp>
        <p:sp>
          <p:nvSpPr>
            <p:cNvPr id="23" name="Rectangle 23"/>
            <p:cNvSpPr/>
            <p:nvPr/>
          </p:nvSpPr>
          <p:spPr>
            <a:xfrm>
              <a:off x="495300" y="3571875"/>
              <a:ext cx="76200" cy="1285875"/>
            </a:xfrm>
            <a:prstGeom prst="roundRect">
              <a:avLst>
                <a:gd name="adj" fmla="val 50000"/>
              </a:avLst>
            </a:prstGeom>
            <a:solidFill>
              <a:srgbClr val="06B6D4"/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733425" y="4019550"/>
              <a:ext cx="438150" cy="5238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650" b="1" dirty="0">
                  <a:solidFill>
                    <a:srgbClr val="06B6D4"/>
                  </a:solidFill>
                  <a:latin typeface="Arial"/>
                  <a:ea typeface="Microsoft YaHei"/>
                  <a:cs typeface="Arial"/>
                </a:rPr>
                <a:t>02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1447800" y="3800475"/>
              <a:ext cx="2667000" cy="78105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575" b="1" dirty="0">
                  <a:solidFill>
                    <a:srgbClr val="0E7490"/>
                  </a:solidFill>
                  <a:latin typeface="Arial"/>
                  <a:ea typeface="Microsoft YaHei"/>
                  <a:cs typeface="Arial"/>
                </a:rPr>
                <a:t>何时选</a:t>
              </a:r>
            </a:p>
          </p:txBody>
        </p:sp>
        <p:sp>
          <p:nvSpPr>
            <p:cNvPr id="26" name="Line 26"/>
            <p:cNvSpPr/>
            <p:nvPr/>
          </p:nvSpPr>
          <p:spPr>
            <a:xfrm>
              <a:off x="4362450" y="3800475"/>
              <a:ext cx="9525" cy="828675"/>
            </a:xfrm>
            <a:custGeom>
              <a:avLst/>
              <a:gdLst/>
              <a:ahLst/>
              <a:cxnLst/>
              <a:rect l="l" t="t" r="r" b="b"/>
              <a:pathLst>
                <a:path w="9525" h="828675">
                  <a:moveTo>
                    <a:pt x="0" y="0"/>
                  </a:moveTo>
                  <a:lnTo>
                    <a:pt x="0" y="828675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4686300" y="3800475"/>
              <a:ext cx="6572250" cy="78105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425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何时选维度：企业生产</a:t>
              </a:r>
            </a:p>
          </p:txBody>
        </p:sp>
      </p:grpSp>
      <p:grpSp>
        <p:nvGrpSpPr>
          <p:cNvPr id="35" name="EasySlides Component: evidence_03"/>
          <p:cNvGrpSpPr/>
          <p:nvPr/>
        </p:nvGrpSpPr>
        <p:grpSpPr>
          <a:xfrm>
            <a:off x="495300" y="4905375"/>
            <a:ext cx="11201400" cy="1285875"/>
            <a:chOff x="495300" y="4905375"/>
            <a:chExt cx="11201400" cy="1285875"/>
          </a:xfrm>
        </p:grpSpPr>
        <p:sp>
          <p:nvSpPr>
            <p:cNvPr id="29" name="Rectangle 29"/>
            <p:cNvSpPr/>
            <p:nvPr/>
          </p:nvSpPr>
          <p:spPr>
            <a:xfrm>
              <a:off x="495300" y="4905375"/>
              <a:ext cx="11201400" cy="1285875"/>
            </a:xfrm>
            <a:prstGeom prst="roundRect">
              <a:avLst>
                <a:gd name="adj" fmla="val 2963"/>
              </a:avLst>
            </a:prstGeom>
            <a:solidFill>
              <a:srgbClr val="FFFFFF"/>
            </a:solidFill>
            <a:ln w="11430">
              <a:solidFill>
                <a:srgbClr val="B8C7D6"/>
              </a:solidFill>
            </a:ln>
          </p:spPr>
        </p:sp>
        <p:sp>
          <p:nvSpPr>
            <p:cNvPr id="30" name="Rectangle 30"/>
            <p:cNvSpPr/>
            <p:nvPr/>
          </p:nvSpPr>
          <p:spPr>
            <a:xfrm>
              <a:off x="495300" y="4905375"/>
              <a:ext cx="76200" cy="1285875"/>
            </a:xfrm>
            <a:prstGeom prst="roundRect">
              <a:avLst>
                <a:gd name="adj" fmla="val 50000"/>
              </a:avLst>
            </a:prstGeom>
            <a:solidFill>
              <a:srgbClr val="06B6D4"/>
            </a:solidFill>
            <a:ln>
              <a:noFill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733425" y="5353050"/>
              <a:ext cx="438150" cy="5238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650" b="1" dirty="0">
                  <a:solidFill>
                    <a:srgbClr val="06B6D4"/>
                  </a:solidFill>
                  <a:latin typeface="Arial"/>
                  <a:ea typeface="Microsoft YaHei"/>
                  <a:cs typeface="Arial"/>
                </a:rPr>
                <a:t>03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1447800" y="5133975"/>
              <a:ext cx="2667000" cy="78105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575" b="1" dirty="0">
                  <a:solidFill>
                    <a:srgbClr val="0E7490"/>
                  </a:solidFill>
                  <a:latin typeface="Arial"/>
                  <a:ea typeface="Microsoft YaHei"/>
                  <a:cs typeface="Arial"/>
                </a:rPr>
                <a:t>要点</a:t>
              </a:r>
            </a:p>
          </p:txBody>
        </p:sp>
        <p:sp>
          <p:nvSpPr>
            <p:cNvPr id="33" name="Line 33"/>
            <p:cNvSpPr/>
            <p:nvPr/>
          </p:nvSpPr>
          <p:spPr>
            <a:xfrm>
              <a:off x="4362450" y="5133975"/>
              <a:ext cx="9525" cy="828675"/>
            </a:xfrm>
            <a:custGeom>
              <a:avLst/>
              <a:gdLst/>
              <a:ahLst/>
              <a:cxnLst/>
              <a:rect l="l" t="t" r="r" b="b"/>
              <a:pathLst>
                <a:path w="9525" h="828675">
                  <a:moveTo>
                    <a:pt x="0" y="0"/>
                  </a:moveTo>
                  <a:lnTo>
                    <a:pt x="0" y="828675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4686300" y="5133975"/>
              <a:ext cx="6572250" cy="78105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425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要点维度：企业生产</a:t>
              </a:r>
            </a:p>
          </p:txBody>
        </p:sp>
      </p:grpSp>
      <p:grpSp>
        <p:nvGrpSpPr>
          <p:cNvPr id="39" name="EasySlides Component: synthesis"/>
          <p:cNvGrpSpPr/>
          <p:nvPr/>
        </p:nvGrpSpPr>
        <p:grpSpPr>
          <a:xfrm>
            <a:off x="495300" y="1285875"/>
            <a:ext cx="11201400" cy="714375"/>
            <a:chOff x="495300" y="1285875"/>
            <a:chExt cx="11201400" cy="714375"/>
          </a:xfrm>
        </p:grpSpPr>
        <p:sp>
          <p:nvSpPr>
            <p:cNvPr id="36" name="Rectangle 36"/>
            <p:cNvSpPr/>
            <p:nvPr/>
          </p:nvSpPr>
          <p:spPr>
            <a:xfrm>
              <a:off x="495300" y="1285875"/>
              <a:ext cx="11201400" cy="714375"/>
            </a:xfrm>
            <a:prstGeom prst="roundRect">
              <a:avLst>
                <a:gd name="adj" fmla="val 5333"/>
              </a:avLst>
            </a:prstGeom>
            <a:solidFill>
              <a:srgbClr val="0E7490"/>
            </a:solidFill>
            <a:ln>
              <a:noFill/>
            </a:ln>
          </p:spPr>
        </p:sp>
        <p:sp>
          <p:nvSpPr>
            <p:cNvPr id="37" name="Rectangle 37"/>
            <p:cNvSpPr/>
            <p:nvPr/>
          </p:nvSpPr>
          <p:spPr>
            <a:xfrm>
              <a:off x="495300" y="1285875"/>
              <a:ext cx="76200" cy="714375"/>
            </a:xfrm>
            <a:prstGeom prst="roundRect">
              <a:avLst>
                <a:gd name="adj" fmla="val 50000"/>
              </a:avLst>
            </a:prstGeom>
            <a:solidFill>
              <a:srgbClr val="CC0000"/>
            </a:solidFill>
            <a:ln>
              <a:noFill/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876300" y="1419225"/>
              <a:ext cx="10439400" cy="4476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65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自主与流程的混合编排：Harness 负责探索，Workflow 负责收口。</a:t>
              </a:r>
            </a:p>
          </p:txBody>
        </p:sp>
      </p:grp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666750"/>
          </a:xfrm>
          <a:prstGeom prst="rect">
            <a:avLst/>
          </a:prstGeom>
          <a:solidFill>
            <a:srgbClr val="0E7490"/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0"/>
            <a:ext cx="57150" cy="666750"/>
          </a:xfrm>
          <a:prstGeom prst="rect">
            <a:avLst/>
          </a:prstGeom>
          <a:solidFill>
            <a:srgbClr val="CC0000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381000" y="123825"/>
            <a:ext cx="762000" cy="4000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1275" b="1" dirty="0">
                <a:solidFill>
                  <a:srgbClr val="9FD3FF"/>
                </a:solidFill>
                <a:latin typeface="Arial"/>
                <a:ea typeface="Microsoft YaHei"/>
                <a:cs typeface="Arial"/>
              </a:rPr>
              <a:t>54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257300" y="95250"/>
            <a:ext cx="8096250" cy="457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21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机制图解：混合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0001250" y="76200"/>
            <a:ext cx="1619250" cy="5143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3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DataAgent</a:t>
            </a:r>
          </a:p>
        </p:txBody>
      </p:sp>
      <p:sp>
        <p:nvSpPr>
          <p:cNvPr id="8" name="Rectangle 8"/>
          <p:cNvSpPr/>
          <p:nvPr/>
        </p:nvSpPr>
        <p:spPr>
          <a:xfrm>
            <a:off x="0" y="666750"/>
            <a:ext cx="12192000" cy="476250"/>
          </a:xfrm>
          <a:prstGeom prst="rect">
            <a:avLst/>
          </a:prstGeom>
          <a:solidFill>
            <a:srgbClr val="E8F4FC"/>
          </a:solidFill>
          <a:ln>
            <a:noFill/>
          </a:ln>
        </p:spPr>
      </p:sp>
      <p:sp>
        <p:nvSpPr>
          <p:cNvPr id="9" name="Rectangle 9"/>
          <p:cNvSpPr/>
          <p:nvPr/>
        </p:nvSpPr>
        <p:spPr>
          <a:xfrm>
            <a:off x="0" y="666750"/>
            <a:ext cx="57150" cy="476250"/>
          </a:xfrm>
          <a:prstGeom prst="rect">
            <a:avLst/>
          </a:prstGeom>
          <a:solidFill>
            <a:srgbClr val="06B6D4"/>
          </a:solidFill>
          <a:ln>
            <a:noFill/>
          </a:ln>
        </p:spPr>
      </p:sp>
      <p:sp>
        <p:nvSpPr>
          <p:cNvPr id="10" name="TextBox 10"/>
          <p:cNvSpPr txBox="1"/>
          <p:nvPr/>
        </p:nvSpPr>
        <p:spPr>
          <a:xfrm>
            <a:off x="381000" y="714375"/>
            <a:ext cx="10001250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1350" dirty="0">
                <a:solidFill>
                  <a:srgbClr val="26384A"/>
                </a:solidFill>
                <a:latin typeface="Arial"/>
                <a:ea typeface="Microsoft YaHei"/>
                <a:cs typeface="Arial"/>
              </a:rPr>
              <a:t>一图看懂运行机制与数据流</a:t>
            </a:r>
          </a:p>
        </p:txBody>
      </p:sp>
      <p:sp>
        <p:nvSpPr>
          <p:cNvPr id="11" name="Line 11"/>
          <p:cNvSpPr/>
          <p:nvPr/>
        </p:nvSpPr>
        <p:spPr>
          <a:xfrm>
            <a:off x="381000" y="6334125"/>
            <a:ext cx="11430000" cy="9525"/>
          </a:xfrm>
          <a:custGeom>
            <a:avLst/>
            <a:gdLst/>
            <a:ahLst/>
            <a:cxnLst/>
            <a:rect l="l" t="t" r="r" b="b"/>
            <a:pathLst>
              <a:path w="11430000" h="9525">
                <a:moveTo>
                  <a:pt x="0" y="0"/>
                </a:moveTo>
                <a:lnTo>
                  <a:pt x="11430000" y="0"/>
                </a:lnTo>
              </a:path>
            </a:pathLst>
          </a:custGeom>
          <a:noFill/>
          <a:ln w="9525">
            <a:solidFill>
              <a:srgbClr val="E8F4FC"/>
            </a:solidFill>
          </a:ln>
        </p:spPr>
      </p:sp>
      <p:sp>
        <p:nvSpPr>
          <p:cNvPr id="12" name="TextBox 12"/>
          <p:cNvSpPr txBox="1"/>
          <p:nvPr/>
        </p:nvSpPr>
        <p:spPr>
          <a:xfrm>
            <a:off x="381000" y="6477000"/>
            <a:ext cx="4953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课程第15讲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4381500" y="6477000"/>
            <a:ext cx="3429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Agent Runtime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0763250" y="6457950"/>
            <a:ext cx="857250" cy="266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050" dirty="0">
                <a:solidFill>
                  <a:srgbClr val="52657A"/>
                </a:solidFill>
                <a:latin typeface="Arial"/>
                <a:ea typeface="Microsoft YaHei"/>
                <a:cs typeface="Arial"/>
              </a:rPr>
              <a:t>54</a:t>
            </a:r>
          </a:p>
        </p:txBody>
      </p:sp>
      <p:grpSp>
        <p:nvGrpSpPr>
          <p:cNvPr id="26" name="EasySlides Component: evidence"/>
          <p:cNvGrpSpPr/>
          <p:nvPr/>
        </p:nvGrpSpPr>
        <p:grpSpPr>
          <a:xfrm>
            <a:off x="7124700" y="1285875"/>
            <a:ext cx="4572000" cy="4905375"/>
            <a:chOff x="7124700" y="1285875"/>
            <a:chExt cx="4572000" cy="4905375"/>
          </a:xfrm>
        </p:grpSpPr>
        <p:sp>
          <p:nvSpPr>
            <p:cNvPr id="15" name="Rectangle 15"/>
            <p:cNvSpPr/>
            <p:nvPr/>
          </p:nvSpPr>
          <p:spPr>
            <a:xfrm>
              <a:off x="7124700" y="1285875"/>
              <a:ext cx="4572000" cy="4905375"/>
            </a:xfrm>
            <a:prstGeom prst="roundRect">
              <a:avLst>
                <a:gd name="adj" fmla="val 833"/>
              </a:avLst>
            </a:prstGeom>
            <a:solidFill>
              <a:srgbClr val="F0F9FC"/>
            </a:solidFill>
            <a:ln w="11430">
              <a:solidFill>
                <a:srgbClr val="B8C7D6"/>
              </a:solidFill>
            </a:ln>
          </p:spPr>
        </p:sp>
        <p:sp>
          <p:nvSpPr>
            <p:cNvPr id="16" name="Rectangle 16"/>
            <p:cNvSpPr/>
            <p:nvPr/>
          </p:nvSpPr>
          <p:spPr>
            <a:xfrm>
              <a:off x="7124700" y="1285875"/>
              <a:ext cx="76200" cy="4905375"/>
            </a:xfrm>
            <a:prstGeom prst="rect">
              <a:avLst/>
            </a:prstGeom>
            <a:solidFill>
              <a:srgbClr val="06B6D4"/>
            </a:solidFill>
            <a:ln>
              <a:noFill/>
            </a:ln>
          </p:spPr>
        </p:sp>
        <p:sp>
          <p:nvSpPr>
            <p:cNvPr id="17" name="Rectangle 17"/>
            <p:cNvSpPr/>
            <p:nvPr/>
          </p:nvSpPr>
          <p:spPr>
            <a:xfrm>
              <a:off x="7391400" y="1552575"/>
              <a:ext cx="4038600" cy="1257300"/>
            </a:xfrm>
            <a:prstGeom prst="roundRect">
              <a:avLst>
                <a:gd name="adj" fmla="val 1515"/>
              </a:avLst>
            </a:prstGeom>
            <a:solidFill>
              <a:srgbClr val="FFFFFF"/>
            </a:solidFill>
            <a:ln w="9525">
              <a:solidFill>
                <a:srgbClr val="D4E2EE"/>
              </a:solidFill>
            </a:ln>
          </p:spPr>
        </p:sp>
        <p:sp>
          <p:nvSpPr>
            <p:cNvPr id="18" name="Rectangle 18"/>
            <p:cNvSpPr/>
            <p:nvPr/>
          </p:nvSpPr>
          <p:spPr>
            <a:xfrm>
              <a:off x="7391400" y="3105150"/>
              <a:ext cx="4038600" cy="1257300"/>
            </a:xfrm>
            <a:prstGeom prst="roundRect">
              <a:avLst>
                <a:gd name="adj" fmla="val 1515"/>
              </a:avLst>
            </a:prstGeom>
            <a:solidFill>
              <a:srgbClr val="FFFFFF"/>
            </a:solidFill>
            <a:ln w="9525">
              <a:solidFill>
                <a:srgbClr val="D4E2EE"/>
              </a:solidFill>
            </a:ln>
          </p:spPr>
        </p:sp>
        <p:sp>
          <p:nvSpPr>
            <p:cNvPr id="19" name="Rectangle 19"/>
            <p:cNvSpPr/>
            <p:nvPr/>
          </p:nvSpPr>
          <p:spPr>
            <a:xfrm>
              <a:off x="7391400" y="4657725"/>
              <a:ext cx="4038600" cy="1257300"/>
            </a:xfrm>
            <a:prstGeom prst="roundRect">
              <a:avLst>
                <a:gd name="adj" fmla="val 1515"/>
              </a:avLst>
            </a:prstGeom>
            <a:solidFill>
              <a:srgbClr val="FFFFFF"/>
            </a:solidFill>
            <a:ln w="9525">
              <a:solidFill>
                <a:srgbClr val="D4E2EE"/>
              </a:solidFill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7605712" y="1745456"/>
              <a:ext cx="220156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06B6D4"/>
                  </a:solidFill>
                  <a:latin typeface="Arial"/>
                  <a:ea typeface="Microsoft YaHei"/>
                  <a:cs typeface="Arial"/>
                </a:rPr>
                <a:t>01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7605712" y="3298031"/>
              <a:ext cx="220156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06B6D4"/>
                  </a:solidFill>
                  <a:latin typeface="Arial"/>
                  <a:ea typeface="Microsoft YaHei"/>
                  <a:cs typeface="Arial"/>
                </a:rPr>
                <a:t>02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7605712" y="4850606"/>
              <a:ext cx="220156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CC0000"/>
                  </a:solidFill>
                  <a:latin typeface="Arial"/>
                  <a:ea typeface="Microsoft YaHei"/>
                  <a:cs typeface="Arial"/>
                </a:rPr>
                <a:t>03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7848600" y="1819275"/>
              <a:ext cx="3314700" cy="7239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425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「混合」的运行机制分三步：输入契约校验 → 核心转换执行 → 结果验证与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7848600" y="3371850"/>
              <a:ext cx="3314700" cy="7239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425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关键环节：契约→执行→验证→留痕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7848600" y="4924425"/>
              <a:ext cx="3314700" cy="7239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425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落点：仓库验证</a:t>
              </a:r>
            </a:p>
          </p:txBody>
        </p:sp>
      </p:grpSp>
      <p:grpSp>
        <p:nvGrpSpPr>
          <p:cNvPr id="32" name="EasySlides Component: figure"/>
          <p:cNvGrpSpPr/>
          <p:nvPr/>
        </p:nvGrpSpPr>
        <p:grpSpPr>
          <a:xfrm>
            <a:off x="495300" y="1285875"/>
            <a:ext cx="6400800" cy="4905375"/>
            <a:chOff x="495300" y="1285875"/>
            <a:chExt cx="6400800" cy="4905375"/>
          </a:xfrm>
        </p:grpSpPr>
        <p:sp>
          <p:nvSpPr>
            <p:cNvPr id="27" name="Rectangle 27"/>
            <p:cNvSpPr/>
            <p:nvPr/>
          </p:nvSpPr>
          <p:spPr>
            <a:xfrm>
              <a:off x="495300" y="1285875"/>
              <a:ext cx="6400800" cy="4905375"/>
            </a:xfrm>
            <a:prstGeom prst="roundRect">
              <a:avLst>
                <a:gd name="adj" fmla="val 777"/>
              </a:avLst>
            </a:prstGeom>
            <a:solidFill>
              <a:srgbClr val="FFFFFF"/>
            </a:solidFill>
            <a:ln w="11430">
              <a:solidFill>
                <a:srgbClr val="B8C7D6"/>
              </a:solidFill>
            </a:ln>
          </p:spPr>
        </p:sp>
        <p:sp>
          <p:nvSpPr>
            <p:cNvPr id="28" name="Rectangle 28"/>
            <p:cNvSpPr/>
            <p:nvPr/>
          </p:nvSpPr>
          <p:spPr>
            <a:xfrm>
              <a:off x="647700" y="1438275"/>
              <a:ext cx="6096000" cy="3905250"/>
            </a:xfrm>
            <a:prstGeom prst="roundRect">
              <a:avLst>
                <a:gd name="adj" fmla="val 488"/>
              </a:avLst>
            </a:prstGeom>
            <a:solidFill>
              <a:srgbClr val="F0F9FC"/>
            </a:solidFill>
            <a:ln w="9525">
              <a:solidFill>
                <a:srgbClr val="D4E2EE"/>
              </a:solidFill>
            </a:ln>
          </p:spPr>
        </p:sp>
        <p:pic>
          <p:nvPicPr>
            <p:cNvPr id="29" name="Image 29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647700" y="1605643"/>
              <a:ext cx="6096000" cy="3570514"/>
            </a:xfrm>
            <a:prstGeom prst="rect">
              <a:avLst/>
            </a:prstGeom>
          </p:spPr>
        </p:pic>
        <p:sp>
          <p:nvSpPr>
            <p:cNvPr id="30" name="Line 30"/>
            <p:cNvSpPr/>
            <p:nvPr/>
          </p:nvSpPr>
          <p:spPr>
            <a:xfrm>
              <a:off x="723900" y="5534025"/>
              <a:ext cx="5943600" cy="9525"/>
            </a:xfrm>
            <a:custGeom>
              <a:avLst/>
              <a:gdLst/>
              <a:ahLst/>
              <a:cxnLst/>
              <a:rect l="l" t="t" r="r" b="b"/>
              <a:pathLst>
                <a:path w="5943600" h="9525">
                  <a:moveTo>
                    <a:pt x="0" y="0"/>
                  </a:moveTo>
                  <a:lnTo>
                    <a:pt x="5943600" y="0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800100" y="5610225"/>
              <a:ext cx="5791200" cy="4572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350" dirty="0">
                  <a:solidFill>
                    <a:srgbClr val="52657A"/>
                  </a:solidFill>
                  <a:latin typeface="Arial"/>
                  <a:ea typeface="Microsoft YaHei"/>
                  <a:cs typeface="Arial"/>
                </a:rPr>
                <a:t>图：混合 的机制与数据流（flow_v 视角）</a:t>
              </a:r>
            </a:p>
          </p:txBody>
        </p:sp>
      </p:grp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666750"/>
          </a:xfrm>
          <a:prstGeom prst="rect">
            <a:avLst/>
          </a:prstGeom>
          <a:solidFill>
            <a:srgbClr val="0E7490"/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0"/>
            <a:ext cx="57150" cy="666750"/>
          </a:xfrm>
          <a:prstGeom prst="rect">
            <a:avLst/>
          </a:prstGeom>
          <a:solidFill>
            <a:srgbClr val="CC0000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381000" y="123825"/>
            <a:ext cx="762000" cy="4000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1275" b="1" dirty="0">
                <a:solidFill>
                  <a:srgbClr val="9FD3FF"/>
                </a:solidFill>
                <a:latin typeface="Arial"/>
                <a:ea typeface="Microsoft YaHei"/>
                <a:cs typeface="Arial"/>
              </a:rPr>
              <a:t>55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257300" y="95250"/>
            <a:ext cx="8096250" cy="457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21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深入原理：混合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0001250" y="76200"/>
            <a:ext cx="1619250" cy="5143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3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DataAgent</a:t>
            </a:r>
          </a:p>
        </p:txBody>
      </p:sp>
      <p:sp>
        <p:nvSpPr>
          <p:cNvPr id="8" name="Rectangle 8"/>
          <p:cNvSpPr/>
          <p:nvPr/>
        </p:nvSpPr>
        <p:spPr>
          <a:xfrm>
            <a:off x="0" y="666750"/>
            <a:ext cx="12192000" cy="476250"/>
          </a:xfrm>
          <a:prstGeom prst="rect">
            <a:avLst/>
          </a:prstGeom>
          <a:solidFill>
            <a:srgbClr val="E8F4FC"/>
          </a:solidFill>
          <a:ln>
            <a:noFill/>
          </a:ln>
        </p:spPr>
      </p:sp>
      <p:sp>
        <p:nvSpPr>
          <p:cNvPr id="9" name="Rectangle 9"/>
          <p:cNvSpPr/>
          <p:nvPr/>
        </p:nvSpPr>
        <p:spPr>
          <a:xfrm>
            <a:off x="0" y="666750"/>
            <a:ext cx="57150" cy="476250"/>
          </a:xfrm>
          <a:prstGeom prst="rect">
            <a:avLst/>
          </a:prstGeom>
          <a:solidFill>
            <a:srgbClr val="06B6D4"/>
          </a:solidFill>
          <a:ln>
            <a:noFill/>
          </a:ln>
        </p:spPr>
      </p:sp>
      <p:sp>
        <p:nvSpPr>
          <p:cNvPr id="10" name="TextBox 10"/>
          <p:cNvSpPr txBox="1"/>
          <p:nvPr/>
        </p:nvSpPr>
        <p:spPr>
          <a:xfrm>
            <a:off x="381000" y="714375"/>
            <a:ext cx="10001250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1350" dirty="0">
                <a:solidFill>
                  <a:srgbClr val="26384A"/>
                </a:solidFill>
                <a:latin typeface="Arial"/>
                <a:ea typeface="Microsoft YaHei"/>
                <a:cs typeface="Arial"/>
              </a:rPr>
              <a:t>正确姿势 vs 常见误用</a:t>
            </a:r>
          </a:p>
        </p:txBody>
      </p:sp>
      <p:sp>
        <p:nvSpPr>
          <p:cNvPr id="11" name="Line 11"/>
          <p:cNvSpPr/>
          <p:nvPr/>
        </p:nvSpPr>
        <p:spPr>
          <a:xfrm>
            <a:off x="381000" y="6334125"/>
            <a:ext cx="11430000" cy="9525"/>
          </a:xfrm>
          <a:custGeom>
            <a:avLst/>
            <a:gdLst/>
            <a:ahLst/>
            <a:cxnLst/>
            <a:rect l="l" t="t" r="r" b="b"/>
            <a:pathLst>
              <a:path w="11430000" h="9525">
                <a:moveTo>
                  <a:pt x="0" y="0"/>
                </a:moveTo>
                <a:lnTo>
                  <a:pt x="11430000" y="0"/>
                </a:lnTo>
              </a:path>
            </a:pathLst>
          </a:custGeom>
          <a:noFill/>
          <a:ln w="9525">
            <a:solidFill>
              <a:srgbClr val="E8F4FC"/>
            </a:solidFill>
          </a:ln>
        </p:spPr>
      </p:sp>
      <p:sp>
        <p:nvSpPr>
          <p:cNvPr id="12" name="TextBox 12"/>
          <p:cNvSpPr txBox="1"/>
          <p:nvPr/>
        </p:nvSpPr>
        <p:spPr>
          <a:xfrm>
            <a:off x="381000" y="6477000"/>
            <a:ext cx="4953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课程第15讲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4381500" y="6477000"/>
            <a:ext cx="3429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Agent Runtime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0763250" y="6457950"/>
            <a:ext cx="857250" cy="266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050" dirty="0">
                <a:solidFill>
                  <a:srgbClr val="52657A"/>
                </a:solidFill>
                <a:latin typeface="Arial"/>
                <a:ea typeface="Microsoft YaHei"/>
                <a:cs typeface="Arial"/>
              </a:rPr>
              <a:t>55</a:t>
            </a:r>
          </a:p>
        </p:txBody>
      </p:sp>
      <p:grpSp>
        <p:nvGrpSpPr>
          <p:cNvPr id="22" name="EasySlides Component: left"/>
          <p:cNvGrpSpPr/>
          <p:nvPr/>
        </p:nvGrpSpPr>
        <p:grpSpPr>
          <a:xfrm>
            <a:off x="495300" y="1285875"/>
            <a:ext cx="5410200" cy="4000500"/>
            <a:chOff x="495300" y="1285875"/>
            <a:chExt cx="5410200" cy="4000500"/>
          </a:xfrm>
        </p:grpSpPr>
        <p:sp>
          <p:nvSpPr>
            <p:cNvPr id="15" name="Rectangle 15"/>
            <p:cNvSpPr/>
            <p:nvPr/>
          </p:nvSpPr>
          <p:spPr>
            <a:xfrm>
              <a:off x="495300" y="1285875"/>
              <a:ext cx="5410200" cy="4000500"/>
            </a:xfrm>
            <a:prstGeom prst="roundRect">
              <a:avLst>
                <a:gd name="adj" fmla="val 952"/>
              </a:avLst>
            </a:prstGeom>
            <a:solidFill>
              <a:srgbClr val="FFFFFF"/>
            </a:solidFill>
            <a:ln w="11430">
              <a:solidFill>
                <a:srgbClr val="B8C7D6"/>
              </a:solidFill>
            </a:ln>
          </p:spPr>
        </p:sp>
        <p:sp>
          <p:nvSpPr>
            <p:cNvPr id="16" name="Rectangle 16"/>
            <p:cNvSpPr/>
            <p:nvPr/>
          </p:nvSpPr>
          <p:spPr>
            <a:xfrm>
              <a:off x="495300" y="1285875"/>
              <a:ext cx="5410200" cy="609600"/>
            </a:xfrm>
            <a:prstGeom prst="roundRect">
              <a:avLst>
                <a:gd name="adj" fmla="val 6250"/>
              </a:avLst>
            </a:prstGeom>
            <a:solidFill>
              <a:srgbClr val="E8F4FC"/>
            </a:solidFill>
            <a:ln>
              <a:noFill/>
            </a:ln>
          </p:spPr>
        </p:sp>
        <p:sp>
          <p:nvSpPr>
            <p:cNvPr id="17" name="Rectangle 17"/>
            <p:cNvSpPr/>
            <p:nvPr/>
          </p:nvSpPr>
          <p:spPr>
            <a:xfrm>
              <a:off x="495300" y="1285875"/>
              <a:ext cx="57150" cy="609600"/>
            </a:xfrm>
            <a:prstGeom prst="rect">
              <a:avLst/>
            </a:prstGeom>
            <a:solidFill>
              <a:srgbClr val="06B6D4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800100" y="1419225"/>
              <a:ext cx="4800600" cy="3429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725" b="1" dirty="0">
                  <a:solidFill>
                    <a:srgbClr val="0E7490"/>
                  </a:solidFill>
                  <a:latin typeface="Arial"/>
                  <a:ea typeface="Microsoft YaHei"/>
                  <a:cs typeface="Arial"/>
                </a:rPr>
                <a:t>正确姿势</a:t>
              </a:r>
            </a:p>
          </p:txBody>
        </p:sp>
        <p:sp>
          <p:nvSpPr>
            <p:cNvPr id="19" name="Line 19"/>
            <p:cNvSpPr/>
            <p:nvPr/>
          </p:nvSpPr>
          <p:spPr>
            <a:xfrm>
              <a:off x="800100" y="2276475"/>
              <a:ext cx="4800600" cy="9525"/>
            </a:xfrm>
            <a:custGeom>
              <a:avLst/>
              <a:gdLst/>
              <a:ahLst/>
              <a:cxnLst/>
              <a:rect l="l" t="t" r="r" b="b"/>
              <a:pathLst>
                <a:path w="4800600" h="9525">
                  <a:moveTo>
                    <a:pt x="0" y="0"/>
                  </a:moveTo>
                  <a:lnTo>
                    <a:pt x="4800600" y="0"/>
                  </a:lnTo>
                </a:path>
              </a:pathLst>
            </a:custGeom>
            <a:noFill/>
            <a:ln w="19050">
              <a:solidFill>
                <a:srgbClr val="D4E2EE"/>
              </a:solidFill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1028700" y="2505075"/>
              <a:ext cx="4343400" cy="20955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650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正确姿势：把「混合」的决策依据落成证据（Trace/Eval），而不是凭经验拍板。</a:t>
              </a:r>
            </a:p>
            <a:p>
              <a:pPr algn="l"/>
              <a:r>
                <a:rPr lang="zh-CN" sz="1650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契约先行，证据留痕</a:t>
              </a:r>
            </a:p>
          </p:txBody>
        </p:sp>
        <p:sp>
          <p:nvSpPr>
            <p:cNvPr id="21" name="Line 21"/>
            <p:cNvSpPr/>
            <p:nvPr/>
          </p:nvSpPr>
          <p:spPr>
            <a:xfrm>
              <a:off x="800100" y="4905375"/>
              <a:ext cx="4800600" cy="9525"/>
            </a:xfrm>
            <a:custGeom>
              <a:avLst/>
              <a:gdLst/>
              <a:ahLst/>
              <a:cxnLst/>
              <a:rect l="l" t="t" r="r" b="b"/>
              <a:pathLst>
                <a:path w="4800600" h="9525">
                  <a:moveTo>
                    <a:pt x="0" y="0"/>
                  </a:moveTo>
                  <a:lnTo>
                    <a:pt x="4800600" y="0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</p:grpSp>
      <p:grpSp>
        <p:nvGrpSpPr>
          <p:cNvPr id="30" name="EasySlides Component: right"/>
          <p:cNvGrpSpPr/>
          <p:nvPr/>
        </p:nvGrpSpPr>
        <p:grpSpPr>
          <a:xfrm>
            <a:off x="6286500" y="1285875"/>
            <a:ext cx="5410200" cy="4000500"/>
            <a:chOff x="6286500" y="1285875"/>
            <a:chExt cx="5410200" cy="4000500"/>
          </a:xfrm>
        </p:grpSpPr>
        <p:sp>
          <p:nvSpPr>
            <p:cNvPr id="23" name="Rectangle 23"/>
            <p:cNvSpPr/>
            <p:nvPr/>
          </p:nvSpPr>
          <p:spPr>
            <a:xfrm>
              <a:off x="6286500" y="1285875"/>
              <a:ext cx="5410200" cy="4000500"/>
            </a:xfrm>
            <a:prstGeom prst="roundRect">
              <a:avLst>
                <a:gd name="adj" fmla="val 952"/>
              </a:avLst>
            </a:prstGeom>
            <a:solidFill>
              <a:srgbClr val="FFFFFF"/>
            </a:solidFill>
            <a:ln w="11430">
              <a:solidFill>
                <a:srgbClr val="B8C7D6"/>
              </a:solidFill>
            </a:ln>
          </p:spPr>
        </p:sp>
        <p:sp>
          <p:nvSpPr>
            <p:cNvPr id="24" name="Rectangle 24"/>
            <p:cNvSpPr/>
            <p:nvPr/>
          </p:nvSpPr>
          <p:spPr>
            <a:xfrm>
              <a:off x="6286500" y="1285875"/>
              <a:ext cx="5410200" cy="609600"/>
            </a:xfrm>
            <a:prstGeom prst="roundRect">
              <a:avLst>
                <a:gd name="adj" fmla="val 6250"/>
              </a:avLst>
            </a:prstGeom>
            <a:solidFill>
              <a:srgbClr val="E8F4FC"/>
            </a:solidFill>
            <a:ln>
              <a:noFill/>
            </a:ln>
          </p:spPr>
        </p:sp>
        <p:sp>
          <p:nvSpPr>
            <p:cNvPr id="25" name="Rectangle 25"/>
            <p:cNvSpPr/>
            <p:nvPr/>
          </p:nvSpPr>
          <p:spPr>
            <a:xfrm>
              <a:off x="6286500" y="1285875"/>
              <a:ext cx="57150" cy="609600"/>
            </a:xfrm>
            <a:prstGeom prst="rect">
              <a:avLst/>
            </a:prstGeom>
            <a:solidFill>
              <a:srgbClr val="06B6D4"/>
            </a:solidFill>
            <a:ln>
              <a:noFill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6591300" y="1419225"/>
              <a:ext cx="4800600" cy="3429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725" b="1" dirty="0">
                  <a:solidFill>
                    <a:srgbClr val="0E7490"/>
                  </a:solidFill>
                  <a:latin typeface="Arial"/>
                  <a:ea typeface="Microsoft YaHei"/>
                  <a:cs typeface="Arial"/>
                </a:rPr>
                <a:t>常见误用</a:t>
              </a:r>
            </a:p>
          </p:txBody>
        </p:sp>
        <p:sp>
          <p:nvSpPr>
            <p:cNvPr id="27" name="Line 27"/>
            <p:cNvSpPr/>
            <p:nvPr/>
          </p:nvSpPr>
          <p:spPr>
            <a:xfrm>
              <a:off x="6591300" y="2276475"/>
              <a:ext cx="4800600" cy="9525"/>
            </a:xfrm>
            <a:custGeom>
              <a:avLst/>
              <a:gdLst/>
              <a:ahLst/>
              <a:cxnLst/>
              <a:rect l="l" t="t" r="r" b="b"/>
              <a:pathLst>
                <a:path w="4800600" h="9525">
                  <a:moveTo>
                    <a:pt x="0" y="0"/>
                  </a:moveTo>
                  <a:lnTo>
                    <a:pt x="4800600" y="0"/>
                  </a:lnTo>
                </a:path>
              </a:pathLst>
            </a:custGeom>
            <a:noFill/>
            <a:ln w="19050">
              <a:solidFill>
                <a:srgbClr val="D4E2EE"/>
              </a:solidFill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6819900" y="2505075"/>
              <a:ext cx="4343400" cy="20955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650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常见误用：用相关性绕过「混合」的硬性过滤，短期省事，长期必然越权或漂移。</a:t>
              </a:r>
            </a:p>
            <a:p>
              <a:pPr algn="l"/>
              <a:r>
                <a:rPr lang="zh-CN" sz="1650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无版本/无度量/无回滚</a:t>
              </a:r>
            </a:p>
          </p:txBody>
        </p:sp>
        <p:sp>
          <p:nvSpPr>
            <p:cNvPr id="29" name="Line 29"/>
            <p:cNvSpPr/>
            <p:nvPr/>
          </p:nvSpPr>
          <p:spPr>
            <a:xfrm>
              <a:off x="6591300" y="4905375"/>
              <a:ext cx="4800600" cy="9525"/>
            </a:xfrm>
            <a:custGeom>
              <a:avLst/>
              <a:gdLst/>
              <a:ahLst/>
              <a:cxnLst/>
              <a:rect l="l" t="t" r="r" b="b"/>
              <a:pathLst>
                <a:path w="4800600" h="9525">
                  <a:moveTo>
                    <a:pt x="0" y="0"/>
                  </a:moveTo>
                  <a:lnTo>
                    <a:pt x="4800600" y="0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</p:grpSp>
      <p:grpSp>
        <p:nvGrpSpPr>
          <p:cNvPr id="34" name="EasySlides Component: synthesis"/>
          <p:cNvGrpSpPr/>
          <p:nvPr/>
        </p:nvGrpSpPr>
        <p:grpSpPr>
          <a:xfrm>
            <a:off x="495300" y="5476875"/>
            <a:ext cx="11201400" cy="714375"/>
            <a:chOff x="495300" y="5476875"/>
            <a:chExt cx="11201400" cy="714375"/>
          </a:xfrm>
        </p:grpSpPr>
        <p:sp>
          <p:nvSpPr>
            <p:cNvPr id="31" name="Rectangle 31"/>
            <p:cNvSpPr/>
            <p:nvPr/>
          </p:nvSpPr>
          <p:spPr>
            <a:xfrm>
              <a:off x="495300" y="5476875"/>
              <a:ext cx="11201400" cy="714375"/>
            </a:xfrm>
            <a:prstGeom prst="roundRect">
              <a:avLst>
                <a:gd name="adj" fmla="val 5333"/>
              </a:avLst>
            </a:prstGeom>
            <a:solidFill>
              <a:srgbClr val="0E7490"/>
            </a:solidFill>
            <a:ln>
              <a:noFill/>
            </a:ln>
          </p:spPr>
        </p:sp>
        <p:sp>
          <p:nvSpPr>
            <p:cNvPr id="32" name="Rectangle 32"/>
            <p:cNvSpPr/>
            <p:nvPr/>
          </p:nvSpPr>
          <p:spPr>
            <a:xfrm>
              <a:off x="495300" y="5476875"/>
              <a:ext cx="76200" cy="714375"/>
            </a:xfrm>
            <a:prstGeom prst="roundRect">
              <a:avLst>
                <a:gd name="adj" fmla="val 50000"/>
              </a:avLst>
            </a:prstGeom>
            <a:solidFill>
              <a:srgbClr val="CC0000"/>
            </a:solidFill>
            <a:ln>
              <a:noFill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876300" y="5610225"/>
              <a:ext cx="10439400" cy="4476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65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治理视角：控制权矩阵与自主性预算划定行动边界。</a:t>
              </a:r>
            </a:p>
          </p:txBody>
        </p:sp>
      </p:grp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666750"/>
          </a:xfrm>
          <a:prstGeom prst="rect">
            <a:avLst/>
          </a:prstGeom>
          <a:solidFill>
            <a:srgbClr val="0E7490"/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0"/>
            <a:ext cx="57150" cy="666750"/>
          </a:xfrm>
          <a:prstGeom prst="rect">
            <a:avLst/>
          </a:prstGeom>
          <a:solidFill>
            <a:srgbClr val="CC0000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381000" y="123825"/>
            <a:ext cx="762000" cy="4000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1275" b="1" dirty="0">
                <a:solidFill>
                  <a:srgbClr val="9FD3FF"/>
                </a:solidFill>
                <a:latin typeface="Arial"/>
                <a:ea typeface="Microsoft YaHei"/>
                <a:cs typeface="Arial"/>
              </a:rPr>
              <a:t>56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257300" y="95250"/>
            <a:ext cx="8096250" cy="457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21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代码契约：混合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0001250" y="76200"/>
            <a:ext cx="1619250" cy="5143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3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DataAgent</a:t>
            </a:r>
          </a:p>
        </p:txBody>
      </p:sp>
      <p:sp>
        <p:nvSpPr>
          <p:cNvPr id="8" name="Rectangle 8"/>
          <p:cNvSpPr/>
          <p:nvPr/>
        </p:nvSpPr>
        <p:spPr>
          <a:xfrm>
            <a:off x="0" y="666750"/>
            <a:ext cx="12192000" cy="476250"/>
          </a:xfrm>
          <a:prstGeom prst="rect">
            <a:avLst/>
          </a:prstGeom>
          <a:solidFill>
            <a:srgbClr val="E8F4FC"/>
          </a:solidFill>
          <a:ln>
            <a:noFill/>
          </a:ln>
        </p:spPr>
      </p:sp>
      <p:sp>
        <p:nvSpPr>
          <p:cNvPr id="9" name="Rectangle 9"/>
          <p:cNvSpPr/>
          <p:nvPr/>
        </p:nvSpPr>
        <p:spPr>
          <a:xfrm>
            <a:off x="0" y="666750"/>
            <a:ext cx="57150" cy="476250"/>
          </a:xfrm>
          <a:prstGeom prst="rect">
            <a:avLst/>
          </a:prstGeom>
          <a:solidFill>
            <a:srgbClr val="06B6D4"/>
          </a:solidFill>
          <a:ln>
            <a:noFill/>
          </a:ln>
        </p:spPr>
      </p:sp>
      <p:sp>
        <p:nvSpPr>
          <p:cNvPr id="10" name="TextBox 10"/>
          <p:cNvSpPr txBox="1"/>
          <p:nvPr/>
        </p:nvSpPr>
        <p:spPr>
          <a:xfrm>
            <a:off x="381000" y="714375"/>
            <a:ext cx="10001250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1350" dirty="0">
                <a:solidFill>
                  <a:srgbClr val="26384A"/>
                </a:solidFill>
                <a:latin typeface="Arial"/>
                <a:ea typeface="Microsoft YaHei"/>
                <a:cs typeface="Arial"/>
              </a:rPr>
              <a:t>仓库真实代码 · 契约切面</a:t>
            </a:r>
          </a:p>
        </p:txBody>
      </p:sp>
      <p:sp>
        <p:nvSpPr>
          <p:cNvPr id="11" name="Line 11"/>
          <p:cNvSpPr/>
          <p:nvPr/>
        </p:nvSpPr>
        <p:spPr>
          <a:xfrm>
            <a:off x="381000" y="6334125"/>
            <a:ext cx="11430000" cy="9525"/>
          </a:xfrm>
          <a:custGeom>
            <a:avLst/>
            <a:gdLst/>
            <a:ahLst/>
            <a:cxnLst/>
            <a:rect l="l" t="t" r="r" b="b"/>
            <a:pathLst>
              <a:path w="11430000" h="9525">
                <a:moveTo>
                  <a:pt x="0" y="0"/>
                </a:moveTo>
                <a:lnTo>
                  <a:pt x="11430000" y="0"/>
                </a:lnTo>
              </a:path>
            </a:pathLst>
          </a:custGeom>
          <a:noFill/>
          <a:ln w="9525">
            <a:solidFill>
              <a:srgbClr val="E8F4FC"/>
            </a:solidFill>
          </a:ln>
        </p:spPr>
      </p:sp>
      <p:sp>
        <p:nvSpPr>
          <p:cNvPr id="12" name="TextBox 12"/>
          <p:cNvSpPr txBox="1"/>
          <p:nvPr/>
        </p:nvSpPr>
        <p:spPr>
          <a:xfrm>
            <a:off x="381000" y="6477000"/>
            <a:ext cx="4953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课程第15讲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4381500" y="6477000"/>
            <a:ext cx="3429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Agent Runtime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0763250" y="6457950"/>
            <a:ext cx="857250" cy="266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050" dirty="0">
                <a:solidFill>
                  <a:srgbClr val="52657A"/>
                </a:solidFill>
                <a:latin typeface="Arial"/>
                <a:ea typeface="Microsoft YaHei"/>
                <a:cs typeface="Arial"/>
              </a:rPr>
              <a:t>56</a:t>
            </a:r>
          </a:p>
        </p:txBody>
      </p:sp>
      <p:grpSp>
        <p:nvGrpSpPr>
          <p:cNvPr id="26" name="EasySlides Component: evidence"/>
          <p:cNvGrpSpPr/>
          <p:nvPr/>
        </p:nvGrpSpPr>
        <p:grpSpPr>
          <a:xfrm>
            <a:off x="7124700" y="1285875"/>
            <a:ext cx="4572000" cy="4905375"/>
            <a:chOff x="7124700" y="1285875"/>
            <a:chExt cx="4572000" cy="4905375"/>
          </a:xfrm>
        </p:grpSpPr>
        <p:sp>
          <p:nvSpPr>
            <p:cNvPr id="15" name="Rectangle 15"/>
            <p:cNvSpPr/>
            <p:nvPr/>
          </p:nvSpPr>
          <p:spPr>
            <a:xfrm>
              <a:off x="7124700" y="1285875"/>
              <a:ext cx="4572000" cy="4905375"/>
            </a:xfrm>
            <a:prstGeom prst="roundRect">
              <a:avLst>
                <a:gd name="adj" fmla="val 833"/>
              </a:avLst>
            </a:prstGeom>
            <a:solidFill>
              <a:srgbClr val="F0F9FC"/>
            </a:solidFill>
            <a:ln w="11430">
              <a:solidFill>
                <a:srgbClr val="B8C7D6"/>
              </a:solidFill>
            </a:ln>
          </p:spPr>
        </p:sp>
        <p:sp>
          <p:nvSpPr>
            <p:cNvPr id="16" name="Rectangle 16"/>
            <p:cNvSpPr/>
            <p:nvPr/>
          </p:nvSpPr>
          <p:spPr>
            <a:xfrm>
              <a:off x="7124700" y="1285875"/>
              <a:ext cx="76200" cy="4905375"/>
            </a:xfrm>
            <a:prstGeom prst="rect">
              <a:avLst/>
            </a:prstGeom>
            <a:solidFill>
              <a:srgbClr val="06B6D4"/>
            </a:solidFill>
            <a:ln>
              <a:noFill/>
            </a:ln>
          </p:spPr>
        </p:sp>
        <p:sp>
          <p:nvSpPr>
            <p:cNvPr id="17" name="Rectangle 17"/>
            <p:cNvSpPr/>
            <p:nvPr/>
          </p:nvSpPr>
          <p:spPr>
            <a:xfrm>
              <a:off x="7391400" y="1552575"/>
              <a:ext cx="4038600" cy="1257300"/>
            </a:xfrm>
            <a:prstGeom prst="roundRect">
              <a:avLst>
                <a:gd name="adj" fmla="val 1515"/>
              </a:avLst>
            </a:prstGeom>
            <a:solidFill>
              <a:srgbClr val="FFFFFF"/>
            </a:solidFill>
            <a:ln w="9525">
              <a:solidFill>
                <a:srgbClr val="D4E2EE"/>
              </a:solidFill>
            </a:ln>
          </p:spPr>
        </p:sp>
        <p:sp>
          <p:nvSpPr>
            <p:cNvPr id="18" name="Rectangle 18"/>
            <p:cNvSpPr/>
            <p:nvPr/>
          </p:nvSpPr>
          <p:spPr>
            <a:xfrm>
              <a:off x="7391400" y="3105150"/>
              <a:ext cx="4038600" cy="1257300"/>
            </a:xfrm>
            <a:prstGeom prst="roundRect">
              <a:avLst>
                <a:gd name="adj" fmla="val 1515"/>
              </a:avLst>
            </a:prstGeom>
            <a:solidFill>
              <a:srgbClr val="FFFFFF"/>
            </a:solidFill>
            <a:ln w="9525">
              <a:solidFill>
                <a:srgbClr val="D4E2EE"/>
              </a:solidFill>
            </a:ln>
          </p:spPr>
        </p:sp>
        <p:sp>
          <p:nvSpPr>
            <p:cNvPr id="19" name="Rectangle 19"/>
            <p:cNvSpPr/>
            <p:nvPr/>
          </p:nvSpPr>
          <p:spPr>
            <a:xfrm>
              <a:off x="7391400" y="4657725"/>
              <a:ext cx="4038600" cy="1257300"/>
            </a:xfrm>
            <a:prstGeom prst="roundRect">
              <a:avLst>
                <a:gd name="adj" fmla="val 1515"/>
              </a:avLst>
            </a:prstGeom>
            <a:solidFill>
              <a:srgbClr val="FFFFFF"/>
            </a:solidFill>
            <a:ln w="9525">
              <a:solidFill>
                <a:srgbClr val="D4E2EE"/>
              </a:solidFill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7605712" y="1745456"/>
              <a:ext cx="220156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06B6D4"/>
                  </a:solidFill>
                  <a:latin typeface="Arial"/>
                  <a:ea typeface="Microsoft YaHei"/>
                  <a:cs typeface="Arial"/>
                </a:rPr>
                <a:t>01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7605712" y="3298031"/>
              <a:ext cx="220156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06B6D4"/>
                  </a:solidFill>
                  <a:latin typeface="Arial"/>
                  <a:ea typeface="Microsoft YaHei"/>
                  <a:cs typeface="Arial"/>
                </a:rPr>
                <a:t>02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7605712" y="4850606"/>
              <a:ext cx="220156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CC0000"/>
                  </a:solidFill>
                  <a:latin typeface="Arial"/>
                  <a:ea typeface="Microsoft YaHei"/>
                  <a:cs typeface="Arial"/>
                </a:rPr>
                <a:t>03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7848600" y="1819275"/>
              <a:ext cx="3314700" cy="7239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425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文件：workflow.py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7848600" y="3371850"/>
              <a:ext cx="3314700" cy="7239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425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切面：契约——先读接口再读实现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7848600" y="4924425"/>
              <a:ext cx="3314700" cy="7239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425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测试见 tests/ 目录</a:t>
              </a:r>
            </a:p>
          </p:txBody>
        </p:sp>
      </p:grpSp>
      <p:grpSp>
        <p:nvGrpSpPr>
          <p:cNvPr id="32" name="EasySlides Component: figure"/>
          <p:cNvGrpSpPr/>
          <p:nvPr/>
        </p:nvGrpSpPr>
        <p:grpSpPr>
          <a:xfrm>
            <a:off x="495300" y="1285875"/>
            <a:ext cx="6400800" cy="4905375"/>
            <a:chOff x="495300" y="1285875"/>
            <a:chExt cx="6400800" cy="4905375"/>
          </a:xfrm>
        </p:grpSpPr>
        <p:sp>
          <p:nvSpPr>
            <p:cNvPr id="27" name="Rectangle 27"/>
            <p:cNvSpPr/>
            <p:nvPr/>
          </p:nvSpPr>
          <p:spPr>
            <a:xfrm>
              <a:off x="495300" y="1285875"/>
              <a:ext cx="6400800" cy="4905375"/>
            </a:xfrm>
            <a:prstGeom prst="roundRect">
              <a:avLst>
                <a:gd name="adj" fmla="val 777"/>
              </a:avLst>
            </a:prstGeom>
            <a:solidFill>
              <a:srgbClr val="FFFFFF"/>
            </a:solidFill>
            <a:ln w="11430">
              <a:solidFill>
                <a:srgbClr val="B8C7D6"/>
              </a:solidFill>
            </a:ln>
          </p:spPr>
        </p:sp>
        <p:sp>
          <p:nvSpPr>
            <p:cNvPr id="28" name="Rectangle 28"/>
            <p:cNvSpPr/>
            <p:nvPr/>
          </p:nvSpPr>
          <p:spPr>
            <a:xfrm>
              <a:off x="647700" y="1438275"/>
              <a:ext cx="6096000" cy="3905250"/>
            </a:xfrm>
            <a:prstGeom prst="roundRect">
              <a:avLst>
                <a:gd name="adj" fmla="val 488"/>
              </a:avLst>
            </a:prstGeom>
            <a:solidFill>
              <a:srgbClr val="F0F9FC"/>
            </a:solidFill>
            <a:ln w="9525">
              <a:solidFill>
                <a:srgbClr val="D4E2EE"/>
              </a:solidFill>
            </a:ln>
          </p:spPr>
        </p:sp>
        <p:pic>
          <p:nvPicPr>
            <p:cNvPr id="29" name="Image 29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647700" y="1605643"/>
              <a:ext cx="6096000" cy="3570514"/>
            </a:xfrm>
            <a:prstGeom prst="rect">
              <a:avLst/>
            </a:prstGeom>
          </p:spPr>
        </p:pic>
        <p:sp>
          <p:nvSpPr>
            <p:cNvPr id="30" name="Line 30"/>
            <p:cNvSpPr/>
            <p:nvPr/>
          </p:nvSpPr>
          <p:spPr>
            <a:xfrm>
              <a:off x="723900" y="5534025"/>
              <a:ext cx="5943600" cy="9525"/>
            </a:xfrm>
            <a:custGeom>
              <a:avLst/>
              <a:gdLst/>
              <a:ahLst/>
              <a:cxnLst/>
              <a:rect l="l" t="t" r="r" b="b"/>
              <a:pathLst>
                <a:path w="5943600" h="9525">
                  <a:moveTo>
                    <a:pt x="0" y="0"/>
                  </a:moveTo>
                  <a:lnTo>
                    <a:pt x="5943600" y="0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800100" y="5610225"/>
              <a:ext cx="5791200" cy="4572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350" dirty="0">
                  <a:solidFill>
                    <a:srgbClr val="52657A"/>
                  </a:solidFill>
                  <a:latin typeface="Arial"/>
                  <a:ea typeface="Microsoft YaHei"/>
                  <a:cs typeface="Arial"/>
                </a:rPr>
                <a:t>代码：workflow.py · 契约（概念5 混合）</a:t>
              </a:r>
            </a:p>
          </p:txBody>
        </p:sp>
      </p:grp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666750"/>
          </a:xfrm>
          <a:prstGeom prst="rect">
            <a:avLst/>
          </a:prstGeom>
          <a:solidFill>
            <a:srgbClr val="0E7490"/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0"/>
            <a:ext cx="57150" cy="666750"/>
          </a:xfrm>
          <a:prstGeom prst="rect">
            <a:avLst/>
          </a:prstGeom>
          <a:solidFill>
            <a:srgbClr val="CC0000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381000" y="123825"/>
            <a:ext cx="762000" cy="4000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1275" b="1" dirty="0">
                <a:solidFill>
                  <a:srgbClr val="9FD3FF"/>
                </a:solidFill>
                <a:latin typeface="Arial"/>
                <a:ea typeface="Microsoft YaHei"/>
                <a:cs typeface="Arial"/>
              </a:rPr>
              <a:t>57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257300" y="95250"/>
            <a:ext cx="8096250" cy="457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21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代码实现：混合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0001250" y="76200"/>
            <a:ext cx="1619250" cy="5143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3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DataAgent</a:t>
            </a:r>
          </a:p>
        </p:txBody>
      </p:sp>
      <p:sp>
        <p:nvSpPr>
          <p:cNvPr id="8" name="Rectangle 8"/>
          <p:cNvSpPr/>
          <p:nvPr/>
        </p:nvSpPr>
        <p:spPr>
          <a:xfrm>
            <a:off x="0" y="666750"/>
            <a:ext cx="12192000" cy="476250"/>
          </a:xfrm>
          <a:prstGeom prst="rect">
            <a:avLst/>
          </a:prstGeom>
          <a:solidFill>
            <a:srgbClr val="E8F4FC"/>
          </a:solidFill>
          <a:ln>
            <a:noFill/>
          </a:ln>
        </p:spPr>
      </p:sp>
      <p:sp>
        <p:nvSpPr>
          <p:cNvPr id="9" name="Rectangle 9"/>
          <p:cNvSpPr/>
          <p:nvPr/>
        </p:nvSpPr>
        <p:spPr>
          <a:xfrm>
            <a:off x="0" y="666750"/>
            <a:ext cx="57150" cy="476250"/>
          </a:xfrm>
          <a:prstGeom prst="rect">
            <a:avLst/>
          </a:prstGeom>
          <a:solidFill>
            <a:srgbClr val="06B6D4"/>
          </a:solidFill>
          <a:ln>
            <a:noFill/>
          </a:ln>
        </p:spPr>
      </p:sp>
      <p:sp>
        <p:nvSpPr>
          <p:cNvPr id="10" name="TextBox 10"/>
          <p:cNvSpPr txBox="1"/>
          <p:nvPr/>
        </p:nvSpPr>
        <p:spPr>
          <a:xfrm>
            <a:off x="381000" y="714375"/>
            <a:ext cx="10001250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1350" dirty="0">
                <a:solidFill>
                  <a:srgbClr val="26384A"/>
                </a:solidFill>
                <a:latin typeface="Arial"/>
                <a:ea typeface="Microsoft YaHei"/>
                <a:cs typeface="Arial"/>
              </a:rPr>
              <a:t>仓库真实代码 · 实现切面</a:t>
            </a:r>
          </a:p>
        </p:txBody>
      </p:sp>
      <p:sp>
        <p:nvSpPr>
          <p:cNvPr id="11" name="Line 11"/>
          <p:cNvSpPr/>
          <p:nvPr/>
        </p:nvSpPr>
        <p:spPr>
          <a:xfrm>
            <a:off x="381000" y="6334125"/>
            <a:ext cx="11430000" cy="9525"/>
          </a:xfrm>
          <a:custGeom>
            <a:avLst/>
            <a:gdLst/>
            <a:ahLst/>
            <a:cxnLst/>
            <a:rect l="l" t="t" r="r" b="b"/>
            <a:pathLst>
              <a:path w="11430000" h="9525">
                <a:moveTo>
                  <a:pt x="0" y="0"/>
                </a:moveTo>
                <a:lnTo>
                  <a:pt x="11430000" y="0"/>
                </a:lnTo>
              </a:path>
            </a:pathLst>
          </a:custGeom>
          <a:noFill/>
          <a:ln w="9525">
            <a:solidFill>
              <a:srgbClr val="E8F4FC"/>
            </a:solidFill>
          </a:ln>
        </p:spPr>
      </p:sp>
      <p:sp>
        <p:nvSpPr>
          <p:cNvPr id="12" name="TextBox 12"/>
          <p:cNvSpPr txBox="1"/>
          <p:nvPr/>
        </p:nvSpPr>
        <p:spPr>
          <a:xfrm>
            <a:off x="381000" y="6477000"/>
            <a:ext cx="4953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课程第15讲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4381500" y="6477000"/>
            <a:ext cx="3429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Agent Runtime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0763250" y="6457950"/>
            <a:ext cx="857250" cy="266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050" dirty="0">
                <a:solidFill>
                  <a:srgbClr val="52657A"/>
                </a:solidFill>
                <a:latin typeface="Arial"/>
                <a:ea typeface="Microsoft YaHei"/>
                <a:cs typeface="Arial"/>
              </a:rPr>
              <a:t>57</a:t>
            </a:r>
          </a:p>
        </p:txBody>
      </p:sp>
      <p:grpSp>
        <p:nvGrpSpPr>
          <p:cNvPr id="26" name="EasySlides Component: evidence"/>
          <p:cNvGrpSpPr/>
          <p:nvPr/>
        </p:nvGrpSpPr>
        <p:grpSpPr>
          <a:xfrm>
            <a:off x="7124700" y="1285875"/>
            <a:ext cx="4572000" cy="4905375"/>
            <a:chOff x="7124700" y="1285875"/>
            <a:chExt cx="4572000" cy="4905375"/>
          </a:xfrm>
        </p:grpSpPr>
        <p:sp>
          <p:nvSpPr>
            <p:cNvPr id="15" name="Rectangle 15"/>
            <p:cNvSpPr/>
            <p:nvPr/>
          </p:nvSpPr>
          <p:spPr>
            <a:xfrm>
              <a:off x="7124700" y="1285875"/>
              <a:ext cx="4572000" cy="4905375"/>
            </a:xfrm>
            <a:prstGeom prst="roundRect">
              <a:avLst>
                <a:gd name="adj" fmla="val 833"/>
              </a:avLst>
            </a:prstGeom>
            <a:solidFill>
              <a:srgbClr val="F0F9FC"/>
            </a:solidFill>
            <a:ln w="11430">
              <a:solidFill>
                <a:srgbClr val="B8C7D6"/>
              </a:solidFill>
            </a:ln>
          </p:spPr>
        </p:sp>
        <p:sp>
          <p:nvSpPr>
            <p:cNvPr id="16" name="Rectangle 16"/>
            <p:cNvSpPr/>
            <p:nvPr/>
          </p:nvSpPr>
          <p:spPr>
            <a:xfrm>
              <a:off x="7124700" y="1285875"/>
              <a:ext cx="76200" cy="4905375"/>
            </a:xfrm>
            <a:prstGeom prst="rect">
              <a:avLst/>
            </a:prstGeom>
            <a:solidFill>
              <a:srgbClr val="06B6D4"/>
            </a:solidFill>
            <a:ln>
              <a:noFill/>
            </a:ln>
          </p:spPr>
        </p:sp>
        <p:sp>
          <p:nvSpPr>
            <p:cNvPr id="17" name="Rectangle 17"/>
            <p:cNvSpPr/>
            <p:nvPr/>
          </p:nvSpPr>
          <p:spPr>
            <a:xfrm>
              <a:off x="7391400" y="1552575"/>
              <a:ext cx="4038600" cy="1257300"/>
            </a:xfrm>
            <a:prstGeom prst="roundRect">
              <a:avLst>
                <a:gd name="adj" fmla="val 1515"/>
              </a:avLst>
            </a:prstGeom>
            <a:solidFill>
              <a:srgbClr val="FFFFFF"/>
            </a:solidFill>
            <a:ln w="9525">
              <a:solidFill>
                <a:srgbClr val="D4E2EE"/>
              </a:solidFill>
            </a:ln>
          </p:spPr>
        </p:sp>
        <p:sp>
          <p:nvSpPr>
            <p:cNvPr id="18" name="Rectangle 18"/>
            <p:cNvSpPr/>
            <p:nvPr/>
          </p:nvSpPr>
          <p:spPr>
            <a:xfrm>
              <a:off x="7391400" y="3105150"/>
              <a:ext cx="4038600" cy="1257300"/>
            </a:xfrm>
            <a:prstGeom prst="roundRect">
              <a:avLst>
                <a:gd name="adj" fmla="val 1515"/>
              </a:avLst>
            </a:prstGeom>
            <a:solidFill>
              <a:srgbClr val="FFFFFF"/>
            </a:solidFill>
            <a:ln w="9525">
              <a:solidFill>
                <a:srgbClr val="D4E2EE"/>
              </a:solidFill>
            </a:ln>
          </p:spPr>
        </p:sp>
        <p:sp>
          <p:nvSpPr>
            <p:cNvPr id="19" name="Rectangle 19"/>
            <p:cNvSpPr/>
            <p:nvPr/>
          </p:nvSpPr>
          <p:spPr>
            <a:xfrm>
              <a:off x="7391400" y="4657725"/>
              <a:ext cx="4038600" cy="1257300"/>
            </a:xfrm>
            <a:prstGeom prst="roundRect">
              <a:avLst>
                <a:gd name="adj" fmla="val 1515"/>
              </a:avLst>
            </a:prstGeom>
            <a:solidFill>
              <a:srgbClr val="FFFFFF"/>
            </a:solidFill>
            <a:ln w="9525">
              <a:solidFill>
                <a:srgbClr val="D4E2EE"/>
              </a:solidFill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7605712" y="1745456"/>
              <a:ext cx="220156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06B6D4"/>
                  </a:solidFill>
                  <a:latin typeface="Arial"/>
                  <a:ea typeface="Microsoft YaHei"/>
                  <a:cs typeface="Arial"/>
                </a:rPr>
                <a:t>01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7605712" y="3298031"/>
              <a:ext cx="220156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06B6D4"/>
                  </a:solidFill>
                  <a:latin typeface="Arial"/>
                  <a:ea typeface="Microsoft YaHei"/>
                  <a:cs typeface="Arial"/>
                </a:rPr>
                <a:t>02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7605712" y="4850606"/>
              <a:ext cx="220156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CC0000"/>
                  </a:solidFill>
                  <a:latin typeface="Arial"/>
                  <a:ea typeface="Microsoft YaHei"/>
                  <a:cs typeface="Arial"/>
                </a:rPr>
                <a:t>03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7848600" y="1819275"/>
              <a:ext cx="3314700" cy="7239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425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文件：workflow.py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7848600" y="3371850"/>
              <a:ext cx="3314700" cy="7239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425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切面：实现——先读接口再读实现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7848600" y="4924425"/>
              <a:ext cx="3314700" cy="7239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425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测试见 tests/ 目录</a:t>
              </a:r>
            </a:p>
          </p:txBody>
        </p:sp>
      </p:grpSp>
      <p:grpSp>
        <p:nvGrpSpPr>
          <p:cNvPr id="32" name="EasySlides Component: figure"/>
          <p:cNvGrpSpPr/>
          <p:nvPr/>
        </p:nvGrpSpPr>
        <p:grpSpPr>
          <a:xfrm>
            <a:off x="495300" y="1285875"/>
            <a:ext cx="6400800" cy="4905375"/>
            <a:chOff x="495300" y="1285875"/>
            <a:chExt cx="6400800" cy="4905375"/>
          </a:xfrm>
        </p:grpSpPr>
        <p:sp>
          <p:nvSpPr>
            <p:cNvPr id="27" name="Rectangle 27"/>
            <p:cNvSpPr/>
            <p:nvPr/>
          </p:nvSpPr>
          <p:spPr>
            <a:xfrm>
              <a:off x="495300" y="1285875"/>
              <a:ext cx="6400800" cy="4905375"/>
            </a:xfrm>
            <a:prstGeom prst="roundRect">
              <a:avLst>
                <a:gd name="adj" fmla="val 777"/>
              </a:avLst>
            </a:prstGeom>
            <a:solidFill>
              <a:srgbClr val="FFFFFF"/>
            </a:solidFill>
            <a:ln w="11430">
              <a:solidFill>
                <a:srgbClr val="B8C7D6"/>
              </a:solidFill>
            </a:ln>
          </p:spPr>
        </p:sp>
        <p:sp>
          <p:nvSpPr>
            <p:cNvPr id="28" name="Rectangle 28"/>
            <p:cNvSpPr/>
            <p:nvPr/>
          </p:nvSpPr>
          <p:spPr>
            <a:xfrm>
              <a:off x="647700" y="1438275"/>
              <a:ext cx="6096000" cy="3905250"/>
            </a:xfrm>
            <a:prstGeom prst="roundRect">
              <a:avLst>
                <a:gd name="adj" fmla="val 488"/>
              </a:avLst>
            </a:prstGeom>
            <a:solidFill>
              <a:srgbClr val="F0F9FC"/>
            </a:solidFill>
            <a:ln w="9525">
              <a:solidFill>
                <a:srgbClr val="D4E2EE"/>
              </a:solidFill>
            </a:ln>
          </p:spPr>
        </p:sp>
        <p:pic>
          <p:nvPicPr>
            <p:cNvPr id="29" name="Image 29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647700" y="1605643"/>
              <a:ext cx="6096000" cy="3570514"/>
            </a:xfrm>
            <a:prstGeom prst="rect">
              <a:avLst/>
            </a:prstGeom>
          </p:spPr>
        </p:pic>
        <p:sp>
          <p:nvSpPr>
            <p:cNvPr id="30" name="Line 30"/>
            <p:cNvSpPr/>
            <p:nvPr/>
          </p:nvSpPr>
          <p:spPr>
            <a:xfrm>
              <a:off x="723900" y="5534025"/>
              <a:ext cx="5943600" cy="9525"/>
            </a:xfrm>
            <a:custGeom>
              <a:avLst/>
              <a:gdLst/>
              <a:ahLst/>
              <a:cxnLst/>
              <a:rect l="l" t="t" r="r" b="b"/>
              <a:pathLst>
                <a:path w="5943600" h="9525">
                  <a:moveTo>
                    <a:pt x="0" y="0"/>
                  </a:moveTo>
                  <a:lnTo>
                    <a:pt x="5943600" y="0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800100" y="5610225"/>
              <a:ext cx="5791200" cy="4572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350" dirty="0">
                  <a:solidFill>
                    <a:srgbClr val="52657A"/>
                  </a:solidFill>
                  <a:latin typeface="Arial"/>
                  <a:ea typeface="Microsoft YaHei"/>
                  <a:cs typeface="Arial"/>
                </a:rPr>
                <a:t>代码：workflow.py · 实现（概念5 混合）</a:t>
              </a:r>
            </a:p>
          </p:txBody>
        </p:sp>
      </p:grp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666750"/>
          </a:xfrm>
          <a:prstGeom prst="rect">
            <a:avLst/>
          </a:prstGeom>
          <a:solidFill>
            <a:srgbClr val="0E7490"/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0"/>
            <a:ext cx="57150" cy="666750"/>
          </a:xfrm>
          <a:prstGeom prst="rect">
            <a:avLst/>
          </a:prstGeom>
          <a:solidFill>
            <a:srgbClr val="CC0000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381000" y="123825"/>
            <a:ext cx="762000" cy="4000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1275" b="1" dirty="0">
                <a:solidFill>
                  <a:srgbClr val="9FD3FF"/>
                </a:solidFill>
                <a:latin typeface="Arial"/>
                <a:ea typeface="Microsoft YaHei"/>
                <a:cs typeface="Arial"/>
              </a:rPr>
              <a:t>58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257300" y="95250"/>
            <a:ext cx="8096250" cy="457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21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应用实践：混合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0001250" y="76200"/>
            <a:ext cx="1619250" cy="5143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3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DataAgent</a:t>
            </a:r>
          </a:p>
        </p:txBody>
      </p:sp>
      <p:sp>
        <p:nvSpPr>
          <p:cNvPr id="8" name="Rectangle 8"/>
          <p:cNvSpPr/>
          <p:nvPr/>
        </p:nvSpPr>
        <p:spPr>
          <a:xfrm>
            <a:off x="0" y="666750"/>
            <a:ext cx="12192000" cy="476250"/>
          </a:xfrm>
          <a:prstGeom prst="rect">
            <a:avLst/>
          </a:prstGeom>
          <a:solidFill>
            <a:srgbClr val="E8F4FC"/>
          </a:solidFill>
          <a:ln>
            <a:noFill/>
          </a:ln>
        </p:spPr>
      </p:sp>
      <p:sp>
        <p:nvSpPr>
          <p:cNvPr id="9" name="Rectangle 9"/>
          <p:cNvSpPr/>
          <p:nvPr/>
        </p:nvSpPr>
        <p:spPr>
          <a:xfrm>
            <a:off x="0" y="666750"/>
            <a:ext cx="57150" cy="476250"/>
          </a:xfrm>
          <a:prstGeom prst="rect">
            <a:avLst/>
          </a:prstGeom>
          <a:solidFill>
            <a:srgbClr val="06B6D4"/>
          </a:solidFill>
          <a:ln>
            <a:noFill/>
          </a:ln>
        </p:spPr>
      </p:sp>
      <p:sp>
        <p:nvSpPr>
          <p:cNvPr id="10" name="TextBox 10"/>
          <p:cNvSpPr txBox="1"/>
          <p:nvPr/>
        </p:nvSpPr>
        <p:spPr>
          <a:xfrm>
            <a:off x="381000" y="714375"/>
            <a:ext cx="10001250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1350" dirty="0">
                <a:solidFill>
                  <a:srgbClr val="26384A"/>
                </a:solidFill>
                <a:latin typeface="Arial"/>
                <a:ea typeface="Microsoft YaHei"/>
                <a:cs typeface="Arial"/>
              </a:rPr>
              <a:t>三步落地：闭环→灰度→放开</a:t>
            </a:r>
          </a:p>
        </p:txBody>
      </p:sp>
      <p:sp>
        <p:nvSpPr>
          <p:cNvPr id="11" name="Line 11"/>
          <p:cNvSpPr/>
          <p:nvPr/>
        </p:nvSpPr>
        <p:spPr>
          <a:xfrm>
            <a:off x="381000" y="6334125"/>
            <a:ext cx="11430000" cy="9525"/>
          </a:xfrm>
          <a:custGeom>
            <a:avLst/>
            <a:gdLst/>
            <a:ahLst/>
            <a:cxnLst/>
            <a:rect l="l" t="t" r="r" b="b"/>
            <a:pathLst>
              <a:path w="11430000" h="9525">
                <a:moveTo>
                  <a:pt x="0" y="0"/>
                </a:moveTo>
                <a:lnTo>
                  <a:pt x="11430000" y="0"/>
                </a:lnTo>
              </a:path>
            </a:pathLst>
          </a:custGeom>
          <a:noFill/>
          <a:ln w="9525">
            <a:solidFill>
              <a:srgbClr val="E8F4FC"/>
            </a:solidFill>
          </a:ln>
        </p:spPr>
      </p:sp>
      <p:sp>
        <p:nvSpPr>
          <p:cNvPr id="12" name="TextBox 12"/>
          <p:cNvSpPr txBox="1"/>
          <p:nvPr/>
        </p:nvSpPr>
        <p:spPr>
          <a:xfrm>
            <a:off x="381000" y="6477000"/>
            <a:ext cx="4953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课程第15讲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4381500" y="6477000"/>
            <a:ext cx="3429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Agent Runtime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0763250" y="6457950"/>
            <a:ext cx="857250" cy="266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050" dirty="0">
                <a:solidFill>
                  <a:srgbClr val="52657A"/>
                </a:solidFill>
                <a:latin typeface="Arial"/>
                <a:ea typeface="Microsoft YaHei"/>
                <a:cs typeface="Arial"/>
              </a:rPr>
              <a:t>58</a:t>
            </a:r>
          </a:p>
        </p:txBody>
      </p:sp>
      <p:grpSp>
        <p:nvGrpSpPr>
          <p:cNvPr id="22" name="EasySlides Component: step_01"/>
          <p:cNvGrpSpPr/>
          <p:nvPr/>
        </p:nvGrpSpPr>
        <p:grpSpPr>
          <a:xfrm>
            <a:off x="495300" y="1285875"/>
            <a:ext cx="3505200" cy="3476625"/>
            <a:chOff x="495300" y="1285875"/>
            <a:chExt cx="3505200" cy="3476625"/>
          </a:xfrm>
        </p:grpSpPr>
        <p:sp>
          <p:nvSpPr>
            <p:cNvPr id="15" name="Rectangle 15"/>
            <p:cNvSpPr/>
            <p:nvPr/>
          </p:nvSpPr>
          <p:spPr>
            <a:xfrm>
              <a:off x="495300" y="1285875"/>
              <a:ext cx="3505200" cy="3476625"/>
            </a:xfrm>
            <a:prstGeom prst="roundRect">
              <a:avLst>
                <a:gd name="adj" fmla="val 1096"/>
              </a:avLst>
            </a:prstGeom>
            <a:solidFill>
              <a:srgbClr val="FFFFFF"/>
            </a:solidFill>
            <a:ln w="11430">
              <a:solidFill>
                <a:srgbClr val="B8C7D6"/>
              </a:solidFill>
            </a:ln>
          </p:spPr>
        </p:sp>
        <p:sp>
          <p:nvSpPr>
            <p:cNvPr id="16" name="Ellipse 16"/>
            <p:cNvSpPr/>
            <p:nvPr/>
          </p:nvSpPr>
          <p:spPr>
            <a:xfrm>
              <a:off x="695325" y="1495425"/>
              <a:ext cx="476250" cy="476250"/>
            </a:xfrm>
            <a:prstGeom prst="ellipse">
              <a:avLst/>
            </a:prstGeom>
            <a:solidFill>
              <a:srgbClr val="06B6D4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714375" y="1504950"/>
              <a:ext cx="438150" cy="4572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35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1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1314450" y="1524000"/>
              <a:ext cx="2324100" cy="42862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650" b="1" dirty="0">
                  <a:solidFill>
                    <a:srgbClr val="0E7490"/>
                  </a:solidFill>
                  <a:latin typeface="Arial"/>
                  <a:ea typeface="Microsoft YaHei"/>
                  <a:cs typeface="Arial"/>
                </a:rPr>
                <a:t>最小闭环</a:t>
              </a:r>
            </a:p>
          </p:txBody>
        </p:sp>
        <p:sp>
          <p:nvSpPr>
            <p:cNvPr id="19" name="Line 19"/>
            <p:cNvSpPr/>
            <p:nvPr/>
          </p:nvSpPr>
          <p:spPr>
            <a:xfrm>
              <a:off x="800100" y="2181225"/>
              <a:ext cx="2895600" cy="9525"/>
            </a:xfrm>
            <a:custGeom>
              <a:avLst/>
              <a:gdLst/>
              <a:ahLst/>
              <a:cxnLst/>
              <a:rect l="l" t="t" r="r" b="b"/>
              <a:pathLst>
                <a:path w="2895600" h="9525">
                  <a:moveTo>
                    <a:pt x="0" y="0"/>
                  </a:moveTo>
                  <a:lnTo>
                    <a:pt x="2895600" y="0"/>
                  </a:lnTo>
                </a:path>
              </a:pathLst>
            </a:custGeom>
            <a:noFill/>
            <a:ln w="19050">
              <a:solidFill>
                <a:srgbClr val="D4E2EE"/>
              </a:solidFill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952500" y="2476500"/>
              <a:ext cx="2590800" cy="16668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500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「混合」的应用入口在本课程 DataAgent：跑通对应 pytest</a:t>
              </a:r>
            </a:p>
          </p:txBody>
        </p:sp>
        <p:sp>
          <p:nvSpPr>
            <p:cNvPr id="21" name="Rectangle 21"/>
            <p:cNvSpPr/>
            <p:nvPr/>
          </p:nvSpPr>
          <p:spPr>
            <a:xfrm>
              <a:off x="800100" y="4391025"/>
              <a:ext cx="762000" cy="66675"/>
            </a:xfrm>
            <a:prstGeom prst="rect">
              <a:avLst/>
            </a:prstGeom>
            <a:solidFill>
              <a:srgbClr val="CC0000"/>
            </a:solidFill>
            <a:ln>
              <a:noFill/>
            </a:ln>
          </p:spPr>
        </p:sp>
      </p:grpSp>
      <p:grpSp>
        <p:nvGrpSpPr>
          <p:cNvPr id="30" name="EasySlides Component: step_02"/>
          <p:cNvGrpSpPr/>
          <p:nvPr/>
        </p:nvGrpSpPr>
        <p:grpSpPr>
          <a:xfrm>
            <a:off x="4343400" y="1285875"/>
            <a:ext cx="3505200" cy="3476625"/>
            <a:chOff x="4343400" y="1285875"/>
            <a:chExt cx="3505200" cy="3476625"/>
          </a:xfrm>
        </p:grpSpPr>
        <p:sp>
          <p:nvSpPr>
            <p:cNvPr id="23" name="Rectangle 23"/>
            <p:cNvSpPr/>
            <p:nvPr/>
          </p:nvSpPr>
          <p:spPr>
            <a:xfrm>
              <a:off x="4343400" y="1285875"/>
              <a:ext cx="3505200" cy="3476625"/>
            </a:xfrm>
            <a:prstGeom prst="roundRect">
              <a:avLst>
                <a:gd name="adj" fmla="val 1096"/>
              </a:avLst>
            </a:prstGeom>
            <a:solidFill>
              <a:srgbClr val="FFFFFF"/>
            </a:solidFill>
            <a:ln w="11430">
              <a:solidFill>
                <a:srgbClr val="B8C7D6"/>
              </a:solidFill>
            </a:ln>
          </p:spPr>
        </p:sp>
        <p:sp>
          <p:nvSpPr>
            <p:cNvPr id="24" name="Ellipse 24"/>
            <p:cNvSpPr/>
            <p:nvPr/>
          </p:nvSpPr>
          <p:spPr>
            <a:xfrm>
              <a:off x="4543425" y="1495425"/>
              <a:ext cx="476250" cy="476250"/>
            </a:xfrm>
            <a:prstGeom prst="ellipse">
              <a:avLst/>
            </a:prstGeom>
            <a:solidFill>
              <a:srgbClr val="06B6D4"/>
            </a:solidFill>
            <a:ln>
              <a:noFill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4562475" y="1504950"/>
              <a:ext cx="438150" cy="4572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35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2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5162550" y="1524000"/>
              <a:ext cx="2324100" cy="42862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650" b="1" dirty="0">
                  <a:solidFill>
                    <a:srgbClr val="0E7490"/>
                  </a:solidFill>
                  <a:latin typeface="Arial"/>
                  <a:ea typeface="Microsoft YaHei"/>
                  <a:cs typeface="Arial"/>
                </a:rPr>
                <a:t>灰度验证</a:t>
              </a:r>
            </a:p>
          </p:txBody>
        </p:sp>
        <p:sp>
          <p:nvSpPr>
            <p:cNvPr id="27" name="Line 27"/>
            <p:cNvSpPr/>
            <p:nvPr/>
          </p:nvSpPr>
          <p:spPr>
            <a:xfrm>
              <a:off x="4648200" y="2181225"/>
              <a:ext cx="2895600" cy="9525"/>
            </a:xfrm>
            <a:custGeom>
              <a:avLst/>
              <a:gdLst/>
              <a:ahLst/>
              <a:cxnLst/>
              <a:rect l="l" t="t" r="r" b="b"/>
              <a:pathLst>
                <a:path w="2895600" h="9525">
                  <a:moveTo>
                    <a:pt x="0" y="0"/>
                  </a:moveTo>
                  <a:lnTo>
                    <a:pt x="2895600" y="0"/>
                  </a:lnTo>
                </a:path>
              </a:pathLst>
            </a:custGeom>
            <a:noFill/>
            <a:ln w="19050">
              <a:solidFill>
                <a:srgbClr val="D4E2EE"/>
              </a:solidFill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4800600" y="2476500"/>
              <a:ext cx="2590800" cy="16668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500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小流量对照基线，观察效果/成本/时延</a:t>
              </a:r>
            </a:p>
          </p:txBody>
        </p:sp>
        <p:sp>
          <p:nvSpPr>
            <p:cNvPr id="29" name="Rectangle 29"/>
            <p:cNvSpPr/>
            <p:nvPr/>
          </p:nvSpPr>
          <p:spPr>
            <a:xfrm>
              <a:off x="4648200" y="4391025"/>
              <a:ext cx="762000" cy="66675"/>
            </a:xfrm>
            <a:prstGeom prst="rect">
              <a:avLst/>
            </a:prstGeom>
            <a:solidFill>
              <a:srgbClr val="CC0000"/>
            </a:solidFill>
            <a:ln>
              <a:noFill/>
            </a:ln>
          </p:spPr>
        </p:sp>
      </p:grpSp>
      <p:grpSp>
        <p:nvGrpSpPr>
          <p:cNvPr id="38" name="EasySlides Component: step_03"/>
          <p:cNvGrpSpPr/>
          <p:nvPr/>
        </p:nvGrpSpPr>
        <p:grpSpPr>
          <a:xfrm>
            <a:off x="8191500" y="1285875"/>
            <a:ext cx="3505200" cy="3476625"/>
            <a:chOff x="8191500" y="1285875"/>
            <a:chExt cx="3505200" cy="3476625"/>
          </a:xfrm>
        </p:grpSpPr>
        <p:sp>
          <p:nvSpPr>
            <p:cNvPr id="31" name="Rectangle 31"/>
            <p:cNvSpPr/>
            <p:nvPr/>
          </p:nvSpPr>
          <p:spPr>
            <a:xfrm>
              <a:off x="8191500" y="1285875"/>
              <a:ext cx="3505200" cy="3476625"/>
            </a:xfrm>
            <a:prstGeom prst="roundRect">
              <a:avLst>
                <a:gd name="adj" fmla="val 1096"/>
              </a:avLst>
            </a:prstGeom>
            <a:solidFill>
              <a:srgbClr val="FFFFFF"/>
            </a:solidFill>
            <a:ln w="11430">
              <a:solidFill>
                <a:srgbClr val="B8C7D6"/>
              </a:solidFill>
            </a:ln>
          </p:spPr>
        </p:sp>
        <p:sp>
          <p:nvSpPr>
            <p:cNvPr id="32" name="Ellipse 32"/>
            <p:cNvSpPr/>
            <p:nvPr/>
          </p:nvSpPr>
          <p:spPr>
            <a:xfrm>
              <a:off x="8391525" y="1495425"/>
              <a:ext cx="476250" cy="476250"/>
            </a:xfrm>
            <a:prstGeom prst="ellipse">
              <a:avLst/>
            </a:prstGeom>
            <a:solidFill>
              <a:srgbClr val="06B6D4"/>
            </a:solidFill>
            <a:ln>
              <a:noFill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8410575" y="1504950"/>
              <a:ext cx="438150" cy="4572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35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3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9010650" y="1524000"/>
              <a:ext cx="2324100" cy="42862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650" b="1" dirty="0">
                  <a:solidFill>
                    <a:srgbClr val="0E7490"/>
                  </a:solidFill>
                  <a:latin typeface="Arial"/>
                  <a:ea typeface="Microsoft YaHei"/>
                  <a:cs typeface="Arial"/>
                </a:rPr>
                <a:t>逐步放开</a:t>
              </a:r>
            </a:p>
          </p:txBody>
        </p:sp>
        <p:sp>
          <p:nvSpPr>
            <p:cNvPr id="35" name="Line 35"/>
            <p:cNvSpPr/>
            <p:nvPr/>
          </p:nvSpPr>
          <p:spPr>
            <a:xfrm>
              <a:off x="8496300" y="2181225"/>
              <a:ext cx="2895600" cy="9525"/>
            </a:xfrm>
            <a:custGeom>
              <a:avLst/>
              <a:gdLst/>
              <a:ahLst/>
              <a:cxnLst/>
              <a:rect l="l" t="t" r="r" b="b"/>
              <a:pathLst>
                <a:path w="2895600" h="9525">
                  <a:moveTo>
                    <a:pt x="0" y="0"/>
                  </a:moveTo>
                  <a:lnTo>
                    <a:pt x="2895600" y="0"/>
                  </a:lnTo>
                </a:path>
              </a:pathLst>
            </a:custGeom>
            <a:noFill/>
            <a:ln w="19050">
              <a:solidFill>
                <a:srgbClr val="D4E2EE"/>
              </a:solidFill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8648700" y="2476500"/>
              <a:ext cx="2590800" cy="16668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500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按租户/场景分批，异常即回滚</a:t>
              </a:r>
            </a:p>
          </p:txBody>
        </p:sp>
        <p:sp>
          <p:nvSpPr>
            <p:cNvPr id="37" name="Rectangle 37"/>
            <p:cNvSpPr/>
            <p:nvPr/>
          </p:nvSpPr>
          <p:spPr>
            <a:xfrm>
              <a:off x="8496300" y="4391025"/>
              <a:ext cx="762000" cy="66675"/>
            </a:xfrm>
            <a:prstGeom prst="rect">
              <a:avLst/>
            </a:prstGeom>
            <a:solidFill>
              <a:srgbClr val="CC0000"/>
            </a:solidFill>
            <a:ln>
              <a:noFill/>
            </a:ln>
          </p:spPr>
        </p:sp>
      </p:grpSp>
      <p:grpSp>
        <p:nvGrpSpPr>
          <p:cNvPr id="42" name="EasySlides Component: synthesis"/>
          <p:cNvGrpSpPr/>
          <p:nvPr/>
        </p:nvGrpSpPr>
        <p:grpSpPr>
          <a:xfrm>
            <a:off x="495300" y="5476875"/>
            <a:ext cx="11201400" cy="714375"/>
            <a:chOff x="495300" y="5476875"/>
            <a:chExt cx="11201400" cy="714375"/>
          </a:xfrm>
        </p:grpSpPr>
        <p:sp>
          <p:nvSpPr>
            <p:cNvPr id="39" name="Rectangle 39"/>
            <p:cNvSpPr/>
            <p:nvPr/>
          </p:nvSpPr>
          <p:spPr>
            <a:xfrm>
              <a:off x="495300" y="5476875"/>
              <a:ext cx="11201400" cy="714375"/>
            </a:xfrm>
            <a:prstGeom prst="roundRect">
              <a:avLst>
                <a:gd name="adj" fmla="val 5333"/>
              </a:avLst>
            </a:prstGeom>
            <a:solidFill>
              <a:srgbClr val="0E7490"/>
            </a:solidFill>
            <a:ln>
              <a:noFill/>
            </a:ln>
          </p:spPr>
        </p:sp>
        <p:sp>
          <p:nvSpPr>
            <p:cNvPr id="40" name="Rectangle 40"/>
            <p:cNvSpPr/>
            <p:nvPr/>
          </p:nvSpPr>
          <p:spPr>
            <a:xfrm>
              <a:off x="495300" y="5476875"/>
              <a:ext cx="76200" cy="714375"/>
            </a:xfrm>
            <a:prstGeom prst="roundRect">
              <a:avLst>
                <a:gd name="adj" fmla="val 50000"/>
              </a:avLst>
            </a:prstGeom>
            <a:solidFill>
              <a:srgbClr val="CC0000"/>
            </a:solidFill>
            <a:ln>
              <a:noFill/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876300" y="5610225"/>
              <a:ext cx="10439400" cy="4476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65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案例视角：预算审批链路的审批-幂等-验真闭环实测。</a:t>
              </a:r>
            </a:p>
          </p:txBody>
        </p:sp>
      </p:grp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666750"/>
          </a:xfrm>
          <a:prstGeom prst="rect">
            <a:avLst/>
          </a:prstGeom>
          <a:solidFill>
            <a:srgbClr val="0E7490"/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0"/>
            <a:ext cx="57150" cy="666750"/>
          </a:xfrm>
          <a:prstGeom prst="rect">
            <a:avLst/>
          </a:prstGeom>
          <a:solidFill>
            <a:srgbClr val="CC0000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381000" y="123825"/>
            <a:ext cx="762000" cy="4000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1275" b="1" dirty="0">
                <a:solidFill>
                  <a:srgbClr val="9FD3FF"/>
                </a:solidFill>
                <a:latin typeface="Arial"/>
                <a:ea typeface="Microsoft YaHei"/>
                <a:cs typeface="Arial"/>
              </a:rPr>
              <a:t>59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257300" y="95250"/>
            <a:ext cx="8096250" cy="457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21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陷阱与排查：混合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0001250" y="76200"/>
            <a:ext cx="1619250" cy="5143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3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DataAgent</a:t>
            </a:r>
          </a:p>
        </p:txBody>
      </p:sp>
      <p:sp>
        <p:nvSpPr>
          <p:cNvPr id="8" name="Rectangle 8"/>
          <p:cNvSpPr/>
          <p:nvPr/>
        </p:nvSpPr>
        <p:spPr>
          <a:xfrm>
            <a:off x="0" y="666750"/>
            <a:ext cx="12192000" cy="476250"/>
          </a:xfrm>
          <a:prstGeom prst="rect">
            <a:avLst/>
          </a:prstGeom>
          <a:solidFill>
            <a:srgbClr val="E8F4FC"/>
          </a:solidFill>
          <a:ln>
            <a:noFill/>
          </a:ln>
        </p:spPr>
      </p:sp>
      <p:sp>
        <p:nvSpPr>
          <p:cNvPr id="9" name="Rectangle 9"/>
          <p:cNvSpPr/>
          <p:nvPr/>
        </p:nvSpPr>
        <p:spPr>
          <a:xfrm>
            <a:off x="0" y="666750"/>
            <a:ext cx="57150" cy="476250"/>
          </a:xfrm>
          <a:prstGeom prst="rect">
            <a:avLst/>
          </a:prstGeom>
          <a:solidFill>
            <a:srgbClr val="06B6D4"/>
          </a:solidFill>
          <a:ln>
            <a:noFill/>
          </a:ln>
        </p:spPr>
      </p:sp>
      <p:sp>
        <p:nvSpPr>
          <p:cNvPr id="10" name="TextBox 10"/>
          <p:cNvSpPr txBox="1"/>
          <p:nvPr/>
        </p:nvSpPr>
        <p:spPr>
          <a:xfrm>
            <a:off x="381000" y="714375"/>
            <a:ext cx="10001250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1350" dirty="0">
                <a:solidFill>
                  <a:srgbClr val="26384A"/>
                </a:solidFill>
                <a:latin typeface="Arial"/>
                <a:ea typeface="Microsoft YaHei"/>
                <a:cs typeface="Arial"/>
              </a:rPr>
              <a:t>症状→根因→处置</a:t>
            </a:r>
          </a:p>
        </p:txBody>
      </p:sp>
      <p:sp>
        <p:nvSpPr>
          <p:cNvPr id="11" name="Line 11"/>
          <p:cNvSpPr/>
          <p:nvPr/>
        </p:nvSpPr>
        <p:spPr>
          <a:xfrm>
            <a:off x="381000" y="6334125"/>
            <a:ext cx="11430000" cy="9525"/>
          </a:xfrm>
          <a:custGeom>
            <a:avLst/>
            <a:gdLst/>
            <a:ahLst/>
            <a:cxnLst/>
            <a:rect l="l" t="t" r="r" b="b"/>
            <a:pathLst>
              <a:path w="11430000" h="9525">
                <a:moveTo>
                  <a:pt x="0" y="0"/>
                </a:moveTo>
                <a:lnTo>
                  <a:pt x="11430000" y="0"/>
                </a:lnTo>
              </a:path>
            </a:pathLst>
          </a:custGeom>
          <a:noFill/>
          <a:ln w="9525">
            <a:solidFill>
              <a:srgbClr val="E8F4FC"/>
            </a:solidFill>
          </a:ln>
        </p:spPr>
      </p:sp>
      <p:sp>
        <p:nvSpPr>
          <p:cNvPr id="12" name="TextBox 12"/>
          <p:cNvSpPr txBox="1"/>
          <p:nvPr/>
        </p:nvSpPr>
        <p:spPr>
          <a:xfrm>
            <a:off x="381000" y="6477000"/>
            <a:ext cx="4953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课程第15讲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4381500" y="6477000"/>
            <a:ext cx="3429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Agent Runtime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0763250" y="6457950"/>
            <a:ext cx="857250" cy="266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050" dirty="0">
                <a:solidFill>
                  <a:srgbClr val="52657A"/>
                </a:solidFill>
                <a:latin typeface="Arial"/>
                <a:ea typeface="Microsoft YaHei"/>
                <a:cs typeface="Arial"/>
              </a:rPr>
              <a:t>59</a:t>
            </a:r>
          </a:p>
        </p:txBody>
      </p:sp>
      <p:grpSp>
        <p:nvGrpSpPr>
          <p:cNvPr id="38" name="EasySlides Component: matrix"/>
          <p:cNvGrpSpPr/>
          <p:nvPr/>
        </p:nvGrpSpPr>
        <p:grpSpPr>
          <a:xfrm>
            <a:off x="495300" y="1285875"/>
            <a:ext cx="11201400" cy="4905375"/>
            <a:chOff x="495300" y="1285875"/>
            <a:chExt cx="11201400" cy="4905375"/>
          </a:xfrm>
        </p:grpSpPr>
        <p:sp>
          <p:nvSpPr>
            <p:cNvPr id="15" name="Rectangle 15"/>
            <p:cNvSpPr/>
            <p:nvPr/>
          </p:nvSpPr>
          <p:spPr>
            <a:xfrm>
              <a:off x="495300" y="1285875"/>
              <a:ext cx="11201400" cy="4905375"/>
            </a:xfrm>
            <a:prstGeom prst="roundRect">
              <a:avLst>
                <a:gd name="adj" fmla="val 777"/>
              </a:avLst>
            </a:prstGeom>
            <a:solidFill>
              <a:srgbClr val="FFFFFF"/>
            </a:solidFill>
            <a:ln w="11430">
              <a:solidFill>
                <a:srgbClr val="B8C7D6"/>
              </a:solidFill>
            </a:ln>
          </p:spPr>
        </p:sp>
        <p:sp>
          <p:nvSpPr>
            <p:cNvPr id="16" name="Rectangle 16"/>
            <p:cNvSpPr/>
            <p:nvPr/>
          </p:nvSpPr>
          <p:spPr>
            <a:xfrm>
              <a:off x="495300" y="1285875"/>
              <a:ext cx="11201400" cy="647700"/>
            </a:xfrm>
            <a:prstGeom prst="roundRect">
              <a:avLst>
                <a:gd name="adj" fmla="val 5882"/>
              </a:avLst>
            </a:prstGeom>
            <a:solidFill>
              <a:srgbClr val="0E7490"/>
            </a:solidFill>
            <a:ln>
              <a:noFill/>
            </a:ln>
          </p:spPr>
        </p:sp>
        <p:sp>
          <p:nvSpPr>
            <p:cNvPr id="17" name="Line 17"/>
            <p:cNvSpPr/>
            <p:nvPr/>
          </p:nvSpPr>
          <p:spPr>
            <a:xfrm>
              <a:off x="4229100" y="1285875"/>
              <a:ext cx="9525" cy="4143375"/>
            </a:xfrm>
            <a:custGeom>
              <a:avLst/>
              <a:gdLst/>
              <a:ahLst/>
              <a:cxnLst/>
              <a:rect l="l" t="t" r="r" b="b"/>
              <a:pathLst>
                <a:path w="9525" h="4143375">
                  <a:moveTo>
                    <a:pt x="0" y="0"/>
                  </a:moveTo>
                  <a:lnTo>
                    <a:pt x="0" y="4143375"/>
                  </a:lnTo>
                </a:path>
              </a:pathLst>
            </a:custGeom>
            <a:noFill/>
            <a:ln w="9525">
              <a:solidFill>
                <a:srgbClr val="B8C7D6"/>
              </a:solidFill>
            </a:ln>
          </p:spPr>
        </p:sp>
        <p:sp>
          <p:nvSpPr>
            <p:cNvPr id="18" name="Line 18"/>
            <p:cNvSpPr/>
            <p:nvPr/>
          </p:nvSpPr>
          <p:spPr>
            <a:xfrm>
              <a:off x="7962900" y="1285875"/>
              <a:ext cx="9525" cy="4143375"/>
            </a:xfrm>
            <a:custGeom>
              <a:avLst/>
              <a:gdLst/>
              <a:ahLst/>
              <a:cxnLst/>
              <a:rect l="l" t="t" r="r" b="b"/>
              <a:pathLst>
                <a:path w="9525" h="4143375">
                  <a:moveTo>
                    <a:pt x="0" y="0"/>
                  </a:moveTo>
                  <a:lnTo>
                    <a:pt x="0" y="4143375"/>
                  </a:lnTo>
                </a:path>
              </a:pathLst>
            </a:custGeom>
            <a:noFill/>
            <a:ln w="9525">
              <a:solidFill>
                <a:srgbClr val="B8C7D6"/>
              </a:solidFill>
            </a:ln>
          </p:spPr>
        </p:sp>
        <p:sp>
          <p:nvSpPr>
            <p:cNvPr id="19" name="Line 19"/>
            <p:cNvSpPr/>
            <p:nvPr/>
          </p:nvSpPr>
          <p:spPr>
            <a:xfrm>
              <a:off x="495300" y="1933575"/>
              <a:ext cx="11201400" cy="9525"/>
            </a:xfrm>
            <a:custGeom>
              <a:avLst/>
              <a:gdLst/>
              <a:ahLst/>
              <a:cxnLst/>
              <a:rect l="l" t="t" r="r" b="b"/>
              <a:pathLst>
                <a:path w="11201400" h="9525">
                  <a:moveTo>
                    <a:pt x="0" y="0"/>
                  </a:moveTo>
                  <a:lnTo>
                    <a:pt x="11201400" y="0"/>
                  </a:lnTo>
                </a:path>
              </a:pathLst>
            </a:custGeom>
            <a:noFill/>
            <a:ln w="9525">
              <a:solidFill>
                <a:srgbClr val="B8C7D6"/>
              </a:solidFill>
            </a:ln>
          </p:spPr>
        </p:sp>
        <p:sp>
          <p:nvSpPr>
            <p:cNvPr id="20" name="Line 20"/>
            <p:cNvSpPr/>
            <p:nvPr/>
          </p:nvSpPr>
          <p:spPr>
            <a:xfrm>
              <a:off x="495300" y="3095625"/>
              <a:ext cx="11201400" cy="9525"/>
            </a:xfrm>
            <a:custGeom>
              <a:avLst/>
              <a:gdLst/>
              <a:ahLst/>
              <a:cxnLst/>
              <a:rect l="l" t="t" r="r" b="b"/>
              <a:pathLst>
                <a:path w="11201400" h="9525">
                  <a:moveTo>
                    <a:pt x="0" y="0"/>
                  </a:moveTo>
                  <a:lnTo>
                    <a:pt x="11201400" y="0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21" name="Line 21"/>
            <p:cNvSpPr/>
            <p:nvPr/>
          </p:nvSpPr>
          <p:spPr>
            <a:xfrm>
              <a:off x="495300" y="4257675"/>
              <a:ext cx="11201400" cy="9525"/>
            </a:xfrm>
            <a:custGeom>
              <a:avLst/>
              <a:gdLst/>
              <a:ahLst/>
              <a:cxnLst/>
              <a:rect l="l" t="t" r="r" b="b"/>
              <a:pathLst>
                <a:path w="11201400" h="9525">
                  <a:moveTo>
                    <a:pt x="0" y="0"/>
                  </a:moveTo>
                  <a:lnTo>
                    <a:pt x="11201400" y="0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22" name="Line 22"/>
            <p:cNvSpPr/>
            <p:nvPr/>
          </p:nvSpPr>
          <p:spPr>
            <a:xfrm>
              <a:off x="495300" y="5429250"/>
              <a:ext cx="11201400" cy="9525"/>
            </a:xfrm>
            <a:custGeom>
              <a:avLst/>
              <a:gdLst/>
              <a:ahLst/>
              <a:cxnLst/>
              <a:rect l="l" t="t" r="r" b="b"/>
              <a:pathLst>
                <a:path w="11201400" h="9525">
                  <a:moveTo>
                    <a:pt x="0" y="0"/>
                  </a:moveTo>
                  <a:lnTo>
                    <a:pt x="11201400" y="0"/>
                  </a:lnTo>
                </a:path>
              </a:pathLst>
            </a:custGeom>
            <a:noFill/>
            <a:ln w="9525">
              <a:solidFill>
                <a:srgbClr val="B8C7D6"/>
              </a:solidFill>
            </a:ln>
          </p:spPr>
        </p:sp>
        <p:grpSp>
          <p:nvGrpSpPr>
            <p:cNvPr id="26" name="Group 26"/>
            <p:cNvGrpSpPr/>
            <p:nvPr/>
          </p:nvGrpSpPr>
          <p:grpSpPr>
            <a:xfrm>
              <a:off x="704850" y="1428750"/>
              <a:ext cx="10782300" cy="361950"/>
              <a:chOff x="704850" y="1428750"/>
              <a:chExt cx="10782300" cy="361950"/>
            </a:xfrm>
          </p:grpSpPr>
          <p:sp>
            <p:nvSpPr>
              <p:cNvPr id="23" name="TextBox 23"/>
              <p:cNvSpPr txBox="1"/>
              <p:nvPr/>
            </p:nvSpPr>
            <p:spPr>
              <a:xfrm>
                <a:off x="704850" y="1428750"/>
                <a:ext cx="3314700" cy="3619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575" b="1" dirty="0">
                    <a:solidFill>
                      <a:srgbClr val="FFFFFF"/>
                    </a:solidFill>
                    <a:latin typeface="Arial"/>
                    <a:ea typeface="Microsoft YaHei"/>
                    <a:cs typeface="Arial"/>
                  </a:rPr>
                  <a:t>症状</a:t>
                </a:r>
              </a:p>
            </p:txBody>
          </p:sp>
          <p:sp>
            <p:nvSpPr>
              <p:cNvPr id="24" name="TextBox 24"/>
              <p:cNvSpPr txBox="1"/>
              <p:nvPr/>
            </p:nvSpPr>
            <p:spPr>
              <a:xfrm>
                <a:off x="4438650" y="1428750"/>
                <a:ext cx="3314700" cy="3619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575" b="1" dirty="0">
                    <a:solidFill>
                      <a:srgbClr val="FFFFFF"/>
                    </a:solidFill>
                    <a:latin typeface="Arial"/>
                    <a:ea typeface="Microsoft YaHei"/>
                    <a:cs typeface="Arial"/>
                  </a:rPr>
                  <a:t>根因</a:t>
                </a:r>
              </a:p>
            </p:txBody>
          </p:sp>
          <p:sp>
            <p:nvSpPr>
              <p:cNvPr id="25" name="TextBox 25"/>
              <p:cNvSpPr txBox="1"/>
              <p:nvPr/>
            </p:nvSpPr>
            <p:spPr>
              <a:xfrm>
                <a:off x="8172450" y="1428750"/>
                <a:ext cx="3314700" cy="3619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575" b="1" dirty="0">
                    <a:solidFill>
                      <a:srgbClr val="FFFFFF"/>
                    </a:solidFill>
                    <a:latin typeface="Arial"/>
                    <a:ea typeface="Microsoft YaHei"/>
                    <a:cs typeface="Arial"/>
                  </a:rPr>
                  <a:t>处置</a:t>
                </a:r>
              </a:p>
            </p:txBody>
          </p:sp>
        </p:grpSp>
        <p:grpSp>
          <p:nvGrpSpPr>
            <p:cNvPr id="36" name="Group 36"/>
            <p:cNvGrpSpPr/>
            <p:nvPr/>
          </p:nvGrpSpPr>
          <p:grpSpPr>
            <a:xfrm>
              <a:off x="723900" y="2105025"/>
              <a:ext cx="10744200" cy="3086100"/>
              <a:chOff x="723900" y="2105025"/>
              <a:chExt cx="10744200" cy="3086100"/>
            </a:xfrm>
          </p:grpSpPr>
          <p:sp>
            <p:nvSpPr>
              <p:cNvPr id="27" name="TextBox 27"/>
              <p:cNvSpPr txBox="1"/>
              <p:nvPr/>
            </p:nvSpPr>
            <p:spPr>
              <a:xfrm>
                <a:off x="723900" y="210502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「混合」典型故障：成本失控—</a:t>
                </a:r>
              </a:p>
            </p:txBody>
          </p:sp>
          <p:sp>
            <p:nvSpPr>
              <p:cNvPr id="28" name="TextBox 28"/>
              <p:cNvSpPr txBox="1"/>
              <p:nvPr/>
            </p:nvSpPr>
            <p:spPr>
              <a:xfrm>
                <a:off x="4457700" y="210502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缺少验证/预算</a:t>
                </a:r>
              </a:p>
            </p:txBody>
          </p:sp>
          <p:sp>
            <p:nvSpPr>
              <p:cNvPr id="29" name="TextBox 29"/>
              <p:cNvSpPr txBox="1"/>
              <p:nvPr/>
            </p:nvSpPr>
            <p:spPr>
              <a:xfrm>
                <a:off x="8191500" y="210502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验真+预算上限</a:t>
                </a:r>
              </a:p>
            </p:txBody>
          </p:sp>
          <p:sp>
            <p:nvSpPr>
              <p:cNvPr id="30" name="TextBox 30"/>
              <p:cNvSpPr txBox="1"/>
              <p:nvPr/>
            </p:nvSpPr>
            <p:spPr>
              <a:xfrm>
                <a:off x="723900" y="326707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结果不可解释</a:t>
                </a:r>
              </a:p>
            </p:txBody>
          </p:sp>
          <p:sp>
            <p:nvSpPr>
              <p:cNvPr id="31" name="TextBox 31"/>
              <p:cNvSpPr txBox="1"/>
              <p:nvPr/>
            </p:nvSpPr>
            <p:spPr>
              <a:xfrm>
                <a:off x="4457700" y="326707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无 Trace 留痕</a:t>
                </a:r>
              </a:p>
            </p:txBody>
          </p:sp>
          <p:sp>
            <p:nvSpPr>
              <p:cNvPr id="32" name="TextBox 32"/>
              <p:cNvSpPr txBox="1"/>
              <p:nvPr/>
            </p:nvSpPr>
            <p:spPr>
              <a:xfrm>
                <a:off x="8191500" y="326707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接入统一 Trace</a:t>
                </a:r>
              </a:p>
            </p:txBody>
          </p:sp>
          <p:sp>
            <p:nvSpPr>
              <p:cNvPr id="33" name="TextBox 33"/>
              <p:cNvSpPr txBox="1"/>
              <p:nvPr/>
            </p:nvSpPr>
            <p:spPr>
              <a:xfrm>
                <a:off x="723900" y="442912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效果悄悄退化</a:t>
                </a:r>
              </a:p>
            </p:txBody>
          </p:sp>
          <p:sp>
            <p:nvSpPr>
              <p:cNvPr id="34" name="TextBox 34"/>
              <p:cNvSpPr txBox="1"/>
              <p:nvPr/>
            </p:nvSpPr>
            <p:spPr>
              <a:xfrm>
                <a:off x="4457700" y="442912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无回归基线</a:t>
                </a:r>
              </a:p>
            </p:txBody>
          </p:sp>
          <p:sp>
            <p:nvSpPr>
              <p:cNvPr id="35" name="TextBox 35"/>
              <p:cNvSpPr txBox="1"/>
              <p:nvPr/>
            </p:nvSpPr>
            <p:spPr>
              <a:xfrm>
                <a:off x="8191500" y="442912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评测+回归门禁</a:t>
                </a:r>
              </a:p>
            </p:txBody>
          </p:sp>
        </p:grpSp>
        <p:sp>
          <p:nvSpPr>
            <p:cNvPr id="37" name="TextBox 37"/>
            <p:cNvSpPr txBox="1"/>
            <p:nvPr/>
          </p:nvSpPr>
          <p:spPr>
            <a:xfrm>
              <a:off x="828675" y="5581650"/>
              <a:ext cx="10534650" cy="4191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500" b="1" dirty="0">
                  <a:solidFill>
                    <a:srgbClr val="0E7490"/>
                  </a:solidFill>
                  <a:latin typeface="Arial"/>
                  <a:ea typeface="Microsoft YaHei"/>
                  <a:cs typeface="Arial"/>
                </a:rPr>
                <a:t>先止血，再根因，最后沉淀为回归用例</a:t>
              </a:r>
            </a:p>
          </p:txBody>
        </p:sp>
      </p:grp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666750"/>
          </a:xfrm>
          <a:prstGeom prst="rect">
            <a:avLst/>
          </a:prstGeom>
          <a:solidFill>
            <a:srgbClr val="0E7490"/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0"/>
            <a:ext cx="57150" cy="666750"/>
          </a:xfrm>
          <a:prstGeom prst="rect">
            <a:avLst/>
          </a:prstGeom>
          <a:solidFill>
            <a:srgbClr val="CC0000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381000" y="123825"/>
            <a:ext cx="762000" cy="4000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1275" b="1" dirty="0">
                <a:solidFill>
                  <a:srgbClr val="9FD3FF"/>
                </a:solidFill>
                <a:latin typeface="Arial"/>
                <a:ea typeface="Microsoft YaHei"/>
                <a:cs typeface="Arial"/>
              </a:rPr>
              <a:t>60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257300" y="95250"/>
            <a:ext cx="8096250" cy="457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21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工程决策：混合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0001250" y="76200"/>
            <a:ext cx="1619250" cy="5143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3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DataAgent</a:t>
            </a:r>
          </a:p>
        </p:txBody>
      </p:sp>
      <p:sp>
        <p:nvSpPr>
          <p:cNvPr id="8" name="Rectangle 8"/>
          <p:cNvSpPr/>
          <p:nvPr/>
        </p:nvSpPr>
        <p:spPr>
          <a:xfrm>
            <a:off x="0" y="666750"/>
            <a:ext cx="12192000" cy="476250"/>
          </a:xfrm>
          <a:prstGeom prst="rect">
            <a:avLst/>
          </a:prstGeom>
          <a:solidFill>
            <a:srgbClr val="E8F4FC"/>
          </a:solidFill>
          <a:ln>
            <a:noFill/>
          </a:ln>
        </p:spPr>
      </p:sp>
      <p:sp>
        <p:nvSpPr>
          <p:cNvPr id="9" name="Rectangle 9"/>
          <p:cNvSpPr/>
          <p:nvPr/>
        </p:nvSpPr>
        <p:spPr>
          <a:xfrm>
            <a:off x="0" y="666750"/>
            <a:ext cx="57150" cy="476250"/>
          </a:xfrm>
          <a:prstGeom prst="rect">
            <a:avLst/>
          </a:prstGeom>
          <a:solidFill>
            <a:srgbClr val="06B6D4"/>
          </a:solidFill>
          <a:ln>
            <a:noFill/>
          </a:ln>
        </p:spPr>
      </p:sp>
      <p:sp>
        <p:nvSpPr>
          <p:cNvPr id="10" name="TextBox 10"/>
          <p:cNvSpPr txBox="1"/>
          <p:nvPr/>
        </p:nvSpPr>
        <p:spPr>
          <a:xfrm>
            <a:off x="381000" y="714375"/>
            <a:ext cx="10001250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1350" dirty="0">
                <a:solidFill>
                  <a:srgbClr val="26384A"/>
                </a:solidFill>
                <a:latin typeface="Arial"/>
                <a:ea typeface="Microsoft YaHei"/>
                <a:cs typeface="Arial"/>
              </a:rPr>
              <a:t>候选方案 × 取舍（ADR）</a:t>
            </a:r>
          </a:p>
        </p:txBody>
      </p:sp>
      <p:sp>
        <p:nvSpPr>
          <p:cNvPr id="11" name="Line 11"/>
          <p:cNvSpPr/>
          <p:nvPr/>
        </p:nvSpPr>
        <p:spPr>
          <a:xfrm>
            <a:off x="381000" y="6334125"/>
            <a:ext cx="11430000" cy="9525"/>
          </a:xfrm>
          <a:custGeom>
            <a:avLst/>
            <a:gdLst/>
            <a:ahLst/>
            <a:cxnLst/>
            <a:rect l="l" t="t" r="r" b="b"/>
            <a:pathLst>
              <a:path w="11430000" h="9525">
                <a:moveTo>
                  <a:pt x="0" y="0"/>
                </a:moveTo>
                <a:lnTo>
                  <a:pt x="11430000" y="0"/>
                </a:lnTo>
              </a:path>
            </a:pathLst>
          </a:custGeom>
          <a:noFill/>
          <a:ln w="9525">
            <a:solidFill>
              <a:srgbClr val="E8F4FC"/>
            </a:solidFill>
          </a:ln>
        </p:spPr>
      </p:sp>
      <p:sp>
        <p:nvSpPr>
          <p:cNvPr id="12" name="TextBox 12"/>
          <p:cNvSpPr txBox="1"/>
          <p:nvPr/>
        </p:nvSpPr>
        <p:spPr>
          <a:xfrm>
            <a:off x="381000" y="6477000"/>
            <a:ext cx="4953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课程第15讲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4381500" y="6477000"/>
            <a:ext cx="3429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Agent Runtime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0763250" y="6457950"/>
            <a:ext cx="857250" cy="266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050" dirty="0">
                <a:solidFill>
                  <a:srgbClr val="52657A"/>
                </a:solidFill>
                <a:latin typeface="Arial"/>
                <a:ea typeface="Microsoft YaHei"/>
                <a:cs typeface="Arial"/>
              </a:rPr>
              <a:t>60</a:t>
            </a:r>
          </a:p>
        </p:txBody>
      </p:sp>
      <p:grpSp>
        <p:nvGrpSpPr>
          <p:cNvPr id="38" name="EasySlides Component: matrix"/>
          <p:cNvGrpSpPr/>
          <p:nvPr/>
        </p:nvGrpSpPr>
        <p:grpSpPr>
          <a:xfrm>
            <a:off x="495300" y="1285875"/>
            <a:ext cx="11201400" cy="4905375"/>
            <a:chOff x="495300" y="1285875"/>
            <a:chExt cx="11201400" cy="4905375"/>
          </a:xfrm>
        </p:grpSpPr>
        <p:sp>
          <p:nvSpPr>
            <p:cNvPr id="15" name="Rectangle 15"/>
            <p:cNvSpPr/>
            <p:nvPr/>
          </p:nvSpPr>
          <p:spPr>
            <a:xfrm>
              <a:off x="495300" y="1285875"/>
              <a:ext cx="11201400" cy="4905375"/>
            </a:xfrm>
            <a:prstGeom prst="roundRect">
              <a:avLst>
                <a:gd name="adj" fmla="val 777"/>
              </a:avLst>
            </a:prstGeom>
            <a:solidFill>
              <a:srgbClr val="FFFFFF"/>
            </a:solidFill>
            <a:ln w="11430">
              <a:solidFill>
                <a:srgbClr val="B8C7D6"/>
              </a:solidFill>
            </a:ln>
          </p:spPr>
        </p:sp>
        <p:sp>
          <p:nvSpPr>
            <p:cNvPr id="16" name="Rectangle 16"/>
            <p:cNvSpPr/>
            <p:nvPr/>
          </p:nvSpPr>
          <p:spPr>
            <a:xfrm>
              <a:off x="495300" y="1285875"/>
              <a:ext cx="11201400" cy="647700"/>
            </a:xfrm>
            <a:prstGeom prst="roundRect">
              <a:avLst>
                <a:gd name="adj" fmla="val 5882"/>
              </a:avLst>
            </a:prstGeom>
            <a:solidFill>
              <a:srgbClr val="0E7490"/>
            </a:solidFill>
            <a:ln>
              <a:noFill/>
            </a:ln>
          </p:spPr>
        </p:sp>
        <p:sp>
          <p:nvSpPr>
            <p:cNvPr id="17" name="Line 17"/>
            <p:cNvSpPr/>
            <p:nvPr/>
          </p:nvSpPr>
          <p:spPr>
            <a:xfrm>
              <a:off x="4229100" y="1285875"/>
              <a:ext cx="9525" cy="4143375"/>
            </a:xfrm>
            <a:custGeom>
              <a:avLst/>
              <a:gdLst/>
              <a:ahLst/>
              <a:cxnLst/>
              <a:rect l="l" t="t" r="r" b="b"/>
              <a:pathLst>
                <a:path w="9525" h="4143375">
                  <a:moveTo>
                    <a:pt x="0" y="0"/>
                  </a:moveTo>
                  <a:lnTo>
                    <a:pt x="0" y="4143375"/>
                  </a:lnTo>
                </a:path>
              </a:pathLst>
            </a:custGeom>
            <a:noFill/>
            <a:ln w="9525">
              <a:solidFill>
                <a:srgbClr val="B8C7D6"/>
              </a:solidFill>
            </a:ln>
          </p:spPr>
        </p:sp>
        <p:sp>
          <p:nvSpPr>
            <p:cNvPr id="18" name="Line 18"/>
            <p:cNvSpPr/>
            <p:nvPr/>
          </p:nvSpPr>
          <p:spPr>
            <a:xfrm>
              <a:off x="7962900" y="1285875"/>
              <a:ext cx="9525" cy="4143375"/>
            </a:xfrm>
            <a:custGeom>
              <a:avLst/>
              <a:gdLst/>
              <a:ahLst/>
              <a:cxnLst/>
              <a:rect l="l" t="t" r="r" b="b"/>
              <a:pathLst>
                <a:path w="9525" h="4143375">
                  <a:moveTo>
                    <a:pt x="0" y="0"/>
                  </a:moveTo>
                  <a:lnTo>
                    <a:pt x="0" y="4143375"/>
                  </a:lnTo>
                </a:path>
              </a:pathLst>
            </a:custGeom>
            <a:noFill/>
            <a:ln w="9525">
              <a:solidFill>
                <a:srgbClr val="B8C7D6"/>
              </a:solidFill>
            </a:ln>
          </p:spPr>
        </p:sp>
        <p:sp>
          <p:nvSpPr>
            <p:cNvPr id="19" name="Line 19"/>
            <p:cNvSpPr/>
            <p:nvPr/>
          </p:nvSpPr>
          <p:spPr>
            <a:xfrm>
              <a:off x="495300" y="1933575"/>
              <a:ext cx="11201400" cy="9525"/>
            </a:xfrm>
            <a:custGeom>
              <a:avLst/>
              <a:gdLst/>
              <a:ahLst/>
              <a:cxnLst/>
              <a:rect l="l" t="t" r="r" b="b"/>
              <a:pathLst>
                <a:path w="11201400" h="9525">
                  <a:moveTo>
                    <a:pt x="0" y="0"/>
                  </a:moveTo>
                  <a:lnTo>
                    <a:pt x="11201400" y="0"/>
                  </a:lnTo>
                </a:path>
              </a:pathLst>
            </a:custGeom>
            <a:noFill/>
            <a:ln w="9525">
              <a:solidFill>
                <a:srgbClr val="B8C7D6"/>
              </a:solidFill>
            </a:ln>
          </p:spPr>
        </p:sp>
        <p:sp>
          <p:nvSpPr>
            <p:cNvPr id="20" name="Line 20"/>
            <p:cNvSpPr/>
            <p:nvPr/>
          </p:nvSpPr>
          <p:spPr>
            <a:xfrm>
              <a:off x="495300" y="3095625"/>
              <a:ext cx="11201400" cy="9525"/>
            </a:xfrm>
            <a:custGeom>
              <a:avLst/>
              <a:gdLst/>
              <a:ahLst/>
              <a:cxnLst/>
              <a:rect l="l" t="t" r="r" b="b"/>
              <a:pathLst>
                <a:path w="11201400" h="9525">
                  <a:moveTo>
                    <a:pt x="0" y="0"/>
                  </a:moveTo>
                  <a:lnTo>
                    <a:pt x="11201400" y="0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21" name="Line 21"/>
            <p:cNvSpPr/>
            <p:nvPr/>
          </p:nvSpPr>
          <p:spPr>
            <a:xfrm>
              <a:off x="495300" y="4257675"/>
              <a:ext cx="11201400" cy="9525"/>
            </a:xfrm>
            <a:custGeom>
              <a:avLst/>
              <a:gdLst/>
              <a:ahLst/>
              <a:cxnLst/>
              <a:rect l="l" t="t" r="r" b="b"/>
              <a:pathLst>
                <a:path w="11201400" h="9525">
                  <a:moveTo>
                    <a:pt x="0" y="0"/>
                  </a:moveTo>
                  <a:lnTo>
                    <a:pt x="11201400" y="0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22" name="Line 22"/>
            <p:cNvSpPr/>
            <p:nvPr/>
          </p:nvSpPr>
          <p:spPr>
            <a:xfrm>
              <a:off x="495300" y="5429250"/>
              <a:ext cx="11201400" cy="9525"/>
            </a:xfrm>
            <a:custGeom>
              <a:avLst/>
              <a:gdLst/>
              <a:ahLst/>
              <a:cxnLst/>
              <a:rect l="l" t="t" r="r" b="b"/>
              <a:pathLst>
                <a:path w="11201400" h="9525">
                  <a:moveTo>
                    <a:pt x="0" y="0"/>
                  </a:moveTo>
                  <a:lnTo>
                    <a:pt x="11201400" y="0"/>
                  </a:lnTo>
                </a:path>
              </a:pathLst>
            </a:custGeom>
            <a:noFill/>
            <a:ln w="9525">
              <a:solidFill>
                <a:srgbClr val="B8C7D6"/>
              </a:solidFill>
            </a:ln>
          </p:spPr>
        </p:sp>
        <p:grpSp>
          <p:nvGrpSpPr>
            <p:cNvPr id="26" name="Group 26"/>
            <p:cNvGrpSpPr/>
            <p:nvPr/>
          </p:nvGrpSpPr>
          <p:grpSpPr>
            <a:xfrm>
              <a:off x="704850" y="1428750"/>
              <a:ext cx="10782300" cy="361950"/>
              <a:chOff x="704850" y="1428750"/>
              <a:chExt cx="10782300" cy="361950"/>
            </a:xfrm>
          </p:grpSpPr>
          <p:sp>
            <p:nvSpPr>
              <p:cNvPr id="23" name="TextBox 23"/>
              <p:cNvSpPr txBox="1"/>
              <p:nvPr/>
            </p:nvSpPr>
            <p:spPr>
              <a:xfrm>
                <a:off x="704850" y="1428750"/>
                <a:ext cx="3314700" cy="3619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575" b="1" dirty="0">
                    <a:solidFill>
                      <a:srgbClr val="FFFFFF"/>
                    </a:solidFill>
                    <a:latin typeface="Arial"/>
                    <a:ea typeface="Microsoft YaHei"/>
                    <a:cs typeface="Arial"/>
                  </a:rPr>
                  <a:t>方案</a:t>
                </a:r>
              </a:p>
            </p:txBody>
          </p:sp>
          <p:sp>
            <p:nvSpPr>
              <p:cNvPr id="24" name="TextBox 24"/>
              <p:cNvSpPr txBox="1"/>
              <p:nvPr/>
            </p:nvSpPr>
            <p:spPr>
              <a:xfrm>
                <a:off x="4438650" y="1428750"/>
                <a:ext cx="3314700" cy="3619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575" b="1" dirty="0">
                    <a:solidFill>
                      <a:srgbClr val="FFFFFF"/>
                    </a:solidFill>
                    <a:latin typeface="Arial"/>
                    <a:ea typeface="Microsoft YaHei"/>
                    <a:cs typeface="Arial"/>
                  </a:rPr>
                  <a:t>代价</a:t>
                </a:r>
              </a:p>
            </p:txBody>
          </p:sp>
          <p:sp>
            <p:nvSpPr>
              <p:cNvPr id="25" name="TextBox 25"/>
              <p:cNvSpPr txBox="1"/>
              <p:nvPr/>
            </p:nvSpPr>
            <p:spPr>
              <a:xfrm>
                <a:off x="8172450" y="1428750"/>
                <a:ext cx="3314700" cy="3619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575" b="1" dirty="0">
                    <a:solidFill>
                      <a:srgbClr val="FFFFFF"/>
                    </a:solidFill>
                    <a:latin typeface="Arial"/>
                    <a:ea typeface="Microsoft YaHei"/>
                    <a:cs typeface="Arial"/>
                  </a:rPr>
                  <a:t>结论</a:t>
                </a:r>
              </a:p>
            </p:txBody>
          </p:sp>
        </p:grpSp>
        <p:grpSp>
          <p:nvGrpSpPr>
            <p:cNvPr id="36" name="Group 36"/>
            <p:cNvGrpSpPr/>
            <p:nvPr/>
          </p:nvGrpSpPr>
          <p:grpSpPr>
            <a:xfrm>
              <a:off x="723900" y="2105025"/>
              <a:ext cx="10744200" cy="3086100"/>
              <a:chOff x="723900" y="2105025"/>
              <a:chExt cx="10744200" cy="3086100"/>
            </a:xfrm>
          </p:grpSpPr>
          <p:sp>
            <p:nvSpPr>
              <p:cNvPr id="27" name="TextBox 27"/>
              <p:cNvSpPr txBox="1"/>
              <p:nvPr/>
            </p:nvSpPr>
            <p:spPr>
              <a:xfrm>
                <a:off x="723900" y="210502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直连实现</a:t>
                </a:r>
              </a:p>
            </p:txBody>
          </p:sp>
          <p:sp>
            <p:nvSpPr>
              <p:cNvPr id="28" name="TextBox 28"/>
              <p:cNvSpPr txBox="1"/>
              <p:nvPr/>
            </p:nvSpPr>
            <p:spPr>
              <a:xfrm>
                <a:off x="4457700" y="210502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快但耦合</a:t>
                </a:r>
              </a:p>
            </p:txBody>
          </p:sp>
          <p:sp>
            <p:nvSpPr>
              <p:cNvPr id="29" name="TextBox 29"/>
              <p:cNvSpPr txBox="1"/>
              <p:nvPr/>
            </p:nvSpPr>
            <p:spPr>
              <a:xfrm>
                <a:off x="8191500" y="210502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Demo 可用</a:t>
                </a:r>
              </a:p>
            </p:txBody>
          </p:sp>
          <p:sp>
            <p:nvSpPr>
              <p:cNvPr id="30" name="TextBox 30"/>
              <p:cNvSpPr txBox="1"/>
              <p:nvPr/>
            </p:nvSpPr>
            <p:spPr>
              <a:xfrm>
                <a:off x="723900" y="326707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平台化</a:t>
                </a:r>
              </a:p>
            </p:txBody>
          </p:sp>
          <p:sp>
            <p:nvSpPr>
              <p:cNvPr id="31" name="TextBox 31"/>
              <p:cNvSpPr txBox="1"/>
              <p:nvPr/>
            </p:nvSpPr>
            <p:spPr>
              <a:xfrm>
                <a:off x="4457700" y="326707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前期成本高</a:t>
                </a:r>
              </a:p>
            </p:txBody>
          </p:sp>
          <p:sp>
            <p:nvSpPr>
              <p:cNvPr id="32" name="TextBox 32"/>
              <p:cNvSpPr txBox="1"/>
              <p:nvPr/>
            </p:nvSpPr>
            <p:spPr>
              <a:xfrm>
                <a:off x="8191500" y="326707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生产首选</a:t>
                </a:r>
              </a:p>
            </p:txBody>
          </p:sp>
          <p:sp>
            <p:nvSpPr>
              <p:cNvPr id="33" name="TextBox 33"/>
              <p:cNvSpPr txBox="1"/>
              <p:nvPr/>
            </p:nvSpPr>
            <p:spPr>
              <a:xfrm>
                <a:off x="723900" y="442912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保持简单</a:t>
                </a:r>
              </a:p>
            </p:txBody>
          </p:sp>
          <p:sp>
            <p:nvSpPr>
              <p:cNvPr id="34" name="TextBox 34"/>
              <p:cNvSpPr txBox="1"/>
              <p:nvPr/>
            </p:nvSpPr>
            <p:spPr>
              <a:xfrm>
                <a:off x="4457700" y="442912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能力上限</a:t>
                </a:r>
              </a:p>
            </p:txBody>
          </p:sp>
          <p:sp>
            <p:nvSpPr>
              <p:cNvPr id="35" name="TextBox 35"/>
              <p:cNvSpPr txBox="1"/>
              <p:nvPr/>
            </p:nvSpPr>
            <p:spPr>
              <a:xfrm>
                <a:off x="8191500" y="442912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按场景取舍</a:t>
                </a:r>
              </a:p>
            </p:txBody>
          </p:sp>
        </p:grpSp>
        <p:sp>
          <p:nvSpPr>
            <p:cNvPr id="37" name="TextBox 37"/>
            <p:cNvSpPr txBox="1"/>
            <p:nvPr/>
          </p:nvSpPr>
          <p:spPr>
            <a:xfrm>
              <a:off x="828675" y="5581650"/>
              <a:ext cx="10534650" cy="4191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500" b="1" dirty="0">
                  <a:solidFill>
                    <a:srgbClr val="0E7490"/>
                  </a:solidFill>
                  <a:latin typeface="Arial"/>
                  <a:ea typeface="Microsoft YaHei"/>
                  <a:cs typeface="Arial"/>
                </a:rPr>
                <a:t>「混合」的选型以证据与约束为准</a:t>
              </a:r>
            </a:p>
          </p:txBody>
        </p:sp>
      </p:grp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666750"/>
          </a:xfrm>
          <a:prstGeom prst="rect">
            <a:avLst/>
          </a:prstGeom>
          <a:solidFill>
            <a:srgbClr val="0E7490"/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0"/>
            <a:ext cx="57150" cy="666750"/>
          </a:xfrm>
          <a:prstGeom prst="rect">
            <a:avLst/>
          </a:prstGeom>
          <a:solidFill>
            <a:srgbClr val="CC0000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381000" y="123825"/>
            <a:ext cx="762000" cy="4000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1275" b="1" dirty="0">
                <a:solidFill>
                  <a:srgbClr val="9FD3FF"/>
                </a:solidFill>
                <a:latin typeface="Arial"/>
                <a:ea typeface="Microsoft YaHei"/>
                <a:cs typeface="Arial"/>
              </a:rPr>
              <a:t>61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257300" y="95250"/>
            <a:ext cx="8096250" cy="457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21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生产化：混合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0001250" y="76200"/>
            <a:ext cx="1619250" cy="5143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3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DataAgent</a:t>
            </a:r>
          </a:p>
        </p:txBody>
      </p:sp>
      <p:sp>
        <p:nvSpPr>
          <p:cNvPr id="8" name="Rectangle 8"/>
          <p:cNvSpPr/>
          <p:nvPr/>
        </p:nvSpPr>
        <p:spPr>
          <a:xfrm>
            <a:off x="0" y="666750"/>
            <a:ext cx="12192000" cy="476250"/>
          </a:xfrm>
          <a:prstGeom prst="rect">
            <a:avLst/>
          </a:prstGeom>
          <a:solidFill>
            <a:srgbClr val="E8F4FC"/>
          </a:solidFill>
          <a:ln>
            <a:noFill/>
          </a:ln>
        </p:spPr>
      </p:sp>
      <p:sp>
        <p:nvSpPr>
          <p:cNvPr id="9" name="Rectangle 9"/>
          <p:cNvSpPr/>
          <p:nvPr/>
        </p:nvSpPr>
        <p:spPr>
          <a:xfrm>
            <a:off x="0" y="666750"/>
            <a:ext cx="57150" cy="476250"/>
          </a:xfrm>
          <a:prstGeom prst="rect">
            <a:avLst/>
          </a:prstGeom>
          <a:solidFill>
            <a:srgbClr val="06B6D4"/>
          </a:solidFill>
          <a:ln>
            <a:noFill/>
          </a:ln>
        </p:spPr>
      </p:sp>
      <p:sp>
        <p:nvSpPr>
          <p:cNvPr id="10" name="TextBox 10"/>
          <p:cNvSpPr txBox="1"/>
          <p:nvPr/>
        </p:nvSpPr>
        <p:spPr>
          <a:xfrm>
            <a:off x="381000" y="714375"/>
            <a:ext cx="10001250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1350" dirty="0">
                <a:solidFill>
                  <a:srgbClr val="26384A"/>
                </a:solidFill>
                <a:latin typeface="Arial"/>
                <a:ea typeface="Microsoft YaHei"/>
                <a:cs typeface="Arial"/>
              </a:rPr>
              <a:t>企业级落地三机制</a:t>
            </a:r>
          </a:p>
        </p:txBody>
      </p:sp>
      <p:sp>
        <p:nvSpPr>
          <p:cNvPr id="11" name="Line 11"/>
          <p:cNvSpPr/>
          <p:nvPr/>
        </p:nvSpPr>
        <p:spPr>
          <a:xfrm>
            <a:off x="381000" y="6334125"/>
            <a:ext cx="11430000" cy="9525"/>
          </a:xfrm>
          <a:custGeom>
            <a:avLst/>
            <a:gdLst/>
            <a:ahLst/>
            <a:cxnLst/>
            <a:rect l="l" t="t" r="r" b="b"/>
            <a:pathLst>
              <a:path w="11430000" h="9525">
                <a:moveTo>
                  <a:pt x="0" y="0"/>
                </a:moveTo>
                <a:lnTo>
                  <a:pt x="11430000" y="0"/>
                </a:lnTo>
              </a:path>
            </a:pathLst>
          </a:custGeom>
          <a:noFill/>
          <a:ln w="9525">
            <a:solidFill>
              <a:srgbClr val="E8F4FC"/>
            </a:solidFill>
          </a:ln>
        </p:spPr>
      </p:sp>
      <p:sp>
        <p:nvSpPr>
          <p:cNvPr id="12" name="TextBox 12"/>
          <p:cNvSpPr txBox="1"/>
          <p:nvPr/>
        </p:nvSpPr>
        <p:spPr>
          <a:xfrm>
            <a:off x="381000" y="6477000"/>
            <a:ext cx="4953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课程第15讲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4381500" y="6477000"/>
            <a:ext cx="3429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Agent Runtime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0763250" y="6457950"/>
            <a:ext cx="857250" cy="266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050" dirty="0">
                <a:solidFill>
                  <a:srgbClr val="52657A"/>
                </a:solidFill>
                <a:latin typeface="Arial"/>
                <a:ea typeface="Microsoft YaHei"/>
                <a:cs typeface="Arial"/>
              </a:rPr>
              <a:t>61</a:t>
            </a:r>
          </a:p>
        </p:txBody>
      </p:sp>
      <p:grpSp>
        <p:nvGrpSpPr>
          <p:cNvPr id="38" name="EasySlides Component: matrix"/>
          <p:cNvGrpSpPr/>
          <p:nvPr/>
        </p:nvGrpSpPr>
        <p:grpSpPr>
          <a:xfrm>
            <a:off x="495300" y="1285875"/>
            <a:ext cx="11201400" cy="4905375"/>
            <a:chOff x="495300" y="1285875"/>
            <a:chExt cx="11201400" cy="4905375"/>
          </a:xfrm>
        </p:grpSpPr>
        <p:sp>
          <p:nvSpPr>
            <p:cNvPr id="15" name="Rectangle 15"/>
            <p:cNvSpPr/>
            <p:nvPr/>
          </p:nvSpPr>
          <p:spPr>
            <a:xfrm>
              <a:off x="495300" y="1285875"/>
              <a:ext cx="11201400" cy="4905375"/>
            </a:xfrm>
            <a:prstGeom prst="roundRect">
              <a:avLst>
                <a:gd name="adj" fmla="val 777"/>
              </a:avLst>
            </a:prstGeom>
            <a:solidFill>
              <a:srgbClr val="FFFFFF"/>
            </a:solidFill>
            <a:ln w="11430">
              <a:solidFill>
                <a:srgbClr val="B8C7D6"/>
              </a:solidFill>
            </a:ln>
          </p:spPr>
        </p:sp>
        <p:sp>
          <p:nvSpPr>
            <p:cNvPr id="16" name="Rectangle 16"/>
            <p:cNvSpPr/>
            <p:nvPr/>
          </p:nvSpPr>
          <p:spPr>
            <a:xfrm>
              <a:off x="495300" y="1285875"/>
              <a:ext cx="11201400" cy="647700"/>
            </a:xfrm>
            <a:prstGeom prst="roundRect">
              <a:avLst>
                <a:gd name="adj" fmla="val 5882"/>
              </a:avLst>
            </a:prstGeom>
            <a:solidFill>
              <a:srgbClr val="0E7490"/>
            </a:solidFill>
            <a:ln>
              <a:noFill/>
            </a:ln>
          </p:spPr>
        </p:sp>
        <p:sp>
          <p:nvSpPr>
            <p:cNvPr id="17" name="Line 17"/>
            <p:cNvSpPr/>
            <p:nvPr/>
          </p:nvSpPr>
          <p:spPr>
            <a:xfrm>
              <a:off x="4229100" y="1285875"/>
              <a:ext cx="9525" cy="4143375"/>
            </a:xfrm>
            <a:custGeom>
              <a:avLst/>
              <a:gdLst/>
              <a:ahLst/>
              <a:cxnLst/>
              <a:rect l="l" t="t" r="r" b="b"/>
              <a:pathLst>
                <a:path w="9525" h="4143375">
                  <a:moveTo>
                    <a:pt x="0" y="0"/>
                  </a:moveTo>
                  <a:lnTo>
                    <a:pt x="0" y="4143375"/>
                  </a:lnTo>
                </a:path>
              </a:pathLst>
            </a:custGeom>
            <a:noFill/>
            <a:ln w="9525">
              <a:solidFill>
                <a:srgbClr val="B8C7D6"/>
              </a:solidFill>
            </a:ln>
          </p:spPr>
        </p:sp>
        <p:sp>
          <p:nvSpPr>
            <p:cNvPr id="18" name="Line 18"/>
            <p:cNvSpPr/>
            <p:nvPr/>
          </p:nvSpPr>
          <p:spPr>
            <a:xfrm>
              <a:off x="7962900" y="1285875"/>
              <a:ext cx="9525" cy="4143375"/>
            </a:xfrm>
            <a:custGeom>
              <a:avLst/>
              <a:gdLst/>
              <a:ahLst/>
              <a:cxnLst/>
              <a:rect l="l" t="t" r="r" b="b"/>
              <a:pathLst>
                <a:path w="9525" h="4143375">
                  <a:moveTo>
                    <a:pt x="0" y="0"/>
                  </a:moveTo>
                  <a:lnTo>
                    <a:pt x="0" y="4143375"/>
                  </a:lnTo>
                </a:path>
              </a:pathLst>
            </a:custGeom>
            <a:noFill/>
            <a:ln w="9525">
              <a:solidFill>
                <a:srgbClr val="B8C7D6"/>
              </a:solidFill>
            </a:ln>
          </p:spPr>
        </p:sp>
        <p:sp>
          <p:nvSpPr>
            <p:cNvPr id="19" name="Line 19"/>
            <p:cNvSpPr/>
            <p:nvPr/>
          </p:nvSpPr>
          <p:spPr>
            <a:xfrm>
              <a:off x="495300" y="1933575"/>
              <a:ext cx="11201400" cy="9525"/>
            </a:xfrm>
            <a:custGeom>
              <a:avLst/>
              <a:gdLst/>
              <a:ahLst/>
              <a:cxnLst/>
              <a:rect l="l" t="t" r="r" b="b"/>
              <a:pathLst>
                <a:path w="11201400" h="9525">
                  <a:moveTo>
                    <a:pt x="0" y="0"/>
                  </a:moveTo>
                  <a:lnTo>
                    <a:pt x="11201400" y="0"/>
                  </a:lnTo>
                </a:path>
              </a:pathLst>
            </a:custGeom>
            <a:noFill/>
            <a:ln w="9525">
              <a:solidFill>
                <a:srgbClr val="B8C7D6"/>
              </a:solidFill>
            </a:ln>
          </p:spPr>
        </p:sp>
        <p:sp>
          <p:nvSpPr>
            <p:cNvPr id="20" name="Line 20"/>
            <p:cNvSpPr/>
            <p:nvPr/>
          </p:nvSpPr>
          <p:spPr>
            <a:xfrm>
              <a:off x="495300" y="3095625"/>
              <a:ext cx="11201400" cy="9525"/>
            </a:xfrm>
            <a:custGeom>
              <a:avLst/>
              <a:gdLst/>
              <a:ahLst/>
              <a:cxnLst/>
              <a:rect l="l" t="t" r="r" b="b"/>
              <a:pathLst>
                <a:path w="11201400" h="9525">
                  <a:moveTo>
                    <a:pt x="0" y="0"/>
                  </a:moveTo>
                  <a:lnTo>
                    <a:pt x="11201400" y="0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21" name="Line 21"/>
            <p:cNvSpPr/>
            <p:nvPr/>
          </p:nvSpPr>
          <p:spPr>
            <a:xfrm>
              <a:off x="495300" y="4257675"/>
              <a:ext cx="11201400" cy="9525"/>
            </a:xfrm>
            <a:custGeom>
              <a:avLst/>
              <a:gdLst/>
              <a:ahLst/>
              <a:cxnLst/>
              <a:rect l="l" t="t" r="r" b="b"/>
              <a:pathLst>
                <a:path w="11201400" h="9525">
                  <a:moveTo>
                    <a:pt x="0" y="0"/>
                  </a:moveTo>
                  <a:lnTo>
                    <a:pt x="11201400" y="0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22" name="Line 22"/>
            <p:cNvSpPr/>
            <p:nvPr/>
          </p:nvSpPr>
          <p:spPr>
            <a:xfrm>
              <a:off x="495300" y="5429250"/>
              <a:ext cx="11201400" cy="9525"/>
            </a:xfrm>
            <a:custGeom>
              <a:avLst/>
              <a:gdLst/>
              <a:ahLst/>
              <a:cxnLst/>
              <a:rect l="l" t="t" r="r" b="b"/>
              <a:pathLst>
                <a:path w="11201400" h="9525">
                  <a:moveTo>
                    <a:pt x="0" y="0"/>
                  </a:moveTo>
                  <a:lnTo>
                    <a:pt x="11201400" y="0"/>
                  </a:lnTo>
                </a:path>
              </a:pathLst>
            </a:custGeom>
            <a:noFill/>
            <a:ln w="9525">
              <a:solidFill>
                <a:srgbClr val="B8C7D6"/>
              </a:solidFill>
            </a:ln>
          </p:spPr>
        </p:sp>
        <p:grpSp>
          <p:nvGrpSpPr>
            <p:cNvPr id="26" name="Group 26"/>
            <p:cNvGrpSpPr/>
            <p:nvPr/>
          </p:nvGrpSpPr>
          <p:grpSpPr>
            <a:xfrm>
              <a:off x="704850" y="1428750"/>
              <a:ext cx="10782300" cy="361950"/>
              <a:chOff x="704850" y="1428750"/>
              <a:chExt cx="10782300" cy="361950"/>
            </a:xfrm>
          </p:grpSpPr>
          <p:sp>
            <p:nvSpPr>
              <p:cNvPr id="23" name="TextBox 23"/>
              <p:cNvSpPr txBox="1"/>
              <p:nvPr/>
            </p:nvSpPr>
            <p:spPr>
              <a:xfrm>
                <a:off x="704850" y="1428750"/>
                <a:ext cx="3314700" cy="3619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575" b="1" dirty="0">
                    <a:solidFill>
                      <a:srgbClr val="FFFFFF"/>
                    </a:solidFill>
                    <a:latin typeface="Arial"/>
                    <a:ea typeface="Microsoft YaHei"/>
                    <a:cs typeface="Arial"/>
                  </a:rPr>
                  <a:t>阶段</a:t>
                </a:r>
              </a:p>
            </p:txBody>
          </p:sp>
          <p:sp>
            <p:nvSpPr>
              <p:cNvPr id="24" name="TextBox 24"/>
              <p:cNvSpPr txBox="1"/>
              <p:nvPr/>
            </p:nvSpPr>
            <p:spPr>
              <a:xfrm>
                <a:off x="4438650" y="1428750"/>
                <a:ext cx="3314700" cy="3619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575" b="1" dirty="0">
                    <a:solidFill>
                      <a:srgbClr val="FFFFFF"/>
                    </a:solidFill>
                    <a:latin typeface="Arial"/>
                    <a:ea typeface="Microsoft YaHei"/>
                    <a:cs typeface="Arial"/>
                  </a:rPr>
                  <a:t>机制</a:t>
                </a:r>
              </a:p>
            </p:txBody>
          </p:sp>
          <p:sp>
            <p:nvSpPr>
              <p:cNvPr id="25" name="TextBox 25"/>
              <p:cNvSpPr txBox="1"/>
              <p:nvPr/>
            </p:nvSpPr>
            <p:spPr>
              <a:xfrm>
                <a:off x="8172450" y="1428750"/>
                <a:ext cx="3314700" cy="3619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575" b="1" dirty="0">
                    <a:solidFill>
                      <a:srgbClr val="FFFFFF"/>
                    </a:solidFill>
                    <a:latin typeface="Arial"/>
                    <a:ea typeface="Microsoft YaHei"/>
                    <a:cs typeface="Arial"/>
                  </a:rPr>
                  <a:t>审计/落点</a:t>
                </a:r>
              </a:p>
            </p:txBody>
          </p:sp>
        </p:grpSp>
        <p:grpSp>
          <p:nvGrpSpPr>
            <p:cNvPr id="36" name="Group 36"/>
            <p:cNvGrpSpPr/>
            <p:nvPr/>
          </p:nvGrpSpPr>
          <p:grpSpPr>
            <a:xfrm>
              <a:off x="723900" y="2105025"/>
              <a:ext cx="10744200" cy="3086100"/>
              <a:chOff x="723900" y="2105025"/>
              <a:chExt cx="10744200" cy="3086100"/>
            </a:xfrm>
          </p:grpSpPr>
          <p:sp>
            <p:nvSpPr>
              <p:cNvPr id="27" name="TextBox 27"/>
              <p:cNvSpPr txBox="1"/>
              <p:nvPr/>
            </p:nvSpPr>
            <p:spPr>
              <a:xfrm>
                <a:off x="723900" y="210502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中断</a:t>
                </a:r>
              </a:p>
            </p:txBody>
          </p:sp>
          <p:sp>
            <p:nvSpPr>
              <p:cNvPr id="28" name="TextBox 28"/>
              <p:cNvSpPr txBox="1"/>
              <p:nvPr/>
            </p:nvSpPr>
            <p:spPr>
              <a:xfrm>
                <a:off x="4457700" y="210502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ApprovalPending</a:t>
                </a:r>
              </a:p>
            </p:txBody>
          </p:sp>
          <p:sp>
            <p:nvSpPr>
              <p:cNvPr id="29" name="TextBox 29"/>
              <p:cNvSpPr txBox="1"/>
              <p:nvPr/>
            </p:nvSpPr>
            <p:spPr>
              <a:xfrm>
                <a:off x="8191500" y="210502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waiting_approval</a:t>
                </a:r>
              </a:p>
            </p:txBody>
          </p:sp>
          <p:sp>
            <p:nvSpPr>
              <p:cNvPr id="30" name="TextBox 30"/>
              <p:cNvSpPr txBox="1"/>
              <p:nvPr/>
            </p:nvSpPr>
            <p:spPr>
              <a:xfrm>
                <a:off x="723900" y="326707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决议</a:t>
                </a:r>
              </a:p>
            </p:txBody>
          </p:sp>
          <p:sp>
            <p:nvSpPr>
              <p:cNvPr id="31" name="TextBox 31"/>
              <p:cNvSpPr txBox="1"/>
              <p:nvPr/>
            </p:nvSpPr>
            <p:spPr>
              <a:xfrm>
                <a:off x="4457700" y="326707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decided_by/at</a:t>
                </a:r>
              </a:p>
            </p:txBody>
          </p:sp>
          <p:sp>
            <p:nvSpPr>
              <p:cNvPr id="32" name="TextBox 32"/>
              <p:cNvSpPr txBox="1"/>
              <p:nvPr/>
            </p:nvSpPr>
            <p:spPr>
              <a:xfrm>
                <a:off x="8191500" y="326707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approve/reject</a:t>
                </a:r>
              </a:p>
            </p:txBody>
          </p:sp>
          <p:sp>
            <p:nvSpPr>
              <p:cNvPr id="33" name="TextBox 33"/>
              <p:cNvSpPr txBox="1"/>
              <p:nvPr/>
            </p:nvSpPr>
            <p:spPr>
              <a:xfrm>
                <a:off x="723900" y="442912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恢复</a:t>
                </a:r>
              </a:p>
            </p:txBody>
          </p:sp>
          <p:sp>
            <p:nvSpPr>
              <p:cNvPr id="34" name="TextBox 34"/>
              <p:cNvSpPr txBox="1"/>
              <p:nvPr/>
            </p:nvSpPr>
            <p:spPr>
              <a:xfrm>
                <a:off x="4457700" y="442912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pre_approved</a:t>
                </a:r>
              </a:p>
            </p:txBody>
          </p:sp>
          <p:sp>
            <p:nvSpPr>
              <p:cNvPr id="35" name="TextBox 35"/>
              <p:cNvSpPr txBox="1"/>
              <p:nvPr/>
            </p:nvSpPr>
            <p:spPr>
              <a:xfrm>
                <a:off x="8191500" y="442912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succeeded/canceled</a:t>
                </a:r>
              </a:p>
            </p:txBody>
          </p:sp>
        </p:grpSp>
        <p:sp>
          <p:nvSpPr>
            <p:cNvPr id="37" name="TextBox 37"/>
            <p:cNvSpPr txBox="1"/>
            <p:nvPr/>
          </p:nvSpPr>
          <p:spPr>
            <a:xfrm>
              <a:off x="828675" y="5581650"/>
              <a:ext cx="10534650" cy="4191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500" b="1" dirty="0">
                  <a:solidFill>
                    <a:srgbClr val="0E7490"/>
                  </a:solidFill>
                  <a:latin typeface="Arial"/>
                  <a:ea typeface="Microsoft YaHei"/>
                  <a:cs typeface="Arial"/>
                </a:rPr>
                <a:t>HITL：中断-审批-恢复 全真实落库</a:t>
              </a:r>
            </a:p>
          </p:txBody>
        </p:sp>
      </p:grp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666750"/>
          </a:xfrm>
          <a:prstGeom prst="rect">
            <a:avLst/>
          </a:prstGeom>
          <a:solidFill>
            <a:srgbClr val="0E7490"/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0"/>
            <a:ext cx="57150" cy="666750"/>
          </a:xfrm>
          <a:prstGeom prst="rect">
            <a:avLst/>
          </a:prstGeom>
          <a:solidFill>
            <a:srgbClr val="CC0000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381000" y="123825"/>
            <a:ext cx="762000" cy="4000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1275" b="1" dirty="0">
                <a:solidFill>
                  <a:srgbClr val="9FD3FF"/>
                </a:solidFill>
                <a:latin typeface="Arial"/>
                <a:ea typeface="Microsoft YaHei"/>
                <a:cs typeface="Arial"/>
              </a:rPr>
              <a:t>62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257300" y="95250"/>
            <a:ext cx="8096250" cy="457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21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企业治理：混合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0001250" y="76200"/>
            <a:ext cx="1619250" cy="5143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3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DataAgent</a:t>
            </a:r>
          </a:p>
        </p:txBody>
      </p:sp>
      <p:sp>
        <p:nvSpPr>
          <p:cNvPr id="8" name="Rectangle 8"/>
          <p:cNvSpPr/>
          <p:nvPr/>
        </p:nvSpPr>
        <p:spPr>
          <a:xfrm>
            <a:off x="0" y="666750"/>
            <a:ext cx="12192000" cy="476250"/>
          </a:xfrm>
          <a:prstGeom prst="rect">
            <a:avLst/>
          </a:prstGeom>
          <a:solidFill>
            <a:srgbClr val="E8F4FC"/>
          </a:solidFill>
          <a:ln>
            <a:noFill/>
          </a:ln>
        </p:spPr>
      </p:sp>
      <p:sp>
        <p:nvSpPr>
          <p:cNvPr id="9" name="Rectangle 9"/>
          <p:cNvSpPr/>
          <p:nvPr/>
        </p:nvSpPr>
        <p:spPr>
          <a:xfrm>
            <a:off x="0" y="666750"/>
            <a:ext cx="57150" cy="476250"/>
          </a:xfrm>
          <a:prstGeom prst="rect">
            <a:avLst/>
          </a:prstGeom>
          <a:solidFill>
            <a:srgbClr val="06B6D4"/>
          </a:solidFill>
          <a:ln>
            <a:noFill/>
          </a:ln>
        </p:spPr>
      </p:sp>
      <p:sp>
        <p:nvSpPr>
          <p:cNvPr id="10" name="TextBox 10"/>
          <p:cNvSpPr txBox="1"/>
          <p:nvPr/>
        </p:nvSpPr>
        <p:spPr>
          <a:xfrm>
            <a:off x="381000" y="714375"/>
            <a:ext cx="10001250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1350" dirty="0">
                <a:solidFill>
                  <a:srgbClr val="26384A"/>
                </a:solidFill>
                <a:latin typeface="Arial"/>
                <a:ea typeface="Microsoft YaHei"/>
                <a:cs typeface="Arial"/>
              </a:rPr>
              <a:t>三项已闭合边界</a:t>
            </a:r>
          </a:p>
        </p:txBody>
      </p:sp>
      <p:sp>
        <p:nvSpPr>
          <p:cNvPr id="11" name="Line 11"/>
          <p:cNvSpPr/>
          <p:nvPr/>
        </p:nvSpPr>
        <p:spPr>
          <a:xfrm>
            <a:off x="381000" y="6334125"/>
            <a:ext cx="11430000" cy="9525"/>
          </a:xfrm>
          <a:custGeom>
            <a:avLst/>
            <a:gdLst/>
            <a:ahLst/>
            <a:cxnLst/>
            <a:rect l="l" t="t" r="r" b="b"/>
            <a:pathLst>
              <a:path w="11430000" h="9525">
                <a:moveTo>
                  <a:pt x="0" y="0"/>
                </a:moveTo>
                <a:lnTo>
                  <a:pt x="11430000" y="0"/>
                </a:lnTo>
              </a:path>
            </a:pathLst>
          </a:custGeom>
          <a:noFill/>
          <a:ln w="9525">
            <a:solidFill>
              <a:srgbClr val="E8F4FC"/>
            </a:solidFill>
          </a:ln>
        </p:spPr>
      </p:sp>
      <p:sp>
        <p:nvSpPr>
          <p:cNvPr id="12" name="TextBox 12"/>
          <p:cNvSpPr txBox="1"/>
          <p:nvPr/>
        </p:nvSpPr>
        <p:spPr>
          <a:xfrm>
            <a:off x="381000" y="6477000"/>
            <a:ext cx="4953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课程第15讲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4381500" y="6477000"/>
            <a:ext cx="3429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Agent Runtime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0763250" y="6457950"/>
            <a:ext cx="857250" cy="266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050" dirty="0">
                <a:solidFill>
                  <a:srgbClr val="52657A"/>
                </a:solidFill>
                <a:latin typeface="Arial"/>
                <a:ea typeface="Microsoft YaHei"/>
                <a:cs typeface="Arial"/>
              </a:rPr>
              <a:t>62</a:t>
            </a:r>
          </a:p>
        </p:txBody>
      </p:sp>
      <p:grpSp>
        <p:nvGrpSpPr>
          <p:cNvPr id="21" name="EasySlides Component: evidence_01"/>
          <p:cNvGrpSpPr/>
          <p:nvPr/>
        </p:nvGrpSpPr>
        <p:grpSpPr>
          <a:xfrm>
            <a:off x="495300" y="3524250"/>
            <a:ext cx="11201400" cy="1285875"/>
            <a:chOff x="495300" y="3524250"/>
            <a:chExt cx="11201400" cy="1285875"/>
          </a:xfrm>
        </p:grpSpPr>
        <p:sp>
          <p:nvSpPr>
            <p:cNvPr id="15" name="Rectangle 15"/>
            <p:cNvSpPr/>
            <p:nvPr/>
          </p:nvSpPr>
          <p:spPr>
            <a:xfrm>
              <a:off x="495300" y="3524250"/>
              <a:ext cx="11201400" cy="1285875"/>
            </a:xfrm>
            <a:prstGeom prst="roundRect">
              <a:avLst>
                <a:gd name="adj" fmla="val 2963"/>
              </a:avLst>
            </a:prstGeom>
            <a:solidFill>
              <a:srgbClr val="FFFFFF"/>
            </a:solidFill>
            <a:ln w="11430">
              <a:solidFill>
                <a:srgbClr val="B8C7D6"/>
              </a:solidFill>
            </a:ln>
          </p:spPr>
        </p:sp>
        <p:sp>
          <p:nvSpPr>
            <p:cNvPr id="16" name="Rectangle 16"/>
            <p:cNvSpPr/>
            <p:nvPr/>
          </p:nvSpPr>
          <p:spPr>
            <a:xfrm>
              <a:off x="495300" y="3524250"/>
              <a:ext cx="76200" cy="1285875"/>
            </a:xfrm>
            <a:prstGeom prst="roundRect">
              <a:avLst>
                <a:gd name="adj" fmla="val 50000"/>
              </a:avLst>
            </a:prstGeom>
            <a:solidFill>
              <a:srgbClr val="06B6D4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733425" y="3971925"/>
              <a:ext cx="438150" cy="5238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650" b="1" dirty="0">
                  <a:solidFill>
                    <a:srgbClr val="06B6D4"/>
                  </a:solidFill>
                  <a:latin typeface="Arial"/>
                  <a:ea typeface="Microsoft YaHei"/>
                  <a:cs typeface="Arial"/>
                </a:rPr>
                <a:t>01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1447800" y="3752850"/>
              <a:ext cx="2667000" cy="78105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575" b="1" dirty="0">
                  <a:solidFill>
                    <a:srgbClr val="0E7490"/>
                  </a:solidFill>
                  <a:latin typeface="Arial"/>
                  <a:ea typeface="Microsoft YaHei"/>
                  <a:cs typeface="Arial"/>
                </a:rPr>
                <a:t>认证</a:t>
              </a:r>
            </a:p>
          </p:txBody>
        </p:sp>
        <p:sp>
          <p:nvSpPr>
            <p:cNvPr id="19" name="Line 19"/>
            <p:cNvSpPr/>
            <p:nvPr/>
          </p:nvSpPr>
          <p:spPr>
            <a:xfrm>
              <a:off x="4362450" y="3752850"/>
              <a:ext cx="9525" cy="828675"/>
            </a:xfrm>
            <a:custGeom>
              <a:avLst/>
              <a:gdLst/>
              <a:ahLst/>
              <a:cxnLst/>
              <a:rect l="l" t="t" r="r" b="b"/>
              <a:pathLst>
                <a:path w="9525" h="828675">
                  <a:moveTo>
                    <a:pt x="0" y="0"/>
                  </a:moveTo>
                  <a:lnTo>
                    <a:pt x="0" y="828675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4686300" y="3752850"/>
              <a:ext cx="6572250" cy="78105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425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未认证401/越权403（LAN实测）</a:t>
              </a:r>
            </a:p>
          </p:txBody>
        </p:sp>
      </p:grpSp>
      <p:grpSp>
        <p:nvGrpSpPr>
          <p:cNvPr id="28" name="EasySlides Component: evidence_02"/>
          <p:cNvGrpSpPr/>
          <p:nvPr/>
        </p:nvGrpSpPr>
        <p:grpSpPr>
          <a:xfrm>
            <a:off x="495300" y="4905375"/>
            <a:ext cx="11201400" cy="1285875"/>
            <a:chOff x="495300" y="4905375"/>
            <a:chExt cx="11201400" cy="1285875"/>
          </a:xfrm>
        </p:grpSpPr>
        <p:sp>
          <p:nvSpPr>
            <p:cNvPr id="22" name="Rectangle 22"/>
            <p:cNvSpPr/>
            <p:nvPr/>
          </p:nvSpPr>
          <p:spPr>
            <a:xfrm>
              <a:off x="495300" y="4905375"/>
              <a:ext cx="11201400" cy="1285875"/>
            </a:xfrm>
            <a:prstGeom prst="roundRect">
              <a:avLst>
                <a:gd name="adj" fmla="val 2963"/>
              </a:avLst>
            </a:prstGeom>
            <a:solidFill>
              <a:srgbClr val="FFFFFF"/>
            </a:solidFill>
            <a:ln w="11430">
              <a:solidFill>
                <a:srgbClr val="B8C7D6"/>
              </a:solidFill>
            </a:ln>
          </p:spPr>
        </p:sp>
        <p:sp>
          <p:nvSpPr>
            <p:cNvPr id="23" name="Rectangle 23"/>
            <p:cNvSpPr/>
            <p:nvPr/>
          </p:nvSpPr>
          <p:spPr>
            <a:xfrm>
              <a:off x="495300" y="4905375"/>
              <a:ext cx="76200" cy="1285875"/>
            </a:xfrm>
            <a:prstGeom prst="roundRect">
              <a:avLst>
                <a:gd name="adj" fmla="val 50000"/>
              </a:avLst>
            </a:prstGeom>
            <a:solidFill>
              <a:srgbClr val="06B6D4"/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733425" y="5353050"/>
              <a:ext cx="438150" cy="5238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650" b="1" dirty="0">
                  <a:solidFill>
                    <a:srgbClr val="06B6D4"/>
                  </a:solidFill>
                  <a:latin typeface="Arial"/>
                  <a:ea typeface="Microsoft YaHei"/>
                  <a:cs typeface="Arial"/>
                </a:rPr>
                <a:t>02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1447800" y="5133975"/>
              <a:ext cx="2667000" cy="78105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575" b="1" dirty="0">
                  <a:solidFill>
                    <a:srgbClr val="0E7490"/>
                  </a:solidFill>
                  <a:latin typeface="Arial"/>
                  <a:ea typeface="Microsoft YaHei"/>
                  <a:cs typeface="Arial"/>
                </a:rPr>
                <a:t>队列</a:t>
              </a:r>
            </a:p>
          </p:txBody>
        </p:sp>
        <p:sp>
          <p:nvSpPr>
            <p:cNvPr id="26" name="Line 26"/>
            <p:cNvSpPr/>
            <p:nvPr/>
          </p:nvSpPr>
          <p:spPr>
            <a:xfrm>
              <a:off x="4362450" y="5133975"/>
              <a:ext cx="9525" cy="828675"/>
            </a:xfrm>
            <a:custGeom>
              <a:avLst/>
              <a:gdLst/>
              <a:ahLst/>
              <a:cxnLst/>
              <a:rect l="l" t="t" r="r" b="b"/>
              <a:pathLst>
                <a:path w="9525" h="828675">
                  <a:moveTo>
                    <a:pt x="0" y="0"/>
                  </a:moveTo>
                  <a:lnTo>
                    <a:pt x="0" y="828675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4686300" y="5133975"/>
              <a:ext cx="6572250" cy="78105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425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queued→running→终态全落库（LAN实测）</a:t>
              </a:r>
            </a:p>
          </p:txBody>
        </p:sp>
      </p:grpSp>
      <p:grpSp>
        <p:nvGrpSpPr>
          <p:cNvPr id="34" name="EasySlides Component: metric_01"/>
          <p:cNvGrpSpPr/>
          <p:nvPr/>
        </p:nvGrpSpPr>
        <p:grpSpPr>
          <a:xfrm>
            <a:off x="495300" y="1285875"/>
            <a:ext cx="3505200" cy="1809750"/>
            <a:chOff x="495300" y="1285875"/>
            <a:chExt cx="3505200" cy="1809750"/>
          </a:xfrm>
        </p:grpSpPr>
        <p:sp>
          <p:nvSpPr>
            <p:cNvPr id="29" name="Rectangle 29"/>
            <p:cNvSpPr/>
            <p:nvPr/>
          </p:nvSpPr>
          <p:spPr>
            <a:xfrm>
              <a:off x="495300" y="1285875"/>
              <a:ext cx="3505200" cy="1809750"/>
            </a:xfrm>
            <a:prstGeom prst="roundRect">
              <a:avLst>
                <a:gd name="adj" fmla="val 2105"/>
              </a:avLst>
            </a:prstGeom>
            <a:solidFill>
              <a:srgbClr val="F0F9FC"/>
            </a:solidFill>
            <a:ln w="11430">
              <a:solidFill>
                <a:srgbClr val="B8C7D6"/>
              </a:solidFill>
            </a:ln>
          </p:spPr>
        </p:sp>
        <p:sp>
          <p:nvSpPr>
            <p:cNvPr id="30" name="Rectangle 30"/>
            <p:cNvSpPr/>
            <p:nvPr/>
          </p:nvSpPr>
          <p:spPr>
            <a:xfrm>
              <a:off x="495300" y="1285875"/>
              <a:ext cx="3505200" cy="66675"/>
            </a:xfrm>
            <a:prstGeom prst="roundRect">
              <a:avLst>
                <a:gd name="adj" fmla="val 50000"/>
              </a:avLst>
            </a:prstGeom>
            <a:solidFill>
              <a:srgbClr val="06B6D4"/>
            </a:solidFill>
            <a:ln>
              <a:noFill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762000" y="1619250"/>
              <a:ext cx="2971800" cy="7143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3150" b="1" dirty="0">
                  <a:solidFill>
                    <a:srgbClr val="0E7490"/>
                  </a:solidFill>
                  <a:latin typeface="Arial"/>
                  <a:ea typeface="Microsoft YaHei"/>
                  <a:cs typeface="Arial"/>
                </a:rPr>
                <a:t>JWT</a:t>
              </a:r>
            </a:p>
          </p:txBody>
        </p:sp>
        <p:sp>
          <p:nvSpPr>
            <p:cNvPr id="32" name="Line 32"/>
            <p:cNvSpPr/>
            <p:nvPr/>
          </p:nvSpPr>
          <p:spPr>
            <a:xfrm>
              <a:off x="990600" y="2476500"/>
              <a:ext cx="2514600" cy="9525"/>
            </a:xfrm>
            <a:custGeom>
              <a:avLst/>
              <a:gdLst/>
              <a:ahLst/>
              <a:cxnLst/>
              <a:rect l="l" t="t" r="r" b="b"/>
              <a:pathLst>
                <a:path w="2514600" h="9525">
                  <a:moveTo>
                    <a:pt x="0" y="0"/>
                  </a:moveTo>
                  <a:lnTo>
                    <a:pt x="2514600" y="0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762000" y="2562225"/>
              <a:ext cx="2971800" cy="3429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350" dirty="0">
                  <a:solidFill>
                    <a:srgbClr val="52657A"/>
                  </a:solidFill>
                  <a:latin typeface="Arial"/>
                  <a:ea typeface="Microsoft YaHei"/>
                  <a:cs typeface="Arial"/>
                </a:rPr>
                <a:t>HS256+四角色RBAC</a:t>
              </a:r>
            </a:p>
          </p:txBody>
        </p:sp>
      </p:grpSp>
      <p:grpSp>
        <p:nvGrpSpPr>
          <p:cNvPr id="40" name="EasySlides Component: metric_02"/>
          <p:cNvGrpSpPr/>
          <p:nvPr/>
        </p:nvGrpSpPr>
        <p:grpSpPr>
          <a:xfrm>
            <a:off x="4343400" y="1285875"/>
            <a:ext cx="3505200" cy="1809750"/>
            <a:chOff x="4343400" y="1285875"/>
            <a:chExt cx="3505200" cy="1809750"/>
          </a:xfrm>
        </p:grpSpPr>
        <p:sp>
          <p:nvSpPr>
            <p:cNvPr id="35" name="Rectangle 35"/>
            <p:cNvSpPr/>
            <p:nvPr/>
          </p:nvSpPr>
          <p:spPr>
            <a:xfrm>
              <a:off x="4343400" y="1285875"/>
              <a:ext cx="3505200" cy="1809750"/>
            </a:xfrm>
            <a:prstGeom prst="roundRect">
              <a:avLst>
                <a:gd name="adj" fmla="val 2105"/>
              </a:avLst>
            </a:prstGeom>
            <a:solidFill>
              <a:srgbClr val="F0F9FC"/>
            </a:solidFill>
            <a:ln w="11430">
              <a:solidFill>
                <a:srgbClr val="B8C7D6"/>
              </a:solidFill>
            </a:ln>
          </p:spPr>
        </p:sp>
        <p:sp>
          <p:nvSpPr>
            <p:cNvPr id="36" name="Rectangle 36"/>
            <p:cNvSpPr/>
            <p:nvPr/>
          </p:nvSpPr>
          <p:spPr>
            <a:xfrm>
              <a:off x="4343400" y="1285875"/>
              <a:ext cx="3505200" cy="66675"/>
            </a:xfrm>
            <a:prstGeom prst="roundRect">
              <a:avLst>
                <a:gd name="adj" fmla="val 50000"/>
              </a:avLst>
            </a:prstGeom>
            <a:solidFill>
              <a:srgbClr val="06B6D4"/>
            </a:solidFill>
            <a:ln>
              <a:noFill/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4610100" y="1619250"/>
              <a:ext cx="2971800" cy="7143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3150" b="1" dirty="0">
                  <a:solidFill>
                    <a:srgbClr val="0E7490"/>
                  </a:solidFill>
                  <a:latin typeface="Arial"/>
                  <a:ea typeface="Microsoft YaHei"/>
                  <a:cs typeface="Arial"/>
                </a:rPr>
                <a:t>队列</a:t>
              </a:r>
            </a:p>
          </p:txBody>
        </p:sp>
        <p:sp>
          <p:nvSpPr>
            <p:cNvPr id="38" name="Line 38"/>
            <p:cNvSpPr/>
            <p:nvPr/>
          </p:nvSpPr>
          <p:spPr>
            <a:xfrm>
              <a:off x="4838700" y="2476500"/>
              <a:ext cx="2514600" cy="9525"/>
            </a:xfrm>
            <a:custGeom>
              <a:avLst/>
              <a:gdLst/>
              <a:ahLst/>
              <a:cxnLst/>
              <a:rect l="l" t="t" r="r" b="b"/>
              <a:pathLst>
                <a:path w="2514600" h="9525">
                  <a:moveTo>
                    <a:pt x="0" y="0"/>
                  </a:moveTo>
                  <a:lnTo>
                    <a:pt x="2514600" y="0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4610100" y="2562225"/>
              <a:ext cx="2971800" cy="3429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350" dirty="0">
                  <a:solidFill>
                    <a:srgbClr val="52657A"/>
                  </a:solidFill>
                  <a:latin typeface="Arial"/>
                  <a:ea typeface="Microsoft YaHei"/>
                  <a:cs typeface="Arial"/>
                </a:rPr>
                <a:t>Pulsar/Redis Worker落库</a:t>
              </a:r>
            </a:p>
          </p:txBody>
        </p:sp>
      </p:grpSp>
      <p:grpSp>
        <p:nvGrpSpPr>
          <p:cNvPr id="46" name="EasySlides Component: metric_03"/>
          <p:cNvGrpSpPr/>
          <p:nvPr/>
        </p:nvGrpSpPr>
        <p:grpSpPr>
          <a:xfrm>
            <a:off x="8191500" y="1285875"/>
            <a:ext cx="3505200" cy="1809750"/>
            <a:chOff x="8191500" y="1285875"/>
            <a:chExt cx="3505200" cy="1809750"/>
          </a:xfrm>
        </p:grpSpPr>
        <p:sp>
          <p:nvSpPr>
            <p:cNvPr id="41" name="Rectangle 41"/>
            <p:cNvSpPr/>
            <p:nvPr/>
          </p:nvSpPr>
          <p:spPr>
            <a:xfrm>
              <a:off x="8191500" y="1285875"/>
              <a:ext cx="3505200" cy="1809750"/>
            </a:xfrm>
            <a:prstGeom prst="roundRect">
              <a:avLst>
                <a:gd name="adj" fmla="val 2105"/>
              </a:avLst>
            </a:prstGeom>
            <a:solidFill>
              <a:srgbClr val="F0F9FC"/>
            </a:solidFill>
            <a:ln w="11430">
              <a:solidFill>
                <a:srgbClr val="B8C7D6"/>
              </a:solidFill>
            </a:ln>
          </p:spPr>
        </p:sp>
        <p:sp>
          <p:nvSpPr>
            <p:cNvPr id="42" name="Rectangle 42"/>
            <p:cNvSpPr/>
            <p:nvPr/>
          </p:nvSpPr>
          <p:spPr>
            <a:xfrm>
              <a:off x="8191500" y="1285875"/>
              <a:ext cx="3505200" cy="66675"/>
            </a:xfrm>
            <a:prstGeom prst="roundRect">
              <a:avLst>
                <a:gd name="adj" fmla="val 50000"/>
              </a:avLst>
            </a:prstGeom>
            <a:solidFill>
              <a:srgbClr val="06B6D4"/>
            </a:solidFill>
            <a:ln>
              <a:noFill/>
            </a:ln>
          </p:spPr>
        </p:sp>
        <p:sp>
          <p:nvSpPr>
            <p:cNvPr id="43" name="TextBox 43"/>
            <p:cNvSpPr txBox="1"/>
            <p:nvPr/>
          </p:nvSpPr>
          <p:spPr>
            <a:xfrm>
              <a:off x="8458200" y="1619250"/>
              <a:ext cx="2971800" cy="7143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3150" b="1" dirty="0">
                  <a:solidFill>
                    <a:srgbClr val="0E7490"/>
                  </a:solidFill>
                  <a:latin typeface="Arial"/>
                  <a:ea typeface="Microsoft YaHei"/>
                  <a:cs typeface="Arial"/>
                </a:rPr>
                <a:t>审批</a:t>
              </a:r>
            </a:p>
          </p:txBody>
        </p:sp>
        <p:sp>
          <p:nvSpPr>
            <p:cNvPr id="44" name="Line 44"/>
            <p:cNvSpPr/>
            <p:nvPr/>
          </p:nvSpPr>
          <p:spPr>
            <a:xfrm>
              <a:off x="8686800" y="2476500"/>
              <a:ext cx="2514600" cy="9525"/>
            </a:xfrm>
            <a:custGeom>
              <a:avLst/>
              <a:gdLst/>
              <a:ahLst/>
              <a:cxnLst/>
              <a:rect l="l" t="t" r="r" b="b"/>
              <a:pathLst>
                <a:path w="2514600" h="9525">
                  <a:moveTo>
                    <a:pt x="0" y="0"/>
                  </a:moveTo>
                  <a:lnTo>
                    <a:pt x="2514600" y="0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45" name="TextBox 45"/>
            <p:cNvSpPr txBox="1"/>
            <p:nvPr/>
          </p:nvSpPr>
          <p:spPr>
            <a:xfrm>
              <a:off x="8458200" y="2562225"/>
              <a:ext cx="2971800" cy="3429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350" dirty="0">
                  <a:solidFill>
                    <a:srgbClr val="52657A"/>
                  </a:solidFill>
                  <a:latin typeface="Arial"/>
                  <a:ea typeface="Microsoft YaHei"/>
                  <a:cs typeface="Arial"/>
                </a:rPr>
                <a:t>HITL 中断-恢复</a:t>
              </a:r>
            </a:p>
          </p:txBody>
        </p:sp>
      </p:grp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666750"/>
          </a:xfrm>
          <a:prstGeom prst="rect">
            <a:avLst/>
          </a:prstGeom>
          <a:solidFill>
            <a:srgbClr val="0E7490"/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0"/>
            <a:ext cx="57150" cy="666750"/>
          </a:xfrm>
          <a:prstGeom prst="rect">
            <a:avLst/>
          </a:prstGeom>
          <a:solidFill>
            <a:srgbClr val="CC0000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381000" y="123825"/>
            <a:ext cx="762000" cy="4000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1275" b="1" dirty="0">
                <a:solidFill>
                  <a:srgbClr val="9FD3FF"/>
                </a:solidFill>
                <a:latin typeface="Arial"/>
                <a:ea typeface="Microsoft YaHei"/>
                <a:cs typeface="Arial"/>
              </a:rPr>
              <a:t>63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257300" y="95250"/>
            <a:ext cx="8096250" cy="457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21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优化拓展：混合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0001250" y="76200"/>
            <a:ext cx="1619250" cy="5143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3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DataAgent</a:t>
            </a:r>
          </a:p>
        </p:txBody>
      </p:sp>
      <p:sp>
        <p:nvSpPr>
          <p:cNvPr id="8" name="Rectangle 8"/>
          <p:cNvSpPr/>
          <p:nvPr/>
        </p:nvSpPr>
        <p:spPr>
          <a:xfrm>
            <a:off x="0" y="666750"/>
            <a:ext cx="12192000" cy="476250"/>
          </a:xfrm>
          <a:prstGeom prst="rect">
            <a:avLst/>
          </a:prstGeom>
          <a:solidFill>
            <a:srgbClr val="E8F4FC"/>
          </a:solidFill>
          <a:ln>
            <a:noFill/>
          </a:ln>
        </p:spPr>
      </p:sp>
      <p:sp>
        <p:nvSpPr>
          <p:cNvPr id="9" name="Rectangle 9"/>
          <p:cNvSpPr/>
          <p:nvPr/>
        </p:nvSpPr>
        <p:spPr>
          <a:xfrm>
            <a:off x="0" y="666750"/>
            <a:ext cx="57150" cy="476250"/>
          </a:xfrm>
          <a:prstGeom prst="rect">
            <a:avLst/>
          </a:prstGeom>
          <a:solidFill>
            <a:srgbClr val="06B6D4"/>
          </a:solidFill>
          <a:ln>
            <a:noFill/>
          </a:ln>
        </p:spPr>
      </p:sp>
      <p:sp>
        <p:nvSpPr>
          <p:cNvPr id="10" name="TextBox 10"/>
          <p:cNvSpPr txBox="1"/>
          <p:nvPr/>
        </p:nvSpPr>
        <p:spPr>
          <a:xfrm>
            <a:off x="381000" y="714375"/>
            <a:ext cx="10001250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1350" dirty="0">
                <a:solidFill>
                  <a:srgbClr val="26384A"/>
                </a:solidFill>
                <a:latin typeface="Arial"/>
                <a:ea typeface="Microsoft YaHei"/>
                <a:cs typeface="Arial"/>
              </a:rPr>
              <a:t>三个可持续优化抓手</a:t>
            </a:r>
          </a:p>
        </p:txBody>
      </p:sp>
      <p:sp>
        <p:nvSpPr>
          <p:cNvPr id="11" name="Line 11"/>
          <p:cNvSpPr/>
          <p:nvPr/>
        </p:nvSpPr>
        <p:spPr>
          <a:xfrm>
            <a:off x="381000" y="6334125"/>
            <a:ext cx="11430000" cy="9525"/>
          </a:xfrm>
          <a:custGeom>
            <a:avLst/>
            <a:gdLst/>
            <a:ahLst/>
            <a:cxnLst/>
            <a:rect l="l" t="t" r="r" b="b"/>
            <a:pathLst>
              <a:path w="11430000" h="9525">
                <a:moveTo>
                  <a:pt x="0" y="0"/>
                </a:moveTo>
                <a:lnTo>
                  <a:pt x="11430000" y="0"/>
                </a:lnTo>
              </a:path>
            </a:pathLst>
          </a:custGeom>
          <a:noFill/>
          <a:ln w="9525">
            <a:solidFill>
              <a:srgbClr val="E8F4FC"/>
            </a:solidFill>
          </a:ln>
        </p:spPr>
      </p:sp>
      <p:sp>
        <p:nvSpPr>
          <p:cNvPr id="12" name="TextBox 12"/>
          <p:cNvSpPr txBox="1"/>
          <p:nvPr/>
        </p:nvSpPr>
        <p:spPr>
          <a:xfrm>
            <a:off x="381000" y="6477000"/>
            <a:ext cx="4953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课程第15讲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4381500" y="6477000"/>
            <a:ext cx="3429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Agent Runtime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0763250" y="6457950"/>
            <a:ext cx="857250" cy="266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050" dirty="0">
                <a:solidFill>
                  <a:srgbClr val="52657A"/>
                </a:solidFill>
                <a:latin typeface="Arial"/>
                <a:ea typeface="Microsoft YaHei"/>
                <a:cs typeface="Arial"/>
              </a:rPr>
              <a:t>63</a:t>
            </a:r>
          </a:p>
        </p:txBody>
      </p:sp>
      <p:grpSp>
        <p:nvGrpSpPr>
          <p:cNvPr id="21" name="EasySlides Component: evidence_01"/>
          <p:cNvGrpSpPr/>
          <p:nvPr/>
        </p:nvGrpSpPr>
        <p:grpSpPr>
          <a:xfrm>
            <a:off x="495300" y="3524250"/>
            <a:ext cx="11201400" cy="1285875"/>
            <a:chOff x="495300" y="3524250"/>
            <a:chExt cx="11201400" cy="1285875"/>
          </a:xfrm>
        </p:grpSpPr>
        <p:sp>
          <p:nvSpPr>
            <p:cNvPr id="15" name="Rectangle 15"/>
            <p:cNvSpPr/>
            <p:nvPr/>
          </p:nvSpPr>
          <p:spPr>
            <a:xfrm>
              <a:off x="495300" y="3524250"/>
              <a:ext cx="11201400" cy="1285875"/>
            </a:xfrm>
            <a:prstGeom prst="roundRect">
              <a:avLst>
                <a:gd name="adj" fmla="val 2963"/>
              </a:avLst>
            </a:prstGeom>
            <a:solidFill>
              <a:srgbClr val="FFFFFF"/>
            </a:solidFill>
            <a:ln w="11430">
              <a:solidFill>
                <a:srgbClr val="B8C7D6"/>
              </a:solidFill>
            </a:ln>
          </p:spPr>
        </p:sp>
        <p:sp>
          <p:nvSpPr>
            <p:cNvPr id="16" name="Rectangle 16"/>
            <p:cNvSpPr/>
            <p:nvPr/>
          </p:nvSpPr>
          <p:spPr>
            <a:xfrm>
              <a:off x="495300" y="3524250"/>
              <a:ext cx="76200" cy="1285875"/>
            </a:xfrm>
            <a:prstGeom prst="roundRect">
              <a:avLst>
                <a:gd name="adj" fmla="val 50000"/>
              </a:avLst>
            </a:prstGeom>
            <a:solidFill>
              <a:srgbClr val="06B6D4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733425" y="3971925"/>
              <a:ext cx="438150" cy="5238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650" b="1" dirty="0">
                  <a:solidFill>
                    <a:srgbClr val="06B6D4"/>
                  </a:solidFill>
                  <a:latin typeface="Arial"/>
                  <a:ea typeface="Microsoft YaHei"/>
                  <a:cs typeface="Arial"/>
                </a:rPr>
                <a:t>01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1447800" y="3752850"/>
              <a:ext cx="2667000" cy="78105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575" b="1" dirty="0">
                  <a:solidFill>
                    <a:srgbClr val="0E7490"/>
                  </a:solidFill>
                  <a:latin typeface="Arial"/>
                  <a:ea typeface="Microsoft YaHei"/>
                  <a:cs typeface="Arial"/>
                </a:rPr>
                <a:t>资产化</a:t>
              </a:r>
            </a:p>
          </p:txBody>
        </p:sp>
        <p:sp>
          <p:nvSpPr>
            <p:cNvPr id="19" name="Line 19"/>
            <p:cNvSpPr/>
            <p:nvPr/>
          </p:nvSpPr>
          <p:spPr>
            <a:xfrm>
              <a:off x="4362450" y="3752850"/>
              <a:ext cx="9525" cy="828675"/>
            </a:xfrm>
            <a:custGeom>
              <a:avLst/>
              <a:gdLst/>
              <a:ahLst/>
              <a:cxnLst/>
              <a:rect l="l" t="t" r="r" b="b"/>
              <a:pathLst>
                <a:path w="9525" h="828675">
                  <a:moveTo>
                    <a:pt x="0" y="0"/>
                  </a:moveTo>
                  <a:lnTo>
                    <a:pt x="0" y="828675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4686300" y="3752850"/>
              <a:ext cx="6572250" cy="78105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425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「混合」优化一：把人工经验固化为资产（规则/Skill/</a:t>
              </a:r>
            </a:p>
          </p:txBody>
        </p:sp>
      </p:grpSp>
      <p:grpSp>
        <p:nvGrpSpPr>
          <p:cNvPr id="28" name="EasySlides Component: evidence_02"/>
          <p:cNvGrpSpPr/>
          <p:nvPr/>
        </p:nvGrpSpPr>
        <p:grpSpPr>
          <a:xfrm>
            <a:off x="495300" y="4905375"/>
            <a:ext cx="11201400" cy="1285875"/>
            <a:chOff x="495300" y="4905375"/>
            <a:chExt cx="11201400" cy="1285875"/>
          </a:xfrm>
        </p:grpSpPr>
        <p:sp>
          <p:nvSpPr>
            <p:cNvPr id="22" name="Rectangle 22"/>
            <p:cNvSpPr/>
            <p:nvPr/>
          </p:nvSpPr>
          <p:spPr>
            <a:xfrm>
              <a:off x="495300" y="4905375"/>
              <a:ext cx="11201400" cy="1285875"/>
            </a:xfrm>
            <a:prstGeom prst="roundRect">
              <a:avLst>
                <a:gd name="adj" fmla="val 2963"/>
              </a:avLst>
            </a:prstGeom>
            <a:solidFill>
              <a:srgbClr val="FFFFFF"/>
            </a:solidFill>
            <a:ln w="11430">
              <a:solidFill>
                <a:srgbClr val="B8C7D6"/>
              </a:solidFill>
            </a:ln>
          </p:spPr>
        </p:sp>
        <p:sp>
          <p:nvSpPr>
            <p:cNvPr id="23" name="Rectangle 23"/>
            <p:cNvSpPr/>
            <p:nvPr/>
          </p:nvSpPr>
          <p:spPr>
            <a:xfrm>
              <a:off x="495300" y="4905375"/>
              <a:ext cx="76200" cy="1285875"/>
            </a:xfrm>
            <a:prstGeom prst="roundRect">
              <a:avLst>
                <a:gd name="adj" fmla="val 50000"/>
              </a:avLst>
            </a:prstGeom>
            <a:solidFill>
              <a:srgbClr val="06B6D4"/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733425" y="5353050"/>
              <a:ext cx="438150" cy="5238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650" b="1" dirty="0">
                  <a:solidFill>
                    <a:srgbClr val="06B6D4"/>
                  </a:solidFill>
                  <a:latin typeface="Arial"/>
                  <a:ea typeface="Microsoft YaHei"/>
                  <a:cs typeface="Arial"/>
                </a:rPr>
                <a:t>02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1447800" y="5133975"/>
              <a:ext cx="2667000" cy="78105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575" b="1" dirty="0">
                  <a:solidFill>
                    <a:srgbClr val="0E7490"/>
                  </a:solidFill>
                  <a:latin typeface="Arial"/>
                  <a:ea typeface="Microsoft YaHei"/>
                  <a:cs typeface="Arial"/>
                </a:rPr>
                <a:t>基线化</a:t>
              </a:r>
            </a:p>
          </p:txBody>
        </p:sp>
        <p:sp>
          <p:nvSpPr>
            <p:cNvPr id="26" name="Line 26"/>
            <p:cNvSpPr/>
            <p:nvPr/>
          </p:nvSpPr>
          <p:spPr>
            <a:xfrm>
              <a:off x="4362450" y="5133975"/>
              <a:ext cx="9525" cy="828675"/>
            </a:xfrm>
            <a:custGeom>
              <a:avLst/>
              <a:gdLst/>
              <a:ahLst/>
              <a:cxnLst/>
              <a:rect l="l" t="t" r="r" b="b"/>
              <a:pathLst>
                <a:path w="9525" h="828675">
                  <a:moveTo>
                    <a:pt x="0" y="0"/>
                  </a:moveTo>
                  <a:lnTo>
                    <a:pt x="0" y="828675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4686300" y="5133975"/>
              <a:ext cx="6572250" cy="78105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425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「混合」优化二：建立基线对照（关闭/盲选/受控三组）证明增量</a:t>
              </a:r>
            </a:p>
          </p:txBody>
        </p:sp>
      </p:grpSp>
      <p:grpSp>
        <p:nvGrpSpPr>
          <p:cNvPr id="34" name="EasySlides Component: metric_01"/>
          <p:cNvGrpSpPr/>
          <p:nvPr/>
        </p:nvGrpSpPr>
        <p:grpSpPr>
          <a:xfrm>
            <a:off x="495300" y="1285875"/>
            <a:ext cx="3505200" cy="1809750"/>
            <a:chOff x="495300" y="1285875"/>
            <a:chExt cx="3505200" cy="1809750"/>
          </a:xfrm>
        </p:grpSpPr>
        <p:sp>
          <p:nvSpPr>
            <p:cNvPr id="29" name="Rectangle 29"/>
            <p:cNvSpPr/>
            <p:nvPr/>
          </p:nvSpPr>
          <p:spPr>
            <a:xfrm>
              <a:off x="495300" y="1285875"/>
              <a:ext cx="3505200" cy="1809750"/>
            </a:xfrm>
            <a:prstGeom prst="roundRect">
              <a:avLst>
                <a:gd name="adj" fmla="val 2105"/>
              </a:avLst>
            </a:prstGeom>
            <a:solidFill>
              <a:srgbClr val="F0F9FC"/>
            </a:solidFill>
            <a:ln w="11430">
              <a:solidFill>
                <a:srgbClr val="B8C7D6"/>
              </a:solidFill>
            </a:ln>
          </p:spPr>
        </p:sp>
        <p:sp>
          <p:nvSpPr>
            <p:cNvPr id="30" name="Rectangle 30"/>
            <p:cNvSpPr/>
            <p:nvPr/>
          </p:nvSpPr>
          <p:spPr>
            <a:xfrm>
              <a:off x="495300" y="1285875"/>
              <a:ext cx="3505200" cy="66675"/>
            </a:xfrm>
            <a:prstGeom prst="roundRect">
              <a:avLst>
                <a:gd name="adj" fmla="val 50000"/>
              </a:avLst>
            </a:prstGeom>
            <a:solidFill>
              <a:srgbClr val="06B6D4"/>
            </a:solidFill>
            <a:ln>
              <a:noFill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762000" y="1619250"/>
              <a:ext cx="2971800" cy="7143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3150" b="1" dirty="0">
                  <a:solidFill>
                    <a:srgbClr val="0E7490"/>
                  </a:solidFill>
                  <a:latin typeface="Arial"/>
                  <a:ea typeface="Microsoft YaHei"/>
                  <a:cs typeface="Arial"/>
                </a:rPr>
                <a:t>资产化</a:t>
              </a:r>
            </a:p>
          </p:txBody>
        </p:sp>
        <p:sp>
          <p:nvSpPr>
            <p:cNvPr id="32" name="Line 32"/>
            <p:cNvSpPr/>
            <p:nvPr/>
          </p:nvSpPr>
          <p:spPr>
            <a:xfrm>
              <a:off x="990600" y="2476500"/>
              <a:ext cx="2514600" cy="9525"/>
            </a:xfrm>
            <a:custGeom>
              <a:avLst/>
              <a:gdLst/>
              <a:ahLst/>
              <a:cxnLst/>
              <a:rect l="l" t="t" r="r" b="b"/>
              <a:pathLst>
                <a:path w="2514600" h="9525">
                  <a:moveTo>
                    <a:pt x="0" y="0"/>
                  </a:moveTo>
                  <a:lnTo>
                    <a:pt x="2514600" y="0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762000" y="2562225"/>
              <a:ext cx="2971800" cy="3429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350" dirty="0">
                  <a:solidFill>
                    <a:srgbClr val="52657A"/>
                  </a:solidFill>
                  <a:latin typeface="Arial"/>
                  <a:ea typeface="Microsoft YaHei"/>
                  <a:cs typeface="Arial"/>
                </a:rPr>
                <a:t>经验固化为规则/Skill</a:t>
              </a:r>
            </a:p>
          </p:txBody>
        </p:sp>
      </p:grpSp>
      <p:grpSp>
        <p:nvGrpSpPr>
          <p:cNvPr id="40" name="EasySlides Component: metric_02"/>
          <p:cNvGrpSpPr/>
          <p:nvPr/>
        </p:nvGrpSpPr>
        <p:grpSpPr>
          <a:xfrm>
            <a:off x="4343400" y="1285875"/>
            <a:ext cx="3505200" cy="1809750"/>
            <a:chOff x="4343400" y="1285875"/>
            <a:chExt cx="3505200" cy="1809750"/>
          </a:xfrm>
        </p:grpSpPr>
        <p:sp>
          <p:nvSpPr>
            <p:cNvPr id="35" name="Rectangle 35"/>
            <p:cNvSpPr/>
            <p:nvPr/>
          </p:nvSpPr>
          <p:spPr>
            <a:xfrm>
              <a:off x="4343400" y="1285875"/>
              <a:ext cx="3505200" cy="1809750"/>
            </a:xfrm>
            <a:prstGeom prst="roundRect">
              <a:avLst>
                <a:gd name="adj" fmla="val 2105"/>
              </a:avLst>
            </a:prstGeom>
            <a:solidFill>
              <a:srgbClr val="F0F9FC"/>
            </a:solidFill>
            <a:ln w="11430">
              <a:solidFill>
                <a:srgbClr val="B8C7D6"/>
              </a:solidFill>
            </a:ln>
          </p:spPr>
        </p:sp>
        <p:sp>
          <p:nvSpPr>
            <p:cNvPr id="36" name="Rectangle 36"/>
            <p:cNvSpPr/>
            <p:nvPr/>
          </p:nvSpPr>
          <p:spPr>
            <a:xfrm>
              <a:off x="4343400" y="1285875"/>
              <a:ext cx="3505200" cy="66675"/>
            </a:xfrm>
            <a:prstGeom prst="roundRect">
              <a:avLst>
                <a:gd name="adj" fmla="val 50000"/>
              </a:avLst>
            </a:prstGeom>
            <a:solidFill>
              <a:srgbClr val="06B6D4"/>
            </a:solidFill>
            <a:ln>
              <a:noFill/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4610100" y="1619250"/>
              <a:ext cx="2971800" cy="7143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3150" b="1" dirty="0">
                  <a:solidFill>
                    <a:srgbClr val="0E7490"/>
                  </a:solidFill>
                  <a:latin typeface="Arial"/>
                  <a:ea typeface="Microsoft YaHei"/>
                  <a:cs typeface="Arial"/>
                </a:rPr>
                <a:t>基线化</a:t>
              </a:r>
            </a:p>
          </p:txBody>
        </p:sp>
        <p:sp>
          <p:nvSpPr>
            <p:cNvPr id="38" name="Line 38"/>
            <p:cNvSpPr/>
            <p:nvPr/>
          </p:nvSpPr>
          <p:spPr>
            <a:xfrm>
              <a:off x="4838700" y="2476500"/>
              <a:ext cx="2514600" cy="9525"/>
            </a:xfrm>
            <a:custGeom>
              <a:avLst/>
              <a:gdLst/>
              <a:ahLst/>
              <a:cxnLst/>
              <a:rect l="l" t="t" r="r" b="b"/>
              <a:pathLst>
                <a:path w="2514600" h="9525">
                  <a:moveTo>
                    <a:pt x="0" y="0"/>
                  </a:moveTo>
                  <a:lnTo>
                    <a:pt x="2514600" y="0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4610100" y="2562225"/>
              <a:ext cx="2971800" cy="3429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350" dirty="0">
                  <a:solidFill>
                    <a:srgbClr val="52657A"/>
                  </a:solidFill>
                  <a:latin typeface="Arial"/>
                  <a:ea typeface="Microsoft YaHei"/>
                  <a:cs typeface="Arial"/>
                </a:rPr>
                <a:t>对照实验证明增量</a:t>
              </a:r>
            </a:p>
          </p:txBody>
        </p:sp>
      </p:grpSp>
      <p:grpSp>
        <p:nvGrpSpPr>
          <p:cNvPr id="46" name="EasySlides Component: metric_03"/>
          <p:cNvGrpSpPr/>
          <p:nvPr/>
        </p:nvGrpSpPr>
        <p:grpSpPr>
          <a:xfrm>
            <a:off x="8191500" y="1285875"/>
            <a:ext cx="3505200" cy="1809750"/>
            <a:chOff x="8191500" y="1285875"/>
            <a:chExt cx="3505200" cy="1809750"/>
          </a:xfrm>
        </p:grpSpPr>
        <p:sp>
          <p:nvSpPr>
            <p:cNvPr id="41" name="Rectangle 41"/>
            <p:cNvSpPr/>
            <p:nvPr/>
          </p:nvSpPr>
          <p:spPr>
            <a:xfrm>
              <a:off x="8191500" y="1285875"/>
              <a:ext cx="3505200" cy="1809750"/>
            </a:xfrm>
            <a:prstGeom prst="roundRect">
              <a:avLst>
                <a:gd name="adj" fmla="val 2105"/>
              </a:avLst>
            </a:prstGeom>
            <a:solidFill>
              <a:srgbClr val="F0F9FC"/>
            </a:solidFill>
            <a:ln w="11430">
              <a:solidFill>
                <a:srgbClr val="B8C7D6"/>
              </a:solidFill>
            </a:ln>
          </p:spPr>
        </p:sp>
        <p:sp>
          <p:nvSpPr>
            <p:cNvPr id="42" name="Rectangle 42"/>
            <p:cNvSpPr/>
            <p:nvPr/>
          </p:nvSpPr>
          <p:spPr>
            <a:xfrm>
              <a:off x="8191500" y="1285875"/>
              <a:ext cx="3505200" cy="66675"/>
            </a:xfrm>
            <a:prstGeom prst="roundRect">
              <a:avLst>
                <a:gd name="adj" fmla="val 50000"/>
              </a:avLst>
            </a:prstGeom>
            <a:solidFill>
              <a:srgbClr val="06B6D4"/>
            </a:solidFill>
            <a:ln>
              <a:noFill/>
            </a:ln>
          </p:spPr>
        </p:sp>
        <p:sp>
          <p:nvSpPr>
            <p:cNvPr id="43" name="TextBox 43"/>
            <p:cNvSpPr txBox="1"/>
            <p:nvPr/>
          </p:nvSpPr>
          <p:spPr>
            <a:xfrm>
              <a:off x="8458200" y="1619250"/>
              <a:ext cx="2971800" cy="7143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3150" b="1" dirty="0">
                  <a:solidFill>
                    <a:srgbClr val="0E7490"/>
                  </a:solidFill>
                  <a:latin typeface="Arial"/>
                  <a:ea typeface="Microsoft YaHei"/>
                  <a:cs typeface="Arial"/>
                </a:rPr>
                <a:t>观测化</a:t>
              </a:r>
            </a:p>
          </p:txBody>
        </p:sp>
        <p:sp>
          <p:nvSpPr>
            <p:cNvPr id="44" name="Line 44"/>
            <p:cNvSpPr/>
            <p:nvPr/>
          </p:nvSpPr>
          <p:spPr>
            <a:xfrm>
              <a:off x="8686800" y="2476500"/>
              <a:ext cx="2514600" cy="9525"/>
            </a:xfrm>
            <a:custGeom>
              <a:avLst/>
              <a:gdLst/>
              <a:ahLst/>
              <a:cxnLst/>
              <a:rect l="l" t="t" r="r" b="b"/>
              <a:pathLst>
                <a:path w="2514600" h="9525">
                  <a:moveTo>
                    <a:pt x="0" y="0"/>
                  </a:moveTo>
                  <a:lnTo>
                    <a:pt x="2514600" y="0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45" name="TextBox 45"/>
            <p:cNvSpPr txBox="1"/>
            <p:nvPr/>
          </p:nvSpPr>
          <p:spPr>
            <a:xfrm>
              <a:off x="8458200" y="2562225"/>
              <a:ext cx="2971800" cy="3429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350" dirty="0">
                  <a:solidFill>
                    <a:srgbClr val="52657A"/>
                  </a:solidFill>
                  <a:latin typeface="Arial"/>
                  <a:ea typeface="Microsoft YaHei"/>
                  <a:cs typeface="Arial"/>
                </a:rPr>
                <a:t>Trace/Baseline 先行</a:t>
              </a:r>
            </a:p>
          </p:txBody>
        </p:sp>
      </p:grp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666750"/>
          </a:xfrm>
          <a:prstGeom prst="rect">
            <a:avLst/>
          </a:prstGeom>
          <a:solidFill>
            <a:srgbClr val="0E7490"/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0"/>
            <a:ext cx="57150" cy="666750"/>
          </a:xfrm>
          <a:prstGeom prst="rect">
            <a:avLst/>
          </a:prstGeom>
          <a:solidFill>
            <a:srgbClr val="CC0000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381000" y="123825"/>
            <a:ext cx="762000" cy="4000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1275" b="1" dirty="0">
                <a:solidFill>
                  <a:srgbClr val="9FD3FF"/>
                </a:solidFill>
                <a:latin typeface="Arial"/>
                <a:ea typeface="Microsoft YaHei"/>
                <a:cs typeface="Arial"/>
              </a:rPr>
              <a:t>64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257300" y="95250"/>
            <a:ext cx="8096250" cy="457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21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本章知识图谱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0001250" y="76200"/>
            <a:ext cx="1619250" cy="5143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3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DataAgent</a:t>
            </a:r>
          </a:p>
        </p:txBody>
      </p:sp>
      <p:sp>
        <p:nvSpPr>
          <p:cNvPr id="8" name="Rectangle 8"/>
          <p:cNvSpPr/>
          <p:nvPr/>
        </p:nvSpPr>
        <p:spPr>
          <a:xfrm>
            <a:off x="0" y="666750"/>
            <a:ext cx="12192000" cy="476250"/>
          </a:xfrm>
          <a:prstGeom prst="rect">
            <a:avLst/>
          </a:prstGeom>
          <a:solidFill>
            <a:srgbClr val="E8F4FC"/>
          </a:solidFill>
          <a:ln>
            <a:noFill/>
          </a:ln>
        </p:spPr>
      </p:sp>
      <p:sp>
        <p:nvSpPr>
          <p:cNvPr id="9" name="Rectangle 9"/>
          <p:cNvSpPr/>
          <p:nvPr/>
        </p:nvSpPr>
        <p:spPr>
          <a:xfrm>
            <a:off x="0" y="666750"/>
            <a:ext cx="57150" cy="476250"/>
          </a:xfrm>
          <a:prstGeom prst="rect">
            <a:avLst/>
          </a:prstGeom>
          <a:solidFill>
            <a:srgbClr val="06B6D4"/>
          </a:solidFill>
          <a:ln>
            <a:noFill/>
          </a:ln>
        </p:spPr>
      </p:sp>
      <p:sp>
        <p:nvSpPr>
          <p:cNvPr id="10" name="TextBox 10"/>
          <p:cNvSpPr txBox="1"/>
          <p:nvPr/>
        </p:nvSpPr>
        <p:spPr>
          <a:xfrm>
            <a:off x="381000" y="714375"/>
            <a:ext cx="10001250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1350" dirty="0">
                <a:solidFill>
                  <a:srgbClr val="26384A"/>
                </a:solidFill>
                <a:latin typeface="Arial"/>
                <a:ea typeface="Microsoft YaHei"/>
                <a:cs typeface="Arial"/>
              </a:rPr>
              <a:t>概念之间的结构关系</a:t>
            </a:r>
          </a:p>
        </p:txBody>
      </p:sp>
      <p:sp>
        <p:nvSpPr>
          <p:cNvPr id="11" name="Line 11"/>
          <p:cNvSpPr/>
          <p:nvPr/>
        </p:nvSpPr>
        <p:spPr>
          <a:xfrm>
            <a:off x="381000" y="6334125"/>
            <a:ext cx="11430000" cy="9525"/>
          </a:xfrm>
          <a:custGeom>
            <a:avLst/>
            <a:gdLst/>
            <a:ahLst/>
            <a:cxnLst/>
            <a:rect l="l" t="t" r="r" b="b"/>
            <a:pathLst>
              <a:path w="11430000" h="9525">
                <a:moveTo>
                  <a:pt x="0" y="0"/>
                </a:moveTo>
                <a:lnTo>
                  <a:pt x="11430000" y="0"/>
                </a:lnTo>
              </a:path>
            </a:pathLst>
          </a:custGeom>
          <a:noFill/>
          <a:ln w="9525">
            <a:solidFill>
              <a:srgbClr val="E8F4FC"/>
            </a:solidFill>
          </a:ln>
        </p:spPr>
      </p:sp>
      <p:sp>
        <p:nvSpPr>
          <p:cNvPr id="12" name="TextBox 12"/>
          <p:cNvSpPr txBox="1"/>
          <p:nvPr/>
        </p:nvSpPr>
        <p:spPr>
          <a:xfrm>
            <a:off x="381000" y="6477000"/>
            <a:ext cx="4953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课程第15讲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4381500" y="6477000"/>
            <a:ext cx="3429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Agent Runtime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0763250" y="6457950"/>
            <a:ext cx="857250" cy="266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050" dirty="0">
                <a:solidFill>
                  <a:srgbClr val="52657A"/>
                </a:solidFill>
                <a:latin typeface="Arial"/>
                <a:ea typeface="Microsoft YaHei"/>
                <a:cs typeface="Arial"/>
              </a:rPr>
              <a:t>64</a:t>
            </a:r>
          </a:p>
        </p:txBody>
      </p:sp>
      <p:grpSp>
        <p:nvGrpSpPr>
          <p:cNvPr id="26" name="EasySlides Component: evidence"/>
          <p:cNvGrpSpPr/>
          <p:nvPr/>
        </p:nvGrpSpPr>
        <p:grpSpPr>
          <a:xfrm>
            <a:off x="7124700" y="1285875"/>
            <a:ext cx="4572000" cy="4905375"/>
            <a:chOff x="7124700" y="1285875"/>
            <a:chExt cx="4572000" cy="4905375"/>
          </a:xfrm>
        </p:grpSpPr>
        <p:sp>
          <p:nvSpPr>
            <p:cNvPr id="15" name="Rectangle 15"/>
            <p:cNvSpPr/>
            <p:nvPr/>
          </p:nvSpPr>
          <p:spPr>
            <a:xfrm>
              <a:off x="7124700" y="1285875"/>
              <a:ext cx="4572000" cy="4905375"/>
            </a:xfrm>
            <a:prstGeom prst="roundRect">
              <a:avLst>
                <a:gd name="adj" fmla="val 833"/>
              </a:avLst>
            </a:prstGeom>
            <a:solidFill>
              <a:srgbClr val="F0F9FC"/>
            </a:solidFill>
            <a:ln w="11430">
              <a:solidFill>
                <a:srgbClr val="B8C7D6"/>
              </a:solidFill>
            </a:ln>
          </p:spPr>
        </p:sp>
        <p:sp>
          <p:nvSpPr>
            <p:cNvPr id="16" name="Rectangle 16"/>
            <p:cNvSpPr/>
            <p:nvPr/>
          </p:nvSpPr>
          <p:spPr>
            <a:xfrm>
              <a:off x="7124700" y="1285875"/>
              <a:ext cx="76200" cy="4905375"/>
            </a:xfrm>
            <a:prstGeom prst="rect">
              <a:avLst/>
            </a:prstGeom>
            <a:solidFill>
              <a:srgbClr val="06B6D4"/>
            </a:solidFill>
            <a:ln>
              <a:noFill/>
            </a:ln>
          </p:spPr>
        </p:sp>
        <p:sp>
          <p:nvSpPr>
            <p:cNvPr id="17" name="Rectangle 17"/>
            <p:cNvSpPr/>
            <p:nvPr/>
          </p:nvSpPr>
          <p:spPr>
            <a:xfrm>
              <a:off x="7391400" y="1552575"/>
              <a:ext cx="4038600" cy="1257300"/>
            </a:xfrm>
            <a:prstGeom prst="roundRect">
              <a:avLst>
                <a:gd name="adj" fmla="val 1515"/>
              </a:avLst>
            </a:prstGeom>
            <a:solidFill>
              <a:srgbClr val="FFFFFF"/>
            </a:solidFill>
            <a:ln w="9525">
              <a:solidFill>
                <a:srgbClr val="D4E2EE"/>
              </a:solidFill>
            </a:ln>
          </p:spPr>
        </p:sp>
        <p:sp>
          <p:nvSpPr>
            <p:cNvPr id="18" name="Rectangle 18"/>
            <p:cNvSpPr/>
            <p:nvPr/>
          </p:nvSpPr>
          <p:spPr>
            <a:xfrm>
              <a:off x="7391400" y="3105150"/>
              <a:ext cx="4038600" cy="1257300"/>
            </a:xfrm>
            <a:prstGeom prst="roundRect">
              <a:avLst>
                <a:gd name="adj" fmla="val 1515"/>
              </a:avLst>
            </a:prstGeom>
            <a:solidFill>
              <a:srgbClr val="FFFFFF"/>
            </a:solidFill>
            <a:ln w="9525">
              <a:solidFill>
                <a:srgbClr val="D4E2EE"/>
              </a:solidFill>
            </a:ln>
          </p:spPr>
        </p:sp>
        <p:sp>
          <p:nvSpPr>
            <p:cNvPr id="19" name="Rectangle 19"/>
            <p:cNvSpPr/>
            <p:nvPr/>
          </p:nvSpPr>
          <p:spPr>
            <a:xfrm>
              <a:off x="7391400" y="4657725"/>
              <a:ext cx="4038600" cy="1257300"/>
            </a:xfrm>
            <a:prstGeom prst="roundRect">
              <a:avLst>
                <a:gd name="adj" fmla="val 1515"/>
              </a:avLst>
            </a:prstGeom>
            <a:solidFill>
              <a:srgbClr val="FFFFFF"/>
            </a:solidFill>
            <a:ln w="9525">
              <a:solidFill>
                <a:srgbClr val="D4E2EE"/>
              </a:solidFill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7605712" y="1745456"/>
              <a:ext cx="220156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06B6D4"/>
                  </a:solidFill>
                  <a:latin typeface="Arial"/>
                  <a:ea typeface="Microsoft YaHei"/>
                  <a:cs typeface="Arial"/>
                </a:rPr>
                <a:t>01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7605712" y="3298031"/>
              <a:ext cx="220156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06B6D4"/>
                  </a:solidFill>
                  <a:latin typeface="Arial"/>
                  <a:ea typeface="Microsoft YaHei"/>
                  <a:cs typeface="Arial"/>
                </a:rPr>
                <a:t>02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7605712" y="4850606"/>
              <a:ext cx="220156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CC0000"/>
                  </a:solidFill>
                  <a:latin typeface="Arial"/>
                  <a:ea typeface="Microsoft YaHei"/>
                  <a:cs typeface="Arial"/>
                </a:rPr>
                <a:t>03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7848600" y="1819275"/>
              <a:ext cx="3314700" cy="7239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425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核心：单 Loop、固定、动态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7848600" y="3371850"/>
              <a:ext cx="3314700" cy="7239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425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关系：输入→机制→治理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7848600" y="4924425"/>
              <a:ext cx="3314700" cy="7239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425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全部概念见讲义表格</a:t>
              </a:r>
            </a:p>
          </p:txBody>
        </p:sp>
      </p:grpSp>
      <p:grpSp>
        <p:nvGrpSpPr>
          <p:cNvPr id="32" name="EasySlides Component: figure"/>
          <p:cNvGrpSpPr/>
          <p:nvPr/>
        </p:nvGrpSpPr>
        <p:grpSpPr>
          <a:xfrm>
            <a:off x="495300" y="1285875"/>
            <a:ext cx="6400800" cy="4905375"/>
            <a:chOff x="495300" y="1285875"/>
            <a:chExt cx="6400800" cy="4905375"/>
          </a:xfrm>
        </p:grpSpPr>
        <p:sp>
          <p:nvSpPr>
            <p:cNvPr id="27" name="Rectangle 27"/>
            <p:cNvSpPr/>
            <p:nvPr/>
          </p:nvSpPr>
          <p:spPr>
            <a:xfrm>
              <a:off x="495300" y="1285875"/>
              <a:ext cx="6400800" cy="4905375"/>
            </a:xfrm>
            <a:prstGeom prst="roundRect">
              <a:avLst>
                <a:gd name="adj" fmla="val 777"/>
              </a:avLst>
            </a:prstGeom>
            <a:solidFill>
              <a:srgbClr val="FFFFFF"/>
            </a:solidFill>
            <a:ln w="11430">
              <a:solidFill>
                <a:srgbClr val="B8C7D6"/>
              </a:solidFill>
            </a:ln>
          </p:spPr>
        </p:sp>
        <p:sp>
          <p:nvSpPr>
            <p:cNvPr id="28" name="Rectangle 28"/>
            <p:cNvSpPr/>
            <p:nvPr/>
          </p:nvSpPr>
          <p:spPr>
            <a:xfrm>
              <a:off x="647700" y="1438275"/>
              <a:ext cx="6096000" cy="3905250"/>
            </a:xfrm>
            <a:prstGeom prst="roundRect">
              <a:avLst>
                <a:gd name="adj" fmla="val 488"/>
              </a:avLst>
            </a:prstGeom>
            <a:solidFill>
              <a:srgbClr val="F0F9FC"/>
            </a:solidFill>
            <a:ln w="9525">
              <a:solidFill>
                <a:srgbClr val="D4E2EE"/>
              </a:solidFill>
            </a:ln>
          </p:spPr>
        </p:sp>
        <p:pic>
          <p:nvPicPr>
            <p:cNvPr id="29" name="Image 29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647700" y="1605643"/>
              <a:ext cx="6096000" cy="3570514"/>
            </a:xfrm>
            <a:prstGeom prst="rect">
              <a:avLst/>
            </a:prstGeom>
          </p:spPr>
        </p:pic>
        <p:sp>
          <p:nvSpPr>
            <p:cNvPr id="30" name="Line 30"/>
            <p:cNvSpPr/>
            <p:nvPr/>
          </p:nvSpPr>
          <p:spPr>
            <a:xfrm>
              <a:off x="723900" y="5534025"/>
              <a:ext cx="5943600" cy="9525"/>
            </a:xfrm>
            <a:custGeom>
              <a:avLst/>
              <a:gdLst/>
              <a:ahLst/>
              <a:cxnLst/>
              <a:rect l="l" t="t" r="r" b="b"/>
              <a:pathLst>
                <a:path w="5943600" h="9525">
                  <a:moveTo>
                    <a:pt x="0" y="0"/>
                  </a:moveTo>
                  <a:lnTo>
                    <a:pt x="5943600" y="0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800100" y="5610225"/>
              <a:ext cx="5791200" cy="4572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350" dirty="0">
                  <a:solidFill>
                    <a:srgbClr val="52657A"/>
                  </a:solidFill>
                  <a:latin typeface="Arial"/>
                  <a:ea typeface="Microsoft YaHei"/>
                  <a:cs typeface="Arial"/>
                </a:rPr>
                <a:t>图：本章概念关系（中心辐射视角）</a:t>
              </a:r>
            </a:p>
          </p:txBody>
        </p:sp>
      </p:grp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E7490"/>
          </a:solidFill>
          <a:ln>
            <a:noFill/>
          </a:ln>
        </p:spPr>
      </p:sp>
      <p:sp>
        <p:nvSpPr>
          <p:cNvPr id="3" name="Freeform 3"/>
          <p:cNvSpPr/>
          <p:nvPr/>
        </p:nvSpPr>
        <p:spPr>
          <a:xfrm>
            <a:off x="5715000" y="0"/>
            <a:ext cx="6477000" cy="6858000"/>
          </a:xfrm>
          <a:custGeom>
            <a:avLst/>
            <a:gdLst/>
            <a:ahLst/>
            <a:cxnLst/>
            <a:rect l="l" t="t" r="r" b="b"/>
            <a:pathLst>
              <a:path w="6477000" h="6858000">
                <a:moveTo>
                  <a:pt x="1905000" y="0"/>
                </a:moveTo>
                <a:lnTo>
                  <a:pt x="6477000" y="0"/>
                </a:lnTo>
                <a:lnTo>
                  <a:pt x="6477000" y="6858000"/>
                </a:lnTo>
                <a:lnTo>
                  <a:pt x="0" y="6858000"/>
                </a:lnTo>
                <a:close/>
              </a:path>
            </a:pathLst>
          </a:custGeom>
          <a:solidFill>
            <a:srgbClr val="06B6D4">
              <a:alpha val="20000"/>
            </a:srgbClr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2286000"/>
            <a:ext cx="114300" cy="2286000"/>
          </a:xfrm>
          <a:prstGeom prst="rect">
            <a:avLst/>
          </a:prstGeom>
          <a:solidFill>
            <a:srgbClr val="CC0000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476250" y="2095500"/>
            <a:ext cx="2952750" cy="31432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8750" b="1" dirty="0">
                <a:solidFill>
                  <a:srgbClr val="FFFFFF">
                    <a:alphaMod val="10000"/>
                  </a:srgbClr>
                </a:solidFill>
                <a:latin typeface="Arial"/>
                <a:ea typeface="Microsoft YaHei"/>
                <a:cs typeface="Arial"/>
              </a:rPr>
              <a:t>65</a:t>
            </a:r>
          </a:p>
        </p:txBody>
      </p:sp>
      <p:sp>
        <p:nvSpPr>
          <p:cNvPr id="6" name="Line 6"/>
          <p:cNvSpPr/>
          <p:nvPr/>
        </p:nvSpPr>
        <p:spPr>
          <a:xfrm>
            <a:off x="3619500" y="2505075"/>
            <a:ext cx="1143000" cy="9525"/>
          </a:xfrm>
          <a:custGeom>
            <a:avLst/>
            <a:gdLst/>
            <a:ahLst/>
            <a:cxnLst/>
            <a:rect l="l" t="t" r="r" b="b"/>
            <a:pathLst>
              <a:path w="1143000" h="9525">
                <a:moveTo>
                  <a:pt x="0" y="0"/>
                </a:moveTo>
                <a:lnTo>
                  <a:pt x="1143000" y="0"/>
                </a:lnTo>
              </a:path>
            </a:pathLst>
          </a:custGeom>
          <a:noFill/>
          <a:ln w="57150">
            <a:solidFill>
              <a:srgbClr val="CC0000"/>
            </a:solidFill>
          </a:ln>
        </p:spPr>
      </p:sp>
      <p:sp>
        <p:nvSpPr>
          <p:cNvPr id="7" name="TextBox 7"/>
          <p:cNvSpPr txBox="1"/>
          <p:nvPr/>
        </p:nvSpPr>
        <p:spPr>
          <a:xfrm>
            <a:off x="3619500" y="2667000"/>
            <a:ext cx="7429500" cy="8763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42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应用与实战指南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3619500" y="3648075"/>
            <a:ext cx="7620000" cy="4191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1800" dirty="0">
                <a:solidFill>
                  <a:srgbClr val="E8F4FC"/>
                </a:solidFill>
                <a:latin typeface="Arial"/>
                <a:ea typeface="Microsoft YaHei"/>
                <a:cs typeface="Arial"/>
              </a:rPr>
              <a:t>从理解到落地：场景、步骤与检查清单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6762750" y="6286500"/>
            <a:ext cx="4095750" cy="2857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r"/>
            <a:r>
              <a:rPr lang="zh-CN" sz="1200" dirty="0">
                <a:solidFill>
                  <a:srgbClr val="FFFFFF">
                    <a:alphaMod val="55000"/>
                  </a:srgbClr>
                </a:solidFill>
                <a:latin typeface="Arial"/>
                <a:ea typeface="Microsoft YaHei"/>
                <a:cs typeface="Arial"/>
              </a:rPr>
              <a:t>Agent Runtime 的混合架构选型与</a:t>
            </a: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666750"/>
          </a:xfrm>
          <a:prstGeom prst="rect">
            <a:avLst/>
          </a:prstGeom>
          <a:solidFill>
            <a:srgbClr val="0E7490"/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0"/>
            <a:ext cx="57150" cy="666750"/>
          </a:xfrm>
          <a:prstGeom prst="rect">
            <a:avLst/>
          </a:prstGeom>
          <a:solidFill>
            <a:srgbClr val="CC0000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381000" y="123825"/>
            <a:ext cx="762000" cy="4000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1275" b="1" dirty="0">
                <a:solidFill>
                  <a:srgbClr val="9FD3FF"/>
                </a:solidFill>
                <a:latin typeface="Arial"/>
                <a:ea typeface="Microsoft YaHei"/>
                <a:cs typeface="Arial"/>
              </a:rPr>
              <a:t>66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257300" y="95250"/>
            <a:ext cx="8096250" cy="457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21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实战路线图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0001250" y="76200"/>
            <a:ext cx="1619250" cy="5143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3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DataAgent</a:t>
            </a:r>
          </a:p>
        </p:txBody>
      </p:sp>
      <p:sp>
        <p:nvSpPr>
          <p:cNvPr id="8" name="Rectangle 8"/>
          <p:cNvSpPr/>
          <p:nvPr/>
        </p:nvSpPr>
        <p:spPr>
          <a:xfrm>
            <a:off x="0" y="666750"/>
            <a:ext cx="12192000" cy="476250"/>
          </a:xfrm>
          <a:prstGeom prst="rect">
            <a:avLst/>
          </a:prstGeom>
          <a:solidFill>
            <a:srgbClr val="E8F4FC"/>
          </a:solidFill>
          <a:ln>
            <a:noFill/>
          </a:ln>
        </p:spPr>
      </p:sp>
      <p:sp>
        <p:nvSpPr>
          <p:cNvPr id="9" name="Rectangle 9"/>
          <p:cNvSpPr/>
          <p:nvPr/>
        </p:nvSpPr>
        <p:spPr>
          <a:xfrm>
            <a:off x="0" y="666750"/>
            <a:ext cx="57150" cy="476250"/>
          </a:xfrm>
          <a:prstGeom prst="rect">
            <a:avLst/>
          </a:prstGeom>
          <a:solidFill>
            <a:srgbClr val="06B6D4"/>
          </a:solidFill>
          <a:ln>
            <a:noFill/>
          </a:ln>
        </p:spPr>
      </p:sp>
      <p:sp>
        <p:nvSpPr>
          <p:cNvPr id="10" name="TextBox 10"/>
          <p:cNvSpPr txBox="1"/>
          <p:nvPr/>
        </p:nvSpPr>
        <p:spPr>
          <a:xfrm>
            <a:off x="381000" y="714375"/>
            <a:ext cx="10001250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1350" dirty="0">
                <a:solidFill>
                  <a:srgbClr val="26384A"/>
                </a:solidFill>
                <a:latin typeface="Arial"/>
                <a:ea typeface="Microsoft YaHei"/>
                <a:cs typeface="Arial"/>
              </a:rPr>
              <a:t>三步从 Demo 到生产</a:t>
            </a:r>
          </a:p>
        </p:txBody>
      </p:sp>
      <p:sp>
        <p:nvSpPr>
          <p:cNvPr id="11" name="Line 11"/>
          <p:cNvSpPr/>
          <p:nvPr/>
        </p:nvSpPr>
        <p:spPr>
          <a:xfrm>
            <a:off x="381000" y="6334125"/>
            <a:ext cx="11430000" cy="9525"/>
          </a:xfrm>
          <a:custGeom>
            <a:avLst/>
            <a:gdLst/>
            <a:ahLst/>
            <a:cxnLst/>
            <a:rect l="l" t="t" r="r" b="b"/>
            <a:pathLst>
              <a:path w="11430000" h="9525">
                <a:moveTo>
                  <a:pt x="0" y="0"/>
                </a:moveTo>
                <a:lnTo>
                  <a:pt x="11430000" y="0"/>
                </a:lnTo>
              </a:path>
            </a:pathLst>
          </a:custGeom>
          <a:noFill/>
          <a:ln w="9525">
            <a:solidFill>
              <a:srgbClr val="E8F4FC"/>
            </a:solidFill>
          </a:ln>
        </p:spPr>
      </p:sp>
      <p:sp>
        <p:nvSpPr>
          <p:cNvPr id="12" name="TextBox 12"/>
          <p:cNvSpPr txBox="1"/>
          <p:nvPr/>
        </p:nvSpPr>
        <p:spPr>
          <a:xfrm>
            <a:off x="381000" y="6477000"/>
            <a:ext cx="4953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课程第15讲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4381500" y="6477000"/>
            <a:ext cx="3429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Agent Runtime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0763250" y="6457950"/>
            <a:ext cx="857250" cy="266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050" dirty="0">
                <a:solidFill>
                  <a:srgbClr val="52657A"/>
                </a:solidFill>
                <a:latin typeface="Arial"/>
                <a:ea typeface="Microsoft YaHei"/>
                <a:cs typeface="Arial"/>
              </a:rPr>
              <a:t>66</a:t>
            </a:r>
          </a:p>
        </p:txBody>
      </p:sp>
      <p:grpSp>
        <p:nvGrpSpPr>
          <p:cNvPr id="22" name="EasySlides Component: step_01"/>
          <p:cNvGrpSpPr/>
          <p:nvPr/>
        </p:nvGrpSpPr>
        <p:grpSpPr>
          <a:xfrm>
            <a:off x="495300" y="1285875"/>
            <a:ext cx="3505200" cy="3476625"/>
            <a:chOff x="495300" y="1285875"/>
            <a:chExt cx="3505200" cy="3476625"/>
          </a:xfrm>
        </p:grpSpPr>
        <p:sp>
          <p:nvSpPr>
            <p:cNvPr id="15" name="Rectangle 15"/>
            <p:cNvSpPr/>
            <p:nvPr/>
          </p:nvSpPr>
          <p:spPr>
            <a:xfrm>
              <a:off x="495300" y="1285875"/>
              <a:ext cx="3505200" cy="3476625"/>
            </a:xfrm>
            <a:prstGeom prst="roundRect">
              <a:avLst>
                <a:gd name="adj" fmla="val 1096"/>
              </a:avLst>
            </a:prstGeom>
            <a:solidFill>
              <a:srgbClr val="FFFFFF"/>
            </a:solidFill>
            <a:ln w="11430">
              <a:solidFill>
                <a:srgbClr val="B8C7D6"/>
              </a:solidFill>
            </a:ln>
          </p:spPr>
        </p:sp>
        <p:sp>
          <p:nvSpPr>
            <p:cNvPr id="16" name="Ellipse 16"/>
            <p:cNvSpPr/>
            <p:nvPr/>
          </p:nvSpPr>
          <p:spPr>
            <a:xfrm>
              <a:off x="695325" y="1495425"/>
              <a:ext cx="476250" cy="476250"/>
            </a:xfrm>
            <a:prstGeom prst="ellipse">
              <a:avLst/>
            </a:prstGeom>
            <a:solidFill>
              <a:srgbClr val="06B6D4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714375" y="1504950"/>
              <a:ext cx="438150" cy="4572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35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1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1314450" y="1524000"/>
              <a:ext cx="2324100" cy="42862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650" b="1" dirty="0">
                  <a:solidFill>
                    <a:srgbClr val="0E7490"/>
                  </a:solidFill>
                  <a:latin typeface="Arial"/>
                  <a:ea typeface="Microsoft YaHei"/>
                  <a:cs typeface="Arial"/>
                </a:rPr>
                <a:t>场景选择</a:t>
              </a:r>
            </a:p>
          </p:txBody>
        </p:sp>
        <p:sp>
          <p:nvSpPr>
            <p:cNvPr id="19" name="Line 19"/>
            <p:cNvSpPr/>
            <p:nvPr/>
          </p:nvSpPr>
          <p:spPr>
            <a:xfrm>
              <a:off x="800100" y="2181225"/>
              <a:ext cx="2895600" cy="9525"/>
            </a:xfrm>
            <a:custGeom>
              <a:avLst/>
              <a:gdLst/>
              <a:ahLst/>
              <a:cxnLst/>
              <a:rect l="l" t="t" r="r" b="b"/>
              <a:pathLst>
                <a:path w="2895600" h="9525">
                  <a:moveTo>
                    <a:pt x="0" y="0"/>
                  </a:moveTo>
                  <a:lnTo>
                    <a:pt x="2895600" y="0"/>
                  </a:lnTo>
                </a:path>
              </a:pathLst>
            </a:custGeom>
            <a:noFill/>
            <a:ln w="19050">
              <a:solidFill>
                <a:srgbClr val="D4E2EE"/>
              </a:solidFill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952500" y="2476500"/>
              <a:ext cx="2590800" cy="16668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500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选高频、可验证、低风险场景切入</a:t>
              </a:r>
            </a:p>
          </p:txBody>
        </p:sp>
        <p:sp>
          <p:nvSpPr>
            <p:cNvPr id="21" name="Rectangle 21"/>
            <p:cNvSpPr/>
            <p:nvPr/>
          </p:nvSpPr>
          <p:spPr>
            <a:xfrm>
              <a:off x="800100" y="4391025"/>
              <a:ext cx="762000" cy="66675"/>
            </a:xfrm>
            <a:prstGeom prst="rect">
              <a:avLst/>
            </a:prstGeom>
            <a:solidFill>
              <a:srgbClr val="CC0000"/>
            </a:solidFill>
            <a:ln>
              <a:noFill/>
            </a:ln>
          </p:spPr>
        </p:sp>
      </p:grpSp>
      <p:grpSp>
        <p:nvGrpSpPr>
          <p:cNvPr id="30" name="EasySlides Component: step_02"/>
          <p:cNvGrpSpPr/>
          <p:nvPr/>
        </p:nvGrpSpPr>
        <p:grpSpPr>
          <a:xfrm>
            <a:off x="4343400" y="1285875"/>
            <a:ext cx="3505200" cy="3476625"/>
            <a:chOff x="4343400" y="1285875"/>
            <a:chExt cx="3505200" cy="3476625"/>
          </a:xfrm>
        </p:grpSpPr>
        <p:sp>
          <p:nvSpPr>
            <p:cNvPr id="23" name="Rectangle 23"/>
            <p:cNvSpPr/>
            <p:nvPr/>
          </p:nvSpPr>
          <p:spPr>
            <a:xfrm>
              <a:off x="4343400" y="1285875"/>
              <a:ext cx="3505200" cy="3476625"/>
            </a:xfrm>
            <a:prstGeom prst="roundRect">
              <a:avLst>
                <a:gd name="adj" fmla="val 1096"/>
              </a:avLst>
            </a:prstGeom>
            <a:solidFill>
              <a:srgbClr val="FFFFFF"/>
            </a:solidFill>
            <a:ln w="11430">
              <a:solidFill>
                <a:srgbClr val="B8C7D6"/>
              </a:solidFill>
            </a:ln>
          </p:spPr>
        </p:sp>
        <p:sp>
          <p:nvSpPr>
            <p:cNvPr id="24" name="Ellipse 24"/>
            <p:cNvSpPr/>
            <p:nvPr/>
          </p:nvSpPr>
          <p:spPr>
            <a:xfrm>
              <a:off x="4543425" y="1495425"/>
              <a:ext cx="476250" cy="476250"/>
            </a:xfrm>
            <a:prstGeom prst="ellipse">
              <a:avLst/>
            </a:prstGeom>
            <a:solidFill>
              <a:srgbClr val="06B6D4"/>
            </a:solidFill>
            <a:ln>
              <a:noFill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4562475" y="1504950"/>
              <a:ext cx="438150" cy="4572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35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2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5162550" y="1524000"/>
              <a:ext cx="2324100" cy="42862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650" b="1" dirty="0">
                  <a:solidFill>
                    <a:srgbClr val="0E7490"/>
                  </a:solidFill>
                  <a:latin typeface="Arial"/>
                  <a:ea typeface="Microsoft YaHei"/>
                  <a:cs typeface="Arial"/>
                </a:rPr>
                <a:t>契约先行</a:t>
              </a:r>
            </a:p>
          </p:txBody>
        </p:sp>
        <p:sp>
          <p:nvSpPr>
            <p:cNvPr id="27" name="Line 27"/>
            <p:cNvSpPr/>
            <p:nvPr/>
          </p:nvSpPr>
          <p:spPr>
            <a:xfrm>
              <a:off x="4648200" y="2181225"/>
              <a:ext cx="2895600" cy="9525"/>
            </a:xfrm>
            <a:custGeom>
              <a:avLst/>
              <a:gdLst/>
              <a:ahLst/>
              <a:cxnLst/>
              <a:rect l="l" t="t" r="r" b="b"/>
              <a:pathLst>
                <a:path w="2895600" h="9525">
                  <a:moveTo>
                    <a:pt x="0" y="0"/>
                  </a:moveTo>
                  <a:lnTo>
                    <a:pt x="2895600" y="0"/>
                  </a:lnTo>
                </a:path>
              </a:pathLst>
            </a:custGeom>
            <a:noFill/>
            <a:ln w="19050">
              <a:solidFill>
                <a:srgbClr val="D4E2EE"/>
              </a:solidFill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4800600" y="2476500"/>
              <a:ext cx="2590800" cy="16668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500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定义输入/输出/错误语义与验收</a:t>
              </a:r>
            </a:p>
          </p:txBody>
        </p:sp>
        <p:sp>
          <p:nvSpPr>
            <p:cNvPr id="29" name="Rectangle 29"/>
            <p:cNvSpPr/>
            <p:nvPr/>
          </p:nvSpPr>
          <p:spPr>
            <a:xfrm>
              <a:off x="4648200" y="4391025"/>
              <a:ext cx="762000" cy="66675"/>
            </a:xfrm>
            <a:prstGeom prst="rect">
              <a:avLst/>
            </a:prstGeom>
            <a:solidFill>
              <a:srgbClr val="CC0000"/>
            </a:solidFill>
            <a:ln>
              <a:noFill/>
            </a:ln>
          </p:spPr>
        </p:sp>
      </p:grpSp>
      <p:grpSp>
        <p:nvGrpSpPr>
          <p:cNvPr id="38" name="EasySlides Component: step_03"/>
          <p:cNvGrpSpPr/>
          <p:nvPr/>
        </p:nvGrpSpPr>
        <p:grpSpPr>
          <a:xfrm>
            <a:off x="8191500" y="1285875"/>
            <a:ext cx="3505200" cy="3476625"/>
            <a:chOff x="8191500" y="1285875"/>
            <a:chExt cx="3505200" cy="3476625"/>
          </a:xfrm>
        </p:grpSpPr>
        <p:sp>
          <p:nvSpPr>
            <p:cNvPr id="31" name="Rectangle 31"/>
            <p:cNvSpPr/>
            <p:nvPr/>
          </p:nvSpPr>
          <p:spPr>
            <a:xfrm>
              <a:off x="8191500" y="1285875"/>
              <a:ext cx="3505200" cy="3476625"/>
            </a:xfrm>
            <a:prstGeom prst="roundRect">
              <a:avLst>
                <a:gd name="adj" fmla="val 1096"/>
              </a:avLst>
            </a:prstGeom>
            <a:solidFill>
              <a:srgbClr val="FFFFFF"/>
            </a:solidFill>
            <a:ln w="11430">
              <a:solidFill>
                <a:srgbClr val="B8C7D6"/>
              </a:solidFill>
            </a:ln>
          </p:spPr>
        </p:sp>
        <p:sp>
          <p:nvSpPr>
            <p:cNvPr id="32" name="Ellipse 32"/>
            <p:cNvSpPr/>
            <p:nvPr/>
          </p:nvSpPr>
          <p:spPr>
            <a:xfrm>
              <a:off x="8391525" y="1495425"/>
              <a:ext cx="476250" cy="476250"/>
            </a:xfrm>
            <a:prstGeom prst="ellipse">
              <a:avLst/>
            </a:prstGeom>
            <a:solidFill>
              <a:srgbClr val="06B6D4"/>
            </a:solidFill>
            <a:ln>
              <a:noFill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8410575" y="1504950"/>
              <a:ext cx="438150" cy="4572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35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3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9010650" y="1524000"/>
              <a:ext cx="2324100" cy="42862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650" b="1" dirty="0">
                  <a:solidFill>
                    <a:srgbClr val="0E7490"/>
                  </a:solidFill>
                  <a:latin typeface="Arial"/>
                  <a:ea typeface="Microsoft YaHei"/>
                  <a:cs typeface="Arial"/>
                </a:rPr>
                <a:t>评测护航</a:t>
              </a:r>
            </a:p>
          </p:txBody>
        </p:sp>
        <p:sp>
          <p:nvSpPr>
            <p:cNvPr id="35" name="Line 35"/>
            <p:cNvSpPr/>
            <p:nvPr/>
          </p:nvSpPr>
          <p:spPr>
            <a:xfrm>
              <a:off x="8496300" y="2181225"/>
              <a:ext cx="2895600" cy="9525"/>
            </a:xfrm>
            <a:custGeom>
              <a:avLst/>
              <a:gdLst/>
              <a:ahLst/>
              <a:cxnLst/>
              <a:rect l="l" t="t" r="r" b="b"/>
              <a:pathLst>
                <a:path w="2895600" h="9525">
                  <a:moveTo>
                    <a:pt x="0" y="0"/>
                  </a:moveTo>
                  <a:lnTo>
                    <a:pt x="2895600" y="0"/>
                  </a:lnTo>
                </a:path>
              </a:pathLst>
            </a:custGeom>
            <a:noFill/>
            <a:ln w="19050">
              <a:solidFill>
                <a:srgbClr val="D4E2EE"/>
              </a:solidFill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8648700" y="2476500"/>
              <a:ext cx="2590800" cy="16668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500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建数据集与评分卡再动 Prompt</a:t>
              </a:r>
            </a:p>
          </p:txBody>
        </p:sp>
        <p:sp>
          <p:nvSpPr>
            <p:cNvPr id="37" name="Rectangle 37"/>
            <p:cNvSpPr/>
            <p:nvPr/>
          </p:nvSpPr>
          <p:spPr>
            <a:xfrm>
              <a:off x="8496300" y="4391025"/>
              <a:ext cx="762000" cy="66675"/>
            </a:xfrm>
            <a:prstGeom prst="rect">
              <a:avLst/>
            </a:prstGeom>
            <a:solidFill>
              <a:srgbClr val="CC0000"/>
            </a:solidFill>
            <a:ln>
              <a:noFill/>
            </a:ln>
          </p:spPr>
        </p:sp>
      </p:grpSp>
      <p:grpSp>
        <p:nvGrpSpPr>
          <p:cNvPr id="42" name="EasySlides Component: synthesis"/>
          <p:cNvGrpSpPr/>
          <p:nvPr/>
        </p:nvGrpSpPr>
        <p:grpSpPr>
          <a:xfrm>
            <a:off x="495300" y="5476875"/>
            <a:ext cx="11201400" cy="714375"/>
            <a:chOff x="495300" y="5476875"/>
            <a:chExt cx="11201400" cy="714375"/>
          </a:xfrm>
        </p:grpSpPr>
        <p:sp>
          <p:nvSpPr>
            <p:cNvPr id="39" name="Rectangle 39"/>
            <p:cNvSpPr/>
            <p:nvPr/>
          </p:nvSpPr>
          <p:spPr>
            <a:xfrm>
              <a:off x="495300" y="5476875"/>
              <a:ext cx="11201400" cy="714375"/>
            </a:xfrm>
            <a:prstGeom prst="roundRect">
              <a:avLst>
                <a:gd name="adj" fmla="val 5333"/>
              </a:avLst>
            </a:prstGeom>
            <a:solidFill>
              <a:srgbClr val="0E7490"/>
            </a:solidFill>
            <a:ln>
              <a:noFill/>
            </a:ln>
          </p:spPr>
        </p:sp>
        <p:sp>
          <p:nvSpPr>
            <p:cNvPr id="40" name="Rectangle 40"/>
            <p:cNvSpPr/>
            <p:nvPr/>
          </p:nvSpPr>
          <p:spPr>
            <a:xfrm>
              <a:off x="495300" y="5476875"/>
              <a:ext cx="76200" cy="714375"/>
            </a:xfrm>
            <a:prstGeom prst="roundRect">
              <a:avLst>
                <a:gd name="adj" fmla="val 50000"/>
              </a:avLst>
            </a:prstGeom>
            <a:solidFill>
              <a:srgbClr val="CC0000"/>
            </a:solidFill>
            <a:ln>
              <a:noFill/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876300" y="5610225"/>
              <a:ext cx="10439400" cy="4476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65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案例视角：预算审批链路的审批-幂等-验真闭环实测。</a:t>
              </a:r>
            </a:p>
          </p:txBody>
        </p:sp>
      </p:grpSp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666750"/>
          </a:xfrm>
          <a:prstGeom prst="rect">
            <a:avLst/>
          </a:prstGeom>
          <a:solidFill>
            <a:srgbClr val="0E7490"/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0"/>
            <a:ext cx="57150" cy="666750"/>
          </a:xfrm>
          <a:prstGeom prst="rect">
            <a:avLst/>
          </a:prstGeom>
          <a:solidFill>
            <a:srgbClr val="CC0000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381000" y="123825"/>
            <a:ext cx="762000" cy="4000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1275" b="1" dirty="0">
                <a:solidFill>
                  <a:srgbClr val="9FD3FF"/>
                </a:solidFill>
                <a:latin typeface="Arial"/>
                <a:ea typeface="Microsoft YaHei"/>
                <a:cs typeface="Arial"/>
              </a:rPr>
              <a:t>67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257300" y="95250"/>
            <a:ext cx="8096250" cy="457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21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典型应用场景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0001250" y="76200"/>
            <a:ext cx="1619250" cy="5143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3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DataAgent</a:t>
            </a:r>
          </a:p>
        </p:txBody>
      </p:sp>
      <p:sp>
        <p:nvSpPr>
          <p:cNvPr id="8" name="Rectangle 8"/>
          <p:cNvSpPr/>
          <p:nvPr/>
        </p:nvSpPr>
        <p:spPr>
          <a:xfrm>
            <a:off x="0" y="666750"/>
            <a:ext cx="12192000" cy="476250"/>
          </a:xfrm>
          <a:prstGeom prst="rect">
            <a:avLst/>
          </a:prstGeom>
          <a:solidFill>
            <a:srgbClr val="E8F4FC"/>
          </a:solidFill>
          <a:ln>
            <a:noFill/>
          </a:ln>
        </p:spPr>
      </p:sp>
      <p:sp>
        <p:nvSpPr>
          <p:cNvPr id="9" name="Rectangle 9"/>
          <p:cNvSpPr/>
          <p:nvPr/>
        </p:nvSpPr>
        <p:spPr>
          <a:xfrm>
            <a:off x="0" y="666750"/>
            <a:ext cx="57150" cy="476250"/>
          </a:xfrm>
          <a:prstGeom prst="rect">
            <a:avLst/>
          </a:prstGeom>
          <a:solidFill>
            <a:srgbClr val="06B6D4"/>
          </a:solidFill>
          <a:ln>
            <a:noFill/>
          </a:ln>
        </p:spPr>
      </p:sp>
      <p:sp>
        <p:nvSpPr>
          <p:cNvPr id="10" name="TextBox 10"/>
          <p:cNvSpPr txBox="1"/>
          <p:nvPr/>
        </p:nvSpPr>
        <p:spPr>
          <a:xfrm>
            <a:off x="381000" y="714375"/>
            <a:ext cx="10001250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1350" dirty="0">
                <a:solidFill>
                  <a:srgbClr val="26384A"/>
                </a:solidFill>
                <a:latin typeface="Arial"/>
                <a:ea typeface="Microsoft YaHei"/>
                <a:cs typeface="Arial"/>
              </a:rPr>
              <a:t>场景→做法→收益</a:t>
            </a:r>
          </a:p>
        </p:txBody>
      </p:sp>
      <p:sp>
        <p:nvSpPr>
          <p:cNvPr id="11" name="Line 11"/>
          <p:cNvSpPr/>
          <p:nvPr/>
        </p:nvSpPr>
        <p:spPr>
          <a:xfrm>
            <a:off x="381000" y="6334125"/>
            <a:ext cx="11430000" cy="9525"/>
          </a:xfrm>
          <a:custGeom>
            <a:avLst/>
            <a:gdLst/>
            <a:ahLst/>
            <a:cxnLst/>
            <a:rect l="l" t="t" r="r" b="b"/>
            <a:pathLst>
              <a:path w="11430000" h="9525">
                <a:moveTo>
                  <a:pt x="0" y="0"/>
                </a:moveTo>
                <a:lnTo>
                  <a:pt x="11430000" y="0"/>
                </a:lnTo>
              </a:path>
            </a:pathLst>
          </a:custGeom>
          <a:noFill/>
          <a:ln w="9525">
            <a:solidFill>
              <a:srgbClr val="E8F4FC"/>
            </a:solidFill>
          </a:ln>
        </p:spPr>
      </p:sp>
      <p:sp>
        <p:nvSpPr>
          <p:cNvPr id="12" name="TextBox 12"/>
          <p:cNvSpPr txBox="1"/>
          <p:nvPr/>
        </p:nvSpPr>
        <p:spPr>
          <a:xfrm>
            <a:off x="381000" y="6477000"/>
            <a:ext cx="4953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课程第15讲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4381500" y="6477000"/>
            <a:ext cx="3429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Agent Runtime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0763250" y="6457950"/>
            <a:ext cx="857250" cy="266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050" dirty="0">
                <a:solidFill>
                  <a:srgbClr val="52657A"/>
                </a:solidFill>
                <a:latin typeface="Arial"/>
                <a:ea typeface="Microsoft YaHei"/>
                <a:cs typeface="Arial"/>
              </a:rPr>
              <a:t>67</a:t>
            </a:r>
          </a:p>
        </p:txBody>
      </p:sp>
      <p:grpSp>
        <p:nvGrpSpPr>
          <p:cNvPr id="38" name="EasySlides Component: matrix"/>
          <p:cNvGrpSpPr/>
          <p:nvPr/>
        </p:nvGrpSpPr>
        <p:grpSpPr>
          <a:xfrm>
            <a:off x="495300" y="1285875"/>
            <a:ext cx="11201400" cy="4905375"/>
            <a:chOff x="495300" y="1285875"/>
            <a:chExt cx="11201400" cy="4905375"/>
          </a:xfrm>
        </p:grpSpPr>
        <p:sp>
          <p:nvSpPr>
            <p:cNvPr id="15" name="Rectangle 15"/>
            <p:cNvSpPr/>
            <p:nvPr/>
          </p:nvSpPr>
          <p:spPr>
            <a:xfrm>
              <a:off x="495300" y="1285875"/>
              <a:ext cx="11201400" cy="4905375"/>
            </a:xfrm>
            <a:prstGeom prst="roundRect">
              <a:avLst>
                <a:gd name="adj" fmla="val 777"/>
              </a:avLst>
            </a:prstGeom>
            <a:solidFill>
              <a:srgbClr val="FFFFFF"/>
            </a:solidFill>
            <a:ln w="11430">
              <a:solidFill>
                <a:srgbClr val="B8C7D6"/>
              </a:solidFill>
            </a:ln>
          </p:spPr>
        </p:sp>
        <p:sp>
          <p:nvSpPr>
            <p:cNvPr id="16" name="Rectangle 16"/>
            <p:cNvSpPr/>
            <p:nvPr/>
          </p:nvSpPr>
          <p:spPr>
            <a:xfrm>
              <a:off x="495300" y="1285875"/>
              <a:ext cx="11201400" cy="647700"/>
            </a:xfrm>
            <a:prstGeom prst="roundRect">
              <a:avLst>
                <a:gd name="adj" fmla="val 5882"/>
              </a:avLst>
            </a:prstGeom>
            <a:solidFill>
              <a:srgbClr val="0E7490"/>
            </a:solidFill>
            <a:ln>
              <a:noFill/>
            </a:ln>
          </p:spPr>
        </p:sp>
        <p:sp>
          <p:nvSpPr>
            <p:cNvPr id="17" name="Line 17"/>
            <p:cNvSpPr/>
            <p:nvPr/>
          </p:nvSpPr>
          <p:spPr>
            <a:xfrm>
              <a:off x="4229100" y="1285875"/>
              <a:ext cx="9525" cy="4143375"/>
            </a:xfrm>
            <a:custGeom>
              <a:avLst/>
              <a:gdLst/>
              <a:ahLst/>
              <a:cxnLst/>
              <a:rect l="l" t="t" r="r" b="b"/>
              <a:pathLst>
                <a:path w="9525" h="4143375">
                  <a:moveTo>
                    <a:pt x="0" y="0"/>
                  </a:moveTo>
                  <a:lnTo>
                    <a:pt x="0" y="4143375"/>
                  </a:lnTo>
                </a:path>
              </a:pathLst>
            </a:custGeom>
            <a:noFill/>
            <a:ln w="9525">
              <a:solidFill>
                <a:srgbClr val="B8C7D6"/>
              </a:solidFill>
            </a:ln>
          </p:spPr>
        </p:sp>
        <p:sp>
          <p:nvSpPr>
            <p:cNvPr id="18" name="Line 18"/>
            <p:cNvSpPr/>
            <p:nvPr/>
          </p:nvSpPr>
          <p:spPr>
            <a:xfrm>
              <a:off x="7962900" y="1285875"/>
              <a:ext cx="9525" cy="4143375"/>
            </a:xfrm>
            <a:custGeom>
              <a:avLst/>
              <a:gdLst/>
              <a:ahLst/>
              <a:cxnLst/>
              <a:rect l="l" t="t" r="r" b="b"/>
              <a:pathLst>
                <a:path w="9525" h="4143375">
                  <a:moveTo>
                    <a:pt x="0" y="0"/>
                  </a:moveTo>
                  <a:lnTo>
                    <a:pt x="0" y="4143375"/>
                  </a:lnTo>
                </a:path>
              </a:pathLst>
            </a:custGeom>
            <a:noFill/>
            <a:ln w="9525">
              <a:solidFill>
                <a:srgbClr val="B8C7D6"/>
              </a:solidFill>
            </a:ln>
          </p:spPr>
        </p:sp>
        <p:sp>
          <p:nvSpPr>
            <p:cNvPr id="19" name="Line 19"/>
            <p:cNvSpPr/>
            <p:nvPr/>
          </p:nvSpPr>
          <p:spPr>
            <a:xfrm>
              <a:off x="495300" y="1933575"/>
              <a:ext cx="11201400" cy="9525"/>
            </a:xfrm>
            <a:custGeom>
              <a:avLst/>
              <a:gdLst/>
              <a:ahLst/>
              <a:cxnLst/>
              <a:rect l="l" t="t" r="r" b="b"/>
              <a:pathLst>
                <a:path w="11201400" h="9525">
                  <a:moveTo>
                    <a:pt x="0" y="0"/>
                  </a:moveTo>
                  <a:lnTo>
                    <a:pt x="11201400" y="0"/>
                  </a:lnTo>
                </a:path>
              </a:pathLst>
            </a:custGeom>
            <a:noFill/>
            <a:ln w="9525">
              <a:solidFill>
                <a:srgbClr val="B8C7D6"/>
              </a:solidFill>
            </a:ln>
          </p:spPr>
        </p:sp>
        <p:sp>
          <p:nvSpPr>
            <p:cNvPr id="20" name="Line 20"/>
            <p:cNvSpPr/>
            <p:nvPr/>
          </p:nvSpPr>
          <p:spPr>
            <a:xfrm>
              <a:off x="495300" y="3095625"/>
              <a:ext cx="11201400" cy="9525"/>
            </a:xfrm>
            <a:custGeom>
              <a:avLst/>
              <a:gdLst/>
              <a:ahLst/>
              <a:cxnLst/>
              <a:rect l="l" t="t" r="r" b="b"/>
              <a:pathLst>
                <a:path w="11201400" h="9525">
                  <a:moveTo>
                    <a:pt x="0" y="0"/>
                  </a:moveTo>
                  <a:lnTo>
                    <a:pt x="11201400" y="0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21" name="Line 21"/>
            <p:cNvSpPr/>
            <p:nvPr/>
          </p:nvSpPr>
          <p:spPr>
            <a:xfrm>
              <a:off x="495300" y="4257675"/>
              <a:ext cx="11201400" cy="9525"/>
            </a:xfrm>
            <a:custGeom>
              <a:avLst/>
              <a:gdLst/>
              <a:ahLst/>
              <a:cxnLst/>
              <a:rect l="l" t="t" r="r" b="b"/>
              <a:pathLst>
                <a:path w="11201400" h="9525">
                  <a:moveTo>
                    <a:pt x="0" y="0"/>
                  </a:moveTo>
                  <a:lnTo>
                    <a:pt x="11201400" y="0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22" name="Line 22"/>
            <p:cNvSpPr/>
            <p:nvPr/>
          </p:nvSpPr>
          <p:spPr>
            <a:xfrm>
              <a:off x="495300" y="5429250"/>
              <a:ext cx="11201400" cy="9525"/>
            </a:xfrm>
            <a:custGeom>
              <a:avLst/>
              <a:gdLst/>
              <a:ahLst/>
              <a:cxnLst/>
              <a:rect l="l" t="t" r="r" b="b"/>
              <a:pathLst>
                <a:path w="11201400" h="9525">
                  <a:moveTo>
                    <a:pt x="0" y="0"/>
                  </a:moveTo>
                  <a:lnTo>
                    <a:pt x="11201400" y="0"/>
                  </a:lnTo>
                </a:path>
              </a:pathLst>
            </a:custGeom>
            <a:noFill/>
            <a:ln w="9525">
              <a:solidFill>
                <a:srgbClr val="B8C7D6"/>
              </a:solidFill>
            </a:ln>
          </p:spPr>
        </p:sp>
        <p:grpSp>
          <p:nvGrpSpPr>
            <p:cNvPr id="26" name="Group 26"/>
            <p:cNvGrpSpPr/>
            <p:nvPr/>
          </p:nvGrpSpPr>
          <p:grpSpPr>
            <a:xfrm>
              <a:off x="704850" y="1428750"/>
              <a:ext cx="10782300" cy="361950"/>
              <a:chOff x="704850" y="1428750"/>
              <a:chExt cx="10782300" cy="361950"/>
            </a:xfrm>
          </p:grpSpPr>
          <p:sp>
            <p:nvSpPr>
              <p:cNvPr id="23" name="TextBox 23"/>
              <p:cNvSpPr txBox="1"/>
              <p:nvPr/>
            </p:nvSpPr>
            <p:spPr>
              <a:xfrm>
                <a:off x="704850" y="1428750"/>
                <a:ext cx="3314700" cy="3619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575" b="1" dirty="0">
                    <a:solidFill>
                      <a:srgbClr val="FFFFFF"/>
                    </a:solidFill>
                    <a:latin typeface="Arial"/>
                    <a:ea typeface="Microsoft YaHei"/>
                    <a:cs typeface="Arial"/>
                  </a:rPr>
                  <a:t>场景</a:t>
                </a:r>
              </a:p>
            </p:txBody>
          </p:sp>
          <p:sp>
            <p:nvSpPr>
              <p:cNvPr id="24" name="TextBox 24"/>
              <p:cNvSpPr txBox="1"/>
              <p:nvPr/>
            </p:nvSpPr>
            <p:spPr>
              <a:xfrm>
                <a:off x="4438650" y="1428750"/>
                <a:ext cx="3314700" cy="3619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575" b="1" dirty="0">
                    <a:solidFill>
                      <a:srgbClr val="FFFFFF"/>
                    </a:solidFill>
                    <a:latin typeface="Arial"/>
                    <a:ea typeface="Microsoft YaHei"/>
                    <a:cs typeface="Arial"/>
                  </a:rPr>
                  <a:t>做法</a:t>
                </a:r>
              </a:p>
            </p:txBody>
          </p:sp>
          <p:sp>
            <p:nvSpPr>
              <p:cNvPr id="25" name="TextBox 25"/>
              <p:cNvSpPr txBox="1"/>
              <p:nvPr/>
            </p:nvSpPr>
            <p:spPr>
              <a:xfrm>
                <a:off x="8172450" y="1428750"/>
                <a:ext cx="3314700" cy="3619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575" b="1" dirty="0">
                    <a:solidFill>
                      <a:srgbClr val="FFFFFF"/>
                    </a:solidFill>
                    <a:latin typeface="Arial"/>
                    <a:ea typeface="Microsoft YaHei"/>
                    <a:cs typeface="Arial"/>
                  </a:rPr>
                  <a:t>收益</a:t>
                </a:r>
              </a:p>
            </p:txBody>
          </p:sp>
        </p:grpSp>
        <p:grpSp>
          <p:nvGrpSpPr>
            <p:cNvPr id="36" name="Group 36"/>
            <p:cNvGrpSpPr/>
            <p:nvPr/>
          </p:nvGrpSpPr>
          <p:grpSpPr>
            <a:xfrm>
              <a:off x="723900" y="2105025"/>
              <a:ext cx="10744200" cy="3086100"/>
              <a:chOff x="723900" y="2105025"/>
              <a:chExt cx="10744200" cy="3086100"/>
            </a:xfrm>
          </p:grpSpPr>
          <p:sp>
            <p:nvSpPr>
              <p:cNvPr id="27" name="TextBox 27"/>
              <p:cNvSpPr txBox="1"/>
              <p:nvPr/>
            </p:nvSpPr>
            <p:spPr>
              <a:xfrm>
                <a:off x="723900" y="210502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经营诊断</a:t>
                </a:r>
              </a:p>
            </p:txBody>
          </p:sp>
          <p:sp>
            <p:nvSpPr>
              <p:cNvPr id="28" name="TextBox 28"/>
              <p:cNvSpPr txBox="1"/>
              <p:nvPr/>
            </p:nvSpPr>
            <p:spPr>
              <a:xfrm>
                <a:off x="4457700" y="210502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自主分析闭环</a:t>
                </a:r>
              </a:p>
            </p:txBody>
          </p:sp>
          <p:sp>
            <p:nvSpPr>
              <p:cNvPr id="29" name="TextBox 29"/>
              <p:cNvSpPr txBox="1"/>
              <p:nvPr/>
            </p:nvSpPr>
            <p:spPr>
              <a:xfrm>
                <a:off x="8191500" y="210502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结论可解释</a:t>
                </a:r>
              </a:p>
            </p:txBody>
          </p:sp>
          <p:sp>
            <p:nvSpPr>
              <p:cNvPr id="30" name="TextBox 30"/>
              <p:cNvSpPr txBox="1"/>
              <p:nvPr/>
            </p:nvSpPr>
            <p:spPr>
              <a:xfrm>
                <a:off x="723900" y="326707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数据查询</a:t>
                </a:r>
              </a:p>
            </p:txBody>
          </p:sp>
          <p:sp>
            <p:nvSpPr>
              <p:cNvPr id="31" name="TextBox 31"/>
              <p:cNvSpPr txBox="1"/>
              <p:nvPr/>
            </p:nvSpPr>
            <p:spPr>
              <a:xfrm>
                <a:off x="4457700" y="326707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只读网关+权限</a:t>
                </a:r>
              </a:p>
            </p:txBody>
          </p:sp>
          <p:sp>
            <p:nvSpPr>
              <p:cNvPr id="32" name="TextBox 32"/>
              <p:cNvSpPr txBox="1"/>
              <p:nvPr/>
            </p:nvSpPr>
            <p:spPr>
              <a:xfrm>
                <a:off x="8191500" y="326707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安全合规</a:t>
                </a:r>
              </a:p>
            </p:txBody>
          </p:sp>
          <p:sp>
            <p:nvSpPr>
              <p:cNvPr id="33" name="TextBox 33"/>
              <p:cNvSpPr txBox="1"/>
              <p:nvPr/>
            </p:nvSpPr>
            <p:spPr>
              <a:xfrm>
                <a:off x="723900" y="442912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行动执行</a:t>
                </a:r>
              </a:p>
            </p:txBody>
          </p:sp>
          <p:sp>
            <p:nvSpPr>
              <p:cNvPr id="34" name="TextBox 34"/>
              <p:cNvSpPr txBox="1"/>
              <p:nvPr/>
            </p:nvSpPr>
            <p:spPr>
              <a:xfrm>
                <a:off x="4457700" y="442912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审批+幂等</a:t>
                </a:r>
              </a:p>
            </p:txBody>
          </p:sp>
          <p:sp>
            <p:nvSpPr>
              <p:cNvPr id="35" name="TextBox 35"/>
              <p:cNvSpPr txBox="1"/>
              <p:nvPr/>
            </p:nvSpPr>
            <p:spPr>
              <a:xfrm>
                <a:off x="8191500" y="442912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风险可控</a:t>
                </a:r>
              </a:p>
            </p:txBody>
          </p:sp>
        </p:grpSp>
        <p:sp>
          <p:nvSpPr>
            <p:cNvPr id="37" name="TextBox 37"/>
            <p:cNvSpPr txBox="1"/>
            <p:nvPr/>
          </p:nvSpPr>
          <p:spPr>
            <a:xfrm>
              <a:off x="828675" y="5581650"/>
              <a:ext cx="10534650" cy="4191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500" b="1" dirty="0">
                  <a:solidFill>
                    <a:srgbClr val="0E7490"/>
                  </a:solidFill>
                  <a:latin typeface="Arial"/>
                  <a:ea typeface="Microsoft YaHei"/>
                  <a:cs typeface="Arial"/>
                </a:rPr>
                <a:t>场景选择决定治理强度，按风险分级</a:t>
              </a:r>
            </a:p>
          </p:txBody>
        </p:sp>
      </p:grpSp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666750"/>
          </a:xfrm>
          <a:prstGeom prst="rect">
            <a:avLst/>
          </a:prstGeom>
          <a:solidFill>
            <a:srgbClr val="0E7490"/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0"/>
            <a:ext cx="57150" cy="666750"/>
          </a:xfrm>
          <a:prstGeom prst="rect">
            <a:avLst/>
          </a:prstGeom>
          <a:solidFill>
            <a:srgbClr val="CC0000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381000" y="123825"/>
            <a:ext cx="762000" cy="4000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1275" b="1" dirty="0">
                <a:solidFill>
                  <a:srgbClr val="9FD3FF"/>
                </a:solidFill>
                <a:latin typeface="Arial"/>
                <a:ea typeface="Microsoft YaHei"/>
                <a:cs typeface="Arial"/>
              </a:rPr>
              <a:t>68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257300" y="95250"/>
            <a:ext cx="8096250" cy="457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21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落地检查清单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0001250" y="76200"/>
            <a:ext cx="1619250" cy="5143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3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DataAgent</a:t>
            </a:r>
          </a:p>
        </p:txBody>
      </p:sp>
      <p:sp>
        <p:nvSpPr>
          <p:cNvPr id="8" name="Rectangle 8"/>
          <p:cNvSpPr/>
          <p:nvPr/>
        </p:nvSpPr>
        <p:spPr>
          <a:xfrm>
            <a:off x="0" y="666750"/>
            <a:ext cx="12192000" cy="476250"/>
          </a:xfrm>
          <a:prstGeom prst="rect">
            <a:avLst/>
          </a:prstGeom>
          <a:solidFill>
            <a:srgbClr val="E8F4FC"/>
          </a:solidFill>
          <a:ln>
            <a:noFill/>
          </a:ln>
        </p:spPr>
      </p:sp>
      <p:sp>
        <p:nvSpPr>
          <p:cNvPr id="9" name="Rectangle 9"/>
          <p:cNvSpPr/>
          <p:nvPr/>
        </p:nvSpPr>
        <p:spPr>
          <a:xfrm>
            <a:off x="0" y="666750"/>
            <a:ext cx="57150" cy="476250"/>
          </a:xfrm>
          <a:prstGeom prst="rect">
            <a:avLst/>
          </a:prstGeom>
          <a:solidFill>
            <a:srgbClr val="06B6D4"/>
          </a:solidFill>
          <a:ln>
            <a:noFill/>
          </a:ln>
        </p:spPr>
      </p:sp>
      <p:sp>
        <p:nvSpPr>
          <p:cNvPr id="10" name="TextBox 10"/>
          <p:cNvSpPr txBox="1"/>
          <p:nvPr/>
        </p:nvSpPr>
        <p:spPr>
          <a:xfrm>
            <a:off x="381000" y="714375"/>
            <a:ext cx="10001250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1350" dirty="0">
                <a:solidFill>
                  <a:srgbClr val="26384A"/>
                </a:solidFill>
                <a:latin typeface="Arial"/>
                <a:ea typeface="Microsoft YaHei"/>
                <a:cs typeface="Arial"/>
              </a:rPr>
              <a:t>上线前逐项打勾</a:t>
            </a:r>
          </a:p>
        </p:txBody>
      </p:sp>
      <p:sp>
        <p:nvSpPr>
          <p:cNvPr id="11" name="Line 11"/>
          <p:cNvSpPr/>
          <p:nvPr/>
        </p:nvSpPr>
        <p:spPr>
          <a:xfrm>
            <a:off x="381000" y="6334125"/>
            <a:ext cx="11430000" cy="9525"/>
          </a:xfrm>
          <a:custGeom>
            <a:avLst/>
            <a:gdLst/>
            <a:ahLst/>
            <a:cxnLst/>
            <a:rect l="l" t="t" r="r" b="b"/>
            <a:pathLst>
              <a:path w="11430000" h="9525">
                <a:moveTo>
                  <a:pt x="0" y="0"/>
                </a:moveTo>
                <a:lnTo>
                  <a:pt x="11430000" y="0"/>
                </a:lnTo>
              </a:path>
            </a:pathLst>
          </a:custGeom>
          <a:noFill/>
          <a:ln w="9525">
            <a:solidFill>
              <a:srgbClr val="E8F4FC"/>
            </a:solidFill>
          </a:ln>
        </p:spPr>
      </p:sp>
      <p:sp>
        <p:nvSpPr>
          <p:cNvPr id="12" name="TextBox 12"/>
          <p:cNvSpPr txBox="1"/>
          <p:nvPr/>
        </p:nvSpPr>
        <p:spPr>
          <a:xfrm>
            <a:off x="381000" y="6477000"/>
            <a:ext cx="4953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课程第15讲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4381500" y="6477000"/>
            <a:ext cx="3429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Agent Runtime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0763250" y="6457950"/>
            <a:ext cx="857250" cy="266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050" dirty="0">
                <a:solidFill>
                  <a:srgbClr val="52657A"/>
                </a:solidFill>
                <a:latin typeface="Arial"/>
                <a:ea typeface="Microsoft YaHei"/>
                <a:cs typeface="Arial"/>
              </a:rPr>
              <a:t>68</a:t>
            </a:r>
          </a:p>
        </p:txBody>
      </p:sp>
      <p:grpSp>
        <p:nvGrpSpPr>
          <p:cNvPr id="21" name="EasySlides Component: evidence_01"/>
          <p:cNvGrpSpPr/>
          <p:nvPr/>
        </p:nvGrpSpPr>
        <p:grpSpPr>
          <a:xfrm>
            <a:off x="495300" y="2095500"/>
            <a:ext cx="11201400" cy="1285875"/>
            <a:chOff x="495300" y="2095500"/>
            <a:chExt cx="11201400" cy="1285875"/>
          </a:xfrm>
        </p:grpSpPr>
        <p:sp>
          <p:nvSpPr>
            <p:cNvPr id="15" name="Rectangle 15"/>
            <p:cNvSpPr/>
            <p:nvPr/>
          </p:nvSpPr>
          <p:spPr>
            <a:xfrm>
              <a:off x="495300" y="2095500"/>
              <a:ext cx="11201400" cy="1285875"/>
            </a:xfrm>
            <a:prstGeom prst="roundRect">
              <a:avLst>
                <a:gd name="adj" fmla="val 2963"/>
              </a:avLst>
            </a:prstGeom>
            <a:solidFill>
              <a:srgbClr val="FFFFFF"/>
            </a:solidFill>
            <a:ln w="11430">
              <a:solidFill>
                <a:srgbClr val="B8C7D6"/>
              </a:solidFill>
            </a:ln>
          </p:spPr>
        </p:sp>
        <p:sp>
          <p:nvSpPr>
            <p:cNvPr id="16" name="Rectangle 16"/>
            <p:cNvSpPr/>
            <p:nvPr/>
          </p:nvSpPr>
          <p:spPr>
            <a:xfrm>
              <a:off x="495300" y="2095500"/>
              <a:ext cx="76200" cy="1285875"/>
            </a:xfrm>
            <a:prstGeom prst="roundRect">
              <a:avLst>
                <a:gd name="adj" fmla="val 50000"/>
              </a:avLst>
            </a:prstGeom>
            <a:solidFill>
              <a:srgbClr val="06B6D4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733425" y="2543175"/>
              <a:ext cx="438150" cy="5238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650" b="1" dirty="0">
                  <a:solidFill>
                    <a:srgbClr val="06B6D4"/>
                  </a:solidFill>
                  <a:latin typeface="Arial"/>
                  <a:ea typeface="Microsoft YaHei"/>
                  <a:cs typeface="Arial"/>
                </a:rPr>
                <a:t>01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1447800" y="2324100"/>
              <a:ext cx="2667000" cy="78105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575" b="1" dirty="0">
                  <a:solidFill>
                    <a:srgbClr val="0E7490"/>
                  </a:solidFill>
                  <a:latin typeface="Arial"/>
                  <a:ea typeface="Microsoft YaHei"/>
                  <a:cs typeface="Arial"/>
                </a:rPr>
                <a:t>功能</a:t>
              </a:r>
            </a:p>
          </p:txBody>
        </p:sp>
        <p:sp>
          <p:nvSpPr>
            <p:cNvPr id="19" name="Line 19"/>
            <p:cNvSpPr/>
            <p:nvPr/>
          </p:nvSpPr>
          <p:spPr>
            <a:xfrm>
              <a:off x="4362450" y="2324100"/>
              <a:ext cx="9525" cy="828675"/>
            </a:xfrm>
            <a:custGeom>
              <a:avLst/>
              <a:gdLst/>
              <a:ahLst/>
              <a:cxnLst/>
              <a:rect l="l" t="t" r="r" b="b"/>
              <a:pathLst>
                <a:path w="9525" h="828675">
                  <a:moveTo>
                    <a:pt x="0" y="0"/>
                  </a:moveTo>
                  <a:lnTo>
                    <a:pt x="0" y="828675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4686300" y="2324100"/>
              <a:ext cx="6572250" cy="78105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425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核心链路全绿；故障注入通过</a:t>
              </a:r>
            </a:p>
          </p:txBody>
        </p:sp>
      </p:grpSp>
      <p:grpSp>
        <p:nvGrpSpPr>
          <p:cNvPr id="28" name="EasySlides Component: evidence_02"/>
          <p:cNvGrpSpPr/>
          <p:nvPr/>
        </p:nvGrpSpPr>
        <p:grpSpPr>
          <a:xfrm>
            <a:off x="495300" y="3571875"/>
            <a:ext cx="11201400" cy="1285875"/>
            <a:chOff x="495300" y="3571875"/>
            <a:chExt cx="11201400" cy="1285875"/>
          </a:xfrm>
        </p:grpSpPr>
        <p:sp>
          <p:nvSpPr>
            <p:cNvPr id="22" name="Rectangle 22"/>
            <p:cNvSpPr/>
            <p:nvPr/>
          </p:nvSpPr>
          <p:spPr>
            <a:xfrm>
              <a:off x="495300" y="3571875"/>
              <a:ext cx="11201400" cy="1285875"/>
            </a:xfrm>
            <a:prstGeom prst="roundRect">
              <a:avLst>
                <a:gd name="adj" fmla="val 2963"/>
              </a:avLst>
            </a:prstGeom>
            <a:solidFill>
              <a:srgbClr val="FFFFFF"/>
            </a:solidFill>
            <a:ln w="11430">
              <a:solidFill>
                <a:srgbClr val="B8C7D6"/>
              </a:solidFill>
            </a:ln>
          </p:spPr>
        </p:sp>
        <p:sp>
          <p:nvSpPr>
            <p:cNvPr id="23" name="Rectangle 23"/>
            <p:cNvSpPr/>
            <p:nvPr/>
          </p:nvSpPr>
          <p:spPr>
            <a:xfrm>
              <a:off x="495300" y="3571875"/>
              <a:ext cx="76200" cy="1285875"/>
            </a:xfrm>
            <a:prstGeom prst="roundRect">
              <a:avLst>
                <a:gd name="adj" fmla="val 50000"/>
              </a:avLst>
            </a:prstGeom>
            <a:solidFill>
              <a:srgbClr val="06B6D4"/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733425" y="4019550"/>
              <a:ext cx="438150" cy="5238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650" b="1" dirty="0">
                  <a:solidFill>
                    <a:srgbClr val="06B6D4"/>
                  </a:solidFill>
                  <a:latin typeface="Arial"/>
                  <a:ea typeface="Microsoft YaHei"/>
                  <a:cs typeface="Arial"/>
                </a:rPr>
                <a:t>02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1447800" y="3800475"/>
              <a:ext cx="2667000" cy="78105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575" b="1" dirty="0">
                  <a:solidFill>
                    <a:srgbClr val="0E7490"/>
                  </a:solidFill>
                  <a:latin typeface="Arial"/>
                  <a:ea typeface="Microsoft YaHei"/>
                  <a:cs typeface="Arial"/>
                </a:rPr>
                <a:t>质量</a:t>
              </a:r>
            </a:p>
          </p:txBody>
        </p:sp>
        <p:sp>
          <p:nvSpPr>
            <p:cNvPr id="26" name="Line 26"/>
            <p:cNvSpPr/>
            <p:nvPr/>
          </p:nvSpPr>
          <p:spPr>
            <a:xfrm>
              <a:off x="4362450" y="3800475"/>
              <a:ext cx="9525" cy="828675"/>
            </a:xfrm>
            <a:custGeom>
              <a:avLst/>
              <a:gdLst/>
              <a:ahLst/>
              <a:cxnLst/>
              <a:rect l="l" t="t" r="r" b="b"/>
              <a:pathLst>
                <a:path w="9525" h="828675">
                  <a:moveTo>
                    <a:pt x="0" y="0"/>
                  </a:moveTo>
                  <a:lnTo>
                    <a:pt x="0" y="828675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4686300" y="3800475"/>
              <a:ext cx="6572250" cy="78105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425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三层评测达标；回归门禁通过</a:t>
              </a:r>
            </a:p>
          </p:txBody>
        </p:sp>
      </p:grpSp>
      <p:grpSp>
        <p:nvGrpSpPr>
          <p:cNvPr id="35" name="EasySlides Component: evidence_03"/>
          <p:cNvGrpSpPr/>
          <p:nvPr/>
        </p:nvGrpSpPr>
        <p:grpSpPr>
          <a:xfrm>
            <a:off x="495300" y="4905375"/>
            <a:ext cx="11201400" cy="1285875"/>
            <a:chOff x="495300" y="4905375"/>
            <a:chExt cx="11201400" cy="1285875"/>
          </a:xfrm>
        </p:grpSpPr>
        <p:sp>
          <p:nvSpPr>
            <p:cNvPr id="29" name="Rectangle 29"/>
            <p:cNvSpPr/>
            <p:nvPr/>
          </p:nvSpPr>
          <p:spPr>
            <a:xfrm>
              <a:off x="495300" y="4905375"/>
              <a:ext cx="11201400" cy="1285875"/>
            </a:xfrm>
            <a:prstGeom prst="roundRect">
              <a:avLst>
                <a:gd name="adj" fmla="val 2963"/>
              </a:avLst>
            </a:prstGeom>
            <a:solidFill>
              <a:srgbClr val="FFFFFF"/>
            </a:solidFill>
            <a:ln w="11430">
              <a:solidFill>
                <a:srgbClr val="B8C7D6"/>
              </a:solidFill>
            </a:ln>
          </p:spPr>
        </p:sp>
        <p:sp>
          <p:nvSpPr>
            <p:cNvPr id="30" name="Rectangle 30"/>
            <p:cNvSpPr/>
            <p:nvPr/>
          </p:nvSpPr>
          <p:spPr>
            <a:xfrm>
              <a:off x="495300" y="4905375"/>
              <a:ext cx="76200" cy="1285875"/>
            </a:xfrm>
            <a:prstGeom prst="roundRect">
              <a:avLst>
                <a:gd name="adj" fmla="val 50000"/>
              </a:avLst>
            </a:prstGeom>
            <a:solidFill>
              <a:srgbClr val="06B6D4"/>
            </a:solidFill>
            <a:ln>
              <a:noFill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733425" y="5353050"/>
              <a:ext cx="438150" cy="5238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650" b="1" dirty="0">
                  <a:solidFill>
                    <a:srgbClr val="06B6D4"/>
                  </a:solidFill>
                  <a:latin typeface="Arial"/>
                  <a:ea typeface="Microsoft YaHei"/>
                  <a:cs typeface="Arial"/>
                </a:rPr>
                <a:t>03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1447800" y="5133975"/>
              <a:ext cx="2667000" cy="78105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575" b="1" dirty="0">
                  <a:solidFill>
                    <a:srgbClr val="0E7490"/>
                  </a:solidFill>
                  <a:latin typeface="Arial"/>
                  <a:ea typeface="Microsoft YaHei"/>
                  <a:cs typeface="Arial"/>
                </a:rPr>
                <a:t>安全</a:t>
              </a:r>
            </a:p>
          </p:txBody>
        </p:sp>
        <p:sp>
          <p:nvSpPr>
            <p:cNvPr id="33" name="Line 33"/>
            <p:cNvSpPr/>
            <p:nvPr/>
          </p:nvSpPr>
          <p:spPr>
            <a:xfrm>
              <a:off x="4362450" y="5133975"/>
              <a:ext cx="9525" cy="828675"/>
            </a:xfrm>
            <a:custGeom>
              <a:avLst/>
              <a:gdLst/>
              <a:ahLst/>
              <a:cxnLst/>
              <a:rect l="l" t="t" r="r" b="b"/>
              <a:pathLst>
                <a:path w="9525" h="828675">
                  <a:moveTo>
                    <a:pt x="0" y="0"/>
                  </a:moveTo>
                  <a:lnTo>
                    <a:pt x="0" y="828675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4686300" y="5133975"/>
              <a:ext cx="6572250" cy="78105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425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权限/审计/幂等/回滚就绪</a:t>
              </a:r>
            </a:p>
          </p:txBody>
        </p:sp>
      </p:grpSp>
      <p:grpSp>
        <p:nvGrpSpPr>
          <p:cNvPr id="39" name="EasySlides Component: synthesis"/>
          <p:cNvGrpSpPr/>
          <p:nvPr/>
        </p:nvGrpSpPr>
        <p:grpSpPr>
          <a:xfrm>
            <a:off x="495300" y="1285875"/>
            <a:ext cx="11201400" cy="714375"/>
            <a:chOff x="495300" y="1285875"/>
            <a:chExt cx="11201400" cy="714375"/>
          </a:xfrm>
        </p:grpSpPr>
        <p:sp>
          <p:nvSpPr>
            <p:cNvPr id="36" name="Rectangle 36"/>
            <p:cNvSpPr/>
            <p:nvPr/>
          </p:nvSpPr>
          <p:spPr>
            <a:xfrm>
              <a:off x="495300" y="1285875"/>
              <a:ext cx="11201400" cy="714375"/>
            </a:xfrm>
            <a:prstGeom prst="roundRect">
              <a:avLst>
                <a:gd name="adj" fmla="val 5333"/>
              </a:avLst>
            </a:prstGeom>
            <a:solidFill>
              <a:srgbClr val="0E7490"/>
            </a:solidFill>
            <a:ln>
              <a:noFill/>
            </a:ln>
          </p:spPr>
        </p:sp>
        <p:sp>
          <p:nvSpPr>
            <p:cNvPr id="37" name="Rectangle 37"/>
            <p:cNvSpPr/>
            <p:nvPr/>
          </p:nvSpPr>
          <p:spPr>
            <a:xfrm>
              <a:off x="495300" y="1285875"/>
              <a:ext cx="76200" cy="714375"/>
            </a:xfrm>
            <a:prstGeom prst="roundRect">
              <a:avLst>
                <a:gd name="adj" fmla="val 50000"/>
              </a:avLst>
            </a:prstGeom>
            <a:solidFill>
              <a:srgbClr val="CC0000"/>
            </a:solidFill>
            <a:ln>
              <a:noFill/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876300" y="1419225"/>
              <a:ext cx="10439400" cy="4476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65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GO/NO-GO 由硬门槛决定，不由均分决定</a:t>
              </a:r>
            </a:p>
          </p:txBody>
        </p:sp>
      </p:grpSp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E7490"/>
          </a:solidFill>
          <a:ln>
            <a:noFill/>
          </a:ln>
        </p:spPr>
      </p:sp>
      <p:sp>
        <p:nvSpPr>
          <p:cNvPr id="3" name="Freeform 3"/>
          <p:cNvSpPr/>
          <p:nvPr/>
        </p:nvSpPr>
        <p:spPr>
          <a:xfrm>
            <a:off x="5715000" y="0"/>
            <a:ext cx="6477000" cy="6858000"/>
          </a:xfrm>
          <a:custGeom>
            <a:avLst/>
            <a:gdLst/>
            <a:ahLst/>
            <a:cxnLst/>
            <a:rect l="l" t="t" r="r" b="b"/>
            <a:pathLst>
              <a:path w="6477000" h="6858000">
                <a:moveTo>
                  <a:pt x="1905000" y="0"/>
                </a:moveTo>
                <a:lnTo>
                  <a:pt x="6477000" y="0"/>
                </a:lnTo>
                <a:lnTo>
                  <a:pt x="6477000" y="6858000"/>
                </a:lnTo>
                <a:lnTo>
                  <a:pt x="0" y="6858000"/>
                </a:lnTo>
                <a:close/>
              </a:path>
            </a:pathLst>
          </a:custGeom>
          <a:solidFill>
            <a:srgbClr val="06B6D4">
              <a:alpha val="20000"/>
            </a:srgbClr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2286000"/>
            <a:ext cx="114300" cy="2286000"/>
          </a:xfrm>
          <a:prstGeom prst="rect">
            <a:avLst/>
          </a:prstGeom>
          <a:solidFill>
            <a:srgbClr val="CC0000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476250" y="2095500"/>
            <a:ext cx="2952750" cy="31432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8750" b="1" dirty="0">
                <a:solidFill>
                  <a:srgbClr val="FFFFFF">
                    <a:alphaMod val="10000"/>
                  </a:srgbClr>
                </a:solidFill>
                <a:latin typeface="Arial"/>
                <a:ea typeface="Microsoft YaHei"/>
                <a:cs typeface="Arial"/>
              </a:rPr>
              <a:t>69</a:t>
            </a:r>
          </a:p>
        </p:txBody>
      </p:sp>
      <p:sp>
        <p:nvSpPr>
          <p:cNvPr id="6" name="Line 6"/>
          <p:cNvSpPr/>
          <p:nvPr/>
        </p:nvSpPr>
        <p:spPr>
          <a:xfrm>
            <a:off x="3619500" y="2505075"/>
            <a:ext cx="1143000" cy="9525"/>
          </a:xfrm>
          <a:custGeom>
            <a:avLst/>
            <a:gdLst/>
            <a:ahLst/>
            <a:cxnLst/>
            <a:rect l="l" t="t" r="r" b="b"/>
            <a:pathLst>
              <a:path w="1143000" h="9525">
                <a:moveTo>
                  <a:pt x="0" y="0"/>
                </a:moveTo>
                <a:lnTo>
                  <a:pt x="1143000" y="0"/>
                </a:lnTo>
              </a:path>
            </a:pathLst>
          </a:custGeom>
          <a:noFill/>
          <a:ln w="57150">
            <a:solidFill>
              <a:srgbClr val="CC0000"/>
            </a:solidFill>
          </a:ln>
        </p:spPr>
      </p:sp>
      <p:sp>
        <p:nvSpPr>
          <p:cNvPr id="7" name="TextBox 7"/>
          <p:cNvSpPr txBox="1"/>
          <p:nvPr/>
        </p:nvSpPr>
        <p:spPr>
          <a:xfrm>
            <a:off x="3619500" y="2667000"/>
            <a:ext cx="7429500" cy="8763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42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优化与拓展指南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3619500" y="3648075"/>
            <a:ext cx="7620000" cy="4191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1800" dirty="0">
                <a:solidFill>
                  <a:srgbClr val="E8F4FC"/>
                </a:solidFill>
                <a:latin typeface="Arial"/>
                <a:ea typeface="Microsoft YaHei"/>
                <a:cs typeface="Arial"/>
              </a:rPr>
              <a:t>让系统随模型共同进化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6762750" y="6286500"/>
            <a:ext cx="4095750" cy="2857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r"/>
            <a:r>
              <a:rPr lang="zh-CN" sz="1200" dirty="0">
                <a:solidFill>
                  <a:srgbClr val="FFFFFF">
                    <a:alphaMod val="55000"/>
                  </a:srgbClr>
                </a:solidFill>
                <a:latin typeface="Arial"/>
                <a:ea typeface="Microsoft YaHei"/>
                <a:cs typeface="Arial"/>
              </a:rPr>
              <a:t>Agent Runtime 的混合架构选型与</a:t>
            </a:r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666750"/>
          </a:xfrm>
          <a:prstGeom prst="rect">
            <a:avLst/>
          </a:prstGeom>
          <a:solidFill>
            <a:srgbClr val="0E7490"/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0"/>
            <a:ext cx="57150" cy="666750"/>
          </a:xfrm>
          <a:prstGeom prst="rect">
            <a:avLst/>
          </a:prstGeom>
          <a:solidFill>
            <a:srgbClr val="CC0000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381000" y="123825"/>
            <a:ext cx="762000" cy="4000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1275" b="1" dirty="0">
                <a:solidFill>
                  <a:srgbClr val="9FD3FF"/>
                </a:solidFill>
                <a:latin typeface="Arial"/>
                <a:ea typeface="Microsoft YaHei"/>
                <a:cs typeface="Arial"/>
              </a:rPr>
              <a:t>70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257300" y="95250"/>
            <a:ext cx="8096250" cy="457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21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优化方向对照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0001250" y="76200"/>
            <a:ext cx="1619250" cy="5143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3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DataAgent</a:t>
            </a:r>
          </a:p>
        </p:txBody>
      </p:sp>
      <p:sp>
        <p:nvSpPr>
          <p:cNvPr id="8" name="Rectangle 8"/>
          <p:cNvSpPr/>
          <p:nvPr/>
        </p:nvSpPr>
        <p:spPr>
          <a:xfrm>
            <a:off x="0" y="666750"/>
            <a:ext cx="12192000" cy="476250"/>
          </a:xfrm>
          <a:prstGeom prst="rect">
            <a:avLst/>
          </a:prstGeom>
          <a:solidFill>
            <a:srgbClr val="E8F4FC"/>
          </a:solidFill>
          <a:ln>
            <a:noFill/>
          </a:ln>
        </p:spPr>
      </p:sp>
      <p:sp>
        <p:nvSpPr>
          <p:cNvPr id="9" name="Rectangle 9"/>
          <p:cNvSpPr/>
          <p:nvPr/>
        </p:nvSpPr>
        <p:spPr>
          <a:xfrm>
            <a:off x="0" y="666750"/>
            <a:ext cx="57150" cy="476250"/>
          </a:xfrm>
          <a:prstGeom prst="rect">
            <a:avLst/>
          </a:prstGeom>
          <a:solidFill>
            <a:srgbClr val="06B6D4"/>
          </a:solidFill>
          <a:ln>
            <a:noFill/>
          </a:ln>
        </p:spPr>
      </p:sp>
      <p:sp>
        <p:nvSpPr>
          <p:cNvPr id="10" name="TextBox 10"/>
          <p:cNvSpPr txBox="1"/>
          <p:nvPr/>
        </p:nvSpPr>
        <p:spPr>
          <a:xfrm>
            <a:off x="381000" y="714375"/>
            <a:ext cx="10001250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1350" dirty="0">
                <a:solidFill>
                  <a:srgbClr val="26384A"/>
                </a:solidFill>
                <a:latin typeface="Arial"/>
                <a:ea typeface="Microsoft YaHei"/>
                <a:cs typeface="Arial"/>
              </a:rPr>
              <a:t>短期补丁 vs 长期资产</a:t>
            </a:r>
          </a:p>
        </p:txBody>
      </p:sp>
      <p:sp>
        <p:nvSpPr>
          <p:cNvPr id="11" name="Line 11"/>
          <p:cNvSpPr/>
          <p:nvPr/>
        </p:nvSpPr>
        <p:spPr>
          <a:xfrm>
            <a:off x="381000" y="6334125"/>
            <a:ext cx="11430000" cy="9525"/>
          </a:xfrm>
          <a:custGeom>
            <a:avLst/>
            <a:gdLst/>
            <a:ahLst/>
            <a:cxnLst/>
            <a:rect l="l" t="t" r="r" b="b"/>
            <a:pathLst>
              <a:path w="11430000" h="9525">
                <a:moveTo>
                  <a:pt x="0" y="0"/>
                </a:moveTo>
                <a:lnTo>
                  <a:pt x="11430000" y="0"/>
                </a:lnTo>
              </a:path>
            </a:pathLst>
          </a:custGeom>
          <a:noFill/>
          <a:ln w="9525">
            <a:solidFill>
              <a:srgbClr val="E8F4FC"/>
            </a:solidFill>
          </a:ln>
        </p:spPr>
      </p:sp>
      <p:sp>
        <p:nvSpPr>
          <p:cNvPr id="12" name="TextBox 12"/>
          <p:cNvSpPr txBox="1"/>
          <p:nvPr/>
        </p:nvSpPr>
        <p:spPr>
          <a:xfrm>
            <a:off x="381000" y="6477000"/>
            <a:ext cx="4953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课程第15讲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4381500" y="6477000"/>
            <a:ext cx="3429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Agent Runtime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0763250" y="6457950"/>
            <a:ext cx="857250" cy="266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050" dirty="0">
                <a:solidFill>
                  <a:srgbClr val="52657A"/>
                </a:solidFill>
                <a:latin typeface="Arial"/>
                <a:ea typeface="Microsoft YaHei"/>
                <a:cs typeface="Arial"/>
              </a:rPr>
              <a:t>70</a:t>
            </a:r>
          </a:p>
        </p:txBody>
      </p:sp>
      <p:grpSp>
        <p:nvGrpSpPr>
          <p:cNvPr id="22" name="EasySlides Component: left"/>
          <p:cNvGrpSpPr/>
          <p:nvPr/>
        </p:nvGrpSpPr>
        <p:grpSpPr>
          <a:xfrm>
            <a:off x="495300" y="1285875"/>
            <a:ext cx="5410200" cy="4000500"/>
            <a:chOff x="495300" y="1285875"/>
            <a:chExt cx="5410200" cy="4000500"/>
          </a:xfrm>
        </p:grpSpPr>
        <p:sp>
          <p:nvSpPr>
            <p:cNvPr id="15" name="Rectangle 15"/>
            <p:cNvSpPr/>
            <p:nvPr/>
          </p:nvSpPr>
          <p:spPr>
            <a:xfrm>
              <a:off x="495300" y="1285875"/>
              <a:ext cx="5410200" cy="4000500"/>
            </a:xfrm>
            <a:prstGeom prst="roundRect">
              <a:avLst>
                <a:gd name="adj" fmla="val 952"/>
              </a:avLst>
            </a:prstGeom>
            <a:solidFill>
              <a:srgbClr val="FFFFFF"/>
            </a:solidFill>
            <a:ln w="11430">
              <a:solidFill>
                <a:srgbClr val="B8C7D6"/>
              </a:solidFill>
            </a:ln>
          </p:spPr>
        </p:sp>
        <p:sp>
          <p:nvSpPr>
            <p:cNvPr id="16" name="Rectangle 16"/>
            <p:cNvSpPr/>
            <p:nvPr/>
          </p:nvSpPr>
          <p:spPr>
            <a:xfrm>
              <a:off x="495300" y="1285875"/>
              <a:ext cx="5410200" cy="609600"/>
            </a:xfrm>
            <a:prstGeom prst="roundRect">
              <a:avLst>
                <a:gd name="adj" fmla="val 6250"/>
              </a:avLst>
            </a:prstGeom>
            <a:solidFill>
              <a:srgbClr val="E8F4FC"/>
            </a:solidFill>
            <a:ln>
              <a:noFill/>
            </a:ln>
          </p:spPr>
        </p:sp>
        <p:sp>
          <p:nvSpPr>
            <p:cNvPr id="17" name="Rectangle 17"/>
            <p:cNvSpPr/>
            <p:nvPr/>
          </p:nvSpPr>
          <p:spPr>
            <a:xfrm>
              <a:off x="495300" y="1285875"/>
              <a:ext cx="57150" cy="609600"/>
            </a:xfrm>
            <a:prstGeom prst="rect">
              <a:avLst/>
            </a:prstGeom>
            <a:solidFill>
              <a:srgbClr val="06B6D4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800100" y="1419225"/>
              <a:ext cx="4800600" cy="3429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725" b="1" dirty="0">
                  <a:solidFill>
                    <a:srgbClr val="0E7490"/>
                  </a:solidFill>
                  <a:latin typeface="Arial"/>
                  <a:ea typeface="Microsoft YaHei"/>
                  <a:cs typeface="Arial"/>
                </a:rPr>
                <a:t>短期补丁</a:t>
              </a:r>
            </a:p>
          </p:txBody>
        </p:sp>
        <p:sp>
          <p:nvSpPr>
            <p:cNvPr id="19" name="Line 19"/>
            <p:cNvSpPr/>
            <p:nvPr/>
          </p:nvSpPr>
          <p:spPr>
            <a:xfrm>
              <a:off x="800100" y="2276475"/>
              <a:ext cx="4800600" cy="9525"/>
            </a:xfrm>
            <a:custGeom>
              <a:avLst/>
              <a:gdLst/>
              <a:ahLst/>
              <a:cxnLst/>
              <a:rect l="l" t="t" r="r" b="b"/>
              <a:pathLst>
                <a:path w="4800600" h="9525">
                  <a:moveTo>
                    <a:pt x="0" y="0"/>
                  </a:moveTo>
                  <a:lnTo>
                    <a:pt x="4800600" y="0"/>
                  </a:lnTo>
                </a:path>
              </a:pathLst>
            </a:custGeom>
            <a:noFill/>
            <a:ln w="19050">
              <a:solidFill>
                <a:srgbClr val="D4E2EE"/>
              </a:solidFill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1028700" y="2505075"/>
              <a:ext cx="4343400" cy="20955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650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改 Prompt 救火</a:t>
              </a:r>
            </a:p>
            <a:p>
              <a:pPr algn="l"/>
              <a:r>
                <a:rPr lang="zh-CN" sz="1650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局部 if-else 兜底</a:t>
              </a:r>
            </a:p>
            <a:p>
              <a:pPr algn="l"/>
              <a:r>
                <a:rPr lang="zh-CN" sz="1650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人工盯梢排查</a:t>
              </a:r>
            </a:p>
            <a:p>
              <a:pPr algn="l"/>
              <a:r>
                <a:rPr lang="zh-CN" sz="1650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经验留在个人脑中</a:t>
              </a:r>
            </a:p>
          </p:txBody>
        </p:sp>
        <p:sp>
          <p:nvSpPr>
            <p:cNvPr id="21" name="Line 21"/>
            <p:cNvSpPr/>
            <p:nvPr/>
          </p:nvSpPr>
          <p:spPr>
            <a:xfrm>
              <a:off x="800100" y="4905375"/>
              <a:ext cx="4800600" cy="9525"/>
            </a:xfrm>
            <a:custGeom>
              <a:avLst/>
              <a:gdLst/>
              <a:ahLst/>
              <a:cxnLst/>
              <a:rect l="l" t="t" r="r" b="b"/>
              <a:pathLst>
                <a:path w="4800600" h="9525">
                  <a:moveTo>
                    <a:pt x="0" y="0"/>
                  </a:moveTo>
                  <a:lnTo>
                    <a:pt x="4800600" y="0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</p:grpSp>
      <p:grpSp>
        <p:nvGrpSpPr>
          <p:cNvPr id="30" name="EasySlides Component: right"/>
          <p:cNvGrpSpPr/>
          <p:nvPr/>
        </p:nvGrpSpPr>
        <p:grpSpPr>
          <a:xfrm>
            <a:off x="6286500" y="1285875"/>
            <a:ext cx="5410200" cy="4000500"/>
            <a:chOff x="6286500" y="1285875"/>
            <a:chExt cx="5410200" cy="4000500"/>
          </a:xfrm>
        </p:grpSpPr>
        <p:sp>
          <p:nvSpPr>
            <p:cNvPr id="23" name="Rectangle 23"/>
            <p:cNvSpPr/>
            <p:nvPr/>
          </p:nvSpPr>
          <p:spPr>
            <a:xfrm>
              <a:off x="6286500" y="1285875"/>
              <a:ext cx="5410200" cy="4000500"/>
            </a:xfrm>
            <a:prstGeom prst="roundRect">
              <a:avLst>
                <a:gd name="adj" fmla="val 952"/>
              </a:avLst>
            </a:prstGeom>
            <a:solidFill>
              <a:srgbClr val="FFFFFF"/>
            </a:solidFill>
            <a:ln w="11430">
              <a:solidFill>
                <a:srgbClr val="B8C7D6"/>
              </a:solidFill>
            </a:ln>
          </p:spPr>
        </p:sp>
        <p:sp>
          <p:nvSpPr>
            <p:cNvPr id="24" name="Rectangle 24"/>
            <p:cNvSpPr/>
            <p:nvPr/>
          </p:nvSpPr>
          <p:spPr>
            <a:xfrm>
              <a:off x="6286500" y="1285875"/>
              <a:ext cx="5410200" cy="609600"/>
            </a:xfrm>
            <a:prstGeom prst="roundRect">
              <a:avLst>
                <a:gd name="adj" fmla="val 6250"/>
              </a:avLst>
            </a:prstGeom>
            <a:solidFill>
              <a:srgbClr val="E8F4FC"/>
            </a:solidFill>
            <a:ln>
              <a:noFill/>
            </a:ln>
          </p:spPr>
        </p:sp>
        <p:sp>
          <p:nvSpPr>
            <p:cNvPr id="25" name="Rectangle 25"/>
            <p:cNvSpPr/>
            <p:nvPr/>
          </p:nvSpPr>
          <p:spPr>
            <a:xfrm>
              <a:off x="6286500" y="1285875"/>
              <a:ext cx="57150" cy="609600"/>
            </a:xfrm>
            <a:prstGeom prst="rect">
              <a:avLst/>
            </a:prstGeom>
            <a:solidFill>
              <a:srgbClr val="06B6D4"/>
            </a:solidFill>
            <a:ln>
              <a:noFill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6591300" y="1419225"/>
              <a:ext cx="4800600" cy="3429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725" b="1" dirty="0">
                  <a:solidFill>
                    <a:srgbClr val="0E7490"/>
                  </a:solidFill>
                  <a:latin typeface="Arial"/>
                  <a:ea typeface="Microsoft YaHei"/>
                  <a:cs typeface="Arial"/>
                </a:rPr>
                <a:t>长期资产</a:t>
              </a:r>
            </a:p>
          </p:txBody>
        </p:sp>
        <p:sp>
          <p:nvSpPr>
            <p:cNvPr id="27" name="Line 27"/>
            <p:cNvSpPr/>
            <p:nvPr/>
          </p:nvSpPr>
          <p:spPr>
            <a:xfrm>
              <a:off x="6591300" y="2276475"/>
              <a:ext cx="4800600" cy="9525"/>
            </a:xfrm>
            <a:custGeom>
              <a:avLst/>
              <a:gdLst/>
              <a:ahLst/>
              <a:cxnLst/>
              <a:rect l="l" t="t" r="r" b="b"/>
              <a:pathLst>
                <a:path w="4800600" h="9525">
                  <a:moveTo>
                    <a:pt x="0" y="0"/>
                  </a:moveTo>
                  <a:lnTo>
                    <a:pt x="4800600" y="0"/>
                  </a:lnTo>
                </a:path>
              </a:pathLst>
            </a:custGeom>
            <a:noFill/>
            <a:ln w="19050">
              <a:solidFill>
                <a:srgbClr val="D4E2EE"/>
              </a:solidFill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6819900" y="2505075"/>
              <a:ext cx="4343400" cy="20955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650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规则/Skill/Eval 沉淀</a:t>
              </a:r>
            </a:p>
            <a:p>
              <a:pPr algn="l"/>
              <a:r>
                <a:rPr lang="zh-CN" sz="1650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统一 Runtime 治理</a:t>
              </a:r>
            </a:p>
            <a:p>
              <a:pPr algn="l"/>
              <a:r>
                <a:rPr lang="zh-CN" sz="1650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Trace+Baseline 驱动</a:t>
              </a:r>
            </a:p>
            <a:p>
              <a:pPr algn="l"/>
              <a:r>
                <a:rPr lang="zh-CN" sz="1650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资产随组织复用</a:t>
              </a:r>
            </a:p>
          </p:txBody>
        </p:sp>
        <p:sp>
          <p:nvSpPr>
            <p:cNvPr id="29" name="Line 29"/>
            <p:cNvSpPr/>
            <p:nvPr/>
          </p:nvSpPr>
          <p:spPr>
            <a:xfrm>
              <a:off x="6591300" y="4905375"/>
              <a:ext cx="4800600" cy="9525"/>
            </a:xfrm>
            <a:custGeom>
              <a:avLst/>
              <a:gdLst/>
              <a:ahLst/>
              <a:cxnLst/>
              <a:rect l="l" t="t" r="r" b="b"/>
              <a:pathLst>
                <a:path w="4800600" h="9525">
                  <a:moveTo>
                    <a:pt x="0" y="0"/>
                  </a:moveTo>
                  <a:lnTo>
                    <a:pt x="4800600" y="0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</p:grpSp>
      <p:grpSp>
        <p:nvGrpSpPr>
          <p:cNvPr id="34" name="EasySlides Component: synthesis"/>
          <p:cNvGrpSpPr/>
          <p:nvPr/>
        </p:nvGrpSpPr>
        <p:grpSpPr>
          <a:xfrm>
            <a:off x="495300" y="5476875"/>
            <a:ext cx="11201400" cy="714375"/>
            <a:chOff x="495300" y="5476875"/>
            <a:chExt cx="11201400" cy="714375"/>
          </a:xfrm>
        </p:grpSpPr>
        <p:sp>
          <p:nvSpPr>
            <p:cNvPr id="31" name="Rectangle 31"/>
            <p:cNvSpPr/>
            <p:nvPr/>
          </p:nvSpPr>
          <p:spPr>
            <a:xfrm>
              <a:off x="495300" y="5476875"/>
              <a:ext cx="11201400" cy="714375"/>
            </a:xfrm>
            <a:prstGeom prst="roundRect">
              <a:avLst>
                <a:gd name="adj" fmla="val 5333"/>
              </a:avLst>
            </a:prstGeom>
            <a:solidFill>
              <a:srgbClr val="0E7490"/>
            </a:solidFill>
            <a:ln>
              <a:noFill/>
            </a:ln>
          </p:spPr>
        </p:sp>
        <p:sp>
          <p:nvSpPr>
            <p:cNvPr id="32" name="Rectangle 32"/>
            <p:cNvSpPr/>
            <p:nvPr/>
          </p:nvSpPr>
          <p:spPr>
            <a:xfrm>
              <a:off x="495300" y="5476875"/>
              <a:ext cx="76200" cy="714375"/>
            </a:xfrm>
            <a:prstGeom prst="roundRect">
              <a:avLst>
                <a:gd name="adj" fmla="val 50000"/>
              </a:avLst>
            </a:prstGeom>
            <a:solidFill>
              <a:srgbClr val="CC0000"/>
            </a:solidFill>
            <a:ln>
              <a:noFill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876300" y="5610225"/>
              <a:ext cx="10439400" cy="4476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65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延伸阅读：Run/Step/Event 统一执行模型与故障恢复。</a:t>
              </a:r>
            </a:p>
          </p:txBody>
        </p:sp>
      </p:grpSp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666750"/>
          </a:xfrm>
          <a:prstGeom prst="rect">
            <a:avLst/>
          </a:prstGeom>
          <a:solidFill>
            <a:srgbClr val="0E7490"/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0"/>
            <a:ext cx="57150" cy="666750"/>
          </a:xfrm>
          <a:prstGeom prst="rect">
            <a:avLst/>
          </a:prstGeom>
          <a:solidFill>
            <a:srgbClr val="CC0000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381000" y="123825"/>
            <a:ext cx="762000" cy="4000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1275" b="1" dirty="0">
                <a:solidFill>
                  <a:srgbClr val="9FD3FF"/>
                </a:solidFill>
                <a:latin typeface="Arial"/>
                <a:ea typeface="Microsoft YaHei"/>
                <a:cs typeface="Arial"/>
              </a:rPr>
              <a:t>71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257300" y="95250"/>
            <a:ext cx="8096250" cy="457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21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拓展学习地图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0001250" y="76200"/>
            <a:ext cx="1619250" cy="5143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3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DataAgent</a:t>
            </a:r>
          </a:p>
        </p:txBody>
      </p:sp>
      <p:sp>
        <p:nvSpPr>
          <p:cNvPr id="8" name="Rectangle 8"/>
          <p:cNvSpPr/>
          <p:nvPr/>
        </p:nvSpPr>
        <p:spPr>
          <a:xfrm>
            <a:off x="0" y="666750"/>
            <a:ext cx="12192000" cy="476250"/>
          </a:xfrm>
          <a:prstGeom prst="rect">
            <a:avLst/>
          </a:prstGeom>
          <a:solidFill>
            <a:srgbClr val="E8F4FC"/>
          </a:solidFill>
          <a:ln>
            <a:noFill/>
          </a:ln>
        </p:spPr>
      </p:sp>
      <p:sp>
        <p:nvSpPr>
          <p:cNvPr id="9" name="Rectangle 9"/>
          <p:cNvSpPr/>
          <p:nvPr/>
        </p:nvSpPr>
        <p:spPr>
          <a:xfrm>
            <a:off x="0" y="666750"/>
            <a:ext cx="57150" cy="476250"/>
          </a:xfrm>
          <a:prstGeom prst="rect">
            <a:avLst/>
          </a:prstGeom>
          <a:solidFill>
            <a:srgbClr val="06B6D4"/>
          </a:solidFill>
          <a:ln>
            <a:noFill/>
          </a:ln>
        </p:spPr>
      </p:sp>
      <p:sp>
        <p:nvSpPr>
          <p:cNvPr id="10" name="TextBox 10"/>
          <p:cNvSpPr txBox="1"/>
          <p:nvPr/>
        </p:nvSpPr>
        <p:spPr>
          <a:xfrm>
            <a:off x="381000" y="714375"/>
            <a:ext cx="10001250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1350" dirty="0">
                <a:solidFill>
                  <a:srgbClr val="26384A"/>
                </a:solidFill>
                <a:latin typeface="Arial"/>
                <a:ea typeface="Microsoft YaHei"/>
                <a:cs typeface="Arial"/>
              </a:rPr>
              <a:t>三层次进阶</a:t>
            </a:r>
          </a:p>
        </p:txBody>
      </p:sp>
      <p:sp>
        <p:nvSpPr>
          <p:cNvPr id="11" name="Line 11"/>
          <p:cNvSpPr/>
          <p:nvPr/>
        </p:nvSpPr>
        <p:spPr>
          <a:xfrm>
            <a:off x="381000" y="6334125"/>
            <a:ext cx="11430000" cy="9525"/>
          </a:xfrm>
          <a:custGeom>
            <a:avLst/>
            <a:gdLst/>
            <a:ahLst/>
            <a:cxnLst/>
            <a:rect l="l" t="t" r="r" b="b"/>
            <a:pathLst>
              <a:path w="11430000" h="9525">
                <a:moveTo>
                  <a:pt x="0" y="0"/>
                </a:moveTo>
                <a:lnTo>
                  <a:pt x="11430000" y="0"/>
                </a:lnTo>
              </a:path>
            </a:pathLst>
          </a:custGeom>
          <a:noFill/>
          <a:ln w="9525">
            <a:solidFill>
              <a:srgbClr val="E8F4FC"/>
            </a:solidFill>
          </a:ln>
        </p:spPr>
      </p:sp>
      <p:sp>
        <p:nvSpPr>
          <p:cNvPr id="12" name="TextBox 12"/>
          <p:cNvSpPr txBox="1"/>
          <p:nvPr/>
        </p:nvSpPr>
        <p:spPr>
          <a:xfrm>
            <a:off x="381000" y="6477000"/>
            <a:ext cx="4953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课程第15讲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4381500" y="6477000"/>
            <a:ext cx="3429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Agent Runtime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0763250" y="6457950"/>
            <a:ext cx="857250" cy="266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050" dirty="0">
                <a:solidFill>
                  <a:srgbClr val="52657A"/>
                </a:solidFill>
                <a:latin typeface="Arial"/>
                <a:ea typeface="Microsoft YaHei"/>
                <a:cs typeface="Arial"/>
              </a:rPr>
              <a:t>71</a:t>
            </a:r>
          </a:p>
        </p:txBody>
      </p:sp>
      <p:grpSp>
        <p:nvGrpSpPr>
          <p:cNvPr id="21" name="EasySlides Component: evidence_01"/>
          <p:cNvGrpSpPr/>
          <p:nvPr/>
        </p:nvGrpSpPr>
        <p:grpSpPr>
          <a:xfrm>
            <a:off x="495300" y="3524250"/>
            <a:ext cx="11201400" cy="1285875"/>
            <a:chOff x="495300" y="3524250"/>
            <a:chExt cx="11201400" cy="1285875"/>
          </a:xfrm>
        </p:grpSpPr>
        <p:sp>
          <p:nvSpPr>
            <p:cNvPr id="15" name="Rectangle 15"/>
            <p:cNvSpPr/>
            <p:nvPr/>
          </p:nvSpPr>
          <p:spPr>
            <a:xfrm>
              <a:off x="495300" y="3524250"/>
              <a:ext cx="11201400" cy="1285875"/>
            </a:xfrm>
            <a:prstGeom prst="roundRect">
              <a:avLst>
                <a:gd name="adj" fmla="val 2963"/>
              </a:avLst>
            </a:prstGeom>
            <a:solidFill>
              <a:srgbClr val="FFFFFF"/>
            </a:solidFill>
            <a:ln w="11430">
              <a:solidFill>
                <a:srgbClr val="B8C7D6"/>
              </a:solidFill>
            </a:ln>
          </p:spPr>
        </p:sp>
        <p:sp>
          <p:nvSpPr>
            <p:cNvPr id="16" name="Rectangle 16"/>
            <p:cNvSpPr/>
            <p:nvPr/>
          </p:nvSpPr>
          <p:spPr>
            <a:xfrm>
              <a:off x="495300" y="3524250"/>
              <a:ext cx="76200" cy="1285875"/>
            </a:xfrm>
            <a:prstGeom prst="roundRect">
              <a:avLst>
                <a:gd name="adj" fmla="val 50000"/>
              </a:avLst>
            </a:prstGeom>
            <a:solidFill>
              <a:srgbClr val="06B6D4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733425" y="3971925"/>
              <a:ext cx="438150" cy="5238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650" b="1" dirty="0">
                  <a:solidFill>
                    <a:srgbClr val="06B6D4"/>
                  </a:solidFill>
                  <a:latin typeface="Arial"/>
                  <a:ea typeface="Microsoft YaHei"/>
                  <a:cs typeface="Arial"/>
                </a:rPr>
                <a:t>01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1447800" y="3752850"/>
              <a:ext cx="2667000" cy="78105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575" b="1" dirty="0">
                  <a:solidFill>
                    <a:srgbClr val="0E7490"/>
                  </a:solidFill>
                  <a:latin typeface="Arial"/>
                  <a:ea typeface="Microsoft YaHei"/>
                  <a:cs typeface="Arial"/>
                </a:rPr>
                <a:t>体系</a:t>
              </a:r>
            </a:p>
          </p:txBody>
        </p:sp>
        <p:sp>
          <p:nvSpPr>
            <p:cNvPr id="19" name="Line 19"/>
            <p:cNvSpPr/>
            <p:nvPr/>
          </p:nvSpPr>
          <p:spPr>
            <a:xfrm>
              <a:off x="4362450" y="3752850"/>
              <a:ext cx="9525" cy="828675"/>
            </a:xfrm>
            <a:custGeom>
              <a:avLst/>
              <a:gdLst/>
              <a:ahLst/>
              <a:cxnLst/>
              <a:rect l="l" t="t" r="r" b="b"/>
              <a:pathLst>
                <a:path w="9525" h="828675">
                  <a:moveTo>
                    <a:pt x="0" y="0"/>
                  </a:moveTo>
                  <a:lnTo>
                    <a:pt x="0" y="828675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4686300" y="3752850"/>
              <a:ext cx="6572250" cy="78105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425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把本讲机制放进企业级全景图</a:t>
              </a:r>
            </a:p>
          </p:txBody>
        </p:sp>
      </p:grpSp>
      <p:grpSp>
        <p:nvGrpSpPr>
          <p:cNvPr id="28" name="EasySlides Component: evidence_02"/>
          <p:cNvGrpSpPr/>
          <p:nvPr/>
        </p:nvGrpSpPr>
        <p:grpSpPr>
          <a:xfrm>
            <a:off x="495300" y="4905375"/>
            <a:ext cx="11201400" cy="1285875"/>
            <a:chOff x="495300" y="4905375"/>
            <a:chExt cx="11201400" cy="1285875"/>
          </a:xfrm>
        </p:grpSpPr>
        <p:sp>
          <p:nvSpPr>
            <p:cNvPr id="22" name="Rectangle 22"/>
            <p:cNvSpPr/>
            <p:nvPr/>
          </p:nvSpPr>
          <p:spPr>
            <a:xfrm>
              <a:off x="495300" y="4905375"/>
              <a:ext cx="11201400" cy="1285875"/>
            </a:xfrm>
            <a:prstGeom prst="roundRect">
              <a:avLst>
                <a:gd name="adj" fmla="val 2963"/>
              </a:avLst>
            </a:prstGeom>
            <a:solidFill>
              <a:srgbClr val="FFFFFF"/>
            </a:solidFill>
            <a:ln w="11430">
              <a:solidFill>
                <a:srgbClr val="B8C7D6"/>
              </a:solidFill>
            </a:ln>
          </p:spPr>
        </p:sp>
        <p:sp>
          <p:nvSpPr>
            <p:cNvPr id="23" name="Rectangle 23"/>
            <p:cNvSpPr/>
            <p:nvPr/>
          </p:nvSpPr>
          <p:spPr>
            <a:xfrm>
              <a:off x="495300" y="4905375"/>
              <a:ext cx="76200" cy="1285875"/>
            </a:xfrm>
            <a:prstGeom prst="roundRect">
              <a:avLst>
                <a:gd name="adj" fmla="val 50000"/>
              </a:avLst>
            </a:prstGeom>
            <a:solidFill>
              <a:srgbClr val="06B6D4"/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733425" y="5353050"/>
              <a:ext cx="438150" cy="5238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650" b="1" dirty="0">
                  <a:solidFill>
                    <a:srgbClr val="06B6D4"/>
                  </a:solidFill>
                  <a:latin typeface="Arial"/>
                  <a:ea typeface="Microsoft YaHei"/>
                  <a:cs typeface="Arial"/>
                </a:rPr>
                <a:t>02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1447800" y="5133975"/>
              <a:ext cx="2667000" cy="78105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575" b="1" dirty="0">
                  <a:solidFill>
                    <a:srgbClr val="0E7490"/>
                  </a:solidFill>
                  <a:latin typeface="Arial"/>
                  <a:ea typeface="Microsoft YaHei"/>
                  <a:cs typeface="Arial"/>
                </a:rPr>
                <a:t>贯通</a:t>
              </a:r>
            </a:p>
          </p:txBody>
        </p:sp>
        <p:sp>
          <p:nvSpPr>
            <p:cNvPr id="26" name="Line 26"/>
            <p:cNvSpPr/>
            <p:nvPr/>
          </p:nvSpPr>
          <p:spPr>
            <a:xfrm>
              <a:off x="4362450" y="5133975"/>
              <a:ext cx="9525" cy="828675"/>
            </a:xfrm>
            <a:custGeom>
              <a:avLst/>
              <a:gdLst/>
              <a:ahLst/>
              <a:cxnLst/>
              <a:rect l="l" t="t" r="r" b="b"/>
              <a:pathLst>
                <a:path w="9525" h="828675">
                  <a:moveTo>
                    <a:pt x="0" y="0"/>
                  </a:moveTo>
                  <a:lnTo>
                    <a:pt x="0" y="828675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4686300" y="5133975"/>
              <a:ext cx="6572250" cy="78105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425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与前后讲次的接口互相印证</a:t>
              </a:r>
            </a:p>
          </p:txBody>
        </p:sp>
      </p:grpSp>
      <p:grpSp>
        <p:nvGrpSpPr>
          <p:cNvPr id="34" name="EasySlides Component: metric_01"/>
          <p:cNvGrpSpPr/>
          <p:nvPr/>
        </p:nvGrpSpPr>
        <p:grpSpPr>
          <a:xfrm>
            <a:off x="495300" y="1285875"/>
            <a:ext cx="3505200" cy="1809750"/>
            <a:chOff x="495300" y="1285875"/>
            <a:chExt cx="3505200" cy="1809750"/>
          </a:xfrm>
        </p:grpSpPr>
        <p:sp>
          <p:nvSpPr>
            <p:cNvPr id="29" name="Rectangle 29"/>
            <p:cNvSpPr/>
            <p:nvPr/>
          </p:nvSpPr>
          <p:spPr>
            <a:xfrm>
              <a:off x="495300" y="1285875"/>
              <a:ext cx="3505200" cy="1809750"/>
            </a:xfrm>
            <a:prstGeom prst="roundRect">
              <a:avLst>
                <a:gd name="adj" fmla="val 2105"/>
              </a:avLst>
            </a:prstGeom>
            <a:solidFill>
              <a:srgbClr val="F0F9FC"/>
            </a:solidFill>
            <a:ln w="11430">
              <a:solidFill>
                <a:srgbClr val="B8C7D6"/>
              </a:solidFill>
            </a:ln>
          </p:spPr>
        </p:sp>
        <p:sp>
          <p:nvSpPr>
            <p:cNvPr id="30" name="Rectangle 30"/>
            <p:cNvSpPr/>
            <p:nvPr/>
          </p:nvSpPr>
          <p:spPr>
            <a:xfrm>
              <a:off x="495300" y="1285875"/>
              <a:ext cx="3505200" cy="66675"/>
            </a:xfrm>
            <a:prstGeom prst="roundRect">
              <a:avLst>
                <a:gd name="adj" fmla="val 50000"/>
              </a:avLst>
            </a:prstGeom>
            <a:solidFill>
              <a:srgbClr val="06B6D4"/>
            </a:solidFill>
            <a:ln>
              <a:noFill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762000" y="1619250"/>
              <a:ext cx="2971800" cy="7143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3150" b="1" dirty="0">
                  <a:solidFill>
                    <a:srgbClr val="0E7490"/>
                  </a:solidFill>
                  <a:latin typeface="Arial"/>
                  <a:ea typeface="Microsoft YaHei"/>
                  <a:cs typeface="Arial"/>
                </a:rPr>
                <a:t>向上</a:t>
              </a:r>
            </a:p>
          </p:txBody>
        </p:sp>
        <p:sp>
          <p:nvSpPr>
            <p:cNvPr id="32" name="Line 32"/>
            <p:cNvSpPr/>
            <p:nvPr/>
          </p:nvSpPr>
          <p:spPr>
            <a:xfrm>
              <a:off x="990600" y="2476500"/>
              <a:ext cx="2514600" cy="9525"/>
            </a:xfrm>
            <a:custGeom>
              <a:avLst/>
              <a:gdLst/>
              <a:ahLst/>
              <a:cxnLst/>
              <a:rect l="l" t="t" r="r" b="b"/>
              <a:pathLst>
                <a:path w="2514600" h="9525">
                  <a:moveTo>
                    <a:pt x="0" y="0"/>
                  </a:moveTo>
                  <a:lnTo>
                    <a:pt x="2514600" y="0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762000" y="2562225"/>
              <a:ext cx="2971800" cy="3429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350" dirty="0">
                  <a:solidFill>
                    <a:srgbClr val="52657A"/>
                  </a:solidFill>
                  <a:latin typeface="Arial"/>
                  <a:ea typeface="Microsoft YaHei"/>
                  <a:cs typeface="Arial"/>
                </a:rPr>
                <a:t>架构与治理体系化</a:t>
              </a:r>
            </a:p>
          </p:txBody>
        </p:sp>
      </p:grpSp>
      <p:grpSp>
        <p:nvGrpSpPr>
          <p:cNvPr id="40" name="EasySlides Component: metric_02"/>
          <p:cNvGrpSpPr/>
          <p:nvPr/>
        </p:nvGrpSpPr>
        <p:grpSpPr>
          <a:xfrm>
            <a:off x="4343400" y="1285875"/>
            <a:ext cx="3505200" cy="1809750"/>
            <a:chOff x="4343400" y="1285875"/>
            <a:chExt cx="3505200" cy="1809750"/>
          </a:xfrm>
        </p:grpSpPr>
        <p:sp>
          <p:nvSpPr>
            <p:cNvPr id="35" name="Rectangle 35"/>
            <p:cNvSpPr/>
            <p:nvPr/>
          </p:nvSpPr>
          <p:spPr>
            <a:xfrm>
              <a:off x="4343400" y="1285875"/>
              <a:ext cx="3505200" cy="1809750"/>
            </a:xfrm>
            <a:prstGeom prst="roundRect">
              <a:avLst>
                <a:gd name="adj" fmla="val 2105"/>
              </a:avLst>
            </a:prstGeom>
            <a:solidFill>
              <a:srgbClr val="F0F9FC"/>
            </a:solidFill>
            <a:ln w="11430">
              <a:solidFill>
                <a:srgbClr val="B8C7D6"/>
              </a:solidFill>
            </a:ln>
          </p:spPr>
        </p:sp>
        <p:sp>
          <p:nvSpPr>
            <p:cNvPr id="36" name="Rectangle 36"/>
            <p:cNvSpPr/>
            <p:nvPr/>
          </p:nvSpPr>
          <p:spPr>
            <a:xfrm>
              <a:off x="4343400" y="1285875"/>
              <a:ext cx="3505200" cy="66675"/>
            </a:xfrm>
            <a:prstGeom prst="roundRect">
              <a:avLst>
                <a:gd name="adj" fmla="val 50000"/>
              </a:avLst>
            </a:prstGeom>
            <a:solidFill>
              <a:srgbClr val="06B6D4"/>
            </a:solidFill>
            <a:ln>
              <a:noFill/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4610100" y="1619250"/>
              <a:ext cx="2971800" cy="7143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3150" b="1" dirty="0">
                  <a:solidFill>
                    <a:srgbClr val="0E7490"/>
                  </a:solidFill>
                  <a:latin typeface="Arial"/>
                  <a:ea typeface="Microsoft YaHei"/>
                  <a:cs typeface="Arial"/>
                </a:rPr>
                <a:t>向深</a:t>
              </a:r>
            </a:p>
          </p:txBody>
        </p:sp>
        <p:sp>
          <p:nvSpPr>
            <p:cNvPr id="38" name="Line 38"/>
            <p:cNvSpPr/>
            <p:nvPr/>
          </p:nvSpPr>
          <p:spPr>
            <a:xfrm>
              <a:off x="4838700" y="2476500"/>
              <a:ext cx="2514600" cy="9525"/>
            </a:xfrm>
            <a:custGeom>
              <a:avLst/>
              <a:gdLst/>
              <a:ahLst/>
              <a:cxnLst/>
              <a:rect l="l" t="t" r="r" b="b"/>
              <a:pathLst>
                <a:path w="2514600" h="9525">
                  <a:moveTo>
                    <a:pt x="0" y="0"/>
                  </a:moveTo>
                  <a:lnTo>
                    <a:pt x="2514600" y="0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4610100" y="2562225"/>
              <a:ext cx="2971800" cy="3429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350" dirty="0">
                  <a:solidFill>
                    <a:srgbClr val="52657A"/>
                  </a:solidFill>
                  <a:latin typeface="Arial"/>
                  <a:ea typeface="Microsoft YaHei"/>
                  <a:cs typeface="Arial"/>
                </a:rPr>
                <a:t>Runtime 与可靠性</a:t>
              </a:r>
            </a:p>
          </p:txBody>
        </p:sp>
      </p:grpSp>
      <p:grpSp>
        <p:nvGrpSpPr>
          <p:cNvPr id="46" name="EasySlides Component: metric_03"/>
          <p:cNvGrpSpPr/>
          <p:nvPr/>
        </p:nvGrpSpPr>
        <p:grpSpPr>
          <a:xfrm>
            <a:off x="8191500" y="1285875"/>
            <a:ext cx="3505200" cy="1809750"/>
            <a:chOff x="8191500" y="1285875"/>
            <a:chExt cx="3505200" cy="1809750"/>
          </a:xfrm>
        </p:grpSpPr>
        <p:sp>
          <p:nvSpPr>
            <p:cNvPr id="41" name="Rectangle 41"/>
            <p:cNvSpPr/>
            <p:nvPr/>
          </p:nvSpPr>
          <p:spPr>
            <a:xfrm>
              <a:off x="8191500" y="1285875"/>
              <a:ext cx="3505200" cy="1809750"/>
            </a:xfrm>
            <a:prstGeom prst="roundRect">
              <a:avLst>
                <a:gd name="adj" fmla="val 2105"/>
              </a:avLst>
            </a:prstGeom>
            <a:solidFill>
              <a:srgbClr val="F0F9FC"/>
            </a:solidFill>
            <a:ln w="11430">
              <a:solidFill>
                <a:srgbClr val="B8C7D6"/>
              </a:solidFill>
            </a:ln>
          </p:spPr>
        </p:sp>
        <p:sp>
          <p:nvSpPr>
            <p:cNvPr id="42" name="Rectangle 42"/>
            <p:cNvSpPr/>
            <p:nvPr/>
          </p:nvSpPr>
          <p:spPr>
            <a:xfrm>
              <a:off x="8191500" y="1285875"/>
              <a:ext cx="3505200" cy="66675"/>
            </a:xfrm>
            <a:prstGeom prst="roundRect">
              <a:avLst>
                <a:gd name="adj" fmla="val 50000"/>
              </a:avLst>
            </a:prstGeom>
            <a:solidFill>
              <a:srgbClr val="06B6D4"/>
            </a:solidFill>
            <a:ln>
              <a:noFill/>
            </a:ln>
          </p:spPr>
        </p:sp>
        <p:sp>
          <p:nvSpPr>
            <p:cNvPr id="43" name="TextBox 43"/>
            <p:cNvSpPr txBox="1"/>
            <p:nvPr/>
          </p:nvSpPr>
          <p:spPr>
            <a:xfrm>
              <a:off x="8458200" y="1619250"/>
              <a:ext cx="2971800" cy="7143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3150" b="1" dirty="0">
                  <a:solidFill>
                    <a:srgbClr val="0E7490"/>
                  </a:solidFill>
                  <a:latin typeface="Arial"/>
                  <a:ea typeface="Microsoft YaHei"/>
                  <a:cs typeface="Arial"/>
                </a:rPr>
                <a:t>向外</a:t>
              </a:r>
            </a:p>
          </p:txBody>
        </p:sp>
        <p:sp>
          <p:nvSpPr>
            <p:cNvPr id="44" name="Line 44"/>
            <p:cNvSpPr/>
            <p:nvPr/>
          </p:nvSpPr>
          <p:spPr>
            <a:xfrm>
              <a:off x="8686800" y="2476500"/>
              <a:ext cx="2514600" cy="9525"/>
            </a:xfrm>
            <a:custGeom>
              <a:avLst/>
              <a:gdLst/>
              <a:ahLst/>
              <a:cxnLst/>
              <a:rect l="l" t="t" r="r" b="b"/>
              <a:pathLst>
                <a:path w="2514600" h="9525">
                  <a:moveTo>
                    <a:pt x="0" y="0"/>
                  </a:moveTo>
                  <a:lnTo>
                    <a:pt x="2514600" y="0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45" name="TextBox 45"/>
            <p:cNvSpPr txBox="1"/>
            <p:nvPr/>
          </p:nvSpPr>
          <p:spPr>
            <a:xfrm>
              <a:off x="8458200" y="2562225"/>
              <a:ext cx="2971800" cy="3429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350" dirty="0">
                  <a:solidFill>
                    <a:srgbClr val="52657A"/>
                  </a:solidFill>
                  <a:latin typeface="Arial"/>
                  <a:ea typeface="Microsoft YaHei"/>
                  <a:cs typeface="Arial"/>
                </a:rPr>
                <a:t>多 Agent 与平台化</a:t>
              </a:r>
            </a:p>
          </p:txBody>
        </p:sp>
      </p:grpSp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666750"/>
          </a:xfrm>
          <a:prstGeom prst="rect">
            <a:avLst/>
          </a:prstGeom>
          <a:solidFill>
            <a:srgbClr val="0E7490"/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0"/>
            <a:ext cx="57150" cy="666750"/>
          </a:xfrm>
          <a:prstGeom prst="rect">
            <a:avLst/>
          </a:prstGeom>
          <a:solidFill>
            <a:srgbClr val="CC0000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381000" y="123825"/>
            <a:ext cx="762000" cy="4000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1275" b="1" dirty="0">
                <a:solidFill>
                  <a:srgbClr val="9FD3FF"/>
                </a:solidFill>
                <a:latin typeface="Arial"/>
                <a:ea typeface="Microsoft YaHei"/>
                <a:cs typeface="Arial"/>
              </a:rPr>
              <a:t>72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257300" y="95250"/>
            <a:ext cx="8096250" cy="457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21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演进路线图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0001250" y="76200"/>
            <a:ext cx="1619250" cy="5143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3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DataAgent</a:t>
            </a:r>
          </a:p>
        </p:txBody>
      </p:sp>
      <p:sp>
        <p:nvSpPr>
          <p:cNvPr id="8" name="Rectangle 8"/>
          <p:cNvSpPr/>
          <p:nvPr/>
        </p:nvSpPr>
        <p:spPr>
          <a:xfrm>
            <a:off x="0" y="666750"/>
            <a:ext cx="12192000" cy="476250"/>
          </a:xfrm>
          <a:prstGeom prst="rect">
            <a:avLst/>
          </a:prstGeom>
          <a:solidFill>
            <a:srgbClr val="E8F4FC"/>
          </a:solidFill>
          <a:ln>
            <a:noFill/>
          </a:ln>
        </p:spPr>
      </p:sp>
      <p:sp>
        <p:nvSpPr>
          <p:cNvPr id="9" name="Rectangle 9"/>
          <p:cNvSpPr/>
          <p:nvPr/>
        </p:nvSpPr>
        <p:spPr>
          <a:xfrm>
            <a:off x="0" y="666750"/>
            <a:ext cx="57150" cy="476250"/>
          </a:xfrm>
          <a:prstGeom prst="rect">
            <a:avLst/>
          </a:prstGeom>
          <a:solidFill>
            <a:srgbClr val="06B6D4"/>
          </a:solidFill>
          <a:ln>
            <a:noFill/>
          </a:ln>
        </p:spPr>
      </p:sp>
      <p:sp>
        <p:nvSpPr>
          <p:cNvPr id="10" name="TextBox 10"/>
          <p:cNvSpPr txBox="1"/>
          <p:nvPr/>
        </p:nvSpPr>
        <p:spPr>
          <a:xfrm>
            <a:off x="381000" y="714375"/>
            <a:ext cx="10001250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1350" dirty="0">
                <a:solidFill>
                  <a:srgbClr val="26384A"/>
                </a:solidFill>
                <a:latin typeface="Arial"/>
                <a:ea typeface="Microsoft YaHei"/>
                <a:cs typeface="Arial"/>
              </a:rPr>
              <a:t>本讲在能力阶梯上的位置</a:t>
            </a:r>
          </a:p>
        </p:txBody>
      </p:sp>
      <p:sp>
        <p:nvSpPr>
          <p:cNvPr id="11" name="Line 11"/>
          <p:cNvSpPr/>
          <p:nvPr/>
        </p:nvSpPr>
        <p:spPr>
          <a:xfrm>
            <a:off x="381000" y="6334125"/>
            <a:ext cx="11430000" cy="9525"/>
          </a:xfrm>
          <a:custGeom>
            <a:avLst/>
            <a:gdLst/>
            <a:ahLst/>
            <a:cxnLst/>
            <a:rect l="l" t="t" r="r" b="b"/>
            <a:pathLst>
              <a:path w="11430000" h="9525">
                <a:moveTo>
                  <a:pt x="0" y="0"/>
                </a:moveTo>
                <a:lnTo>
                  <a:pt x="11430000" y="0"/>
                </a:lnTo>
              </a:path>
            </a:pathLst>
          </a:custGeom>
          <a:noFill/>
          <a:ln w="9525">
            <a:solidFill>
              <a:srgbClr val="E8F4FC"/>
            </a:solidFill>
          </a:ln>
        </p:spPr>
      </p:sp>
      <p:sp>
        <p:nvSpPr>
          <p:cNvPr id="12" name="TextBox 12"/>
          <p:cNvSpPr txBox="1"/>
          <p:nvPr/>
        </p:nvSpPr>
        <p:spPr>
          <a:xfrm>
            <a:off x="381000" y="6477000"/>
            <a:ext cx="4953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课程第15讲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4381500" y="6477000"/>
            <a:ext cx="3429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Agent Runtime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0763250" y="6457950"/>
            <a:ext cx="857250" cy="266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050" dirty="0">
                <a:solidFill>
                  <a:srgbClr val="52657A"/>
                </a:solidFill>
                <a:latin typeface="Arial"/>
                <a:ea typeface="Microsoft YaHei"/>
                <a:cs typeface="Arial"/>
              </a:rPr>
              <a:t>72</a:t>
            </a:r>
          </a:p>
        </p:txBody>
      </p:sp>
      <p:grpSp>
        <p:nvGrpSpPr>
          <p:cNvPr id="26" name="EasySlides Component: evidence"/>
          <p:cNvGrpSpPr/>
          <p:nvPr/>
        </p:nvGrpSpPr>
        <p:grpSpPr>
          <a:xfrm>
            <a:off x="7124700" y="1285875"/>
            <a:ext cx="4572000" cy="4905375"/>
            <a:chOff x="7124700" y="1285875"/>
            <a:chExt cx="4572000" cy="4905375"/>
          </a:xfrm>
        </p:grpSpPr>
        <p:sp>
          <p:nvSpPr>
            <p:cNvPr id="15" name="Rectangle 15"/>
            <p:cNvSpPr/>
            <p:nvPr/>
          </p:nvSpPr>
          <p:spPr>
            <a:xfrm>
              <a:off x="7124700" y="1285875"/>
              <a:ext cx="4572000" cy="4905375"/>
            </a:xfrm>
            <a:prstGeom prst="roundRect">
              <a:avLst>
                <a:gd name="adj" fmla="val 833"/>
              </a:avLst>
            </a:prstGeom>
            <a:solidFill>
              <a:srgbClr val="F0F9FC"/>
            </a:solidFill>
            <a:ln w="11430">
              <a:solidFill>
                <a:srgbClr val="B8C7D6"/>
              </a:solidFill>
            </a:ln>
          </p:spPr>
        </p:sp>
        <p:sp>
          <p:nvSpPr>
            <p:cNvPr id="16" name="Rectangle 16"/>
            <p:cNvSpPr/>
            <p:nvPr/>
          </p:nvSpPr>
          <p:spPr>
            <a:xfrm>
              <a:off x="7124700" y="1285875"/>
              <a:ext cx="76200" cy="4905375"/>
            </a:xfrm>
            <a:prstGeom prst="rect">
              <a:avLst/>
            </a:prstGeom>
            <a:solidFill>
              <a:srgbClr val="06B6D4"/>
            </a:solidFill>
            <a:ln>
              <a:noFill/>
            </a:ln>
          </p:spPr>
        </p:sp>
        <p:sp>
          <p:nvSpPr>
            <p:cNvPr id="17" name="Rectangle 17"/>
            <p:cNvSpPr/>
            <p:nvPr/>
          </p:nvSpPr>
          <p:spPr>
            <a:xfrm>
              <a:off x="7391400" y="1552575"/>
              <a:ext cx="4038600" cy="1257300"/>
            </a:xfrm>
            <a:prstGeom prst="roundRect">
              <a:avLst>
                <a:gd name="adj" fmla="val 1515"/>
              </a:avLst>
            </a:prstGeom>
            <a:solidFill>
              <a:srgbClr val="FFFFFF"/>
            </a:solidFill>
            <a:ln w="9525">
              <a:solidFill>
                <a:srgbClr val="D4E2EE"/>
              </a:solidFill>
            </a:ln>
          </p:spPr>
        </p:sp>
        <p:sp>
          <p:nvSpPr>
            <p:cNvPr id="18" name="Rectangle 18"/>
            <p:cNvSpPr/>
            <p:nvPr/>
          </p:nvSpPr>
          <p:spPr>
            <a:xfrm>
              <a:off x="7391400" y="3105150"/>
              <a:ext cx="4038600" cy="1257300"/>
            </a:xfrm>
            <a:prstGeom prst="roundRect">
              <a:avLst>
                <a:gd name="adj" fmla="val 1515"/>
              </a:avLst>
            </a:prstGeom>
            <a:solidFill>
              <a:srgbClr val="FFFFFF"/>
            </a:solidFill>
            <a:ln w="9525">
              <a:solidFill>
                <a:srgbClr val="D4E2EE"/>
              </a:solidFill>
            </a:ln>
          </p:spPr>
        </p:sp>
        <p:sp>
          <p:nvSpPr>
            <p:cNvPr id="19" name="Rectangle 19"/>
            <p:cNvSpPr/>
            <p:nvPr/>
          </p:nvSpPr>
          <p:spPr>
            <a:xfrm>
              <a:off x="7391400" y="4657725"/>
              <a:ext cx="4038600" cy="1257300"/>
            </a:xfrm>
            <a:prstGeom prst="roundRect">
              <a:avLst>
                <a:gd name="adj" fmla="val 1515"/>
              </a:avLst>
            </a:prstGeom>
            <a:solidFill>
              <a:srgbClr val="FFFFFF"/>
            </a:solidFill>
            <a:ln w="9525">
              <a:solidFill>
                <a:srgbClr val="D4E2EE"/>
              </a:solidFill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7605712" y="1745456"/>
              <a:ext cx="220156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06B6D4"/>
                  </a:solidFill>
                  <a:latin typeface="Arial"/>
                  <a:ea typeface="Microsoft YaHei"/>
                  <a:cs typeface="Arial"/>
                </a:rPr>
                <a:t>01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7605712" y="3298031"/>
              <a:ext cx="220156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06B6D4"/>
                  </a:solidFill>
                  <a:latin typeface="Arial"/>
                  <a:ea typeface="Microsoft YaHei"/>
                  <a:cs typeface="Arial"/>
                </a:rPr>
                <a:t>02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7605712" y="4850606"/>
              <a:ext cx="220156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CC0000"/>
                  </a:solidFill>
                  <a:latin typeface="Arial"/>
                  <a:ea typeface="Microsoft YaHei"/>
                  <a:cs typeface="Arial"/>
                </a:rPr>
                <a:t>03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7848600" y="1819275"/>
              <a:ext cx="3314700" cy="7239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425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当前：本讲机制已可运行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7848600" y="3371850"/>
              <a:ext cx="3314700" cy="7239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425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下一站：与相邻模块协同治理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7848600" y="4924425"/>
              <a:ext cx="3314700" cy="7239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425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长期：固化为组织级资产</a:t>
              </a:r>
            </a:p>
          </p:txBody>
        </p:sp>
      </p:grpSp>
      <p:grpSp>
        <p:nvGrpSpPr>
          <p:cNvPr id="32" name="EasySlides Component: figure"/>
          <p:cNvGrpSpPr/>
          <p:nvPr/>
        </p:nvGrpSpPr>
        <p:grpSpPr>
          <a:xfrm>
            <a:off x="495300" y="1285875"/>
            <a:ext cx="6400800" cy="4905375"/>
            <a:chOff x="495300" y="1285875"/>
            <a:chExt cx="6400800" cy="4905375"/>
          </a:xfrm>
        </p:grpSpPr>
        <p:sp>
          <p:nvSpPr>
            <p:cNvPr id="27" name="Rectangle 27"/>
            <p:cNvSpPr/>
            <p:nvPr/>
          </p:nvSpPr>
          <p:spPr>
            <a:xfrm>
              <a:off x="495300" y="1285875"/>
              <a:ext cx="6400800" cy="4905375"/>
            </a:xfrm>
            <a:prstGeom prst="roundRect">
              <a:avLst>
                <a:gd name="adj" fmla="val 777"/>
              </a:avLst>
            </a:prstGeom>
            <a:solidFill>
              <a:srgbClr val="FFFFFF"/>
            </a:solidFill>
            <a:ln w="11430">
              <a:solidFill>
                <a:srgbClr val="B8C7D6"/>
              </a:solidFill>
            </a:ln>
          </p:spPr>
        </p:sp>
        <p:sp>
          <p:nvSpPr>
            <p:cNvPr id="28" name="Rectangle 28"/>
            <p:cNvSpPr/>
            <p:nvPr/>
          </p:nvSpPr>
          <p:spPr>
            <a:xfrm>
              <a:off x="647700" y="1438275"/>
              <a:ext cx="6096000" cy="3905250"/>
            </a:xfrm>
            <a:prstGeom prst="roundRect">
              <a:avLst>
                <a:gd name="adj" fmla="val 488"/>
              </a:avLst>
            </a:prstGeom>
            <a:solidFill>
              <a:srgbClr val="F0F9FC"/>
            </a:solidFill>
            <a:ln w="9525">
              <a:solidFill>
                <a:srgbClr val="D4E2EE"/>
              </a:solidFill>
            </a:ln>
          </p:spPr>
        </p:sp>
        <p:pic>
          <p:nvPicPr>
            <p:cNvPr id="29" name="Image 29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647700" y="1605643"/>
              <a:ext cx="6096000" cy="3570514"/>
            </a:xfrm>
            <a:prstGeom prst="rect">
              <a:avLst/>
            </a:prstGeom>
          </p:spPr>
        </p:pic>
        <p:sp>
          <p:nvSpPr>
            <p:cNvPr id="30" name="Line 30"/>
            <p:cNvSpPr/>
            <p:nvPr/>
          </p:nvSpPr>
          <p:spPr>
            <a:xfrm>
              <a:off x="723900" y="5534025"/>
              <a:ext cx="5943600" cy="9525"/>
            </a:xfrm>
            <a:custGeom>
              <a:avLst/>
              <a:gdLst/>
              <a:ahLst/>
              <a:cxnLst/>
              <a:rect l="l" t="t" r="r" b="b"/>
              <a:pathLst>
                <a:path w="5943600" h="9525">
                  <a:moveTo>
                    <a:pt x="0" y="0"/>
                  </a:moveTo>
                  <a:lnTo>
                    <a:pt x="5943600" y="0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800100" y="5610225"/>
              <a:ext cx="5791200" cy="4572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350" dirty="0">
                  <a:solidFill>
                    <a:srgbClr val="52657A"/>
                  </a:solidFill>
                  <a:latin typeface="Arial"/>
                  <a:ea typeface="Microsoft YaHei"/>
                  <a:cs typeface="Arial"/>
                </a:rPr>
                <a:t>图：从本讲机制到组织资产的演进路径</a:t>
              </a:r>
            </a:p>
          </p:txBody>
        </p:sp>
      </p:grpSp>
    </p:spTree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E7490"/>
          </a:solidFill>
          <a:ln>
            <a:noFill/>
          </a:ln>
        </p:spPr>
      </p:sp>
      <p:sp>
        <p:nvSpPr>
          <p:cNvPr id="3" name="Freeform 3"/>
          <p:cNvSpPr/>
          <p:nvPr/>
        </p:nvSpPr>
        <p:spPr>
          <a:xfrm>
            <a:off x="5715000" y="0"/>
            <a:ext cx="6477000" cy="6858000"/>
          </a:xfrm>
          <a:custGeom>
            <a:avLst/>
            <a:gdLst/>
            <a:ahLst/>
            <a:cxnLst/>
            <a:rect l="l" t="t" r="r" b="b"/>
            <a:pathLst>
              <a:path w="6477000" h="6858000">
                <a:moveTo>
                  <a:pt x="1905000" y="0"/>
                </a:moveTo>
                <a:lnTo>
                  <a:pt x="6477000" y="0"/>
                </a:lnTo>
                <a:lnTo>
                  <a:pt x="6477000" y="6858000"/>
                </a:lnTo>
                <a:lnTo>
                  <a:pt x="0" y="6858000"/>
                </a:lnTo>
                <a:close/>
              </a:path>
            </a:pathLst>
          </a:custGeom>
          <a:solidFill>
            <a:srgbClr val="06B6D4">
              <a:alpha val="20000"/>
            </a:srgbClr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2286000"/>
            <a:ext cx="114300" cy="2286000"/>
          </a:xfrm>
          <a:prstGeom prst="rect">
            <a:avLst/>
          </a:prstGeom>
          <a:solidFill>
            <a:srgbClr val="CC0000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476250" y="2095500"/>
            <a:ext cx="2952750" cy="31432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8750" b="1" dirty="0">
                <a:solidFill>
                  <a:srgbClr val="FFFFFF">
                    <a:alphaMod val="10000"/>
                  </a:srgbClr>
                </a:solidFill>
                <a:latin typeface="Arial"/>
                <a:ea typeface="Microsoft YaHei"/>
                <a:cs typeface="Arial"/>
              </a:rPr>
              <a:t>73</a:t>
            </a:r>
          </a:p>
        </p:txBody>
      </p:sp>
      <p:sp>
        <p:nvSpPr>
          <p:cNvPr id="6" name="Line 6"/>
          <p:cNvSpPr/>
          <p:nvPr/>
        </p:nvSpPr>
        <p:spPr>
          <a:xfrm>
            <a:off x="3619500" y="2505075"/>
            <a:ext cx="1143000" cy="9525"/>
          </a:xfrm>
          <a:custGeom>
            <a:avLst/>
            <a:gdLst/>
            <a:ahLst/>
            <a:cxnLst/>
            <a:rect l="l" t="t" r="r" b="b"/>
            <a:pathLst>
              <a:path w="1143000" h="9525">
                <a:moveTo>
                  <a:pt x="0" y="0"/>
                </a:moveTo>
                <a:lnTo>
                  <a:pt x="1143000" y="0"/>
                </a:lnTo>
              </a:path>
            </a:pathLst>
          </a:custGeom>
          <a:noFill/>
          <a:ln w="57150">
            <a:solidFill>
              <a:srgbClr val="CC0000"/>
            </a:solidFill>
          </a:ln>
        </p:spPr>
      </p:sp>
      <p:sp>
        <p:nvSpPr>
          <p:cNvPr id="7" name="TextBox 7"/>
          <p:cNvSpPr txBox="1"/>
          <p:nvPr/>
        </p:nvSpPr>
        <p:spPr>
          <a:xfrm>
            <a:off x="3619500" y="2667000"/>
            <a:ext cx="7429500" cy="8763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42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治理与常见陷阱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3619500" y="3648075"/>
            <a:ext cx="7620000" cy="4191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1800" dirty="0">
                <a:solidFill>
                  <a:srgbClr val="E8F4FC"/>
                </a:solidFill>
                <a:latin typeface="Arial"/>
                <a:ea typeface="Microsoft YaHei"/>
                <a:cs typeface="Arial"/>
              </a:rPr>
              <a:t>企业级红线与审计要点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6762750" y="6286500"/>
            <a:ext cx="4095750" cy="2857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r"/>
            <a:r>
              <a:rPr lang="zh-CN" sz="1200" dirty="0">
                <a:solidFill>
                  <a:srgbClr val="FFFFFF">
                    <a:alphaMod val="55000"/>
                  </a:srgbClr>
                </a:solidFill>
                <a:latin typeface="Arial"/>
                <a:ea typeface="Microsoft YaHei"/>
                <a:cs typeface="Arial"/>
              </a:rPr>
              <a:t>Agent Runtime 的混合架构选型与</a:t>
            </a:r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666750"/>
          </a:xfrm>
          <a:prstGeom prst="rect">
            <a:avLst/>
          </a:prstGeom>
          <a:solidFill>
            <a:srgbClr val="0E7490"/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0"/>
            <a:ext cx="57150" cy="666750"/>
          </a:xfrm>
          <a:prstGeom prst="rect">
            <a:avLst/>
          </a:prstGeom>
          <a:solidFill>
            <a:srgbClr val="CC0000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381000" y="123825"/>
            <a:ext cx="762000" cy="4000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1275" b="1" dirty="0">
                <a:solidFill>
                  <a:srgbClr val="9FD3FF"/>
                </a:solidFill>
                <a:latin typeface="Arial"/>
                <a:ea typeface="Microsoft YaHei"/>
                <a:cs typeface="Arial"/>
              </a:rPr>
              <a:t>74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257300" y="95250"/>
            <a:ext cx="8096250" cy="457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21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企业级红线清单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0001250" y="76200"/>
            <a:ext cx="1619250" cy="5143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3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DataAgent</a:t>
            </a:r>
          </a:p>
        </p:txBody>
      </p:sp>
      <p:sp>
        <p:nvSpPr>
          <p:cNvPr id="8" name="Rectangle 8"/>
          <p:cNvSpPr/>
          <p:nvPr/>
        </p:nvSpPr>
        <p:spPr>
          <a:xfrm>
            <a:off x="0" y="666750"/>
            <a:ext cx="12192000" cy="476250"/>
          </a:xfrm>
          <a:prstGeom prst="rect">
            <a:avLst/>
          </a:prstGeom>
          <a:solidFill>
            <a:srgbClr val="E8F4FC"/>
          </a:solidFill>
          <a:ln>
            <a:noFill/>
          </a:ln>
        </p:spPr>
      </p:sp>
      <p:sp>
        <p:nvSpPr>
          <p:cNvPr id="9" name="Rectangle 9"/>
          <p:cNvSpPr/>
          <p:nvPr/>
        </p:nvSpPr>
        <p:spPr>
          <a:xfrm>
            <a:off x="0" y="666750"/>
            <a:ext cx="57150" cy="476250"/>
          </a:xfrm>
          <a:prstGeom prst="rect">
            <a:avLst/>
          </a:prstGeom>
          <a:solidFill>
            <a:srgbClr val="06B6D4"/>
          </a:solidFill>
          <a:ln>
            <a:noFill/>
          </a:ln>
        </p:spPr>
      </p:sp>
      <p:sp>
        <p:nvSpPr>
          <p:cNvPr id="10" name="TextBox 10"/>
          <p:cNvSpPr txBox="1"/>
          <p:nvPr/>
        </p:nvSpPr>
        <p:spPr>
          <a:xfrm>
            <a:off x="381000" y="714375"/>
            <a:ext cx="10001250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1350" dirty="0">
                <a:solidFill>
                  <a:srgbClr val="26384A"/>
                </a:solidFill>
                <a:latin typeface="Arial"/>
                <a:ea typeface="Microsoft YaHei"/>
                <a:cs typeface="Arial"/>
              </a:rPr>
              <a:t>红线→后果→防护</a:t>
            </a:r>
          </a:p>
        </p:txBody>
      </p:sp>
      <p:sp>
        <p:nvSpPr>
          <p:cNvPr id="11" name="Line 11"/>
          <p:cNvSpPr/>
          <p:nvPr/>
        </p:nvSpPr>
        <p:spPr>
          <a:xfrm>
            <a:off x="381000" y="6334125"/>
            <a:ext cx="11430000" cy="9525"/>
          </a:xfrm>
          <a:custGeom>
            <a:avLst/>
            <a:gdLst/>
            <a:ahLst/>
            <a:cxnLst/>
            <a:rect l="l" t="t" r="r" b="b"/>
            <a:pathLst>
              <a:path w="11430000" h="9525">
                <a:moveTo>
                  <a:pt x="0" y="0"/>
                </a:moveTo>
                <a:lnTo>
                  <a:pt x="11430000" y="0"/>
                </a:lnTo>
              </a:path>
            </a:pathLst>
          </a:custGeom>
          <a:noFill/>
          <a:ln w="9525">
            <a:solidFill>
              <a:srgbClr val="E8F4FC"/>
            </a:solidFill>
          </a:ln>
        </p:spPr>
      </p:sp>
      <p:sp>
        <p:nvSpPr>
          <p:cNvPr id="12" name="TextBox 12"/>
          <p:cNvSpPr txBox="1"/>
          <p:nvPr/>
        </p:nvSpPr>
        <p:spPr>
          <a:xfrm>
            <a:off x="381000" y="6477000"/>
            <a:ext cx="4953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课程第15讲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4381500" y="6477000"/>
            <a:ext cx="3429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Agent Runtime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0763250" y="6457950"/>
            <a:ext cx="857250" cy="266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050" dirty="0">
                <a:solidFill>
                  <a:srgbClr val="52657A"/>
                </a:solidFill>
                <a:latin typeface="Arial"/>
                <a:ea typeface="Microsoft YaHei"/>
                <a:cs typeface="Arial"/>
              </a:rPr>
              <a:t>74</a:t>
            </a:r>
          </a:p>
        </p:txBody>
      </p:sp>
      <p:grpSp>
        <p:nvGrpSpPr>
          <p:cNvPr id="38" name="EasySlides Component: matrix"/>
          <p:cNvGrpSpPr/>
          <p:nvPr/>
        </p:nvGrpSpPr>
        <p:grpSpPr>
          <a:xfrm>
            <a:off x="495300" y="1285875"/>
            <a:ext cx="11201400" cy="4905375"/>
            <a:chOff x="495300" y="1285875"/>
            <a:chExt cx="11201400" cy="4905375"/>
          </a:xfrm>
        </p:grpSpPr>
        <p:sp>
          <p:nvSpPr>
            <p:cNvPr id="15" name="Rectangle 15"/>
            <p:cNvSpPr/>
            <p:nvPr/>
          </p:nvSpPr>
          <p:spPr>
            <a:xfrm>
              <a:off x="495300" y="1285875"/>
              <a:ext cx="11201400" cy="4905375"/>
            </a:xfrm>
            <a:prstGeom prst="roundRect">
              <a:avLst>
                <a:gd name="adj" fmla="val 777"/>
              </a:avLst>
            </a:prstGeom>
            <a:solidFill>
              <a:srgbClr val="FFFFFF"/>
            </a:solidFill>
            <a:ln w="11430">
              <a:solidFill>
                <a:srgbClr val="B8C7D6"/>
              </a:solidFill>
            </a:ln>
          </p:spPr>
        </p:sp>
        <p:sp>
          <p:nvSpPr>
            <p:cNvPr id="16" name="Rectangle 16"/>
            <p:cNvSpPr/>
            <p:nvPr/>
          </p:nvSpPr>
          <p:spPr>
            <a:xfrm>
              <a:off x="495300" y="1285875"/>
              <a:ext cx="11201400" cy="647700"/>
            </a:xfrm>
            <a:prstGeom prst="roundRect">
              <a:avLst>
                <a:gd name="adj" fmla="val 5882"/>
              </a:avLst>
            </a:prstGeom>
            <a:solidFill>
              <a:srgbClr val="0E7490"/>
            </a:solidFill>
            <a:ln>
              <a:noFill/>
            </a:ln>
          </p:spPr>
        </p:sp>
        <p:sp>
          <p:nvSpPr>
            <p:cNvPr id="17" name="Line 17"/>
            <p:cNvSpPr/>
            <p:nvPr/>
          </p:nvSpPr>
          <p:spPr>
            <a:xfrm>
              <a:off x="4229100" y="1285875"/>
              <a:ext cx="9525" cy="4143375"/>
            </a:xfrm>
            <a:custGeom>
              <a:avLst/>
              <a:gdLst/>
              <a:ahLst/>
              <a:cxnLst/>
              <a:rect l="l" t="t" r="r" b="b"/>
              <a:pathLst>
                <a:path w="9525" h="4143375">
                  <a:moveTo>
                    <a:pt x="0" y="0"/>
                  </a:moveTo>
                  <a:lnTo>
                    <a:pt x="0" y="4143375"/>
                  </a:lnTo>
                </a:path>
              </a:pathLst>
            </a:custGeom>
            <a:noFill/>
            <a:ln w="9525">
              <a:solidFill>
                <a:srgbClr val="B8C7D6"/>
              </a:solidFill>
            </a:ln>
          </p:spPr>
        </p:sp>
        <p:sp>
          <p:nvSpPr>
            <p:cNvPr id="18" name="Line 18"/>
            <p:cNvSpPr/>
            <p:nvPr/>
          </p:nvSpPr>
          <p:spPr>
            <a:xfrm>
              <a:off x="7962900" y="1285875"/>
              <a:ext cx="9525" cy="4143375"/>
            </a:xfrm>
            <a:custGeom>
              <a:avLst/>
              <a:gdLst/>
              <a:ahLst/>
              <a:cxnLst/>
              <a:rect l="l" t="t" r="r" b="b"/>
              <a:pathLst>
                <a:path w="9525" h="4143375">
                  <a:moveTo>
                    <a:pt x="0" y="0"/>
                  </a:moveTo>
                  <a:lnTo>
                    <a:pt x="0" y="4143375"/>
                  </a:lnTo>
                </a:path>
              </a:pathLst>
            </a:custGeom>
            <a:noFill/>
            <a:ln w="9525">
              <a:solidFill>
                <a:srgbClr val="B8C7D6"/>
              </a:solidFill>
            </a:ln>
          </p:spPr>
        </p:sp>
        <p:sp>
          <p:nvSpPr>
            <p:cNvPr id="19" name="Line 19"/>
            <p:cNvSpPr/>
            <p:nvPr/>
          </p:nvSpPr>
          <p:spPr>
            <a:xfrm>
              <a:off x="495300" y="1933575"/>
              <a:ext cx="11201400" cy="9525"/>
            </a:xfrm>
            <a:custGeom>
              <a:avLst/>
              <a:gdLst/>
              <a:ahLst/>
              <a:cxnLst/>
              <a:rect l="l" t="t" r="r" b="b"/>
              <a:pathLst>
                <a:path w="11201400" h="9525">
                  <a:moveTo>
                    <a:pt x="0" y="0"/>
                  </a:moveTo>
                  <a:lnTo>
                    <a:pt x="11201400" y="0"/>
                  </a:lnTo>
                </a:path>
              </a:pathLst>
            </a:custGeom>
            <a:noFill/>
            <a:ln w="9525">
              <a:solidFill>
                <a:srgbClr val="B8C7D6"/>
              </a:solidFill>
            </a:ln>
          </p:spPr>
        </p:sp>
        <p:sp>
          <p:nvSpPr>
            <p:cNvPr id="20" name="Line 20"/>
            <p:cNvSpPr/>
            <p:nvPr/>
          </p:nvSpPr>
          <p:spPr>
            <a:xfrm>
              <a:off x="495300" y="3095625"/>
              <a:ext cx="11201400" cy="9525"/>
            </a:xfrm>
            <a:custGeom>
              <a:avLst/>
              <a:gdLst/>
              <a:ahLst/>
              <a:cxnLst/>
              <a:rect l="l" t="t" r="r" b="b"/>
              <a:pathLst>
                <a:path w="11201400" h="9525">
                  <a:moveTo>
                    <a:pt x="0" y="0"/>
                  </a:moveTo>
                  <a:lnTo>
                    <a:pt x="11201400" y="0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21" name="Line 21"/>
            <p:cNvSpPr/>
            <p:nvPr/>
          </p:nvSpPr>
          <p:spPr>
            <a:xfrm>
              <a:off x="495300" y="4257675"/>
              <a:ext cx="11201400" cy="9525"/>
            </a:xfrm>
            <a:custGeom>
              <a:avLst/>
              <a:gdLst/>
              <a:ahLst/>
              <a:cxnLst/>
              <a:rect l="l" t="t" r="r" b="b"/>
              <a:pathLst>
                <a:path w="11201400" h="9525">
                  <a:moveTo>
                    <a:pt x="0" y="0"/>
                  </a:moveTo>
                  <a:lnTo>
                    <a:pt x="11201400" y="0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22" name="Line 22"/>
            <p:cNvSpPr/>
            <p:nvPr/>
          </p:nvSpPr>
          <p:spPr>
            <a:xfrm>
              <a:off x="495300" y="5429250"/>
              <a:ext cx="11201400" cy="9525"/>
            </a:xfrm>
            <a:custGeom>
              <a:avLst/>
              <a:gdLst/>
              <a:ahLst/>
              <a:cxnLst/>
              <a:rect l="l" t="t" r="r" b="b"/>
              <a:pathLst>
                <a:path w="11201400" h="9525">
                  <a:moveTo>
                    <a:pt x="0" y="0"/>
                  </a:moveTo>
                  <a:lnTo>
                    <a:pt x="11201400" y="0"/>
                  </a:lnTo>
                </a:path>
              </a:pathLst>
            </a:custGeom>
            <a:noFill/>
            <a:ln w="9525">
              <a:solidFill>
                <a:srgbClr val="B8C7D6"/>
              </a:solidFill>
            </a:ln>
          </p:spPr>
        </p:sp>
        <p:grpSp>
          <p:nvGrpSpPr>
            <p:cNvPr id="26" name="Group 26"/>
            <p:cNvGrpSpPr/>
            <p:nvPr/>
          </p:nvGrpSpPr>
          <p:grpSpPr>
            <a:xfrm>
              <a:off x="704850" y="1428750"/>
              <a:ext cx="10782300" cy="361950"/>
              <a:chOff x="704850" y="1428750"/>
              <a:chExt cx="10782300" cy="361950"/>
            </a:xfrm>
          </p:grpSpPr>
          <p:sp>
            <p:nvSpPr>
              <p:cNvPr id="23" name="TextBox 23"/>
              <p:cNvSpPr txBox="1"/>
              <p:nvPr/>
            </p:nvSpPr>
            <p:spPr>
              <a:xfrm>
                <a:off x="704850" y="1428750"/>
                <a:ext cx="3314700" cy="3619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575" b="1" dirty="0">
                    <a:solidFill>
                      <a:srgbClr val="FFFFFF"/>
                    </a:solidFill>
                    <a:latin typeface="Arial"/>
                    <a:ea typeface="Microsoft YaHei"/>
                    <a:cs typeface="Arial"/>
                  </a:rPr>
                  <a:t>红线</a:t>
                </a:r>
              </a:p>
            </p:txBody>
          </p:sp>
          <p:sp>
            <p:nvSpPr>
              <p:cNvPr id="24" name="TextBox 24"/>
              <p:cNvSpPr txBox="1"/>
              <p:nvPr/>
            </p:nvSpPr>
            <p:spPr>
              <a:xfrm>
                <a:off x="4438650" y="1428750"/>
                <a:ext cx="3314700" cy="3619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575" b="1" dirty="0">
                    <a:solidFill>
                      <a:srgbClr val="FFFFFF"/>
                    </a:solidFill>
                    <a:latin typeface="Arial"/>
                    <a:ea typeface="Microsoft YaHei"/>
                    <a:cs typeface="Arial"/>
                  </a:rPr>
                  <a:t>后果</a:t>
                </a:r>
              </a:p>
            </p:txBody>
          </p:sp>
          <p:sp>
            <p:nvSpPr>
              <p:cNvPr id="25" name="TextBox 25"/>
              <p:cNvSpPr txBox="1"/>
              <p:nvPr/>
            </p:nvSpPr>
            <p:spPr>
              <a:xfrm>
                <a:off x="8172450" y="1428750"/>
                <a:ext cx="3314700" cy="3619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575" b="1" dirty="0">
                    <a:solidFill>
                      <a:srgbClr val="FFFFFF"/>
                    </a:solidFill>
                    <a:latin typeface="Arial"/>
                    <a:ea typeface="Microsoft YaHei"/>
                    <a:cs typeface="Arial"/>
                  </a:rPr>
                  <a:t>防护</a:t>
                </a:r>
              </a:p>
            </p:txBody>
          </p:sp>
        </p:grpSp>
        <p:grpSp>
          <p:nvGrpSpPr>
            <p:cNvPr id="36" name="Group 36"/>
            <p:cNvGrpSpPr/>
            <p:nvPr/>
          </p:nvGrpSpPr>
          <p:grpSpPr>
            <a:xfrm>
              <a:off x="723900" y="2105025"/>
              <a:ext cx="10744200" cy="3086100"/>
              <a:chOff x="723900" y="2105025"/>
              <a:chExt cx="10744200" cy="3086100"/>
            </a:xfrm>
          </p:grpSpPr>
          <p:sp>
            <p:nvSpPr>
              <p:cNvPr id="27" name="TextBox 27"/>
              <p:cNvSpPr txBox="1"/>
              <p:nvPr/>
            </p:nvSpPr>
            <p:spPr>
              <a:xfrm>
                <a:off x="723900" y="210502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越权访问</a:t>
                </a:r>
              </a:p>
            </p:txBody>
          </p:sp>
          <p:sp>
            <p:nvSpPr>
              <p:cNvPr id="28" name="TextBox 28"/>
              <p:cNvSpPr txBox="1"/>
              <p:nvPr/>
            </p:nvSpPr>
            <p:spPr>
              <a:xfrm>
                <a:off x="4457700" y="210502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数据泄漏</a:t>
                </a:r>
              </a:p>
            </p:txBody>
          </p:sp>
          <p:sp>
            <p:nvSpPr>
              <p:cNvPr id="29" name="TextBox 29"/>
              <p:cNvSpPr txBox="1"/>
              <p:nvPr/>
            </p:nvSpPr>
            <p:spPr>
              <a:xfrm>
                <a:off x="8191500" y="210502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硬过滤+审计</a:t>
                </a:r>
              </a:p>
            </p:txBody>
          </p:sp>
          <p:sp>
            <p:nvSpPr>
              <p:cNvPr id="30" name="TextBox 30"/>
              <p:cNvSpPr txBox="1"/>
              <p:nvPr/>
            </p:nvSpPr>
            <p:spPr>
              <a:xfrm>
                <a:off x="723900" y="326707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未审批副作用</a:t>
                </a:r>
              </a:p>
            </p:txBody>
          </p:sp>
          <p:sp>
            <p:nvSpPr>
              <p:cNvPr id="31" name="TextBox 31"/>
              <p:cNvSpPr txBox="1"/>
              <p:nvPr/>
            </p:nvSpPr>
            <p:spPr>
              <a:xfrm>
                <a:off x="4457700" y="326707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业务事故</a:t>
                </a:r>
              </a:p>
            </p:txBody>
          </p:sp>
          <p:sp>
            <p:nvSpPr>
              <p:cNvPr id="32" name="TextBox 32"/>
              <p:cNvSpPr txBox="1"/>
              <p:nvPr/>
            </p:nvSpPr>
            <p:spPr>
              <a:xfrm>
                <a:off x="8191500" y="326707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审批+幂等</a:t>
                </a:r>
              </a:p>
            </p:txBody>
          </p:sp>
          <p:sp>
            <p:nvSpPr>
              <p:cNvPr id="33" name="TextBox 33"/>
              <p:cNvSpPr txBox="1"/>
              <p:nvPr/>
            </p:nvSpPr>
            <p:spPr>
              <a:xfrm>
                <a:off x="723900" y="442912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不可回放</a:t>
                </a:r>
              </a:p>
            </p:txBody>
          </p:sp>
          <p:sp>
            <p:nvSpPr>
              <p:cNvPr id="34" name="TextBox 34"/>
              <p:cNvSpPr txBox="1"/>
              <p:nvPr/>
            </p:nvSpPr>
            <p:spPr>
              <a:xfrm>
                <a:off x="4457700" y="442912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无法追责</a:t>
                </a:r>
              </a:p>
            </p:txBody>
          </p:sp>
          <p:sp>
            <p:nvSpPr>
              <p:cNvPr id="35" name="TextBox 35"/>
              <p:cNvSpPr txBox="1"/>
              <p:nvPr/>
            </p:nvSpPr>
            <p:spPr>
              <a:xfrm>
                <a:off x="8191500" y="442912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Trace+Checkpoint</a:t>
                </a:r>
              </a:p>
            </p:txBody>
          </p:sp>
        </p:grpSp>
        <p:sp>
          <p:nvSpPr>
            <p:cNvPr id="37" name="TextBox 37"/>
            <p:cNvSpPr txBox="1"/>
            <p:nvPr/>
          </p:nvSpPr>
          <p:spPr>
            <a:xfrm>
              <a:off x="828675" y="5581650"/>
              <a:ext cx="10534650" cy="4191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500" b="1" dirty="0">
                  <a:solidFill>
                    <a:srgbClr val="0E7490"/>
                  </a:solidFill>
                  <a:latin typeface="Arial"/>
                  <a:ea typeface="Microsoft YaHei"/>
                  <a:cs typeface="Arial"/>
                </a:rPr>
                <a:t>红线一票否决，不允许带病上线</a:t>
              </a:r>
            </a:p>
          </p:txBody>
        </p:sp>
      </p:grpSp>
    </p:spTree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E7490"/>
          </a:solidFill>
          <a:ln>
            <a:noFill/>
          </a:ln>
        </p:spPr>
      </p:sp>
      <p:sp>
        <p:nvSpPr>
          <p:cNvPr id="3" name="Freeform 3"/>
          <p:cNvSpPr/>
          <p:nvPr/>
        </p:nvSpPr>
        <p:spPr>
          <a:xfrm>
            <a:off x="5715000" y="0"/>
            <a:ext cx="6477000" cy="6858000"/>
          </a:xfrm>
          <a:custGeom>
            <a:avLst/>
            <a:gdLst/>
            <a:ahLst/>
            <a:cxnLst/>
            <a:rect l="l" t="t" r="r" b="b"/>
            <a:pathLst>
              <a:path w="6477000" h="6858000">
                <a:moveTo>
                  <a:pt x="1905000" y="0"/>
                </a:moveTo>
                <a:lnTo>
                  <a:pt x="6477000" y="0"/>
                </a:lnTo>
                <a:lnTo>
                  <a:pt x="6477000" y="6858000"/>
                </a:lnTo>
                <a:lnTo>
                  <a:pt x="0" y="6858000"/>
                </a:lnTo>
                <a:close/>
              </a:path>
            </a:pathLst>
          </a:custGeom>
          <a:solidFill>
            <a:srgbClr val="06B6D4">
              <a:alpha val="20000"/>
            </a:srgbClr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2286000"/>
            <a:ext cx="114300" cy="2286000"/>
          </a:xfrm>
          <a:prstGeom prst="rect">
            <a:avLst/>
          </a:prstGeom>
          <a:solidFill>
            <a:srgbClr val="CC0000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476250" y="2095500"/>
            <a:ext cx="2952750" cy="31432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8750" b="1" dirty="0">
                <a:solidFill>
                  <a:srgbClr val="FFFFFF">
                    <a:alphaMod val="10000"/>
                  </a:srgbClr>
                </a:solidFill>
                <a:latin typeface="Arial"/>
                <a:ea typeface="Microsoft YaHei"/>
                <a:cs typeface="Arial"/>
              </a:rPr>
              <a:t>75</a:t>
            </a:r>
          </a:p>
        </p:txBody>
      </p:sp>
      <p:sp>
        <p:nvSpPr>
          <p:cNvPr id="6" name="Line 6"/>
          <p:cNvSpPr/>
          <p:nvPr/>
        </p:nvSpPr>
        <p:spPr>
          <a:xfrm>
            <a:off x="3619500" y="2505075"/>
            <a:ext cx="1143000" cy="9525"/>
          </a:xfrm>
          <a:custGeom>
            <a:avLst/>
            <a:gdLst/>
            <a:ahLst/>
            <a:cxnLst/>
            <a:rect l="l" t="t" r="r" b="b"/>
            <a:pathLst>
              <a:path w="1143000" h="9525">
                <a:moveTo>
                  <a:pt x="0" y="0"/>
                </a:moveTo>
                <a:lnTo>
                  <a:pt x="1143000" y="0"/>
                </a:lnTo>
              </a:path>
            </a:pathLst>
          </a:custGeom>
          <a:noFill/>
          <a:ln w="57150">
            <a:solidFill>
              <a:srgbClr val="CC0000"/>
            </a:solidFill>
          </a:ln>
        </p:spPr>
      </p:sp>
      <p:sp>
        <p:nvSpPr>
          <p:cNvPr id="7" name="TextBox 7"/>
          <p:cNvSpPr txBox="1"/>
          <p:nvPr/>
        </p:nvSpPr>
        <p:spPr>
          <a:xfrm>
            <a:off x="3619500" y="2667000"/>
            <a:ext cx="7429500" cy="8763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42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复习与考核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3619500" y="3648075"/>
            <a:ext cx="7620000" cy="4191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1800" dirty="0">
                <a:solidFill>
                  <a:srgbClr val="E8F4FC"/>
                </a:solidFill>
                <a:latin typeface="Arial"/>
                <a:ea typeface="Microsoft YaHei"/>
                <a:cs typeface="Arial"/>
              </a:rPr>
              <a:t>把本讲装进长期记忆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6762750" y="6286500"/>
            <a:ext cx="4095750" cy="2857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r"/>
            <a:r>
              <a:rPr lang="zh-CN" sz="1200" dirty="0">
                <a:solidFill>
                  <a:srgbClr val="FFFFFF">
                    <a:alphaMod val="55000"/>
                  </a:srgbClr>
                </a:solidFill>
                <a:latin typeface="Arial"/>
                <a:ea typeface="Microsoft YaHei"/>
                <a:cs typeface="Arial"/>
              </a:rPr>
              <a:t>Agent Runtime 的混合架构选型与</a:t>
            </a:r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666750"/>
          </a:xfrm>
          <a:prstGeom prst="rect">
            <a:avLst/>
          </a:prstGeom>
          <a:solidFill>
            <a:srgbClr val="0E7490"/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0"/>
            <a:ext cx="57150" cy="666750"/>
          </a:xfrm>
          <a:prstGeom prst="rect">
            <a:avLst/>
          </a:prstGeom>
          <a:solidFill>
            <a:srgbClr val="CC0000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381000" y="123825"/>
            <a:ext cx="762000" cy="4000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1275" b="1" dirty="0">
                <a:solidFill>
                  <a:srgbClr val="9FD3FF"/>
                </a:solidFill>
                <a:latin typeface="Arial"/>
                <a:ea typeface="Microsoft YaHei"/>
                <a:cs typeface="Arial"/>
              </a:rPr>
              <a:t>76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257300" y="95250"/>
            <a:ext cx="8096250" cy="457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21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复习要点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0001250" y="76200"/>
            <a:ext cx="1619250" cy="5143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3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DataAgent</a:t>
            </a:r>
          </a:p>
        </p:txBody>
      </p:sp>
      <p:sp>
        <p:nvSpPr>
          <p:cNvPr id="8" name="Rectangle 8"/>
          <p:cNvSpPr/>
          <p:nvPr/>
        </p:nvSpPr>
        <p:spPr>
          <a:xfrm>
            <a:off x="0" y="666750"/>
            <a:ext cx="12192000" cy="476250"/>
          </a:xfrm>
          <a:prstGeom prst="rect">
            <a:avLst/>
          </a:prstGeom>
          <a:solidFill>
            <a:srgbClr val="E8F4FC"/>
          </a:solidFill>
          <a:ln>
            <a:noFill/>
          </a:ln>
        </p:spPr>
      </p:sp>
      <p:sp>
        <p:nvSpPr>
          <p:cNvPr id="9" name="Rectangle 9"/>
          <p:cNvSpPr/>
          <p:nvPr/>
        </p:nvSpPr>
        <p:spPr>
          <a:xfrm>
            <a:off x="0" y="666750"/>
            <a:ext cx="57150" cy="476250"/>
          </a:xfrm>
          <a:prstGeom prst="rect">
            <a:avLst/>
          </a:prstGeom>
          <a:solidFill>
            <a:srgbClr val="06B6D4"/>
          </a:solidFill>
          <a:ln>
            <a:noFill/>
          </a:ln>
        </p:spPr>
      </p:sp>
      <p:sp>
        <p:nvSpPr>
          <p:cNvPr id="10" name="TextBox 10"/>
          <p:cNvSpPr txBox="1"/>
          <p:nvPr/>
        </p:nvSpPr>
        <p:spPr>
          <a:xfrm>
            <a:off x="381000" y="714375"/>
            <a:ext cx="10001250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1350" dirty="0">
                <a:solidFill>
                  <a:srgbClr val="26384A"/>
                </a:solidFill>
                <a:latin typeface="Arial"/>
                <a:ea typeface="Microsoft YaHei"/>
                <a:cs typeface="Arial"/>
              </a:rPr>
              <a:t>三个必答题</a:t>
            </a:r>
          </a:p>
        </p:txBody>
      </p:sp>
      <p:sp>
        <p:nvSpPr>
          <p:cNvPr id="11" name="Line 11"/>
          <p:cNvSpPr/>
          <p:nvPr/>
        </p:nvSpPr>
        <p:spPr>
          <a:xfrm>
            <a:off x="381000" y="6334125"/>
            <a:ext cx="11430000" cy="9525"/>
          </a:xfrm>
          <a:custGeom>
            <a:avLst/>
            <a:gdLst/>
            <a:ahLst/>
            <a:cxnLst/>
            <a:rect l="l" t="t" r="r" b="b"/>
            <a:pathLst>
              <a:path w="11430000" h="9525">
                <a:moveTo>
                  <a:pt x="0" y="0"/>
                </a:moveTo>
                <a:lnTo>
                  <a:pt x="11430000" y="0"/>
                </a:lnTo>
              </a:path>
            </a:pathLst>
          </a:custGeom>
          <a:noFill/>
          <a:ln w="9525">
            <a:solidFill>
              <a:srgbClr val="E8F4FC"/>
            </a:solidFill>
          </a:ln>
        </p:spPr>
      </p:sp>
      <p:sp>
        <p:nvSpPr>
          <p:cNvPr id="12" name="TextBox 12"/>
          <p:cNvSpPr txBox="1"/>
          <p:nvPr/>
        </p:nvSpPr>
        <p:spPr>
          <a:xfrm>
            <a:off x="381000" y="6477000"/>
            <a:ext cx="4953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课程第15讲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4381500" y="6477000"/>
            <a:ext cx="3429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Agent Runtime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0763250" y="6457950"/>
            <a:ext cx="857250" cy="266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050" dirty="0">
                <a:solidFill>
                  <a:srgbClr val="52657A"/>
                </a:solidFill>
                <a:latin typeface="Arial"/>
                <a:ea typeface="Microsoft YaHei"/>
                <a:cs typeface="Arial"/>
              </a:rPr>
              <a:t>76</a:t>
            </a:r>
          </a:p>
        </p:txBody>
      </p:sp>
      <p:grpSp>
        <p:nvGrpSpPr>
          <p:cNvPr id="21" name="EasySlides Component: evidence_01"/>
          <p:cNvGrpSpPr/>
          <p:nvPr/>
        </p:nvGrpSpPr>
        <p:grpSpPr>
          <a:xfrm>
            <a:off x="495300" y="2095500"/>
            <a:ext cx="11201400" cy="1285875"/>
            <a:chOff x="495300" y="2095500"/>
            <a:chExt cx="11201400" cy="1285875"/>
          </a:xfrm>
        </p:grpSpPr>
        <p:sp>
          <p:nvSpPr>
            <p:cNvPr id="15" name="Rectangle 15"/>
            <p:cNvSpPr/>
            <p:nvPr/>
          </p:nvSpPr>
          <p:spPr>
            <a:xfrm>
              <a:off x="495300" y="2095500"/>
              <a:ext cx="11201400" cy="1285875"/>
            </a:xfrm>
            <a:prstGeom prst="roundRect">
              <a:avLst>
                <a:gd name="adj" fmla="val 2963"/>
              </a:avLst>
            </a:prstGeom>
            <a:solidFill>
              <a:srgbClr val="FFFFFF"/>
            </a:solidFill>
            <a:ln w="11430">
              <a:solidFill>
                <a:srgbClr val="B8C7D6"/>
              </a:solidFill>
            </a:ln>
          </p:spPr>
        </p:sp>
        <p:sp>
          <p:nvSpPr>
            <p:cNvPr id="16" name="Rectangle 16"/>
            <p:cNvSpPr/>
            <p:nvPr/>
          </p:nvSpPr>
          <p:spPr>
            <a:xfrm>
              <a:off x="495300" y="2095500"/>
              <a:ext cx="76200" cy="1285875"/>
            </a:xfrm>
            <a:prstGeom prst="roundRect">
              <a:avLst>
                <a:gd name="adj" fmla="val 50000"/>
              </a:avLst>
            </a:prstGeom>
            <a:solidFill>
              <a:srgbClr val="06B6D4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733425" y="2543175"/>
              <a:ext cx="438150" cy="5238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650" b="1" dirty="0">
                  <a:solidFill>
                    <a:srgbClr val="06B6D4"/>
                  </a:solidFill>
                  <a:latin typeface="Arial"/>
                  <a:ea typeface="Microsoft YaHei"/>
                  <a:cs typeface="Arial"/>
                </a:rPr>
                <a:t>01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1447800" y="2324100"/>
              <a:ext cx="2667000" cy="78105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575" b="1" dirty="0">
                  <a:solidFill>
                    <a:srgbClr val="0E7490"/>
                  </a:solidFill>
                  <a:latin typeface="Arial"/>
                  <a:ea typeface="Microsoft YaHei"/>
                  <a:cs typeface="Arial"/>
                </a:rPr>
                <a:t>是什么</a:t>
              </a:r>
            </a:p>
          </p:txBody>
        </p:sp>
        <p:sp>
          <p:nvSpPr>
            <p:cNvPr id="19" name="Line 19"/>
            <p:cNvSpPr/>
            <p:nvPr/>
          </p:nvSpPr>
          <p:spPr>
            <a:xfrm>
              <a:off x="4362450" y="2324100"/>
              <a:ext cx="9525" cy="828675"/>
            </a:xfrm>
            <a:custGeom>
              <a:avLst/>
              <a:gdLst/>
              <a:ahLst/>
              <a:cxnLst/>
              <a:rect l="l" t="t" r="r" b="b"/>
              <a:pathLst>
                <a:path w="9525" h="828675">
                  <a:moveTo>
                    <a:pt x="0" y="0"/>
                  </a:moveTo>
                  <a:lnTo>
                    <a:pt x="0" y="828675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4686300" y="2324100"/>
              <a:ext cx="6572250" cy="78105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425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单 Loop的定义与边界</a:t>
              </a:r>
            </a:p>
          </p:txBody>
        </p:sp>
      </p:grpSp>
      <p:grpSp>
        <p:nvGrpSpPr>
          <p:cNvPr id="28" name="EasySlides Component: evidence_02"/>
          <p:cNvGrpSpPr/>
          <p:nvPr/>
        </p:nvGrpSpPr>
        <p:grpSpPr>
          <a:xfrm>
            <a:off x="495300" y="3571875"/>
            <a:ext cx="11201400" cy="1285875"/>
            <a:chOff x="495300" y="3571875"/>
            <a:chExt cx="11201400" cy="1285875"/>
          </a:xfrm>
        </p:grpSpPr>
        <p:sp>
          <p:nvSpPr>
            <p:cNvPr id="22" name="Rectangle 22"/>
            <p:cNvSpPr/>
            <p:nvPr/>
          </p:nvSpPr>
          <p:spPr>
            <a:xfrm>
              <a:off x="495300" y="3571875"/>
              <a:ext cx="11201400" cy="1285875"/>
            </a:xfrm>
            <a:prstGeom prst="roundRect">
              <a:avLst>
                <a:gd name="adj" fmla="val 2963"/>
              </a:avLst>
            </a:prstGeom>
            <a:solidFill>
              <a:srgbClr val="FFFFFF"/>
            </a:solidFill>
            <a:ln w="11430">
              <a:solidFill>
                <a:srgbClr val="B8C7D6"/>
              </a:solidFill>
            </a:ln>
          </p:spPr>
        </p:sp>
        <p:sp>
          <p:nvSpPr>
            <p:cNvPr id="23" name="Rectangle 23"/>
            <p:cNvSpPr/>
            <p:nvPr/>
          </p:nvSpPr>
          <p:spPr>
            <a:xfrm>
              <a:off x="495300" y="3571875"/>
              <a:ext cx="76200" cy="1285875"/>
            </a:xfrm>
            <a:prstGeom prst="roundRect">
              <a:avLst>
                <a:gd name="adj" fmla="val 50000"/>
              </a:avLst>
            </a:prstGeom>
            <a:solidFill>
              <a:srgbClr val="06B6D4"/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733425" y="4019550"/>
              <a:ext cx="438150" cy="5238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650" b="1" dirty="0">
                  <a:solidFill>
                    <a:srgbClr val="06B6D4"/>
                  </a:solidFill>
                  <a:latin typeface="Arial"/>
                  <a:ea typeface="Microsoft YaHei"/>
                  <a:cs typeface="Arial"/>
                </a:rPr>
                <a:t>02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1447800" y="3800475"/>
              <a:ext cx="2667000" cy="78105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575" b="1" dirty="0">
                  <a:solidFill>
                    <a:srgbClr val="0E7490"/>
                  </a:solidFill>
                  <a:latin typeface="Arial"/>
                  <a:ea typeface="Microsoft YaHei"/>
                  <a:cs typeface="Arial"/>
                </a:rPr>
                <a:t>为什么</a:t>
              </a:r>
            </a:p>
          </p:txBody>
        </p:sp>
        <p:sp>
          <p:nvSpPr>
            <p:cNvPr id="26" name="Line 26"/>
            <p:cNvSpPr/>
            <p:nvPr/>
          </p:nvSpPr>
          <p:spPr>
            <a:xfrm>
              <a:off x="4362450" y="3800475"/>
              <a:ext cx="9525" cy="828675"/>
            </a:xfrm>
            <a:custGeom>
              <a:avLst/>
              <a:gdLst/>
              <a:ahLst/>
              <a:cxnLst/>
              <a:rect l="l" t="t" r="r" b="b"/>
              <a:pathLst>
                <a:path w="9525" h="828675">
                  <a:moveTo>
                    <a:pt x="0" y="0"/>
                  </a:moveTo>
                  <a:lnTo>
                    <a:pt x="0" y="828675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4686300" y="3800475"/>
              <a:ext cx="6572250" cy="78105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425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自主与流程的混合编排：Harness 负责探索</a:t>
              </a:r>
            </a:p>
          </p:txBody>
        </p:sp>
      </p:grpSp>
      <p:grpSp>
        <p:nvGrpSpPr>
          <p:cNvPr id="35" name="EasySlides Component: evidence_03"/>
          <p:cNvGrpSpPr/>
          <p:nvPr/>
        </p:nvGrpSpPr>
        <p:grpSpPr>
          <a:xfrm>
            <a:off x="495300" y="4905375"/>
            <a:ext cx="11201400" cy="1285875"/>
            <a:chOff x="495300" y="4905375"/>
            <a:chExt cx="11201400" cy="1285875"/>
          </a:xfrm>
        </p:grpSpPr>
        <p:sp>
          <p:nvSpPr>
            <p:cNvPr id="29" name="Rectangle 29"/>
            <p:cNvSpPr/>
            <p:nvPr/>
          </p:nvSpPr>
          <p:spPr>
            <a:xfrm>
              <a:off x="495300" y="4905375"/>
              <a:ext cx="11201400" cy="1285875"/>
            </a:xfrm>
            <a:prstGeom prst="roundRect">
              <a:avLst>
                <a:gd name="adj" fmla="val 2963"/>
              </a:avLst>
            </a:prstGeom>
            <a:solidFill>
              <a:srgbClr val="FFFFFF"/>
            </a:solidFill>
            <a:ln w="11430">
              <a:solidFill>
                <a:srgbClr val="B8C7D6"/>
              </a:solidFill>
            </a:ln>
          </p:spPr>
        </p:sp>
        <p:sp>
          <p:nvSpPr>
            <p:cNvPr id="30" name="Rectangle 30"/>
            <p:cNvSpPr/>
            <p:nvPr/>
          </p:nvSpPr>
          <p:spPr>
            <a:xfrm>
              <a:off x="495300" y="4905375"/>
              <a:ext cx="76200" cy="1285875"/>
            </a:xfrm>
            <a:prstGeom prst="roundRect">
              <a:avLst>
                <a:gd name="adj" fmla="val 50000"/>
              </a:avLst>
            </a:prstGeom>
            <a:solidFill>
              <a:srgbClr val="06B6D4"/>
            </a:solidFill>
            <a:ln>
              <a:noFill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733425" y="5353050"/>
              <a:ext cx="438150" cy="5238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650" b="1" dirty="0">
                  <a:solidFill>
                    <a:srgbClr val="06B6D4"/>
                  </a:solidFill>
                  <a:latin typeface="Arial"/>
                  <a:ea typeface="Microsoft YaHei"/>
                  <a:cs typeface="Arial"/>
                </a:rPr>
                <a:t>03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1447800" y="5133975"/>
              <a:ext cx="2667000" cy="78105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575" b="1" dirty="0">
                  <a:solidFill>
                    <a:srgbClr val="0E7490"/>
                  </a:solidFill>
                  <a:latin typeface="Arial"/>
                  <a:ea typeface="Microsoft YaHei"/>
                  <a:cs typeface="Arial"/>
                </a:rPr>
                <a:t>怎么用</a:t>
              </a:r>
            </a:p>
          </p:txBody>
        </p:sp>
        <p:sp>
          <p:nvSpPr>
            <p:cNvPr id="33" name="Line 33"/>
            <p:cNvSpPr/>
            <p:nvPr/>
          </p:nvSpPr>
          <p:spPr>
            <a:xfrm>
              <a:off x="4362450" y="5133975"/>
              <a:ext cx="9525" cy="828675"/>
            </a:xfrm>
            <a:custGeom>
              <a:avLst/>
              <a:gdLst/>
              <a:ahLst/>
              <a:cxnLst/>
              <a:rect l="l" t="t" r="r" b="b"/>
              <a:pathLst>
                <a:path w="9525" h="828675">
                  <a:moveTo>
                    <a:pt x="0" y="0"/>
                  </a:moveTo>
                  <a:lnTo>
                    <a:pt x="0" y="828675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4686300" y="5133975"/>
              <a:ext cx="6572250" cy="78105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425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在 DataAgent 中跑通 workflow.py 对应</a:t>
              </a:r>
            </a:p>
          </p:txBody>
        </p:sp>
      </p:grpSp>
      <p:grpSp>
        <p:nvGrpSpPr>
          <p:cNvPr id="39" name="EasySlides Component: synthesis"/>
          <p:cNvGrpSpPr/>
          <p:nvPr/>
        </p:nvGrpSpPr>
        <p:grpSpPr>
          <a:xfrm>
            <a:off x="495300" y="1285875"/>
            <a:ext cx="11201400" cy="714375"/>
            <a:chOff x="495300" y="1285875"/>
            <a:chExt cx="11201400" cy="714375"/>
          </a:xfrm>
        </p:grpSpPr>
        <p:sp>
          <p:nvSpPr>
            <p:cNvPr id="36" name="Rectangle 36"/>
            <p:cNvSpPr/>
            <p:nvPr/>
          </p:nvSpPr>
          <p:spPr>
            <a:xfrm>
              <a:off x="495300" y="1285875"/>
              <a:ext cx="11201400" cy="714375"/>
            </a:xfrm>
            <a:prstGeom prst="roundRect">
              <a:avLst>
                <a:gd name="adj" fmla="val 5333"/>
              </a:avLst>
            </a:prstGeom>
            <a:solidFill>
              <a:srgbClr val="0E7490"/>
            </a:solidFill>
            <a:ln>
              <a:noFill/>
            </a:ln>
          </p:spPr>
        </p:sp>
        <p:sp>
          <p:nvSpPr>
            <p:cNvPr id="37" name="Rectangle 37"/>
            <p:cNvSpPr/>
            <p:nvPr/>
          </p:nvSpPr>
          <p:spPr>
            <a:xfrm>
              <a:off x="495300" y="1285875"/>
              <a:ext cx="76200" cy="714375"/>
            </a:xfrm>
            <a:prstGeom prst="roundRect">
              <a:avLst>
                <a:gd name="adj" fmla="val 50000"/>
              </a:avLst>
            </a:prstGeom>
            <a:solidFill>
              <a:srgbClr val="CC0000"/>
            </a:solidFill>
            <a:ln>
              <a:noFill/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876300" y="1419225"/>
              <a:ext cx="10439400" cy="4476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65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能讲给同事听懂，才算真正掌握</a:t>
              </a:r>
            </a:p>
          </p:txBody>
        </p:sp>
      </p:grpSp>
    </p:spTree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952500"/>
          </a:xfrm>
          <a:prstGeom prst="rect">
            <a:avLst/>
          </a:prstGeom>
          <a:solidFill>
            <a:srgbClr val="0E7490"/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0"/>
            <a:ext cx="57150" cy="952500"/>
          </a:xfrm>
          <a:prstGeom prst="rect">
            <a:avLst/>
          </a:prstGeom>
          <a:solidFill>
            <a:srgbClr val="CC0000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10239375" y="190500"/>
            <a:ext cx="1619250" cy="5143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3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DataAgent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143000" y="2333625"/>
            <a:ext cx="9906000" cy="8572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4200" b="1" dirty="0">
                <a:solidFill>
                  <a:srgbClr val="0E7490"/>
                </a:solidFill>
                <a:latin typeface="Arial"/>
                <a:ea typeface="Microsoft YaHei"/>
                <a:cs typeface="Arial"/>
              </a:rPr>
              <a:t>本章小结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809750" y="3238500"/>
            <a:ext cx="8572500" cy="4000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800" dirty="0">
                <a:solidFill>
                  <a:srgbClr val="52657A"/>
                </a:solidFill>
                <a:latin typeface="Arial"/>
                <a:ea typeface="Microsoft YaHei"/>
                <a:cs typeface="Arial"/>
              </a:rPr>
              <a:t>Agent Runtime 的混合架构选型与设计</a:t>
            </a:r>
          </a:p>
        </p:txBody>
      </p:sp>
      <p:sp>
        <p:nvSpPr>
          <p:cNvPr id="8" name="Line 8"/>
          <p:cNvSpPr/>
          <p:nvPr/>
        </p:nvSpPr>
        <p:spPr>
          <a:xfrm>
            <a:off x="4381500" y="3857625"/>
            <a:ext cx="3429000" cy="9525"/>
          </a:xfrm>
          <a:custGeom>
            <a:avLst/>
            <a:gdLst/>
            <a:ahLst/>
            <a:cxnLst/>
            <a:rect l="l" t="t" r="r" b="b"/>
            <a:pathLst>
              <a:path w="3429000" h="9525">
                <a:moveTo>
                  <a:pt x="0" y="0"/>
                </a:moveTo>
                <a:lnTo>
                  <a:pt x="3429000" y="0"/>
                </a:lnTo>
              </a:path>
            </a:pathLst>
          </a:custGeom>
          <a:noFill/>
          <a:ln w="19050">
            <a:solidFill>
              <a:srgbClr val="06B6D4"/>
            </a:solidFill>
          </a:ln>
        </p:spPr>
      </p:sp>
      <p:sp>
        <p:nvSpPr>
          <p:cNvPr id="9" name="Ellipse 9"/>
          <p:cNvSpPr/>
          <p:nvPr/>
        </p:nvSpPr>
        <p:spPr>
          <a:xfrm>
            <a:off x="6048375" y="3810000"/>
            <a:ext cx="95250" cy="95250"/>
          </a:xfrm>
          <a:prstGeom prst="ellipse">
            <a:avLst/>
          </a:prstGeom>
          <a:solidFill>
            <a:srgbClr val="CC0000"/>
          </a:solidFill>
          <a:ln>
            <a:noFill/>
          </a:ln>
        </p:spPr>
      </p:sp>
      <p:sp>
        <p:nvSpPr>
          <p:cNvPr id="10" name="Rectangle 10"/>
          <p:cNvSpPr/>
          <p:nvPr/>
        </p:nvSpPr>
        <p:spPr>
          <a:xfrm>
            <a:off x="3429000" y="4238625"/>
            <a:ext cx="5334000" cy="1238250"/>
          </a:xfrm>
          <a:prstGeom prst="roundRect">
            <a:avLst>
              <a:gd name="adj" fmla="val 3077"/>
            </a:avLst>
          </a:prstGeom>
          <a:solidFill>
            <a:srgbClr val="F0F9FC"/>
          </a:solidFill>
          <a:ln>
            <a:noFill/>
          </a:ln>
        </p:spPr>
      </p:sp>
      <p:sp>
        <p:nvSpPr>
          <p:cNvPr id="11" name="TextBox 11"/>
          <p:cNvSpPr txBox="1"/>
          <p:nvPr/>
        </p:nvSpPr>
        <p:spPr>
          <a:xfrm>
            <a:off x="3619500" y="4476750"/>
            <a:ext cx="4953000" cy="304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350" dirty="0">
                <a:solidFill>
                  <a:srgbClr val="26384A"/>
                </a:solidFill>
                <a:latin typeface="Arial"/>
                <a:ea typeface="Microsoft YaHei"/>
                <a:cs typeface="Arial"/>
              </a:rPr>
              <a:t>设计 DataAgent 经营分析主链的控制权矩阵，建立后续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4000500" y="4838700"/>
            <a:ext cx="4191000" cy="266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200" dirty="0">
                <a:solidFill>
                  <a:srgbClr val="52657A"/>
                </a:solidFill>
                <a:latin typeface="Arial"/>
                <a:ea typeface="Microsoft YaHei"/>
                <a:cs typeface="Arial"/>
              </a:rPr>
              <a:t>第15讲 · Agent Runtime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3619500" y="5124450"/>
            <a:ext cx="4953000" cy="266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200" dirty="0">
                <a:solidFill>
                  <a:srgbClr val="52657A"/>
                </a:solidFill>
                <a:latin typeface="Arial"/>
                <a:ea typeface="Microsoft YaHei"/>
                <a:cs typeface="Arial"/>
              </a:rPr>
              <a:t>企业级Agent工程架构实战营</a:t>
            </a:r>
          </a:p>
        </p:txBody>
      </p:sp>
      <p:sp>
        <p:nvSpPr>
          <p:cNvPr id="14" name="Rectangle 14"/>
          <p:cNvSpPr/>
          <p:nvPr/>
        </p:nvSpPr>
        <p:spPr>
          <a:xfrm>
            <a:off x="0" y="6334125"/>
            <a:ext cx="12192000" cy="523875"/>
          </a:xfrm>
          <a:prstGeom prst="rect">
            <a:avLst/>
          </a:prstGeom>
          <a:solidFill>
            <a:srgbClr val="F0F9FC"/>
          </a:solidFill>
          <a:ln>
            <a:noFill/>
          </a:ln>
        </p:spPr>
      </p:sp>
      <p:sp>
        <p:nvSpPr>
          <p:cNvPr id="15" name="TextBox 15"/>
          <p:cNvSpPr txBox="1"/>
          <p:nvPr/>
        </p:nvSpPr>
        <p:spPr>
          <a:xfrm>
            <a:off x="3619500" y="6486525"/>
            <a:ext cx="4953000" cy="23812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05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课程复现资料 · 可公开分享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10763250" y="6486525"/>
            <a:ext cx="857250" cy="23812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05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77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