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2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3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4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5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6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84cabd675ba1cb83.png"/>
</Relationships>
</file>

<file path=ppt/slides/_rels/slide7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8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a8f24496abd2071a.png"/>
</Relationships>
</file>

<file path=ppt/slides/_rels/slide9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66e16e090377dc26.png"/>
</Relationships>
</file>

<file path=ppt/slides/_rels/slide10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1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12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13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14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15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16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716703ceab52c158.png"/>
</Relationships>
</file>

<file path=ppt/slides/_rels/slide17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18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a0f9e4ff361bf099.png"/>
</Relationships>
</file>

<file path=ppt/slides/_rels/slide19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f639254a937d2363.png"/>
</Relationships>
</file>

<file path=ppt/slides/_rels/slide20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2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22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23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24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25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26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ce0f211b735b0a74.png"/>
</Relationships>
</file>

<file path=ppt/slides/_rels/slide27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28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7606a29d63b428a7.png"/>
</Relationships>
</file>

<file path=ppt/slides/_rels/slide29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c408d7346cc78c46.png"/>
</Relationships>
</file>

<file path=ppt/slides/_rels/slide30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3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32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33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34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35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36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f814e14e053cfaef.png"/>
</Relationships>
</file>

<file path=ppt/slides/_rels/slide37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38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86eb8207d144febc.png"/>
</Relationships>
</file>

<file path=ppt/slides/_rels/slide39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ccb440ec673854a1.png"/>
</Relationships>
</file>

<file path=ppt/slides/_rels/slide40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4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42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43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44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b39ffc9f16475c53.png"/>
</Relationships>
</file>

<file path=ppt/slides/_rels/slide45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46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47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48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49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50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5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52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0c037069086a06f3.png"/>
</Relationships>
</file>

<file path=ppt/slides/_rels/slide53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54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55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56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57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58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59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60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6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62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63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64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65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66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952500"/>
          </a:xfrm>
          <a:prstGeom prst="rect">
            <a:avLst/>
          </a:prstGeom>
          <a:solidFill>
            <a:srgbClr val="0E7490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95250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10239375" y="1905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143000" y="2571750"/>
            <a:ext cx="9906000" cy="952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4200" b="1" dirty="0">
                <a:solidFill>
                  <a:srgbClr val="0E7490"/>
                </a:solidFill>
                <a:latin typeface="Arial"/>
                <a:ea typeface="Microsoft YaHei"/>
                <a:cs typeface="Arial"/>
              </a:rPr>
              <a:t>用 Durable Workflow 收口自主分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809750" y="3600450"/>
            <a:ext cx="8572500" cy="476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2025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Agent Runtime · 深度教学讲义</a:t>
            </a:r>
          </a:p>
        </p:txBody>
      </p:sp>
      <p:sp>
        <p:nvSpPr>
          <p:cNvPr id="8" name="Line 8"/>
          <p:cNvSpPr/>
          <p:nvPr/>
        </p:nvSpPr>
        <p:spPr>
          <a:xfrm>
            <a:off x="4000500" y="4333875"/>
            <a:ext cx="4191000" cy="9525"/>
          </a:xfrm>
          <a:custGeom>
            <a:avLst/>
            <a:gdLst/>
            <a:ahLst/>
            <a:cxnLst/>
            <a:rect l="l" t="t" r="r" b="b"/>
            <a:pathLst>
              <a:path w="4191000" h="9525">
                <a:moveTo>
                  <a:pt x="0" y="0"/>
                </a:moveTo>
                <a:lnTo>
                  <a:pt x="4191000" y="0"/>
                </a:lnTo>
              </a:path>
            </a:pathLst>
          </a:custGeom>
          <a:noFill/>
          <a:ln w="19050">
            <a:solidFill>
              <a:srgbClr val="06B6D4"/>
            </a:solidFill>
          </a:ln>
        </p:spPr>
      </p:sp>
      <p:sp>
        <p:nvSpPr>
          <p:cNvPr id="9" name="Ellipse 9"/>
          <p:cNvSpPr/>
          <p:nvPr/>
        </p:nvSpPr>
        <p:spPr>
          <a:xfrm>
            <a:off x="6048375" y="4286250"/>
            <a:ext cx="95250" cy="95250"/>
          </a:xfrm>
          <a:prstGeom prst="ellipse">
            <a:avLst/>
          </a:prstGeom>
          <a:solidFill>
            <a:srgbClr val="06B6D4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714750" y="4714875"/>
            <a:ext cx="4762500" cy="4000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725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企业级Agent工程架构实战营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3714750" y="5105400"/>
            <a:ext cx="4762500" cy="3333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425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第18讲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2952750" y="5486400"/>
            <a:ext cx="62865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Agent Runtime</a:t>
            </a:r>
          </a:p>
        </p:txBody>
      </p:sp>
      <p:sp>
        <p:nvSpPr>
          <p:cNvPr id="13" name="Rectangle 13"/>
          <p:cNvSpPr/>
          <p:nvPr/>
        </p:nvSpPr>
        <p:spPr>
          <a:xfrm>
            <a:off x="0" y="6334125"/>
            <a:ext cx="12192000" cy="523875"/>
          </a:xfrm>
          <a:prstGeom prst="rect">
            <a:avLst/>
          </a:prstGeom>
          <a:solidFill>
            <a:srgbClr val="F0F9FC"/>
          </a:solidFill>
          <a:ln>
            <a:noFill/>
          </a:ln>
        </p:spPr>
      </p:sp>
      <p:sp>
        <p:nvSpPr>
          <p:cNvPr id="14" name="TextBox 14"/>
          <p:cNvSpPr txBox="1"/>
          <p:nvPr/>
        </p:nvSpPr>
        <p:spPr>
          <a:xfrm>
            <a:off x="4381500" y="6486525"/>
            <a:ext cx="3429000" cy="2381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2026-09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0E7490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54330" y="211455"/>
            <a:ext cx="703555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目录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239375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grpSp>
        <p:nvGrpSpPr>
          <p:cNvPr id="31" name="Group 31"/>
          <p:cNvGrpSpPr/>
          <p:nvPr/>
        </p:nvGrpSpPr>
        <p:grpSpPr>
          <a:xfrm>
            <a:off x="762000" y="1095375"/>
            <a:ext cx="10668000" cy="2952750"/>
            <a:chOff x="762000" y="1095375"/>
            <a:chExt cx="10668000" cy="2952750"/>
          </a:xfrm>
        </p:grpSpPr>
        <p:sp>
          <p:nvSpPr>
            <p:cNvPr id="7" name="Rectangle 7"/>
            <p:cNvSpPr/>
            <p:nvPr/>
          </p:nvSpPr>
          <p:spPr>
            <a:xfrm>
              <a:off x="762000" y="1095375"/>
              <a:ext cx="5143500" cy="857250"/>
            </a:xfrm>
            <a:prstGeom prst="roundRect">
              <a:avLst>
                <a:gd name="adj" fmla="val 4444"/>
              </a:avLst>
            </a:prstGeom>
            <a:solidFill>
              <a:srgbClr val="E8F4FC"/>
            </a:solidFill>
            <a:ln>
              <a:noFill/>
            </a:ln>
          </p:spPr>
        </p:sp>
        <p:sp>
          <p:nvSpPr>
            <p:cNvPr id="8" name="Rectangle 8"/>
            <p:cNvSpPr/>
            <p:nvPr/>
          </p:nvSpPr>
          <p:spPr>
            <a:xfrm>
              <a:off x="762000" y="1095375"/>
              <a:ext cx="57150" cy="857250"/>
            </a:xfrm>
            <a:prstGeom prst="rect">
              <a:avLst/>
            </a:prstGeom>
            <a:solidFill>
              <a:srgbClr val="0E7490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1093470" y="1264920"/>
              <a:ext cx="469666" cy="487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0E7490"/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771650" y="1190625"/>
              <a:ext cx="3810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725" b="1" dirty="0">
                  <a:solidFill>
                    <a:srgbClr val="0E7490"/>
                  </a:solidFill>
                  <a:latin typeface="Arial"/>
                  <a:ea typeface="Microsoft YaHei"/>
                  <a:cs typeface="Arial"/>
                </a:rPr>
                <a:t>概念详解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143000" y="1600200"/>
              <a:ext cx="4286250" cy="2667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0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核心概念定义与边界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6286500" y="1095375"/>
              <a:ext cx="5143500" cy="857250"/>
            </a:xfrm>
            <a:prstGeom prst="roundRect">
              <a:avLst>
                <a:gd name="adj" fmla="val 4444"/>
              </a:avLst>
            </a:prstGeom>
            <a:solidFill>
              <a:srgbClr val="E8F4FC"/>
            </a:solidFill>
            <a:ln>
              <a:noFill/>
            </a:ln>
          </p:spPr>
        </p:sp>
        <p:sp>
          <p:nvSpPr>
            <p:cNvPr id="13" name="Rectangle 13"/>
            <p:cNvSpPr/>
            <p:nvPr/>
          </p:nvSpPr>
          <p:spPr>
            <a:xfrm>
              <a:off x="6286500" y="1095375"/>
              <a:ext cx="57150" cy="857250"/>
            </a:xfrm>
            <a:prstGeom prst="rect">
              <a:avLst/>
            </a:prstGeom>
            <a:solidFill>
              <a:srgbClr val="0E7490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6617970" y="1264920"/>
              <a:ext cx="469666" cy="487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0E7490"/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296150" y="1190625"/>
              <a:ext cx="3810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725" b="1" dirty="0">
                  <a:solidFill>
                    <a:srgbClr val="0E7490"/>
                  </a:solidFill>
                  <a:latin typeface="Arial"/>
                  <a:ea typeface="Microsoft YaHei"/>
                  <a:cs typeface="Arial"/>
                </a:rPr>
                <a:t>机制与图解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6667500" y="1600200"/>
              <a:ext cx="4286250" cy="2667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0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运行机制与图解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762000" y="2238375"/>
              <a:ext cx="5143500" cy="857250"/>
            </a:xfrm>
            <a:prstGeom prst="roundRect">
              <a:avLst>
                <a:gd name="adj" fmla="val 4444"/>
              </a:avLst>
            </a:prstGeom>
            <a:solidFill>
              <a:srgbClr val="F0F9FC"/>
            </a:solidFill>
            <a:ln>
              <a:noFill/>
            </a:ln>
          </p:spPr>
        </p:sp>
        <p:sp>
          <p:nvSpPr>
            <p:cNvPr id="18" name="Rectangle 18"/>
            <p:cNvSpPr/>
            <p:nvPr/>
          </p:nvSpPr>
          <p:spPr>
            <a:xfrm>
              <a:off x="762000" y="2238375"/>
              <a:ext cx="57150" cy="857250"/>
            </a:xfrm>
            <a:prstGeom prst="rect">
              <a:avLst/>
            </a:prstGeom>
            <a:solidFill>
              <a:srgbClr val="06B6D4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1093470" y="2407920"/>
              <a:ext cx="469666" cy="487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0E7490"/>
                  </a:solidFill>
                  <a:latin typeface="Arial"/>
                  <a:ea typeface="Microsoft YaHei"/>
                  <a:cs typeface="Arial"/>
                </a:rPr>
                <a:t>03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771650" y="2333625"/>
              <a:ext cx="3810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725" b="1" dirty="0">
                  <a:solidFill>
                    <a:srgbClr val="0E7490"/>
                  </a:solidFill>
                  <a:latin typeface="Arial"/>
                  <a:ea typeface="Microsoft YaHei"/>
                  <a:cs typeface="Arial"/>
                </a:rPr>
                <a:t>代码实现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143000" y="2743200"/>
              <a:ext cx="4286250" cy="2667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0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仓库真实代码三切面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6286500" y="2238375"/>
              <a:ext cx="5143500" cy="857250"/>
            </a:xfrm>
            <a:prstGeom prst="roundRect">
              <a:avLst>
                <a:gd name="adj" fmla="val 4444"/>
              </a:avLst>
            </a:prstGeom>
            <a:solidFill>
              <a:srgbClr val="F0F9FC"/>
            </a:solidFill>
            <a:ln>
              <a:noFill/>
            </a:ln>
          </p:spPr>
        </p:sp>
        <p:sp>
          <p:nvSpPr>
            <p:cNvPr id="23" name="Rectangle 23"/>
            <p:cNvSpPr/>
            <p:nvPr/>
          </p:nvSpPr>
          <p:spPr>
            <a:xfrm>
              <a:off x="6286500" y="2238375"/>
              <a:ext cx="57150" cy="857250"/>
            </a:xfrm>
            <a:prstGeom prst="rect">
              <a:avLst/>
            </a:prstGeom>
            <a:solidFill>
              <a:srgbClr val="06B6D4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6617970" y="2407920"/>
              <a:ext cx="469666" cy="487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0E7490"/>
                  </a:solidFill>
                  <a:latin typeface="Arial"/>
                  <a:ea typeface="Microsoft YaHei"/>
                  <a:cs typeface="Arial"/>
                </a:rPr>
                <a:t>04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296150" y="2333625"/>
              <a:ext cx="3810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725" b="1" dirty="0">
                  <a:solidFill>
                    <a:srgbClr val="0E7490"/>
                  </a:solidFill>
                  <a:latin typeface="Arial"/>
                  <a:ea typeface="Microsoft YaHei"/>
                  <a:cs typeface="Arial"/>
                </a:rPr>
                <a:t>应用实践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6667500" y="2743200"/>
              <a:ext cx="4286250" cy="2667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0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落地步骤与场景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762000" y="3381375"/>
              <a:ext cx="5143500" cy="666750"/>
            </a:xfrm>
            <a:prstGeom prst="roundRect">
              <a:avLst>
                <a:gd name="adj" fmla="val 5714"/>
              </a:avLst>
            </a:prstGeom>
            <a:noFill/>
            <a:ln w="9525">
              <a:solidFill>
                <a:srgbClr val="C8E6EF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952500" y="3524250"/>
              <a:ext cx="4762500" cy="3619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275" dirty="0">
                  <a:solidFill>
                    <a:srgbClr val="6B7C8F"/>
                  </a:solidFill>
                  <a:latin typeface="Arial"/>
                  <a:ea typeface="Microsoft YaHei"/>
                  <a:cs typeface="Arial"/>
                </a:rPr>
                <a:t>陷阱与排查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6286500" y="3381375"/>
              <a:ext cx="5143500" cy="666750"/>
            </a:xfrm>
            <a:prstGeom prst="roundRect">
              <a:avLst>
                <a:gd name="adj" fmla="val 5714"/>
              </a:avLst>
            </a:prstGeom>
            <a:noFill/>
            <a:ln w="9525">
              <a:solidFill>
                <a:srgbClr val="C8E6EF"/>
              </a:solidFill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6477000" y="3524250"/>
              <a:ext cx="4762500" cy="3619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275" dirty="0">
                  <a:solidFill>
                    <a:srgbClr val="6B7C8F"/>
                  </a:solidFill>
                  <a:latin typeface="Arial"/>
                  <a:ea typeface="Microsoft YaHei"/>
                  <a:cs typeface="Arial"/>
                </a:rPr>
                <a:t>优化拓展</a:t>
              </a:r>
            </a:p>
          </p:txBody>
        </p:sp>
      </p:grpSp>
      <p:sp>
        <p:nvSpPr>
          <p:cNvPr id="32" name="Line 32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33" name="TextBox 33"/>
          <p:cNvSpPr txBox="1"/>
          <p:nvPr/>
        </p:nvSpPr>
        <p:spPr>
          <a:xfrm>
            <a:off x="10763250" y="6486525"/>
            <a:ext cx="857250" cy="2381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E7490"/>
          </a:solidFill>
          <a:ln>
            <a:noFill/>
          </a:ln>
        </p:spPr>
      </p:sp>
      <p:sp>
        <p:nvSpPr>
          <p:cNvPr id="3" name="Freeform 3"/>
          <p:cNvSpPr/>
          <p:nvPr/>
        </p:nvSpPr>
        <p:spPr>
          <a:xfrm>
            <a:off x="5715000" y="0"/>
            <a:ext cx="6477000" cy="6858000"/>
          </a:xfrm>
          <a:custGeom>
            <a:avLst/>
            <a:gdLst/>
            <a:ahLst/>
            <a:cxnLst/>
            <a:rect l="l" t="t" r="r" b="b"/>
            <a:pathLst>
              <a:path w="6477000" h="6858000">
                <a:moveTo>
                  <a:pt x="1905000" y="0"/>
                </a:moveTo>
                <a:lnTo>
                  <a:pt x="6477000" y="0"/>
                </a:lnTo>
                <a:lnTo>
                  <a:pt x="6477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06B6D4">
              <a:alpha val="20000"/>
            </a:srgbClr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2286000"/>
            <a:ext cx="114300" cy="228600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476250" y="2095500"/>
            <a:ext cx="2952750" cy="3143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8750" b="1" dirty="0">
                <a:solidFill>
                  <a:srgbClr val="FFFFFF">
                    <a:alphaMod val="10000"/>
                  </a:srgbClr>
                </a:solidFill>
                <a:latin typeface="Arial"/>
                <a:ea typeface="Microsoft YaHei"/>
                <a:cs typeface="Arial"/>
              </a:rPr>
              <a:t>18</a:t>
            </a:r>
          </a:p>
        </p:txBody>
      </p:sp>
      <p:sp>
        <p:nvSpPr>
          <p:cNvPr id="6" name="Line 6"/>
          <p:cNvSpPr/>
          <p:nvPr/>
        </p:nvSpPr>
        <p:spPr>
          <a:xfrm>
            <a:off x="3619500" y="2505075"/>
            <a:ext cx="1143000" cy="9525"/>
          </a:xfrm>
          <a:custGeom>
            <a:avLst/>
            <a:gdLst/>
            <a:ahLst/>
            <a:cxnLst/>
            <a:rect l="l" t="t" r="r" b="b"/>
            <a:pathLst>
              <a:path w="1143000" h="9525">
                <a:moveTo>
                  <a:pt x="0" y="0"/>
                </a:moveTo>
                <a:lnTo>
                  <a:pt x="1143000" y="0"/>
                </a:lnTo>
              </a:path>
            </a:pathLst>
          </a:custGeom>
          <a:noFill/>
          <a:ln w="57150">
            <a:solidFill>
              <a:srgbClr val="CC0000"/>
            </a:solidFill>
          </a:ln>
        </p:spPr>
      </p:sp>
      <p:sp>
        <p:nvSpPr>
          <p:cNvPr id="7" name="TextBox 7"/>
          <p:cNvSpPr txBox="1"/>
          <p:nvPr/>
        </p:nvSpPr>
        <p:spPr>
          <a:xfrm>
            <a:off x="3619500" y="2667000"/>
            <a:ext cx="7429500" cy="876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42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学习目标 / Lernziele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619500" y="3648075"/>
            <a:ext cx="7620000" cy="419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800" dirty="0">
                <a:solidFill>
                  <a:srgbClr val="E8F4FC"/>
                </a:solidFill>
                <a:latin typeface="Arial"/>
                <a:ea typeface="Microsoft YaHei"/>
                <a:cs typeface="Arial"/>
              </a:rPr>
              <a:t>1) 能解释中断的机制；2) 能对比审批的取舍；3) 能跑通 workflow.py 对应测试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6762750" y="6286500"/>
            <a:ext cx="4095750" cy="285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r"/>
            <a:r>
              <a:rPr lang="zh-CN" sz="1200" dirty="0">
                <a:solidFill>
                  <a:srgbClr val="FFFFFF">
                    <a:alphaMod val="55000"/>
                  </a:srgbClr>
                </a:solidFill>
                <a:latin typeface="Arial"/>
                <a:ea typeface="Microsoft YaHei"/>
                <a:cs typeface="Arial"/>
              </a:rPr>
              <a:t>用 Durable Workflow 收口自主分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E7490"/>
          </a:solidFill>
          <a:ln>
            <a:noFill/>
          </a:ln>
        </p:spPr>
      </p:sp>
      <p:sp>
        <p:nvSpPr>
          <p:cNvPr id="3" name="Freeform 3"/>
          <p:cNvSpPr/>
          <p:nvPr/>
        </p:nvSpPr>
        <p:spPr>
          <a:xfrm>
            <a:off x="5715000" y="0"/>
            <a:ext cx="6477000" cy="6858000"/>
          </a:xfrm>
          <a:custGeom>
            <a:avLst/>
            <a:gdLst/>
            <a:ahLst/>
            <a:cxnLst/>
            <a:rect l="l" t="t" r="r" b="b"/>
            <a:pathLst>
              <a:path w="6477000" h="6858000">
                <a:moveTo>
                  <a:pt x="1905000" y="0"/>
                </a:moveTo>
                <a:lnTo>
                  <a:pt x="6477000" y="0"/>
                </a:lnTo>
                <a:lnTo>
                  <a:pt x="6477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06B6D4">
              <a:alpha val="20000"/>
            </a:srgbClr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2286000"/>
            <a:ext cx="114300" cy="228600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476250" y="2095500"/>
            <a:ext cx="2952750" cy="3143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8750" b="1" dirty="0">
                <a:solidFill>
                  <a:srgbClr val="FFFFFF">
                    <a:alphaMod val="10000"/>
                  </a:srgbClr>
                </a:solidFill>
                <a:latin typeface="Arial"/>
                <a:ea typeface="Microsoft YaHei"/>
                <a:cs typeface="Arial"/>
              </a:rPr>
              <a:t>04</a:t>
            </a:r>
          </a:p>
        </p:txBody>
      </p:sp>
      <p:sp>
        <p:nvSpPr>
          <p:cNvPr id="6" name="Line 6"/>
          <p:cNvSpPr/>
          <p:nvPr/>
        </p:nvSpPr>
        <p:spPr>
          <a:xfrm>
            <a:off x="3619500" y="2505075"/>
            <a:ext cx="1143000" cy="9525"/>
          </a:xfrm>
          <a:custGeom>
            <a:avLst/>
            <a:gdLst/>
            <a:ahLst/>
            <a:cxnLst/>
            <a:rect l="l" t="t" r="r" b="b"/>
            <a:pathLst>
              <a:path w="1143000" h="9525">
                <a:moveTo>
                  <a:pt x="0" y="0"/>
                </a:moveTo>
                <a:lnTo>
                  <a:pt x="1143000" y="0"/>
                </a:lnTo>
              </a:path>
            </a:pathLst>
          </a:custGeom>
          <a:noFill/>
          <a:ln w="57150">
            <a:solidFill>
              <a:srgbClr val="CC0000"/>
            </a:solidFill>
          </a:ln>
        </p:spPr>
      </p:sp>
      <p:sp>
        <p:nvSpPr>
          <p:cNvPr id="7" name="TextBox 7"/>
          <p:cNvSpPr txBox="1"/>
          <p:nvPr/>
        </p:nvSpPr>
        <p:spPr>
          <a:xfrm>
            <a:off x="3619500" y="2667000"/>
            <a:ext cx="7429500" cy="876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42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概念详解：中断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619500" y="3648075"/>
            <a:ext cx="7620000" cy="419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800" dirty="0">
                <a:solidFill>
                  <a:srgbClr val="E8F4FC"/>
                </a:solidFill>
                <a:latin typeface="Arial"/>
                <a:ea typeface="Microsoft YaHei"/>
                <a:cs typeface="Arial"/>
              </a:rPr>
              <a:t>「中断」指Checkpoint+Resume。在企业级语境下，它同时约束接口契约、生命周期与治理边界，而不只是一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6762750" y="6286500"/>
            <a:ext cx="4095750" cy="285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r"/>
            <a:r>
              <a:rPr lang="zh-CN" sz="1200" dirty="0">
                <a:solidFill>
                  <a:srgbClr val="FFFFFF">
                    <a:alphaMod val="55000"/>
                  </a:srgbClr>
                </a:solidFill>
                <a:latin typeface="Arial"/>
                <a:ea typeface="Microsoft YaHei"/>
                <a:cs typeface="Arial"/>
              </a:rPr>
              <a:t>用 Durable Workflow 收口自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0E7490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05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定义与内涵：中断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06B6D4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把中断讲透：是什么、不是什么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课程第18讲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Agent Runtime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05</a:t>
            </a:r>
          </a:p>
        </p:txBody>
      </p:sp>
      <p:grpSp>
        <p:nvGrpSpPr>
          <p:cNvPr id="21" name="EasySlides Component: evidence_01"/>
          <p:cNvGrpSpPr/>
          <p:nvPr/>
        </p:nvGrpSpPr>
        <p:grpSpPr>
          <a:xfrm>
            <a:off x="495300" y="2095500"/>
            <a:ext cx="11201400" cy="1285875"/>
            <a:chOff x="495300" y="2095500"/>
            <a:chExt cx="11201400" cy="1285875"/>
          </a:xfrm>
        </p:grpSpPr>
        <p:sp>
          <p:nvSpPr>
            <p:cNvPr id="15" name="Rectangle 15"/>
            <p:cNvSpPr/>
            <p:nvPr/>
          </p:nvSpPr>
          <p:spPr>
            <a:xfrm>
              <a:off x="495300" y="2095500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95300" y="2095500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06B6D4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33425" y="2543175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06B6D4"/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447800" y="2324100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0E7490"/>
                  </a:solidFill>
                  <a:latin typeface="Arial"/>
                  <a:ea typeface="Microsoft YaHei"/>
                  <a:cs typeface="Arial"/>
                </a:rPr>
                <a:t>定义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4362450" y="2324100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4686300" y="2324100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「中断」指Checkpoint+Resume。在企业级语境下，它同时约束接口契约</a:t>
              </a:r>
            </a:p>
          </p:txBody>
        </p:sp>
      </p:grpSp>
      <p:grpSp>
        <p:nvGrpSpPr>
          <p:cNvPr id="28" name="EasySlides Component: evidence_02"/>
          <p:cNvGrpSpPr/>
          <p:nvPr/>
        </p:nvGrpSpPr>
        <p:grpSpPr>
          <a:xfrm>
            <a:off x="495300" y="3571875"/>
            <a:ext cx="11201400" cy="1285875"/>
            <a:chOff x="495300" y="3571875"/>
            <a:chExt cx="11201400" cy="1285875"/>
          </a:xfrm>
        </p:grpSpPr>
        <p:sp>
          <p:nvSpPr>
            <p:cNvPr id="22" name="Rectangle 22"/>
            <p:cNvSpPr/>
            <p:nvPr/>
          </p:nvSpPr>
          <p:spPr>
            <a:xfrm>
              <a:off x="495300" y="3571875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495300" y="3571875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06B6D4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33425" y="4019550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06B6D4"/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447800" y="3800475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0E7490"/>
                  </a:solidFill>
                  <a:latin typeface="Arial"/>
                  <a:ea typeface="Microsoft YaHei"/>
                  <a:cs typeface="Arial"/>
                </a:rPr>
                <a:t>方法</a:t>
              </a:r>
            </a:p>
          </p:txBody>
        </p:sp>
        <p:sp>
          <p:nvSpPr>
            <p:cNvPr id="26" name="Line 26"/>
            <p:cNvSpPr/>
            <p:nvPr/>
          </p:nvSpPr>
          <p:spPr>
            <a:xfrm>
              <a:off x="4362450" y="3800475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4686300" y="3800475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方法维度：Checkpoint+Resume</a:t>
              </a:r>
            </a:p>
          </p:txBody>
        </p:sp>
      </p:grpSp>
      <p:grpSp>
        <p:nvGrpSpPr>
          <p:cNvPr id="35" name="EasySlides Component: evidence_03"/>
          <p:cNvGrpSpPr/>
          <p:nvPr/>
        </p:nvGrpSpPr>
        <p:grpSpPr>
          <a:xfrm>
            <a:off x="495300" y="4905375"/>
            <a:ext cx="11201400" cy="1285875"/>
            <a:chOff x="495300" y="4905375"/>
            <a:chExt cx="11201400" cy="1285875"/>
          </a:xfrm>
        </p:grpSpPr>
        <p:sp>
          <p:nvSpPr>
            <p:cNvPr id="29" name="Rectangle 29"/>
            <p:cNvSpPr/>
            <p:nvPr/>
          </p:nvSpPr>
          <p:spPr>
            <a:xfrm>
              <a:off x="495300" y="4905375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495300" y="4905375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06B6D4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33425" y="5353050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06B6D4"/>
                  </a:solidFill>
                  <a:latin typeface="Arial"/>
                  <a:ea typeface="Microsoft YaHei"/>
                  <a:cs typeface="Arial"/>
                </a:rPr>
                <a:t>03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447800" y="5133975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0E7490"/>
                  </a:solidFill>
                  <a:latin typeface="Arial"/>
                  <a:ea typeface="Microsoft YaHei"/>
                  <a:cs typeface="Arial"/>
                </a:rPr>
                <a:t>要点</a:t>
              </a:r>
            </a:p>
          </p:txBody>
        </p:sp>
        <p:sp>
          <p:nvSpPr>
            <p:cNvPr id="33" name="Line 33"/>
            <p:cNvSpPr/>
            <p:nvPr/>
          </p:nvSpPr>
          <p:spPr>
            <a:xfrm>
              <a:off x="4362450" y="5133975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4686300" y="5133975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要点维度：Checkpoint+Resume</a:t>
              </a:r>
            </a:p>
          </p:txBody>
        </p:sp>
      </p:grpSp>
      <p:grpSp>
        <p:nvGrpSpPr>
          <p:cNvPr id="39" name="EasySlides Component: synthesis"/>
          <p:cNvGrpSpPr/>
          <p:nvPr/>
        </p:nvGrpSpPr>
        <p:grpSpPr>
          <a:xfrm>
            <a:off x="495300" y="1285875"/>
            <a:ext cx="11201400" cy="714375"/>
            <a:chOff x="495300" y="1285875"/>
            <a:chExt cx="11201400" cy="714375"/>
          </a:xfrm>
        </p:grpSpPr>
        <p:sp>
          <p:nvSpPr>
            <p:cNvPr id="36" name="Rectangle 36"/>
            <p:cNvSpPr/>
            <p:nvPr/>
          </p:nvSpPr>
          <p:spPr>
            <a:xfrm>
              <a:off x="495300" y="1285875"/>
              <a:ext cx="11201400" cy="714375"/>
            </a:xfrm>
            <a:prstGeom prst="roundRect">
              <a:avLst>
                <a:gd name="adj" fmla="val 5333"/>
              </a:avLst>
            </a:prstGeom>
            <a:solidFill>
              <a:srgbClr val="0E7490"/>
            </a:solidFill>
            <a:ln>
              <a:noFill/>
            </a:ln>
          </p:spPr>
        </p:sp>
        <p:sp>
          <p:nvSpPr>
            <p:cNvPr id="37" name="Rectangle 37"/>
            <p:cNvSpPr/>
            <p:nvPr/>
          </p:nvSpPr>
          <p:spPr>
            <a:xfrm>
              <a:off x="495300" y="1285875"/>
              <a:ext cx="76200" cy="714375"/>
            </a:xfrm>
            <a:prstGeom prst="roundRect">
              <a:avLst>
                <a:gd name="adj" fmla="val 50000"/>
              </a:avLst>
            </a:prstGeom>
            <a:solidFill>
              <a:srgbClr val="CC0000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876300" y="1419225"/>
              <a:ext cx="10439400" cy="4476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自主与流程的混合编排：Harness 负责探索，Workflow 负责收口。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0E7490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06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机制图解：中断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06B6D4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一图看懂运行机制与数据流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课程第18讲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Agent Runtime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06</a:t>
            </a:r>
          </a:p>
        </p:txBody>
      </p:sp>
      <p:grpSp>
        <p:nvGrpSpPr>
          <p:cNvPr id="26" name="EasySlides Component: evidence"/>
          <p:cNvGrpSpPr/>
          <p:nvPr/>
        </p:nvGrpSpPr>
        <p:grpSpPr>
          <a:xfrm>
            <a:off x="7124700" y="1285875"/>
            <a:ext cx="4572000" cy="4905375"/>
            <a:chOff x="7124700" y="1285875"/>
            <a:chExt cx="4572000" cy="4905375"/>
          </a:xfrm>
        </p:grpSpPr>
        <p:sp>
          <p:nvSpPr>
            <p:cNvPr id="15" name="Rectangle 15"/>
            <p:cNvSpPr/>
            <p:nvPr/>
          </p:nvSpPr>
          <p:spPr>
            <a:xfrm>
              <a:off x="7124700" y="1285875"/>
              <a:ext cx="4572000" cy="4905375"/>
            </a:xfrm>
            <a:prstGeom prst="roundRect">
              <a:avLst>
                <a:gd name="adj" fmla="val 833"/>
              </a:avLst>
            </a:prstGeom>
            <a:solidFill>
              <a:srgbClr val="F0F9FC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7124700" y="1285875"/>
              <a:ext cx="76200" cy="4905375"/>
            </a:xfrm>
            <a:prstGeom prst="rect">
              <a:avLst/>
            </a:prstGeom>
            <a:solidFill>
              <a:srgbClr val="06B6D4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7391400" y="1552575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7391400" y="3105150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7391400" y="4657725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605712" y="1745456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06B6D4"/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605712" y="3298031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06B6D4"/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605712" y="4850606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CC0000"/>
                  </a:solidFill>
                  <a:latin typeface="Arial"/>
                  <a:ea typeface="Microsoft YaHei"/>
                  <a:cs typeface="Arial"/>
                </a:rPr>
                <a:t>03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848600" y="1819275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「中断」的运行机制分三步：输入契约校验 → 核心转换执行 → 结果验证与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848600" y="3371850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关键环节：契约→执行→验证→留痕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848600" y="4924425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落点：仓库验证</a:t>
              </a:r>
            </a:p>
          </p:txBody>
        </p:sp>
      </p:grpSp>
      <p:grpSp>
        <p:nvGrpSpPr>
          <p:cNvPr id="32" name="EasySlides Component: figure"/>
          <p:cNvGrpSpPr/>
          <p:nvPr/>
        </p:nvGrpSpPr>
        <p:grpSpPr>
          <a:xfrm>
            <a:off x="495300" y="1285875"/>
            <a:ext cx="6400800" cy="4905375"/>
            <a:chOff x="495300" y="1285875"/>
            <a:chExt cx="6400800" cy="4905375"/>
          </a:xfrm>
        </p:grpSpPr>
        <p:sp>
          <p:nvSpPr>
            <p:cNvPr id="27" name="Rectangle 27"/>
            <p:cNvSpPr/>
            <p:nvPr/>
          </p:nvSpPr>
          <p:spPr>
            <a:xfrm>
              <a:off x="495300" y="1285875"/>
              <a:ext cx="6400800" cy="4905375"/>
            </a:xfrm>
            <a:prstGeom prst="roundRect">
              <a:avLst>
                <a:gd name="adj" fmla="val 777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647700" y="1438275"/>
              <a:ext cx="6096000" cy="3905250"/>
            </a:xfrm>
            <a:prstGeom prst="roundRect">
              <a:avLst>
                <a:gd name="adj" fmla="val 488"/>
              </a:avLst>
            </a:prstGeom>
            <a:solidFill>
              <a:srgbClr val="F0F9FC"/>
            </a:solidFill>
            <a:ln w="9525">
              <a:solidFill>
                <a:srgbClr val="D4E2EE"/>
              </a:solidFill>
            </a:ln>
          </p:spPr>
        </p:sp>
        <p:pic>
          <p:nvPicPr>
            <p:cNvPr id="29" name="Image 29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47700" y="1605643"/>
              <a:ext cx="6096000" cy="3570514"/>
            </a:xfrm>
            <a:prstGeom prst="rect">
              <a:avLst/>
            </a:prstGeom>
          </p:spPr>
        </p:pic>
        <p:sp>
          <p:nvSpPr>
            <p:cNvPr id="30" name="Line 30"/>
            <p:cNvSpPr/>
            <p:nvPr/>
          </p:nvSpPr>
          <p:spPr>
            <a:xfrm>
              <a:off x="723900" y="5534025"/>
              <a:ext cx="5943600" cy="9525"/>
            </a:xfrm>
            <a:custGeom>
              <a:avLst/>
              <a:gdLst/>
              <a:ahLst/>
              <a:cxnLst/>
              <a:rect l="l" t="t" r="r" b="b"/>
              <a:pathLst>
                <a:path w="5943600" h="9525">
                  <a:moveTo>
                    <a:pt x="0" y="0"/>
                  </a:moveTo>
                  <a:lnTo>
                    <a:pt x="5943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800100" y="5610225"/>
              <a:ext cx="57912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图：中断 的机制与数据流（flow_v 视角）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0E7490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07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深入原理：中断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06B6D4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正确姿势 vs 常见误用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课程第18讲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Agent Runtime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07</a:t>
            </a:r>
          </a:p>
        </p:txBody>
      </p:sp>
      <p:grpSp>
        <p:nvGrpSpPr>
          <p:cNvPr id="22" name="EasySlides Component: left"/>
          <p:cNvGrpSpPr/>
          <p:nvPr/>
        </p:nvGrpSpPr>
        <p:grpSpPr>
          <a:xfrm>
            <a:off x="495300" y="1285875"/>
            <a:ext cx="5410200" cy="4000500"/>
            <a:chOff x="495300" y="1285875"/>
            <a:chExt cx="5410200" cy="4000500"/>
          </a:xfrm>
        </p:grpSpPr>
        <p:sp>
          <p:nvSpPr>
            <p:cNvPr id="15" name="Rectangle 15"/>
            <p:cNvSpPr/>
            <p:nvPr/>
          </p:nvSpPr>
          <p:spPr>
            <a:xfrm>
              <a:off x="495300" y="1285875"/>
              <a:ext cx="5410200" cy="4000500"/>
            </a:xfrm>
            <a:prstGeom prst="roundRect">
              <a:avLst>
                <a:gd name="adj" fmla="val 952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95300" y="1285875"/>
              <a:ext cx="5410200" cy="609600"/>
            </a:xfrm>
            <a:prstGeom prst="roundRect">
              <a:avLst>
                <a:gd name="adj" fmla="val 6250"/>
              </a:avLst>
            </a:prstGeom>
            <a:solidFill>
              <a:srgbClr val="E8F4FC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495300" y="1285875"/>
              <a:ext cx="57150" cy="609600"/>
            </a:xfrm>
            <a:prstGeom prst="rect">
              <a:avLst/>
            </a:prstGeom>
            <a:solidFill>
              <a:srgbClr val="06B6D4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800100" y="1419225"/>
              <a:ext cx="48006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725" b="1" dirty="0">
                  <a:solidFill>
                    <a:srgbClr val="0E7490"/>
                  </a:solidFill>
                  <a:latin typeface="Arial"/>
                  <a:ea typeface="Microsoft YaHei"/>
                  <a:cs typeface="Arial"/>
                </a:rPr>
                <a:t>正确姿势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800100" y="2276475"/>
              <a:ext cx="4800600" cy="9525"/>
            </a:xfrm>
            <a:custGeom>
              <a:avLst/>
              <a:gdLst/>
              <a:ahLst/>
              <a:cxnLst/>
              <a:rect l="l" t="t" r="r" b="b"/>
              <a:pathLst>
                <a:path w="4800600" h="9525">
                  <a:moveTo>
                    <a:pt x="0" y="0"/>
                  </a:moveTo>
                  <a:lnTo>
                    <a:pt x="4800600" y="0"/>
                  </a:lnTo>
                </a:path>
              </a:pathLst>
            </a:custGeom>
            <a:noFill/>
            <a:ln w="19050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1028700" y="2505075"/>
              <a:ext cx="4343400" cy="20955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65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正确姿势：先定义「中断」的契约与不变量，再谈实现；所有旁路都必须被审计。</a:t>
              </a:r>
            </a:p>
            <a:p>
              <a:pPr algn="l"/>
              <a:r>
                <a:rPr lang="zh-CN" sz="165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契约先行，证据留痕</a:t>
              </a:r>
            </a:p>
          </p:txBody>
        </p:sp>
        <p:sp>
          <p:nvSpPr>
            <p:cNvPr id="21" name="Line 21"/>
            <p:cNvSpPr/>
            <p:nvPr/>
          </p:nvSpPr>
          <p:spPr>
            <a:xfrm>
              <a:off x="800100" y="4905375"/>
              <a:ext cx="4800600" cy="9525"/>
            </a:xfrm>
            <a:custGeom>
              <a:avLst/>
              <a:gdLst/>
              <a:ahLst/>
              <a:cxnLst/>
              <a:rect l="l" t="t" r="r" b="b"/>
              <a:pathLst>
                <a:path w="4800600" h="9525">
                  <a:moveTo>
                    <a:pt x="0" y="0"/>
                  </a:moveTo>
                  <a:lnTo>
                    <a:pt x="4800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</p:grpSp>
      <p:grpSp>
        <p:nvGrpSpPr>
          <p:cNvPr id="30" name="EasySlides Component: right"/>
          <p:cNvGrpSpPr/>
          <p:nvPr/>
        </p:nvGrpSpPr>
        <p:grpSpPr>
          <a:xfrm>
            <a:off x="6286500" y="1285875"/>
            <a:ext cx="5410200" cy="4000500"/>
            <a:chOff x="6286500" y="1285875"/>
            <a:chExt cx="5410200" cy="4000500"/>
          </a:xfrm>
        </p:grpSpPr>
        <p:sp>
          <p:nvSpPr>
            <p:cNvPr id="23" name="Rectangle 23"/>
            <p:cNvSpPr/>
            <p:nvPr/>
          </p:nvSpPr>
          <p:spPr>
            <a:xfrm>
              <a:off x="6286500" y="1285875"/>
              <a:ext cx="5410200" cy="4000500"/>
            </a:xfrm>
            <a:prstGeom prst="roundRect">
              <a:avLst>
                <a:gd name="adj" fmla="val 952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6286500" y="1285875"/>
              <a:ext cx="5410200" cy="609600"/>
            </a:xfrm>
            <a:prstGeom prst="roundRect">
              <a:avLst>
                <a:gd name="adj" fmla="val 6250"/>
              </a:avLst>
            </a:prstGeom>
            <a:solidFill>
              <a:srgbClr val="E8F4FC"/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6286500" y="1285875"/>
              <a:ext cx="57150" cy="609600"/>
            </a:xfrm>
            <a:prstGeom prst="rect">
              <a:avLst/>
            </a:prstGeom>
            <a:solidFill>
              <a:srgbClr val="06B6D4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591300" y="1419225"/>
              <a:ext cx="48006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725" b="1" dirty="0">
                  <a:solidFill>
                    <a:srgbClr val="0E7490"/>
                  </a:solidFill>
                  <a:latin typeface="Arial"/>
                  <a:ea typeface="Microsoft YaHei"/>
                  <a:cs typeface="Arial"/>
                </a:rPr>
                <a:t>常见误用</a:t>
              </a:r>
            </a:p>
          </p:txBody>
        </p:sp>
        <p:sp>
          <p:nvSpPr>
            <p:cNvPr id="27" name="Line 27"/>
            <p:cNvSpPr/>
            <p:nvPr/>
          </p:nvSpPr>
          <p:spPr>
            <a:xfrm>
              <a:off x="6591300" y="2276475"/>
              <a:ext cx="4800600" cy="9525"/>
            </a:xfrm>
            <a:custGeom>
              <a:avLst/>
              <a:gdLst/>
              <a:ahLst/>
              <a:cxnLst/>
              <a:rect l="l" t="t" r="r" b="b"/>
              <a:pathLst>
                <a:path w="4800600" h="9525">
                  <a:moveTo>
                    <a:pt x="0" y="0"/>
                  </a:moveTo>
                  <a:lnTo>
                    <a:pt x="4800600" y="0"/>
                  </a:lnTo>
                </a:path>
              </a:pathLst>
            </a:custGeom>
            <a:noFill/>
            <a:ln w="19050">
              <a:solidFill>
                <a:srgbClr val="D4E2EE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819900" y="2505075"/>
              <a:ext cx="4343400" cy="20955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65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常见误用：把「中断」当成一次性胶水代码，没有版本、没有度量、没有回滚路径。</a:t>
              </a:r>
            </a:p>
            <a:p>
              <a:pPr algn="l"/>
              <a:r>
                <a:rPr lang="zh-CN" sz="165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无版本/无度量/无回滚</a:t>
              </a:r>
            </a:p>
          </p:txBody>
        </p:sp>
        <p:sp>
          <p:nvSpPr>
            <p:cNvPr id="29" name="Line 29"/>
            <p:cNvSpPr/>
            <p:nvPr/>
          </p:nvSpPr>
          <p:spPr>
            <a:xfrm>
              <a:off x="6591300" y="4905375"/>
              <a:ext cx="4800600" cy="9525"/>
            </a:xfrm>
            <a:custGeom>
              <a:avLst/>
              <a:gdLst/>
              <a:ahLst/>
              <a:cxnLst/>
              <a:rect l="l" t="t" r="r" b="b"/>
              <a:pathLst>
                <a:path w="4800600" h="9525">
                  <a:moveTo>
                    <a:pt x="0" y="0"/>
                  </a:moveTo>
                  <a:lnTo>
                    <a:pt x="4800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</p:grpSp>
      <p:grpSp>
        <p:nvGrpSpPr>
          <p:cNvPr id="34" name="EasySlides Component: synthesis"/>
          <p:cNvGrpSpPr/>
          <p:nvPr/>
        </p:nvGrpSpPr>
        <p:grpSpPr>
          <a:xfrm>
            <a:off x="495300" y="5476875"/>
            <a:ext cx="11201400" cy="714375"/>
            <a:chOff x="495300" y="5476875"/>
            <a:chExt cx="11201400" cy="714375"/>
          </a:xfrm>
        </p:grpSpPr>
        <p:sp>
          <p:nvSpPr>
            <p:cNvPr id="31" name="Rectangle 31"/>
            <p:cNvSpPr/>
            <p:nvPr/>
          </p:nvSpPr>
          <p:spPr>
            <a:xfrm>
              <a:off x="495300" y="5476875"/>
              <a:ext cx="11201400" cy="714375"/>
            </a:xfrm>
            <a:prstGeom prst="roundRect">
              <a:avLst>
                <a:gd name="adj" fmla="val 5333"/>
              </a:avLst>
            </a:prstGeom>
            <a:solidFill>
              <a:srgbClr val="0E7490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495300" y="5476875"/>
              <a:ext cx="76200" cy="714375"/>
            </a:xfrm>
            <a:prstGeom prst="roundRect">
              <a:avLst>
                <a:gd name="adj" fmla="val 50000"/>
              </a:avLst>
            </a:prstGeom>
            <a:solidFill>
              <a:srgbClr val="CC0000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876300" y="5610225"/>
              <a:ext cx="10439400" cy="4476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治理视角：控制权矩阵与自主性预算划定行动边界。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0E7490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08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代码契约：中断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06B6D4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仓库真实代码 · 契约切面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课程第18讲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Agent Runtime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08</a:t>
            </a:r>
          </a:p>
        </p:txBody>
      </p:sp>
      <p:grpSp>
        <p:nvGrpSpPr>
          <p:cNvPr id="26" name="EasySlides Component: evidence"/>
          <p:cNvGrpSpPr/>
          <p:nvPr/>
        </p:nvGrpSpPr>
        <p:grpSpPr>
          <a:xfrm>
            <a:off x="7124700" y="1285875"/>
            <a:ext cx="4572000" cy="4905375"/>
            <a:chOff x="7124700" y="1285875"/>
            <a:chExt cx="4572000" cy="4905375"/>
          </a:xfrm>
        </p:grpSpPr>
        <p:sp>
          <p:nvSpPr>
            <p:cNvPr id="15" name="Rectangle 15"/>
            <p:cNvSpPr/>
            <p:nvPr/>
          </p:nvSpPr>
          <p:spPr>
            <a:xfrm>
              <a:off x="7124700" y="1285875"/>
              <a:ext cx="4572000" cy="4905375"/>
            </a:xfrm>
            <a:prstGeom prst="roundRect">
              <a:avLst>
                <a:gd name="adj" fmla="val 833"/>
              </a:avLst>
            </a:prstGeom>
            <a:solidFill>
              <a:srgbClr val="F0F9FC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7124700" y="1285875"/>
              <a:ext cx="76200" cy="4905375"/>
            </a:xfrm>
            <a:prstGeom prst="rect">
              <a:avLst/>
            </a:prstGeom>
            <a:solidFill>
              <a:srgbClr val="06B6D4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7391400" y="1552575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7391400" y="3105150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7391400" y="4657725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605712" y="1745456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06B6D4"/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605712" y="3298031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06B6D4"/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605712" y="4850606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CC0000"/>
                  </a:solidFill>
                  <a:latin typeface="Arial"/>
                  <a:ea typeface="Microsoft YaHei"/>
                  <a:cs typeface="Arial"/>
                </a:rPr>
                <a:t>03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848600" y="1819275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文件：workflow.py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848600" y="3371850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切面：契约——先读接口再读实现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848600" y="4924425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测试见 tests/ 目录</a:t>
              </a:r>
            </a:p>
          </p:txBody>
        </p:sp>
      </p:grpSp>
      <p:grpSp>
        <p:nvGrpSpPr>
          <p:cNvPr id="32" name="EasySlides Component: figure"/>
          <p:cNvGrpSpPr/>
          <p:nvPr/>
        </p:nvGrpSpPr>
        <p:grpSpPr>
          <a:xfrm>
            <a:off x="495300" y="1285875"/>
            <a:ext cx="6400800" cy="4905375"/>
            <a:chOff x="495300" y="1285875"/>
            <a:chExt cx="6400800" cy="4905375"/>
          </a:xfrm>
        </p:grpSpPr>
        <p:sp>
          <p:nvSpPr>
            <p:cNvPr id="27" name="Rectangle 27"/>
            <p:cNvSpPr/>
            <p:nvPr/>
          </p:nvSpPr>
          <p:spPr>
            <a:xfrm>
              <a:off x="495300" y="1285875"/>
              <a:ext cx="6400800" cy="4905375"/>
            </a:xfrm>
            <a:prstGeom prst="roundRect">
              <a:avLst>
                <a:gd name="adj" fmla="val 777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647700" y="1438275"/>
              <a:ext cx="6096000" cy="3905250"/>
            </a:xfrm>
            <a:prstGeom prst="roundRect">
              <a:avLst>
                <a:gd name="adj" fmla="val 488"/>
              </a:avLst>
            </a:prstGeom>
            <a:solidFill>
              <a:srgbClr val="F0F9FC"/>
            </a:solidFill>
            <a:ln w="9525">
              <a:solidFill>
                <a:srgbClr val="D4E2EE"/>
              </a:solidFill>
            </a:ln>
          </p:spPr>
        </p:sp>
        <p:pic>
          <p:nvPicPr>
            <p:cNvPr id="29" name="Image 29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47700" y="1605643"/>
              <a:ext cx="6096000" cy="3570514"/>
            </a:xfrm>
            <a:prstGeom prst="rect">
              <a:avLst/>
            </a:prstGeom>
          </p:spPr>
        </p:pic>
        <p:sp>
          <p:nvSpPr>
            <p:cNvPr id="30" name="Line 30"/>
            <p:cNvSpPr/>
            <p:nvPr/>
          </p:nvSpPr>
          <p:spPr>
            <a:xfrm>
              <a:off x="723900" y="5534025"/>
              <a:ext cx="5943600" cy="9525"/>
            </a:xfrm>
            <a:custGeom>
              <a:avLst/>
              <a:gdLst/>
              <a:ahLst/>
              <a:cxnLst/>
              <a:rect l="l" t="t" r="r" b="b"/>
              <a:pathLst>
                <a:path w="5943600" h="9525">
                  <a:moveTo>
                    <a:pt x="0" y="0"/>
                  </a:moveTo>
                  <a:lnTo>
                    <a:pt x="5943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800100" y="5610225"/>
              <a:ext cx="57912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代码：workflow.py · 契约（概念1 中断）</a:t>
              </a: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0E7490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09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代码实现：中断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06B6D4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仓库真实代码 · 实现切面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课程第18讲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Agent Runtime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09</a:t>
            </a:r>
          </a:p>
        </p:txBody>
      </p:sp>
      <p:grpSp>
        <p:nvGrpSpPr>
          <p:cNvPr id="26" name="EasySlides Component: evidence"/>
          <p:cNvGrpSpPr/>
          <p:nvPr/>
        </p:nvGrpSpPr>
        <p:grpSpPr>
          <a:xfrm>
            <a:off x="7124700" y="1285875"/>
            <a:ext cx="4572000" cy="4905375"/>
            <a:chOff x="7124700" y="1285875"/>
            <a:chExt cx="4572000" cy="4905375"/>
          </a:xfrm>
        </p:grpSpPr>
        <p:sp>
          <p:nvSpPr>
            <p:cNvPr id="15" name="Rectangle 15"/>
            <p:cNvSpPr/>
            <p:nvPr/>
          </p:nvSpPr>
          <p:spPr>
            <a:xfrm>
              <a:off x="7124700" y="1285875"/>
              <a:ext cx="4572000" cy="4905375"/>
            </a:xfrm>
            <a:prstGeom prst="roundRect">
              <a:avLst>
                <a:gd name="adj" fmla="val 833"/>
              </a:avLst>
            </a:prstGeom>
            <a:solidFill>
              <a:srgbClr val="F0F9FC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7124700" y="1285875"/>
              <a:ext cx="76200" cy="4905375"/>
            </a:xfrm>
            <a:prstGeom prst="rect">
              <a:avLst/>
            </a:prstGeom>
            <a:solidFill>
              <a:srgbClr val="06B6D4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7391400" y="1552575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7391400" y="3105150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7391400" y="4657725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605712" y="1745456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06B6D4"/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605712" y="3298031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06B6D4"/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605712" y="4850606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CC0000"/>
                  </a:solidFill>
                  <a:latin typeface="Arial"/>
                  <a:ea typeface="Microsoft YaHei"/>
                  <a:cs typeface="Arial"/>
                </a:rPr>
                <a:t>03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848600" y="1819275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文件：workflow.py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848600" y="3371850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切面：实现——先读接口再读实现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848600" y="4924425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测试见 tests/ 目录</a:t>
              </a:r>
            </a:p>
          </p:txBody>
        </p:sp>
      </p:grpSp>
      <p:grpSp>
        <p:nvGrpSpPr>
          <p:cNvPr id="32" name="EasySlides Component: figure"/>
          <p:cNvGrpSpPr/>
          <p:nvPr/>
        </p:nvGrpSpPr>
        <p:grpSpPr>
          <a:xfrm>
            <a:off x="495300" y="1285875"/>
            <a:ext cx="6400800" cy="4905375"/>
            <a:chOff x="495300" y="1285875"/>
            <a:chExt cx="6400800" cy="4905375"/>
          </a:xfrm>
        </p:grpSpPr>
        <p:sp>
          <p:nvSpPr>
            <p:cNvPr id="27" name="Rectangle 27"/>
            <p:cNvSpPr/>
            <p:nvPr/>
          </p:nvSpPr>
          <p:spPr>
            <a:xfrm>
              <a:off x="495300" y="1285875"/>
              <a:ext cx="6400800" cy="4905375"/>
            </a:xfrm>
            <a:prstGeom prst="roundRect">
              <a:avLst>
                <a:gd name="adj" fmla="val 777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647700" y="1438275"/>
              <a:ext cx="6096000" cy="3905250"/>
            </a:xfrm>
            <a:prstGeom prst="roundRect">
              <a:avLst>
                <a:gd name="adj" fmla="val 488"/>
              </a:avLst>
            </a:prstGeom>
            <a:solidFill>
              <a:srgbClr val="F0F9FC"/>
            </a:solidFill>
            <a:ln w="9525">
              <a:solidFill>
                <a:srgbClr val="D4E2EE"/>
              </a:solidFill>
            </a:ln>
          </p:spPr>
        </p:sp>
        <p:pic>
          <p:nvPicPr>
            <p:cNvPr id="29" name="Image 29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47700" y="1605643"/>
              <a:ext cx="6096000" cy="3570514"/>
            </a:xfrm>
            <a:prstGeom prst="rect">
              <a:avLst/>
            </a:prstGeom>
          </p:spPr>
        </p:pic>
        <p:sp>
          <p:nvSpPr>
            <p:cNvPr id="30" name="Line 30"/>
            <p:cNvSpPr/>
            <p:nvPr/>
          </p:nvSpPr>
          <p:spPr>
            <a:xfrm>
              <a:off x="723900" y="5534025"/>
              <a:ext cx="5943600" cy="9525"/>
            </a:xfrm>
            <a:custGeom>
              <a:avLst/>
              <a:gdLst/>
              <a:ahLst/>
              <a:cxnLst/>
              <a:rect l="l" t="t" r="r" b="b"/>
              <a:pathLst>
                <a:path w="5943600" h="9525">
                  <a:moveTo>
                    <a:pt x="0" y="0"/>
                  </a:moveTo>
                  <a:lnTo>
                    <a:pt x="5943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800100" y="5610225"/>
              <a:ext cx="57912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代码：workflow.py · 实现（概念1 中断）</a:t>
              </a:r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0E7490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10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应用实践：中断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06B6D4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三步落地：闭环→灰度→放开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课程第18讲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Agent Runtime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10</a:t>
            </a:r>
          </a:p>
        </p:txBody>
      </p:sp>
      <p:grpSp>
        <p:nvGrpSpPr>
          <p:cNvPr id="22" name="EasySlides Component: step_01"/>
          <p:cNvGrpSpPr/>
          <p:nvPr/>
        </p:nvGrpSpPr>
        <p:grpSpPr>
          <a:xfrm>
            <a:off x="495300" y="1285875"/>
            <a:ext cx="3505200" cy="3476625"/>
            <a:chOff x="495300" y="1285875"/>
            <a:chExt cx="3505200" cy="3476625"/>
          </a:xfrm>
        </p:grpSpPr>
        <p:sp>
          <p:nvSpPr>
            <p:cNvPr id="15" name="Rectangle 15"/>
            <p:cNvSpPr/>
            <p:nvPr/>
          </p:nvSpPr>
          <p:spPr>
            <a:xfrm>
              <a:off x="495300" y="1285875"/>
              <a:ext cx="3505200" cy="3476625"/>
            </a:xfrm>
            <a:prstGeom prst="roundRect">
              <a:avLst>
                <a:gd name="adj" fmla="val 1096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Ellipse 16"/>
            <p:cNvSpPr/>
            <p:nvPr/>
          </p:nvSpPr>
          <p:spPr>
            <a:xfrm>
              <a:off x="695325" y="1495425"/>
              <a:ext cx="476250" cy="476250"/>
            </a:xfrm>
            <a:prstGeom prst="ellipse">
              <a:avLst/>
            </a:prstGeom>
            <a:solidFill>
              <a:srgbClr val="06B6D4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14375" y="1504950"/>
              <a:ext cx="43815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1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314450" y="1524000"/>
              <a:ext cx="2324100" cy="42862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650" b="1" dirty="0">
                  <a:solidFill>
                    <a:srgbClr val="0E7490"/>
                  </a:solidFill>
                  <a:latin typeface="Arial"/>
                  <a:ea typeface="Microsoft YaHei"/>
                  <a:cs typeface="Arial"/>
                </a:rPr>
                <a:t>最小闭环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800100" y="2181225"/>
              <a:ext cx="2895600" cy="9525"/>
            </a:xfrm>
            <a:custGeom>
              <a:avLst/>
              <a:gdLst/>
              <a:ahLst/>
              <a:cxnLst/>
              <a:rect l="l" t="t" r="r" b="b"/>
              <a:pathLst>
                <a:path w="2895600" h="9525">
                  <a:moveTo>
                    <a:pt x="0" y="0"/>
                  </a:moveTo>
                  <a:lnTo>
                    <a:pt x="2895600" y="0"/>
                  </a:lnTo>
                </a:path>
              </a:pathLst>
            </a:custGeom>
            <a:noFill/>
            <a:ln w="19050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952500" y="2476500"/>
              <a:ext cx="2590800" cy="1666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0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把「中断」落到业务：先小流量灰度验证效果与成本，再逐步放开租户范围。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800100" y="4391025"/>
              <a:ext cx="762000" cy="66675"/>
            </a:xfrm>
            <a:prstGeom prst="rect">
              <a:avLst/>
            </a:prstGeom>
            <a:solidFill>
              <a:srgbClr val="CC0000"/>
            </a:solidFill>
            <a:ln>
              <a:noFill/>
            </a:ln>
          </p:spPr>
        </p:sp>
      </p:grpSp>
      <p:grpSp>
        <p:nvGrpSpPr>
          <p:cNvPr id="30" name="EasySlides Component: step_02"/>
          <p:cNvGrpSpPr/>
          <p:nvPr/>
        </p:nvGrpSpPr>
        <p:grpSpPr>
          <a:xfrm>
            <a:off x="4343400" y="1285875"/>
            <a:ext cx="3505200" cy="3476625"/>
            <a:chOff x="4343400" y="1285875"/>
            <a:chExt cx="3505200" cy="3476625"/>
          </a:xfrm>
        </p:grpSpPr>
        <p:sp>
          <p:nvSpPr>
            <p:cNvPr id="23" name="Rectangle 23"/>
            <p:cNvSpPr/>
            <p:nvPr/>
          </p:nvSpPr>
          <p:spPr>
            <a:xfrm>
              <a:off x="4343400" y="1285875"/>
              <a:ext cx="3505200" cy="3476625"/>
            </a:xfrm>
            <a:prstGeom prst="roundRect">
              <a:avLst>
                <a:gd name="adj" fmla="val 1096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4" name="Ellipse 24"/>
            <p:cNvSpPr/>
            <p:nvPr/>
          </p:nvSpPr>
          <p:spPr>
            <a:xfrm>
              <a:off x="4543425" y="1495425"/>
              <a:ext cx="476250" cy="476250"/>
            </a:xfrm>
            <a:prstGeom prst="ellipse">
              <a:avLst/>
            </a:prstGeom>
            <a:solidFill>
              <a:srgbClr val="06B6D4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4562475" y="1504950"/>
              <a:ext cx="43815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2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5162550" y="1524000"/>
              <a:ext cx="2324100" cy="42862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650" b="1" dirty="0">
                  <a:solidFill>
                    <a:srgbClr val="0E7490"/>
                  </a:solidFill>
                  <a:latin typeface="Arial"/>
                  <a:ea typeface="Microsoft YaHei"/>
                  <a:cs typeface="Arial"/>
                </a:rPr>
                <a:t>灰度验证</a:t>
              </a:r>
            </a:p>
          </p:txBody>
        </p:sp>
        <p:sp>
          <p:nvSpPr>
            <p:cNvPr id="27" name="Line 27"/>
            <p:cNvSpPr/>
            <p:nvPr/>
          </p:nvSpPr>
          <p:spPr>
            <a:xfrm>
              <a:off x="4648200" y="2181225"/>
              <a:ext cx="2895600" cy="9525"/>
            </a:xfrm>
            <a:custGeom>
              <a:avLst/>
              <a:gdLst/>
              <a:ahLst/>
              <a:cxnLst/>
              <a:rect l="l" t="t" r="r" b="b"/>
              <a:pathLst>
                <a:path w="2895600" h="9525">
                  <a:moveTo>
                    <a:pt x="0" y="0"/>
                  </a:moveTo>
                  <a:lnTo>
                    <a:pt x="2895600" y="0"/>
                  </a:lnTo>
                </a:path>
              </a:pathLst>
            </a:custGeom>
            <a:noFill/>
            <a:ln w="19050">
              <a:solidFill>
                <a:srgbClr val="D4E2EE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4800600" y="2476500"/>
              <a:ext cx="2590800" cy="1666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0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小流量对照基线，观察效果/成本/时延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4648200" y="4391025"/>
              <a:ext cx="762000" cy="66675"/>
            </a:xfrm>
            <a:prstGeom prst="rect">
              <a:avLst/>
            </a:prstGeom>
            <a:solidFill>
              <a:srgbClr val="CC0000"/>
            </a:solidFill>
            <a:ln>
              <a:noFill/>
            </a:ln>
          </p:spPr>
        </p:sp>
      </p:grpSp>
      <p:grpSp>
        <p:nvGrpSpPr>
          <p:cNvPr id="38" name="EasySlides Component: step_03"/>
          <p:cNvGrpSpPr/>
          <p:nvPr/>
        </p:nvGrpSpPr>
        <p:grpSpPr>
          <a:xfrm>
            <a:off x="8191500" y="1285875"/>
            <a:ext cx="3505200" cy="3476625"/>
            <a:chOff x="8191500" y="1285875"/>
            <a:chExt cx="3505200" cy="3476625"/>
          </a:xfrm>
        </p:grpSpPr>
        <p:sp>
          <p:nvSpPr>
            <p:cNvPr id="31" name="Rectangle 31"/>
            <p:cNvSpPr/>
            <p:nvPr/>
          </p:nvSpPr>
          <p:spPr>
            <a:xfrm>
              <a:off x="8191500" y="1285875"/>
              <a:ext cx="3505200" cy="3476625"/>
            </a:xfrm>
            <a:prstGeom prst="roundRect">
              <a:avLst>
                <a:gd name="adj" fmla="val 1096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32" name="Ellipse 32"/>
            <p:cNvSpPr/>
            <p:nvPr/>
          </p:nvSpPr>
          <p:spPr>
            <a:xfrm>
              <a:off x="8391525" y="1495425"/>
              <a:ext cx="476250" cy="476250"/>
            </a:xfrm>
            <a:prstGeom prst="ellipse">
              <a:avLst/>
            </a:prstGeom>
            <a:solidFill>
              <a:srgbClr val="06B6D4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8410575" y="1504950"/>
              <a:ext cx="43815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3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9010650" y="1524000"/>
              <a:ext cx="2324100" cy="42862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650" b="1" dirty="0">
                  <a:solidFill>
                    <a:srgbClr val="0E7490"/>
                  </a:solidFill>
                  <a:latin typeface="Arial"/>
                  <a:ea typeface="Microsoft YaHei"/>
                  <a:cs typeface="Arial"/>
                </a:rPr>
                <a:t>逐步放开</a:t>
              </a:r>
            </a:p>
          </p:txBody>
        </p:sp>
        <p:sp>
          <p:nvSpPr>
            <p:cNvPr id="35" name="Line 35"/>
            <p:cNvSpPr/>
            <p:nvPr/>
          </p:nvSpPr>
          <p:spPr>
            <a:xfrm>
              <a:off x="8496300" y="2181225"/>
              <a:ext cx="2895600" cy="9525"/>
            </a:xfrm>
            <a:custGeom>
              <a:avLst/>
              <a:gdLst/>
              <a:ahLst/>
              <a:cxnLst/>
              <a:rect l="l" t="t" r="r" b="b"/>
              <a:pathLst>
                <a:path w="2895600" h="9525">
                  <a:moveTo>
                    <a:pt x="0" y="0"/>
                  </a:moveTo>
                  <a:lnTo>
                    <a:pt x="2895600" y="0"/>
                  </a:lnTo>
                </a:path>
              </a:pathLst>
            </a:custGeom>
            <a:noFill/>
            <a:ln w="19050">
              <a:solidFill>
                <a:srgbClr val="D4E2EE"/>
              </a:solidFill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8648700" y="2476500"/>
              <a:ext cx="2590800" cy="1666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0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按租户/场景分批，异常即回滚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8496300" y="4391025"/>
              <a:ext cx="762000" cy="66675"/>
            </a:xfrm>
            <a:prstGeom prst="rect">
              <a:avLst/>
            </a:prstGeom>
            <a:solidFill>
              <a:srgbClr val="CC0000"/>
            </a:solidFill>
            <a:ln>
              <a:noFill/>
            </a:ln>
          </p:spPr>
        </p:sp>
      </p:grpSp>
      <p:grpSp>
        <p:nvGrpSpPr>
          <p:cNvPr id="42" name="EasySlides Component: synthesis"/>
          <p:cNvGrpSpPr/>
          <p:nvPr/>
        </p:nvGrpSpPr>
        <p:grpSpPr>
          <a:xfrm>
            <a:off x="495300" y="5476875"/>
            <a:ext cx="11201400" cy="714375"/>
            <a:chOff x="495300" y="5476875"/>
            <a:chExt cx="11201400" cy="714375"/>
          </a:xfrm>
        </p:grpSpPr>
        <p:sp>
          <p:nvSpPr>
            <p:cNvPr id="39" name="Rectangle 39"/>
            <p:cNvSpPr/>
            <p:nvPr/>
          </p:nvSpPr>
          <p:spPr>
            <a:xfrm>
              <a:off x="495300" y="5476875"/>
              <a:ext cx="11201400" cy="714375"/>
            </a:xfrm>
            <a:prstGeom prst="roundRect">
              <a:avLst>
                <a:gd name="adj" fmla="val 5333"/>
              </a:avLst>
            </a:prstGeom>
            <a:solidFill>
              <a:srgbClr val="0E7490"/>
            </a:solidFill>
            <a:ln>
              <a:noFill/>
            </a:ln>
          </p:spPr>
        </p:sp>
        <p:sp>
          <p:nvSpPr>
            <p:cNvPr id="40" name="Rectangle 40"/>
            <p:cNvSpPr/>
            <p:nvPr/>
          </p:nvSpPr>
          <p:spPr>
            <a:xfrm>
              <a:off x="495300" y="5476875"/>
              <a:ext cx="76200" cy="714375"/>
            </a:xfrm>
            <a:prstGeom prst="roundRect">
              <a:avLst>
                <a:gd name="adj" fmla="val 50000"/>
              </a:avLst>
            </a:prstGeom>
            <a:solidFill>
              <a:srgbClr val="CC0000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876300" y="5610225"/>
              <a:ext cx="10439400" cy="4476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案例视角：预算审批链路的审批-幂等-验真闭环实测。</a:t>
              </a:r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0E7490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11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陷阱与排查：中断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06B6D4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症状→根因→处置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课程第18讲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Agent Runtime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11</a:t>
            </a:r>
          </a:p>
        </p:txBody>
      </p:sp>
      <p:grpSp>
        <p:nvGrpSpPr>
          <p:cNvPr id="38" name="EasySlides Component: matrix"/>
          <p:cNvGrpSpPr/>
          <p:nvPr/>
        </p:nvGrpSpPr>
        <p:grpSpPr>
          <a:xfrm>
            <a:off x="495300" y="1285875"/>
            <a:ext cx="11201400" cy="4905375"/>
            <a:chOff x="495300" y="1285875"/>
            <a:chExt cx="11201400" cy="4905375"/>
          </a:xfrm>
        </p:grpSpPr>
        <p:sp>
          <p:nvSpPr>
            <p:cNvPr id="15" name="Rectangle 15"/>
            <p:cNvSpPr/>
            <p:nvPr/>
          </p:nvSpPr>
          <p:spPr>
            <a:xfrm>
              <a:off x="495300" y="1285875"/>
              <a:ext cx="11201400" cy="4905375"/>
            </a:xfrm>
            <a:prstGeom prst="roundRect">
              <a:avLst>
                <a:gd name="adj" fmla="val 777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95300" y="1285875"/>
              <a:ext cx="11201400" cy="647700"/>
            </a:xfrm>
            <a:prstGeom prst="roundRect">
              <a:avLst>
                <a:gd name="adj" fmla="val 5882"/>
              </a:avLst>
            </a:prstGeom>
            <a:solidFill>
              <a:srgbClr val="0E7490"/>
            </a:solidFill>
            <a:ln>
              <a:noFill/>
            </a:ln>
          </p:spPr>
        </p:sp>
        <p:sp>
          <p:nvSpPr>
            <p:cNvPr id="17" name="Line 17"/>
            <p:cNvSpPr/>
            <p:nvPr/>
          </p:nvSpPr>
          <p:spPr>
            <a:xfrm>
              <a:off x="4229100" y="1285875"/>
              <a:ext cx="9525" cy="4143375"/>
            </a:xfrm>
            <a:custGeom>
              <a:avLst/>
              <a:gdLst/>
              <a:ahLst/>
              <a:cxnLst/>
              <a:rect l="l" t="t" r="r" b="b"/>
              <a:pathLst>
                <a:path w="9525" h="4143375">
                  <a:moveTo>
                    <a:pt x="0" y="0"/>
                  </a:moveTo>
                  <a:lnTo>
                    <a:pt x="0" y="4143375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sp>
          <p:nvSpPr>
            <p:cNvPr id="18" name="Line 18"/>
            <p:cNvSpPr/>
            <p:nvPr/>
          </p:nvSpPr>
          <p:spPr>
            <a:xfrm>
              <a:off x="7962900" y="1285875"/>
              <a:ext cx="9525" cy="4143375"/>
            </a:xfrm>
            <a:custGeom>
              <a:avLst/>
              <a:gdLst/>
              <a:ahLst/>
              <a:cxnLst/>
              <a:rect l="l" t="t" r="r" b="b"/>
              <a:pathLst>
                <a:path w="9525" h="4143375">
                  <a:moveTo>
                    <a:pt x="0" y="0"/>
                  </a:moveTo>
                  <a:lnTo>
                    <a:pt x="0" y="4143375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sp>
          <p:nvSpPr>
            <p:cNvPr id="19" name="Line 19"/>
            <p:cNvSpPr/>
            <p:nvPr/>
          </p:nvSpPr>
          <p:spPr>
            <a:xfrm>
              <a:off x="495300" y="1933575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sp>
          <p:nvSpPr>
            <p:cNvPr id="20" name="Line 20"/>
            <p:cNvSpPr/>
            <p:nvPr/>
          </p:nvSpPr>
          <p:spPr>
            <a:xfrm>
              <a:off x="495300" y="3095625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1" name="Line 21"/>
            <p:cNvSpPr/>
            <p:nvPr/>
          </p:nvSpPr>
          <p:spPr>
            <a:xfrm>
              <a:off x="495300" y="4257675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2" name="Line 22"/>
            <p:cNvSpPr/>
            <p:nvPr/>
          </p:nvSpPr>
          <p:spPr>
            <a:xfrm>
              <a:off x="495300" y="5429250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grpSp>
          <p:nvGrpSpPr>
            <p:cNvPr id="26" name="Group 26"/>
            <p:cNvGrpSpPr/>
            <p:nvPr/>
          </p:nvGrpSpPr>
          <p:grpSpPr>
            <a:xfrm>
              <a:off x="704850" y="1428750"/>
              <a:ext cx="10782300" cy="361950"/>
              <a:chOff x="704850" y="1428750"/>
              <a:chExt cx="10782300" cy="361950"/>
            </a:xfrm>
          </p:grpSpPr>
          <p:sp>
            <p:nvSpPr>
              <p:cNvPr id="23" name="TextBox 23"/>
              <p:cNvSpPr txBox="1"/>
              <p:nvPr/>
            </p:nvSpPr>
            <p:spPr>
              <a:xfrm>
                <a:off x="704850" y="1428750"/>
                <a:ext cx="33147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症状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4438650" y="1428750"/>
                <a:ext cx="33147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根因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8172450" y="1428750"/>
                <a:ext cx="33147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处置</a:t>
                </a:r>
              </a:p>
            </p:txBody>
          </p:sp>
        </p:grpSp>
        <p:grpSp>
          <p:nvGrpSpPr>
            <p:cNvPr id="36" name="Group 36"/>
            <p:cNvGrpSpPr/>
            <p:nvPr/>
          </p:nvGrpSpPr>
          <p:grpSpPr>
            <a:xfrm>
              <a:off x="723900" y="2105025"/>
              <a:ext cx="10744200" cy="3086100"/>
              <a:chOff x="723900" y="2105025"/>
              <a:chExt cx="10744200" cy="3086100"/>
            </a:xfrm>
          </p:grpSpPr>
          <p:sp>
            <p:nvSpPr>
              <p:cNvPr id="27" name="TextBox 27"/>
              <p:cNvSpPr txBox="1"/>
              <p:nvPr/>
            </p:nvSpPr>
            <p:spPr>
              <a:xfrm>
                <a:off x="723900" y="21050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「中断」典型故障：静默失败—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4457700" y="21050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缺少验证/预算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8191500" y="21050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验真+预算上限</a:t>
                </a: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723900" y="326707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结果不可解释</a:t>
                </a: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4457700" y="326707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无 Trace 留痕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8191500" y="326707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接入统一 Trace</a:t>
                </a: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723900" y="44291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效果悄悄退化</a:t>
                </a: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4457700" y="44291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无回归基线</a:t>
                </a:r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8191500" y="44291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评测+回归门禁</a:t>
                </a:r>
              </a:p>
            </p:txBody>
          </p:sp>
        </p:grpSp>
        <p:sp>
          <p:nvSpPr>
            <p:cNvPr id="37" name="TextBox 37"/>
            <p:cNvSpPr txBox="1"/>
            <p:nvPr/>
          </p:nvSpPr>
          <p:spPr>
            <a:xfrm>
              <a:off x="828675" y="5581650"/>
              <a:ext cx="10534650" cy="4191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500" b="1" dirty="0">
                  <a:solidFill>
                    <a:srgbClr val="0E7490"/>
                  </a:solidFill>
                  <a:latin typeface="Arial"/>
                  <a:ea typeface="Microsoft YaHei"/>
                  <a:cs typeface="Arial"/>
                </a:rPr>
                <a:t>先止血，再根因，最后沉淀为回归用例</a:t>
              </a:r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0E7490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12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工程决策：中断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06B6D4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候选方案 × 取舍（ADR）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课程第18讲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Agent Runtime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12</a:t>
            </a:r>
          </a:p>
        </p:txBody>
      </p:sp>
      <p:grpSp>
        <p:nvGrpSpPr>
          <p:cNvPr id="38" name="EasySlides Component: matrix"/>
          <p:cNvGrpSpPr/>
          <p:nvPr/>
        </p:nvGrpSpPr>
        <p:grpSpPr>
          <a:xfrm>
            <a:off x="495300" y="1285875"/>
            <a:ext cx="11201400" cy="4905375"/>
            <a:chOff x="495300" y="1285875"/>
            <a:chExt cx="11201400" cy="4905375"/>
          </a:xfrm>
        </p:grpSpPr>
        <p:sp>
          <p:nvSpPr>
            <p:cNvPr id="15" name="Rectangle 15"/>
            <p:cNvSpPr/>
            <p:nvPr/>
          </p:nvSpPr>
          <p:spPr>
            <a:xfrm>
              <a:off x="495300" y="1285875"/>
              <a:ext cx="11201400" cy="4905375"/>
            </a:xfrm>
            <a:prstGeom prst="roundRect">
              <a:avLst>
                <a:gd name="adj" fmla="val 777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95300" y="1285875"/>
              <a:ext cx="11201400" cy="647700"/>
            </a:xfrm>
            <a:prstGeom prst="roundRect">
              <a:avLst>
                <a:gd name="adj" fmla="val 5882"/>
              </a:avLst>
            </a:prstGeom>
            <a:solidFill>
              <a:srgbClr val="0E7490"/>
            </a:solidFill>
            <a:ln>
              <a:noFill/>
            </a:ln>
          </p:spPr>
        </p:sp>
        <p:sp>
          <p:nvSpPr>
            <p:cNvPr id="17" name="Line 17"/>
            <p:cNvSpPr/>
            <p:nvPr/>
          </p:nvSpPr>
          <p:spPr>
            <a:xfrm>
              <a:off x="4229100" y="1285875"/>
              <a:ext cx="9525" cy="4143375"/>
            </a:xfrm>
            <a:custGeom>
              <a:avLst/>
              <a:gdLst/>
              <a:ahLst/>
              <a:cxnLst/>
              <a:rect l="l" t="t" r="r" b="b"/>
              <a:pathLst>
                <a:path w="9525" h="4143375">
                  <a:moveTo>
                    <a:pt x="0" y="0"/>
                  </a:moveTo>
                  <a:lnTo>
                    <a:pt x="0" y="4143375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sp>
          <p:nvSpPr>
            <p:cNvPr id="18" name="Line 18"/>
            <p:cNvSpPr/>
            <p:nvPr/>
          </p:nvSpPr>
          <p:spPr>
            <a:xfrm>
              <a:off x="7962900" y="1285875"/>
              <a:ext cx="9525" cy="4143375"/>
            </a:xfrm>
            <a:custGeom>
              <a:avLst/>
              <a:gdLst/>
              <a:ahLst/>
              <a:cxnLst/>
              <a:rect l="l" t="t" r="r" b="b"/>
              <a:pathLst>
                <a:path w="9525" h="4143375">
                  <a:moveTo>
                    <a:pt x="0" y="0"/>
                  </a:moveTo>
                  <a:lnTo>
                    <a:pt x="0" y="4143375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sp>
          <p:nvSpPr>
            <p:cNvPr id="19" name="Line 19"/>
            <p:cNvSpPr/>
            <p:nvPr/>
          </p:nvSpPr>
          <p:spPr>
            <a:xfrm>
              <a:off x="495300" y="1933575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sp>
          <p:nvSpPr>
            <p:cNvPr id="20" name="Line 20"/>
            <p:cNvSpPr/>
            <p:nvPr/>
          </p:nvSpPr>
          <p:spPr>
            <a:xfrm>
              <a:off x="495300" y="3095625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1" name="Line 21"/>
            <p:cNvSpPr/>
            <p:nvPr/>
          </p:nvSpPr>
          <p:spPr>
            <a:xfrm>
              <a:off x="495300" y="4257675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2" name="Line 22"/>
            <p:cNvSpPr/>
            <p:nvPr/>
          </p:nvSpPr>
          <p:spPr>
            <a:xfrm>
              <a:off x="495300" y="5429250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grpSp>
          <p:nvGrpSpPr>
            <p:cNvPr id="26" name="Group 26"/>
            <p:cNvGrpSpPr/>
            <p:nvPr/>
          </p:nvGrpSpPr>
          <p:grpSpPr>
            <a:xfrm>
              <a:off x="704850" y="1428750"/>
              <a:ext cx="10782300" cy="361950"/>
              <a:chOff x="704850" y="1428750"/>
              <a:chExt cx="10782300" cy="361950"/>
            </a:xfrm>
          </p:grpSpPr>
          <p:sp>
            <p:nvSpPr>
              <p:cNvPr id="23" name="TextBox 23"/>
              <p:cNvSpPr txBox="1"/>
              <p:nvPr/>
            </p:nvSpPr>
            <p:spPr>
              <a:xfrm>
                <a:off x="704850" y="1428750"/>
                <a:ext cx="33147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方案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4438650" y="1428750"/>
                <a:ext cx="33147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代价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8172450" y="1428750"/>
                <a:ext cx="33147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结论</a:t>
                </a:r>
              </a:p>
            </p:txBody>
          </p:sp>
        </p:grpSp>
        <p:grpSp>
          <p:nvGrpSpPr>
            <p:cNvPr id="36" name="Group 36"/>
            <p:cNvGrpSpPr/>
            <p:nvPr/>
          </p:nvGrpSpPr>
          <p:grpSpPr>
            <a:xfrm>
              <a:off x="723900" y="2105025"/>
              <a:ext cx="10744200" cy="3086100"/>
              <a:chOff x="723900" y="2105025"/>
              <a:chExt cx="10744200" cy="3086100"/>
            </a:xfrm>
          </p:grpSpPr>
          <p:sp>
            <p:nvSpPr>
              <p:cNvPr id="27" name="TextBox 27"/>
              <p:cNvSpPr txBox="1"/>
              <p:nvPr/>
            </p:nvSpPr>
            <p:spPr>
              <a:xfrm>
                <a:off x="723900" y="21050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直连实现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4457700" y="21050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快但耦合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8191500" y="21050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Demo 可用</a:t>
                </a: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723900" y="326707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平台化</a:t>
                </a: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4457700" y="326707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前期成本高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8191500" y="326707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生产首选</a:t>
                </a: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723900" y="44291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保持简单</a:t>
                </a: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4457700" y="44291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能力上限</a:t>
                </a:r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8191500" y="44291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按场景取舍</a:t>
                </a:r>
              </a:p>
            </p:txBody>
          </p:sp>
        </p:grpSp>
        <p:sp>
          <p:nvSpPr>
            <p:cNvPr id="37" name="TextBox 37"/>
            <p:cNvSpPr txBox="1"/>
            <p:nvPr/>
          </p:nvSpPr>
          <p:spPr>
            <a:xfrm>
              <a:off x="828675" y="5581650"/>
              <a:ext cx="10534650" cy="4191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500" b="1" dirty="0">
                  <a:solidFill>
                    <a:srgbClr val="0E7490"/>
                  </a:solidFill>
                  <a:latin typeface="Arial"/>
                  <a:ea typeface="Microsoft YaHei"/>
                  <a:cs typeface="Arial"/>
                </a:rPr>
                <a:t>「中断」的选型以证据与约束为准</a:t>
              </a:r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0E7490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13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优化拓展：中断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06B6D4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三个可持续优化抓手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课程第18讲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Agent Runtime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13</a:t>
            </a:r>
          </a:p>
        </p:txBody>
      </p:sp>
      <p:grpSp>
        <p:nvGrpSpPr>
          <p:cNvPr id="21" name="EasySlides Component: evidence_01"/>
          <p:cNvGrpSpPr/>
          <p:nvPr/>
        </p:nvGrpSpPr>
        <p:grpSpPr>
          <a:xfrm>
            <a:off x="495300" y="3524250"/>
            <a:ext cx="11201400" cy="1285875"/>
            <a:chOff x="495300" y="3524250"/>
            <a:chExt cx="11201400" cy="1285875"/>
          </a:xfrm>
        </p:grpSpPr>
        <p:sp>
          <p:nvSpPr>
            <p:cNvPr id="15" name="Rectangle 15"/>
            <p:cNvSpPr/>
            <p:nvPr/>
          </p:nvSpPr>
          <p:spPr>
            <a:xfrm>
              <a:off x="495300" y="3524250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95300" y="3524250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06B6D4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33425" y="3971925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06B6D4"/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447800" y="3752850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0E7490"/>
                  </a:solidFill>
                  <a:latin typeface="Arial"/>
                  <a:ea typeface="Microsoft YaHei"/>
                  <a:cs typeface="Arial"/>
                </a:rPr>
                <a:t>资产化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4362450" y="3752850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4686300" y="3752850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「中断」优化一：把人工经验固化为资产（规则/Skill/</a:t>
              </a:r>
            </a:p>
          </p:txBody>
        </p:sp>
      </p:grpSp>
      <p:grpSp>
        <p:nvGrpSpPr>
          <p:cNvPr id="28" name="EasySlides Component: evidence_02"/>
          <p:cNvGrpSpPr/>
          <p:nvPr/>
        </p:nvGrpSpPr>
        <p:grpSpPr>
          <a:xfrm>
            <a:off x="495300" y="4905375"/>
            <a:ext cx="11201400" cy="1285875"/>
            <a:chOff x="495300" y="4905375"/>
            <a:chExt cx="11201400" cy="1285875"/>
          </a:xfrm>
        </p:grpSpPr>
        <p:sp>
          <p:nvSpPr>
            <p:cNvPr id="22" name="Rectangle 22"/>
            <p:cNvSpPr/>
            <p:nvPr/>
          </p:nvSpPr>
          <p:spPr>
            <a:xfrm>
              <a:off x="495300" y="4905375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495300" y="4905375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06B6D4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33425" y="5353050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06B6D4"/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447800" y="5133975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0E7490"/>
                  </a:solidFill>
                  <a:latin typeface="Arial"/>
                  <a:ea typeface="Microsoft YaHei"/>
                  <a:cs typeface="Arial"/>
                </a:rPr>
                <a:t>基线化</a:t>
              </a:r>
            </a:p>
          </p:txBody>
        </p:sp>
        <p:sp>
          <p:nvSpPr>
            <p:cNvPr id="26" name="Line 26"/>
            <p:cNvSpPr/>
            <p:nvPr/>
          </p:nvSpPr>
          <p:spPr>
            <a:xfrm>
              <a:off x="4362450" y="5133975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4686300" y="5133975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「中断」优化二：建立基线对照（关闭/盲选/受控三组）证明增量</a:t>
              </a:r>
            </a:p>
          </p:txBody>
        </p:sp>
      </p:grpSp>
      <p:grpSp>
        <p:nvGrpSpPr>
          <p:cNvPr id="34" name="EasySlides Component: metric_01"/>
          <p:cNvGrpSpPr/>
          <p:nvPr/>
        </p:nvGrpSpPr>
        <p:grpSpPr>
          <a:xfrm>
            <a:off x="495300" y="1285875"/>
            <a:ext cx="3505200" cy="1809750"/>
            <a:chOff x="495300" y="1285875"/>
            <a:chExt cx="3505200" cy="1809750"/>
          </a:xfrm>
        </p:grpSpPr>
        <p:sp>
          <p:nvSpPr>
            <p:cNvPr id="29" name="Rectangle 29"/>
            <p:cNvSpPr/>
            <p:nvPr/>
          </p:nvSpPr>
          <p:spPr>
            <a:xfrm>
              <a:off x="495300" y="1285875"/>
              <a:ext cx="3505200" cy="1809750"/>
            </a:xfrm>
            <a:prstGeom prst="roundRect">
              <a:avLst>
                <a:gd name="adj" fmla="val 2105"/>
              </a:avLst>
            </a:prstGeom>
            <a:solidFill>
              <a:srgbClr val="F0F9FC"/>
            </a:solidFill>
            <a:ln w="11430">
              <a:solidFill>
                <a:srgbClr val="B8C7D6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495300" y="1285875"/>
              <a:ext cx="3505200" cy="66675"/>
            </a:xfrm>
            <a:prstGeom prst="roundRect">
              <a:avLst>
                <a:gd name="adj" fmla="val 50000"/>
              </a:avLst>
            </a:prstGeom>
            <a:solidFill>
              <a:srgbClr val="06B6D4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62000" y="1619250"/>
              <a:ext cx="2971800" cy="7143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3150" b="1" dirty="0">
                  <a:solidFill>
                    <a:srgbClr val="0E7490"/>
                  </a:solidFill>
                  <a:latin typeface="Arial"/>
                  <a:ea typeface="Microsoft YaHei"/>
                  <a:cs typeface="Arial"/>
                </a:rPr>
                <a:t>资产化</a:t>
              </a:r>
            </a:p>
          </p:txBody>
        </p:sp>
        <p:sp>
          <p:nvSpPr>
            <p:cNvPr id="32" name="Line 32"/>
            <p:cNvSpPr/>
            <p:nvPr/>
          </p:nvSpPr>
          <p:spPr>
            <a:xfrm>
              <a:off x="990600" y="2476500"/>
              <a:ext cx="2514600" cy="9525"/>
            </a:xfrm>
            <a:custGeom>
              <a:avLst/>
              <a:gdLst/>
              <a:ahLst/>
              <a:cxnLst/>
              <a:rect l="l" t="t" r="r" b="b"/>
              <a:pathLst>
                <a:path w="2514600" h="9525">
                  <a:moveTo>
                    <a:pt x="0" y="0"/>
                  </a:moveTo>
                  <a:lnTo>
                    <a:pt x="2514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62000" y="2562225"/>
              <a:ext cx="29718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经验固化为规则/Skill</a:t>
              </a:r>
            </a:p>
          </p:txBody>
        </p:sp>
      </p:grpSp>
      <p:grpSp>
        <p:nvGrpSpPr>
          <p:cNvPr id="40" name="EasySlides Component: metric_02"/>
          <p:cNvGrpSpPr/>
          <p:nvPr/>
        </p:nvGrpSpPr>
        <p:grpSpPr>
          <a:xfrm>
            <a:off x="4343400" y="1285875"/>
            <a:ext cx="3505200" cy="1809750"/>
            <a:chOff x="4343400" y="1285875"/>
            <a:chExt cx="3505200" cy="1809750"/>
          </a:xfrm>
        </p:grpSpPr>
        <p:sp>
          <p:nvSpPr>
            <p:cNvPr id="35" name="Rectangle 35"/>
            <p:cNvSpPr/>
            <p:nvPr/>
          </p:nvSpPr>
          <p:spPr>
            <a:xfrm>
              <a:off x="4343400" y="1285875"/>
              <a:ext cx="3505200" cy="1809750"/>
            </a:xfrm>
            <a:prstGeom prst="roundRect">
              <a:avLst>
                <a:gd name="adj" fmla="val 2105"/>
              </a:avLst>
            </a:prstGeom>
            <a:solidFill>
              <a:srgbClr val="F0F9FC"/>
            </a:solidFill>
            <a:ln w="11430">
              <a:solidFill>
                <a:srgbClr val="B8C7D6"/>
              </a:solidFill>
            </a:ln>
          </p:spPr>
        </p:sp>
        <p:sp>
          <p:nvSpPr>
            <p:cNvPr id="36" name="Rectangle 36"/>
            <p:cNvSpPr/>
            <p:nvPr/>
          </p:nvSpPr>
          <p:spPr>
            <a:xfrm>
              <a:off x="4343400" y="1285875"/>
              <a:ext cx="3505200" cy="66675"/>
            </a:xfrm>
            <a:prstGeom prst="roundRect">
              <a:avLst>
                <a:gd name="adj" fmla="val 50000"/>
              </a:avLst>
            </a:prstGeom>
            <a:solidFill>
              <a:srgbClr val="06B6D4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4610100" y="1619250"/>
              <a:ext cx="2971800" cy="7143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3150" b="1" dirty="0">
                  <a:solidFill>
                    <a:srgbClr val="0E7490"/>
                  </a:solidFill>
                  <a:latin typeface="Arial"/>
                  <a:ea typeface="Microsoft YaHei"/>
                  <a:cs typeface="Arial"/>
                </a:rPr>
                <a:t>基线化</a:t>
              </a:r>
            </a:p>
          </p:txBody>
        </p:sp>
        <p:sp>
          <p:nvSpPr>
            <p:cNvPr id="38" name="Line 38"/>
            <p:cNvSpPr/>
            <p:nvPr/>
          </p:nvSpPr>
          <p:spPr>
            <a:xfrm>
              <a:off x="4838700" y="2476500"/>
              <a:ext cx="2514600" cy="9525"/>
            </a:xfrm>
            <a:custGeom>
              <a:avLst/>
              <a:gdLst/>
              <a:ahLst/>
              <a:cxnLst/>
              <a:rect l="l" t="t" r="r" b="b"/>
              <a:pathLst>
                <a:path w="2514600" h="9525">
                  <a:moveTo>
                    <a:pt x="0" y="0"/>
                  </a:moveTo>
                  <a:lnTo>
                    <a:pt x="2514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4610100" y="2562225"/>
              <a:ext cx="29718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对照实验证明增量</a:t>
              </a:r>
            </a:p>
          </p:txBody>
        </p:sp>
      </p:grpSp>
      <p:grpSp>
        <p:nvGrpSpPr>
          <p:cNvPr id="46" name="EasySlides Component: metric_03"/>
          <p:cNvGrpSpPr/>
          <p:nvPr/>
        </p:nvGrpSpPr>
        <p:grpSpPr>
          <a:xfrm>
            <a:off x="8191500" y="1285875"/>
            <a:ext cx="3505200" cy="1809750"/>
            <a:chOff x="8191500" y="1285875"/>
            <a:chExt cx="3505200" cy="1809750"/>
          </a:xfrm>
        </p:grpSpPr>
        <p:sp>
          <p:nvSpPr>
            <p:cNvPr id="41" name="Rectangle 41"/>
            <p:cNvSpPr/>
            <p:nvPr/>
          </p:nvSpPr>
          <p:spPr>
            <a:xfrm>
              <a:off x="8191500" y="1285875"/>
              <a:ext cx="3505200" cy="1809750"/>
            </a:xfrm>
            <a:prstGeom prst="roundRect">
              <a:avLst>
                <a:gd name="adj" fmla="val 2105"/>
              </a:avLst>
            </a:prstGeom>
            <a:solidFill>
              <a:srgbClr val="F0F9FC"/>
            </a:solidFill>
            <a:ln w="11430">
              <a:solidFill>
                <a:srgbClr val="B8C7D6"/>
              </a:solidFill>
            </a:ln>
          </p:spPr>
        </p:sp>
        <p:sp>
          <p:nvSpPr>
            <p:cNvPr id="42" name="Rectangle 42"/>
            <p:cNvSpPr/>
            <p:nvPr/>
          </p:nvSpPr>
          <p:spPr>
            <a:xfrm>
              <a:off x="8191500" y="1285875"/>
              <a:ext cx="3505200" cy="66675"/>
            </a:xfrm>
            <a:prstGeom prst="roundRect">
              <a:avLst>
                <a:gd name="adj" fmla="val 50000"/>
              </a:avLst>
            </a:prstGeom>
            <a:solidFill>
              <a:srgbClr val="06B6D4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8458200" y="1619250"/>
              <a:ext cx="2971800" cy="7143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3150" b="1" dirty="0">
                  <a:solidFill>
                    <a:srgbClr val="0E7490"/>
                  </a:solidFill>
                  <a:latin typeface="Arial"/>
                  <a:ea typeface="Microsoft YaHei"/>
                  <a:cs typeface="Arial"/>
                </a:rPr>
                <a:t>观测化</a:t>
              </a:r>
            </a:p>
          </p:txBody>
        </p:sp>
        <p:sp>
          <p:nvSpPr>
            <p:cNvPr id="44" name="Line 44"/>
            <p:cNvSpPr/>
            <p:nvPr/>
          </p:nvSpPr>
          <p:spPr>
            <a:xfrm>
              <a:off x="8686800" y="2476500"/>
              <a:ext cx="2514600" cy="9525"/>
            </a:xfrm>
            <a:custGeom>
              <a:avLst/>
              <a:gdLst/>
              <a:ahLst/>
              <a:cxnLst/>
              <a:rect l="l" t="t" r="r" b="b"/>
              <a:pathLst>
                <a:path w="2514600" h="9525">
                  <a:moveTo>
                    <a:pt x="0" y="0"/>
                  </a:moveTo>
                  <a:lnTo>
                    <a:pt x="2514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8458200" y="2562225"/>
              <a:ext cx="29718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Trace/Baseline 先行</a:t>
              </a:r>
            </a:p>
          </p:txBody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E7490"/>
          </a:solidFill>
          <a:ln>
            <a:noFill/>
          </a:ln>
        </p:spPr>
      </p:sp>
      <p:sp>
        <p:nvSpPr>
          <p:cNvPr id="3" name="Freeform 3"/>
          <p:cNvSpPr/>
          <p:nvPr/>
        </p:nvSpPr>
        <p:spPr>
          <a:xfrm>
            <a:off x="5715000" y="0"/>
            <a:ext cx="6477000" cy="6858000"/>
          </a:xfrm>
          <a:custGeom>
            <a:avLst/>
            <a:gdLst/>
            <a:ahLst/>
            <a:cxnLst/>
            <a:rect l="l" t="t" r="r" b="b"/>
            <a:pathLst>
              <a:path w="6477000" h="6858000">
                <a:moveTo>
                  <a:pt x="1905000" y="0"/>
                </a:moveTo>
                <a:lnTo>
                  <a:pt x="6477000" y="0"/>
                </a:lnTo>
                <a:lnTo>
                  <a:pt x="6477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06B6D4">
              <a:alpha val="20000"/>
            </a:srgbClr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2286000"/>
            <a:ext cx="114300" cy="228600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476250" y="2095500"/>
            <a:ext cx="2952750" cy="3143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8750" b="1" dirty="0">
                <a:solidFill>
                  <a:srgbClr val="FFFFFF">
                    <a:alphaMod val="10000"/>
                  </a:srgbClr>
                </a:solidFill>
                <a:latin typeface="Arial"/>
                <a:ea typeface="Microsoft YaHei"/>
                <a:cs typeface="Arial"/>
              </a:rPr>
              <a:t>14</a:t>
            </a:r>
          </a:p>
        </p:txBody>
      </p:sp>
      <p:sp>
        <p:nvSpPr>
          <p:cNvPr id="6" name="Line 6"/>
          <p:cNvSpPr/>
          <p:nvPr/>
        </p:nvSpPr>
        <p:spPr>
          <a:xfrm>
            <a:off x="3619500" y="2505075"/>
            <a:ext cx="1143000" cy="9525"/>
          </a:xfrm>
          <a:custGeom>
            <a:avLst/>
            <a:gdLst/>
            <a:ahLst/>
            <a:cxnLst/>
            <a:rect l="l" t="t" r="r" b="b"/>
            <a:pathLst>
              <a:path w="1143000" h="9525">
                <a:moveTo>
                  <a:pt x="0" y="0"/>
                </a:moveTo>
                <a:lnTo>
                  <a:pt x="1143000" y="0"/>
                </a:lnTo>
              </a:path>
            </a:pathLst>
          </a:custGeom>
          <a:noFill/>
          <a:ln w="57150">
            <a:solidFill>
              <a:srgbClr val="CC0000"/>
            </a:solidFill>
          </a:ln>
        </p:spPr>
      </p:sp>
      <p:sp>
        <p:nvSpPr>
          <p:cNvPr id="7" name="TextBox 7"/>
          <p:cNvSpPr txBox="1"/>
          <p:nvPr/>
        </p:nvSpPr>
        <p:spPr>
          <a:xfrm>
            <a:off x="3619500" y="2667000"/>
            <a:ext cx="7429500" cy="876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42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概念详解：审批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619500" y="3648075"/>
            <a:ext cx="7620000" cy="419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800" dirty="0">
                <a:solidFill>
                  <a:srgbClr val="E8F4FC"/>
                </a:solidFill>
                <a:latin typeface="Arial"/>
                <a:ea typeface="Microsoft YaHei"/>
                <a:cs typeface="Arial"/>
              </a:rPr>
              <a:t>对「审批」的正确定位是：Human Approval Gate；它是可观测、可治理、可演进的稳定工程对象。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6762750" y="6286500"/>
            <a:ext cx="4095750" cy="285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r"/>
            <a:r>
              <a:rPr lang="zh-CN" sz="1200" dirty="0">
                <a:solidFill>
                  <a:srgbClr val="FFFFFF">
                    <a:alphaMod val="55000"/>
                  </a:srgbClr>
                </a:solidFill>
                <a:latin typeface="Arial"/>
                <a:ea typeface="Microsoft YaHei"/>
                <a:cs typeface="Arial"/>
              </a:rPr>
              <a:t>用 Durable Workflow 收口自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0E7490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15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定义与内涵：审批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06B6D4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把审批讲透：是什么、不是什么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课程第18讲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Agent Runtime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15</a:t>
            </a:r>
          </a:p>
        </p:txBody>
      </p:sp>
      <p:grpSp>
        <p:nvGrpSpPr>
          <p:cNvPr id="21" name="EasySlides Component: evidence_01"/>
          <p:cNvGrpSpPr/>
          <p:nvPr/>
        </p:nvGrpSpPr>
        <p:grpSpPr>
          <a:xfrm>
            <a:off x="495300" y="2095500"/>
            <a:ext cx="11201400" cy="1285875"/>
            <a:chOff x="495300" y="2095500"/>
            <a:chExt cx="11201400" cy="1285875"/>
          </a:xfrm>
        </p:grpSpPr>
        <p:sp>
          <p:nvSpPr>
            <p:cNvPr id="15" name="Rectangle 15"/>
            <p:cNvSpPr/>
            <p:nvPr/>
          </p:nvSpPr>
          <p:spPr>
            <a:xfrm>
              <a:off x="495300" y="2095500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95300" y="2095500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06B6D4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33425" y="2543175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06B6D4"/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447800" y="2324100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0E7490"/>
                  </a:solidFill>
                  <a:latin typeface="Arial"/>
                  <a:ea typeface="Microsoft YaHei"/>
                  <a:cs typeface="Arial"/>
                </a:rPr>
                <a:t>定义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4362450" y="2324100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4686300" y="2324100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对「审批」的正确定位是：Human Approval Gate；它是可观测、可治</a:t>
              </a:r>
            </a:p>
          </p:txBody>
        </p:sp>
      </p:grpSp>
      <p:grpSp>
        <p:nvGrpSpPr>
          <p:cNvPr id="28" name="EasySlides Component: evidence_02"/>
          <p:cNvGrpSpPr/>
          <p:nvPr/>
        </p:nvGrpSpPr>
        <p:grpSpPr>
          <a:xfrm>
            <a:off x="495300" y="3571875"/>
            <a:ext cx="11201400" cy="1285875"/>
            <a:chOff x="495300" y="3571875"/>
            <a:chExt cx="11201400" cy="1285875"/>
          </a:xfrm>
        </p:grpSpPr>
        <p:sp>
          <p:nvSpPr>
            <p:cNvPr id="22" name="Rectangle 22"/>
            <p:cNvSpPr/>
            <p:nvPr/>
          </p:nvSpPr>
          <p:spPr>
            <a:xfrm>
              <a:off x="495300" y="3571875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495300" y="3571875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06B6D4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33425" y="4019550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06B6D4"/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447800" y="3800475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0E7490"/>
                  </a:solidFill>
                  <a:latin typeface="Arial"/>
                  <a:ea typeface="Microsoft YaHei"/>
                  <a:cs typeface="Arial"/>
                </a:rPr>
                <a:t>方法</a:t>
              </a:r>
            </a:p>
          </p:txBody>
        </p:sp>
        <p:sp>
          <p:nvSpPr>
            <p:cNvPr id="26" name="Line 26"/>
            <p:cNvSpPr/>
            <p:nvPr/>
          </p:nvSpPr>
          <p:spPr>
            <a:xfrm>
              <a:off x="4362450" y="3800475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4686300" y="3800475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方法维度：Human Approval Gate</a:t>
              </a:r>
            </a:p>
          </p:txBody>
        </p:sp>
      </p:grpSp>
      <p:grpSp>
        <p:nvGrpSpPr>
          <p:cNvPr id="35" name="EasySlides Component: evidence_03"/>
          <p:cNvGrpSpPr/>
          <p:nvPr/>
        </p:nvGrpSpPr>
        <p:grpSpPr>
          <a:xfrm>
            <a:off x="495300" y="4905375"/>
            <a:ext cx="11201400" cy="1285875"/>
            <a:chOff x="495300" y="4905375"/>
            <a:chExt cx="11201400" cy="1285875"/>
          </a:xfrm>
        </p:grpSpPr>
        <p:sp>
          <p:nvSpPr>
            <p:cNvPr id="29" name="Rectangle 29"/>
            <p:cNvSpPr/>
            <p:nvPr/>
          </p:nvSpPr>
          <p:spPr>
            <a:xfrm>
              <a:off x="495300" y="4905375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495300" y="4905375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06B6D4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33425" y="5353050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06B6D4"/>
                  </a:solidFill>
                  <a:latin typeface="Arial"/>
                  <a:ea typeface="Microsoft YaHei"/>
                  <a:cs typeface="Arial"/>
                </a:rPr>
                <a:t>03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447800" y="5133975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0E7490"/>
                  </a:solidFill>
                  <a:latin typeface="Arial"/>
                  <a:ea typeface="Microsoft YaHei"/>
                  <a:cs typeface="Arial"/>
                </a:rPr>
                <a:t>要点</a:t>
              </a:r>
            </a:p>
          </p:txBody>
        </p:sp>
        <p:sp>
          <p:nvSpPr>
            <p:cNvPr id="33" name="Line 33"/>
            <p:cNvSpPr/>
            <p:nvPr/>
          </p:nvSpPr>
          <p:spPr>
            <a:xfrm>
              <a:off x="4362450" y="5133975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4686300" y="5133975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要点维度：Human Approval Gate</a:t>
              </a:r>
            </a:p>
          </p:txBody>
        </p:sp>
      </p:grpSp>
      <p:grpSp>
        <p:nvGrpSpPr>
          <p:cNvPr id="39" name="EasySlides Component: synthesis"/>
          <p:cNvGrpSpPr/>
          <p:nvPr/>
        </p:nvGrpSpPr>
        <p:grpSpPr>
          <a:xfrm>
            <a:off x="495300" y="1285875"/>
            <a:ext cx="11201400" cy="714375"/>
            <a:chOff x="495300" y="1285875"/>
            <a:chExt cx="11201400" cy="714375"/>
          </a:xfrm>
        </p:grpSpPr>
        <p:sp>
          <p:nvSpPr>
            <p:cNvPr id="36" name="Rectangle 36"/>
            <p:cNvSpPr/>
            <p:nvPr/>
          </p:nvSpPr>
          <p:spPr>
            <a:xfrm>
              <a:off x="495300" y="1285875"/>
              <a:ext cx="11201400" cy="714375"/>
            </a:xfrm>
            <a:prstGeom prst="roundRect">
              <a:avLst>
                <a:gd name="adj" fmla="val 5333"/>
              </a:avLst>
            </a:prstGeom>
            <a:solidFill>
              <a:srgbClr val="0E7490"/>
            </a:solidFill>
            <a:ln>
              <a:noFill/>
            </a:ln>
          </p:spPr>
        </p:sp>
        <p:sp>
          <p:nvSpPr>
            <p:cNvPr id="37" name="Rectangle 37"/>
            <p:cNvSpPr/>
            <p:nvPr/>
          </p:nvSpPr>
          <p:spPr>
            <a:xfrm>
              <a:off x="495300" y="1285875"/>
              <a:ext cx="76200" cy="714375"/>
            </a:xfrm>
            <a:prstGeom prst="roundRect">
              <a:avLst>
                <a:gd name="adj" fmla="val 50000"/>
              </a:avLst>
            </a:prstGeom>
            <a:solidFill>
              <a:srgbClr val="CC0000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876300" y="1419225"/>
              <a:ext cx="10439400" cy="4476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自主与流程的混合编排：Harness 负责探索，Workflow 负责收口。</a:t>
              </a:r>
            </a:p>
          </p:txBody>
        </p:sp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0E7490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16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机制图解：审批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06B6D4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一图看懂运行机制与数据流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课程第18讲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Agent Runtime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16</a:t>
            </a:r>
          </a:p>
        </p:txBody>
      </p:sp>
      <p:grpSp>
        <p:nvGrpSpPr>
          <p:cNvPr id="26" name="EasySlides Component: evidence"/>
          <p:cNvGrpSpPr/>
          <p:nvPr/>
        </p:nvGrpSpPr>
        <p:grpSpPr>
          <a:xfrm>
            <a:off x="7124700" y="1285875"/>
            <a:ext cx="4572000" cy="4905375"/>
            <a:chOff x="7124700" y="1285875"/>
            <a:chExt cx="4572000" cy="4905375"/>
          </a:xfrm>
        </p:grpSpPr>
        <p:sp>
          <p:nvSpPr>
            <p:cNvPr id="15" name="Rectangle 15"/>
            <p:cNvSpPr/>
            <p:nvPr/>
          </p:nvSpPr>
          <p:spPr>
            <a:xfrm>
              <a:off x="7124700" y="1285875"/>
              <a:ext cx="4572000" cy="4905375"/>
            </a:xfrm>
            <a:prstGeom prst="roundRect">
              <a:avLst>
                <a:gd name="adj" fmla="val 833"/>
              </a:avLst>
            </a:prstGeom>
            <a:solidFill>
              <a:srgbClr val="F0F9FC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7124700" y="1285875"/>
              <a:ext cx="76200" cy="4905375"/>
            </a:xfrm>
            <a:prstGeom prst="rect">
              <a:avLst/>
            </a:prstGeom>
            <a:solidFill>
              <a:srgbClr val="06B6D4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7391400" y="1552575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7391400" y="3105150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7391400" y="4657725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605712" y="1745456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06B6D4"/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605712" y="3298031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06B6D4"/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605712" y="4850606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CC0000"/>
                  </a:solidFill>
                  <a:latin typeface="Arial"/>
                  <a:ea typeface="Microsoft YaHei"/>
                  <a:cs typeface="Arial"/>
                </a:rPr>
                <a:t>03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848600" y="1819275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从数据流看「审批」：上游产出受控载荷，经 workflow.py 中的实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848600" y="3371850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关键环节：契约→执行→验证→留痕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848600" y="4924425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落点：仓库验证</a:t>
              </a:r>
            </a:p>
          </p:txBody>
        </p:sp>
      </p:grpSp>
      <p:grpSp>
        <p:nvGrpSpPr>
          <p:cNvPr id="32" name="EasySlides Component: figure"/>
          <p:cNvGrpSpPr/>
          <p:nvPr/>
        </p:nvGrpSpPr>
        <p:grpSpPr>
          <a:xfrm>
            <a:off x="495300" y="1285875"/>
            <a:ext cx="6400800" cy="4905375"/>
            <a:chOff x="495300" y="1285875"/>
            <a:chExt cx="6400800" cy="4905375"/>
          </a:xfrm>
        </p:grpSpPr>
        <p:sp>
          <p:nvSpPr>
            <p:cNvPr id="27" name="Rectangle 27"/>
            <p:cNvSpPr/>
            <p:nvPr/>
          </p:nvSpPr>
          <p:spPr>
            <a:xfrm>
              <a:off x="495300" y="1285875"/>
              <a:ext cx="6400800" cy="4905375"/>
            </a:xfrm>
            <a:prstGeom prst="roundRect">
              <a:avLst>
                <a:gd name="adj" fmla="val 777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647700" y="1438275"/>
              <a:ext cx="6096000" cy="3905250"/>
            </a:xfrm>
            <a:prstGeom prst="roundRect">
              <a:avLst>
                <a:gd name="adj" fmla="val 488"/>
              </a:avLst>
            </a:prstGeom>
            <a:solidFill>
              <a:srgbClr val="F0F9FC"/>
            </a:solidFill>
            <a:ln w="9525">
              <a:solidFill>
                <a:srgbClr val="D4E2EE"/>
              </a:solidFill>
            </a:ln>
          </p:spPr>
        </p:sp>
        <p:pic>
          <p:nvPicPr>
            <p:cNvPr id="29" name="Image 29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47700" y="1605643"/>
              <a:ext cx="6096000" cy="3570514"/>
            </a:xfrm>
            <a:prstGeom prst="rect">
              <a:avLst/>
            </a:prstGeom>
          </p:spPr>
        </p:pic>
        <p:sp>
          <p:nvSpPr>
            <p:cNvPr id="30" name="Line 30"/>
            <p:cNvSpPr/>
            <p:nvPr/>
          </p:nvSpPr>
          <p:spPr>
            <a:xfrm>
              <a:off x="723900" y="5534025"/>
              <a:ext cx="5943600" cy="9525"/>
            </a:xfrm>
            <a:custGeom>
              <a:avLst/>
              <a:gdLst/>
              <a:ahLst/>
              <a:cxnLst/>
              <a:rect l="l" t="t" r="r" b="b"/>
              <a:pathLst>
                <a:path w="5943600" h="9525">
                  <a:moveTo>
                    <a:pt x="0" y="0"/>
                  </a:moveTo>
                  <a:lnTo>
                    <a:pt x="5943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800100" y="5610225"/>
              <a:ext cx="57912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图：审批 的机制与数据流（cycle 视角）</a:t>
              </a:r>
            </a:p>
          </p:txBody>
        </p:sp>
      </p:grp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0E7490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17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深入原理：审批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06B6D4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正确姿势 vs 常见误用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课程第18讲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Agent Runtime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17</a:t>
            </a:r>
          </a:p>
        </p:txBody>
      </p:sp>
      <p:grpSp>
        <p:nvGrpSpPr>
          <p:cNvPr id="22" name="EasySlides Component: left"/>
          <p:cNvGrpSpPr/>
          <p:nvPr/>
        </p:nvGrpSpPr>
        <p:grpSpPr>
          <a:xfrm>
            <a:off x="495300" y="1285875"/>
            <a:ext cx="5410200" cy="4000500"/>
            <a:chOff x="495300" y="1285875"/>
            <a:chExt cx="5410200" cy="4000500"/>
          </a:xfrm>
        </p:grpSpPr>
        <p:sp>
          <p:nvSpPr>
            <p:cNvPr id="15" name="Rectangle 15"/>
            <p:cNvSpPr/>
            <p:nvPr/>
          </p:nvSpPr>
          <p:spPr>
            <a:xfrm>
              <a:off x="495300" y="1285875"/>
              <a:ext cx="5410200" cy="4000500"/>
            </a:xfrm>
            <a:prstGeom prst="roundRect">
              <a:avLst>
                <a:gd name="adj" fmla="val 952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95300" y="1285875"/>
              <a:ext cx="5410200" cy="609600"/>
            </a:xfrm>
            <a:prstGeom prst="roundRect">
              <a:avLst>
                <a:gd name="adj" fmla="val 6250"/>
              </a:avLst>
            </a:prstGeom>
            <a:solidFill>
              <a:srgbClr val="E8F4FC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495300" y="1285875"/>
              <a:ext cx="57150" cy="609600"/>
            </a:xfrm>
            <a:prstGeom prst="rect">
              <a:avLst/>
            </a:prstGeom>
            <a:solidFill>
              <a:srgbClr val="06B6D4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800100" y="1419225"/>
              <a:ext cx="48006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725" b="1" dirty="0">
                  <a:solidFill>
                    <a:srgbClr val="0E7490"/>
                  </a:solidFill>
                  <a:latin typeface="Arial"/>
                  <a:ea typeface="Microsoft YaHei"/>
                  <a:cs typeface="Arial"/>
                </a:rPr>
                <a:t>正确姿势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800100" y="2276475"/>
              <a:ext cx="4800600" cy="9525"/>
            </a:xfrm>
            <a:custGeom>
              <a:avLst/>
              <a:gdLst/>
              <a:ahLst/>
              <a:cxnLst/>
              <a:rect l="l" t="t" r="r" b="b"/>
              <a:pathLst>
                <a:path w="4800600" h="9525">
                  <a:moveTo>
                    <a:pt x="0" y="0"/>
                  </a:moveTo>
                  <a:lnTo>
                    <a:pt x="4800600" y="0"/>
                  </a:lnTo>
                </a:path>
              </a:pathLst>
            </a:custGeom>
            <a:noFill/>
            <a:ln w="19050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1028700" y="2505075"/>
              <a:ext cx="4343400" cy="20955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65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正确姿势：把「审批」的决策依据落成证据（Trace/Eval），而不是凭经验拍板。</a:t>
              </a:r>
            </a:p>
            <a:p>
              <a:pPr algn="l"/>
              <a:r>
                <a:rPr lang="zh-CN" sz="165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契约先行，证据留痕</a:t>
              </a:r>
            </a:p>
          </p:txBody>
        </p:sp>
        <p:sp>
          <p:nvSpPr>
            <p:cNvPr id="21" name="Line 21"/>
            <p:cNvSpPr/>
            <p:nvPr/>
          </p:nvSpPr>
          <p:spPr>
            <a:xfrm>
              <a:off x="800100" y="4905375"/>
              <a:ext cx="4800600" cy="9525"/>
            </a:xfrm>
            <a:custGeom>
              <a:avLst/>
              <a:gdLst/>
              <a:ahLst/>
              <a:cxnLst/>
              <a:rect l="l" t="t" r="r" b="b"/>
              <a:pathLst>
                <a:path w="4800600" h="9525">
                  <a:moveTo>
                    <a:pt x="0" y="0"/>
                  </a:moveTo>
                  <a:lnTo>
                    <a:pt x="4800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</p:grpSp>
      <p:grpSp>
        <p:nvGrpSpPr>
          <p:cNvPr id="30" name="EasySlides Component: right"/>
          <p:cNvGrpSpPr/>
          <p:nvPr/>
        </p:nvGrpSpPr>
        <p:grpSpPr>
          <a:xfrm>
            <a:off x="6286500" y="1285875"/>
            <a:ext cx="5410200" cy="4000500"/>
            <a:chOff x="6286500" y="1285875"/>
            <a:chExt cx="5410200" cy="4000500"/>
          </a:xfrm>
        </p:grpSpPr>
        <p:sp>
          <p:nvSpPr>
            <p:cNvPr id="23" name="Rectangle 23"/>
            <p:cNvSpPr/>
            <p:nvPr/>
          </p:nvSpPr>
          <p:spPr>
            <a:xfrm>
              <a:off x="6286500" y="1285875"/>
              <a:ext cx="5410200" cy="4000500"/>
            </a:xfrm>
            <a:prstGeom prst="roundRect">
              <a:avLst>
                <a:gd name="adj" fmla="val 952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6286500" y="1285875"/>
              <a:ext cx="5410200" cy="609600"/>
            </a:xfrm>
            <a:prstGeom prst="roundRect">
              <a:avLst>
                <a:gd name="adj" fmla="val 6250"/>
              </a:avLst>
            </a:prstGeom>
            <a:solidFill>
              <a:srgbClr val="E8F4FC"/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6286500" y="1285875"/>
              <a:ext cx="57150" cy="609600"/>
            </a:xfrm>
            <a:prstGeom prst="rect">
              <a:avLst/>
            </a:prstGeom>
            <a:solidFill>
              <a:srgbClr val="06B6D4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591300" y="1419225"/>
              <a:ext cx="48006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725" b="1" dirty="0">
                  <a:solidFill>
                    <a:srgbClr val="0E7490"/>
                  </a:solidFill>
                  <a:latin typeface="Arial"/>
                  <a:ea typeface="Microsoft YaHei"/>
                  <a:cs typeface="Arial"/>
                </a:rPr>
                <a:t>常见误用</a:t>
              </a:r>
            </a:p>
          </p:txBody>
        </p:sp>
        <p:sp>
          <p:nvSpPr>
            <p:cNvPr id="27" name="Line 27"/>
            <p:cNvSpPr/>
            <p:nvPr/>
          </p:nvSpPr>
          <p:spPr>
            <a:xfrm>
              <a:off x="6591300" y="2276475"/>
              <a:ext cx="4800600" cy="9525"/>
            </a:xfrm>
            <a:custGeom>
              <a:avLst/>
              <a:gdLst/>
              <a:ahLst/>
              <a:cxnLst/>
              <a:rect l="l" t="t" r="r" b="b"/>
              <a:pathLst>
                <a:path w="4800600" h="9525">
                  <a:moveTo>
                    <a:pt x="0" y="0"/>
                  </a:moveTo>
                  <a:lnTo>
                    <a:pt x="4800600" y="0"/>
                  </a:lnTo>
                </a:path>
              </a:pathLst>
            </a:custGeom>
            <a:noFill/>
            <a:ln w="19050">
              <a:solidFill>
                <a:srgbClr val="D4E2EE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819900" y="2505075"/>
              <a:ext cx="4343400" cy="20955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65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常见误用：用相关性绕过「审批」的硬性过滤，短期省事，长期必然越权或漂移。</a:t>
              </a:r>
            </a:p>
            <a:p>
              <a:pPr algn="l"/>
              <a:r>
                <a:rPr lang="zh-CN" sz="165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无版本/无度量/无回滚</a:t>
              </a:r>
            </a:p>
          </p:txBody>
        </p:sp>
        <p:sp>
          <p:nvSpPr>
            <p:cNvPr id="29" name="Line 29"/>
            <p:cNvSpPr/>
            <p:nvPr/>
          </p:nvSpPr>
          <p:spPr>
            <a:xfrm>
              <a:off x="6591300" y="4905375"/>
              <a:ext cx="4800600" cy="9525"/>
            </a:xfrm>
            <a:custGeom>
              <a:avLst/>
              <a:gdLst/>
              <a:ahLst/>
              <a:cxnLst/>
              <a:rect l="l" t="t" r="r" b="b"/>
              <a:pathLst>
                <a:path w="4800600" h="9525">
                  <a:moveTo>
                    <a:pt x="0" y="0"/>
                  </a:moveTo>
                  <a:lnTo>
                    <a:pt x="4800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</p:grpSp>
      <p:grpSp>
        <p:nvGrpSpPr>
          <p:cNvPr id="34" name="EasySlides Component: synthesis"/>
          <p:cNvGrpSpPr/>
          <p:nvPr/>
        </p:nvGrpSpPr>
        <p:grpSpPr>
          <a:xfrm>
            <a:off x="495300" y="5476875"/>
            <a:ext cx="11201400" cy="714375"/>
            <a:chOff x="495300" y="5476875"/>
            <a:chExt cx="11201400" cy="714375"/>
          </a:xfrm>
        </p:grpSpPr>
        <p:sp>
          <p:nvSpPr>
            <p:cNvPr id="31" name="Rectangle 31"/>
            <p:cNvSpPr/>
            <p:nvPr/>
          </p:nvSpPr>
          <p:spPr>
            <a:xfrm>
              <a:off x="495300" y="5476875"/>
              <a:ext cx="11201400" cy="714375"/>
            </a:xfrm>
            <a:prstGeom prst="roundRect">
              <a:avLst>
                <a:gd name="adj" fmla="val 5333"/>
              </a:avLst>
            </a:prstGeom>
            <a:solidFill>
              <a:srgbClr val="0E7490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495300" y="5476875"/>
              <a:ext cx="76200" cy="714375"/>
            </a:xfrm>
            <a:prstGeom prst="roundRect">
              <a:avLst>
                <a:gd name="adj" fmla="val 50000"/>
              </a:avLst>
            </a:prstGeom>
            <a:solidFill>
              <a:srgbClr val="CC0000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876300" y="5610225"/>
              <a:ext cx="10439400" cy="4476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治理视角：控制权矩阵与自主性预算划定行动边界。</a:t>
              </a:r>
            </a:p>
          </p:txBody>
        </p:sp>
      </p:grp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0E7490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18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代码契约：审批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06B6D4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仓库真实代码 · 契约切面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课程第18讲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Agent Runtime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18</a:t>
            </a:r>
          </a:p>
        </p:txBody>
      </p:sp>
      <p:grpSp>
        <p:nvGrpSpPr>
          <p:cNvPr id="26" name="EasySlides Component: evidence"/>
          <p:cNvGrpSpPr/>
          <p:nvPr/>
        </p:nvGrpSpPr>
        <p:grpSpPr>
          <a:xfrm>
            <a:off x="7124700" y="1285875"/>
            <a:ext cx="4572000" cy="4905375"/>
            <a:chOff x="7124700" y="1285875"/>
            <a:chExt cx="4572000" cy="4905375"/>
          </a:xfrm>
        </p:grpSpPr>
        <p:sp>
          <p:nvSpPr>
            <p:cNvPr id="15" name="Rectangle 15"/>
            <p:cNvSpPr/>
            <p:nvPr/>
          </p:nvSpPr>
          <p:spPr>
            <a:xfrm>
              <a:off x="7124700" y="1285875"/>
              <a:ext cx="4572000" cy="4905375"/>
            </a:xfrm>
            <a:prstGeom prst="roundRect">
              <a:avLst>
                <a:gd name="adj" fmla="val 833"/>
              </a:avLst>
            </a:prstGeom>
            <a:solidFill>
              <a:srgbClr val="F0F9FC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7124700" y="1285875"/>
              <a:ext cx="76200" cy="4905375"/>
            </a:xfrm>
            <a:prstGeom prst="rect">
              <a:avLst/>
            </a:prstGeom>
            <a:solidFill>
              <a:srgbClr val="06B6D4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7391400" y="1552575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7391400" y="3105150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7391400" y="4657725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605712" y="1745456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06B6D4"/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605712" y="3298031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06B6D4"/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605712" y="4850606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CC0000"/>
                  </a:solidFill>
                  <a:latin typeface="Arial"/>
                  <a:ea typeface="Microsoft YaHei"/>
                  <a:cs typeface="Arial"/>
                </a:rPr>
                <a:t>03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848600" y="1819275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文件：workflow.py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848600" y="3371850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切面：契约——先读接口再读实现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848600" y="4924425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测试见 tests/ 目录</a:t>
              </a:r>
            </a:p>
          </p:txBody>
        </p:sp>
      </p:grpSp>
      <p:grpSp>
        <p:nvGrpSpPr>
          <p:cNvPr id="32" name="EasySlides Component: figure"/>
          <p:cNvGrpSpPr/>
          <p:nvPr/>
        </p:nvGrpSpPr>
        <p:grpSpPr>
          <a:xfrm>
            <a:off x="495300" y="1285875"/>
            <a:ext cx="6400800" cy="4905375"/>
            <a:chOff x="495300" y="1285875"/>
            <a:chExt cx="6400800" cy="4905375"/>
          </a:xfrm>
        </p:grpSpPr>
        <p:sp>
          <p:nvSpPr>
            <p:cNvPr id="27" name="Rectangle 27"/>
            <p:cNvSpPr/>
            <p:nvPr/>
          </p:nvSpPr>
          <p:spPr>
            <a:xfrm>
              <a:off x="495300" y="1285875"/>
              <a:ext cx="6400800" cy="4905375"/>
            </a:xfrm>
            <a:prstGeom prst="roundRect">
              <a:avLst>
                <a:gd name="adj" fmla="val 777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647700" y="1438275"/>
              <a:ext cx="6096000" cy="3905250"/>
            </a:xfrm>
            <a:prstGeom prst="roundRect">
              <a:avLst>
                <a:gd name="adj" fmla="val 488"/>
              </a:avLst>
            </a:prstGeom>
            <a:solidFill>
              <a:srgbClr val="F0F9FC"/>
            </a:solidFill>
            <a:ln w="9525">
              <a:solidFill>
                <a:srgbClr val="D4E2EE"/>
              </a:solidFill>
            </a:ln>
          </p:spPr>
        </p:sp>
        <p:pic>
          <p:nvPicPr>
            <p:cNvPr id="29" name="Image 29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47700" y="1605643"/>
              <a:ext cx="6096000" cy="3570514"/>
            </a:xfrm>
            <a:prstGeom prst="rect">
              <a:avLst/>
            </a:prstGeom>
          </p:spPr>
        </p:pic>
        <p:sp>
          <p:nvSpPr>
            <p:cNvPr id="30" name="Line 30"/>
            <p:cNvSpPr/>
            <p:nvPr/>
          </p:nvSpPr>
          <p:spPr>
            <a:xfrm>
              <a:off x="723900" y="5534025"/>
              <a:ext cx="5943600" cy="9525"/>
            </a:xfrm>
            <a:custGeom>
              <a:avLst/>
              <a:gdLst/>
              <a:ahLst/>
              <a:cxnLst/>
              <a:rect l="l" t="t" r="r" b="b"/>
              <a:pathLst>
                <a:path w="5943600" h="9525">
                  <a:moveTo>
                    <a:pt x="0" y="0"/>
                  </a:moveTo>
                  <a:lnTo>
                    <a:pt x="5943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800100" y="5610225"/>
              <a:ext cx="57912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代码：workflow.py · 契约（概念2 审批）</a:t>
              </a:r>
            </a:p>
          </p:txBody>
        </p:sp>
      </p:grp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0E7490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19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代码实现：审批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06B6D4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仓库真实代码 · 实现切面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课程第18讲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Agent Runtime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19</a:t>
            </a:r>
          </a:p>
        </p:txBody>
      </p:sp>
      <p:grpSp>
        <p:nvGrpSpPr>
          <p:cNvPr id="26" name="EasySlides Component: evidence"/>
          <p:cNvGrpSpPr/>
          <p:nvPr/>
        </p:nvGrpSpPr>
        <p:grpSpPr>
          <a:xfrm>
            <a:off x="7124700" y="1285875"/>
            <a:ext cx="4572000" cy="4905375"/>
            <a:chOff x="7124700" y="1285875"/>
            <a:chExt cx="4572000" cy="4905375"/>
          </a:xfrm>
        </p:grpSpPr>
        <p:sp>
          <p:nvSpPr>
            <p:cNvPr id="15" name="Rectangle 15"/>
            <p:cNvSpPr/>
            <p:nvPr/>
          </p:nvSpPr>
          <p:spPr>
            <a:xfrm>
              <a:off x="7124700" y="1285875"/>
              <a:ext cx="4572000" cy="4905375"/>
            </a:xfrm>
            <a:prstGeom prst="roundRect">
              <a:avLst>
                <a:gd name="adj" fmla="val 833"/>
              </a:avLst>
            </a:prstGeom>
            <a:solidFill>
              <a:srgbClr val="F0F9FC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7124700" y="1285875"/>
              <a:ext cx="76200" cy="4905375"/>
            </a:xfrm>
            <a:prstGeom prst="rect">
              <a:avLst/>
            </a:prstGeom>
            <a:solidFill>
              <a:srgbClr val="06B6D4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7391400" y="1552575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7391400" y="3105150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7391400" y="4657725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605712" y="1745456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06B6D4"/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605712" y="3298031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06B6D4"/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605712" y="4850606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CC0000"/>
                  </a:solidFill>
                  <a:latin typeface="Arial"/>
                  <a:ea typeface="Microsoft YaHei"/>
                  <a:cs typeface="Arial"/>
                </a:rPr>
                <a:t>03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848600" y="1819275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文件：workflow.py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848600" y="3371850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切面：实现——先读接口再读实现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848600" y="4924425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测试见 tests/ 目录</a:t>
              </a:r>
            </a:p>
          </p:txBody>
        </p:sp>
      </p:grpSp>
      <p:grpSp>
        <p:nvGrpSpPr>
          <p:cNvPr id="32" name="EasySlides Component: figure"/>
          <p:cNvGrpSpPr/>
          <p:nvPr/>
        </p:nvGrpSpPr>
        <p:grpSpPr>
          <a:xfrm>
            <a:off x="495300" y="1285875"/>
            <a:ext cx="6400800" cy="4905375"/>
            <a:chOff x="495300" y="1285875"/>
            <a:chExt cx="6400800" cy="4905375"/>
          </a:xfrm>
        </p:grpSpPr>
        <p:sp>
          <p:nvSpPr>
            <p:cNvPr id="27" name="Rectangle 27"/>
            <p:cNvSpPr/>
            <p:nvPr/>
          </p:nvSpPr>
          <p:spPr>
            <a:xfrm>
              <a:off x="495300" y="1285875"/>
              <a:ext cx="6400800" cy="4905375"/>
            </a:xfrm>
            <a:prstGeom prst="roundRect">
              <a:avLst>
                <a:gd name="adj" fmla="val 777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647700" y="1438275"/>
              <a:ext cx="6096000" cy="3905250"/>
            </a:xfrm>
            <a:prstGeom prst="roundRect">
              <a:avLst>
                <a:gd name="adj" fmla="val 488"/>
              </a:avLst>
            </a:prstGeom>
            <a:solidFill>
              <a:srgbClr val="F0F9FC"/>
            </a:solidFill>
            <a:ln w="9525">
              <a:solidFill>
                <a:srgbClr val="D4E2EE"/>
              </a:solidFill>
            </a:ln>
          </p:spPr>
        </p:sp>
        <p:pic>
          <p:nvPicPr>
            <p:cNvPr id="29" name="Image 29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47700" y="1605643"/>
              <a:ext cx="6096000" cy="3570514"/>
            </a:xfrm>
            <a:prstGeom prst="rect">
              <a:avLst/>
            </a:prstGeom>
          </p:spPr>
        </p:pic>
        <p:sp>
          <p:nvSpPr>
            <p:cNvPr id="30" name="Line 30"/>
            <p:cNvSpPr/>
            <p:nvPr/>
          </p:nvSpPr>
          <p:spPr>
            <a:xfrm>
              <a:off x="723900" y="5534025"/>
              <a:ext cx="5943600" cy="9525"/>
            </a:xfrm>
            <a:custGeom>
              <a:avLst/>
              <a:gdLst/>
              <a:ahLst/>
              <a:cxnLst/>
              <a:rect l="l" t="t" r="r" b="b"/>
              <a:pathLst>
                <a:path w="5943600" h="9525">
                  <a:moveTo>
                    <a:pt x="0" y="0"/>
                  </a:moveTo>
                  <a:lnTo>
                    <a:pt x="5943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800100" y="5610225"/>
              <a:ext cx="57912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代码：workflow.py · 实现（概念2 审批）</a:t>
              </a:r>
            </a:p>
          </p:txBody>
        </p:sp>
      </p:grp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0E7490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20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应用实践：审批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06B6D4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三步落地：闭环→灰度→放开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课程第18讲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Agent Runtime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20</a:t>
            </a:r>
          </a:p>
        </p:txBody>
      </p:sp>
      <p:grpSp>
        <p:nvGrpSpPr>
          <p:cNvPr id="22" name="EasySlides Component: step_01"/>
          <p:cNvGrpSpPr/>
          <p:nvPr/>
        </p:nvGrpSpPr>
        <p:grpSpPr>
          <a:xfrm>
            <a:off x="495300" y="1285875"/>
            <a:ext cx="3505200" cy="3476625"/>
            <a:chOff x="495300" y="1285875"/>
            <a:chExt cx="3505200" cy="3476625"/>
          </a:xfrm>
        </p:grpSpPr>
        <p:sp>
          <p:nvSpPr>
            <p:cNvPr id="15" name="Rectangle 15"/>
            <p:cNvSpPr/>
            <p:nvPr/>
          </p:nvSpPr>
          <p:spPr>
            <a:xfrm>
              <a:off x="495300" y="1285875"/>
              <a:ext cx="3505200" cy="3476625"/>
            </a:xfrm>
            <a:prstGeom prst="roundRect">
              <a:avLst>
                <a:gd name="adj" fmla="val 1096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Ellipse 16"/>
            <p:cNvSpPr/>
            <p:nvPr/>
          </p:nvSpPr>
          <p:spPr>
            <a:xfrm>
              <a:off x="695325" y="1495425"/>
              <a:ext cx="476250" cy="476250"/>
            </a:xfrm>
            <a:prstGeom prst="ellipse">
              <a:avLst/>
            </a:prstGeom>
            <a:solidFill>
              <a:srgbClr val="06B6D4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14375" y="1504950"/>
              <a:ext cx="43815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1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314450" y="1524000"/>
              <a:ext cx="2324100" cy="42862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650" b="1" dirty="0">
                  <a:solidFill>
                    <a:srgbClr val="0E7490"/>
                  </a:solidFill>
                  <a:latin typeface="Arial"/>
                  <a:ea typeface="Microsoft YaHei"/>
                  <a:cs typeface="Arial"/>
                </a:rPr>
                <a:t>最小闭环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800100" y="2181225"/>
              <a:ext cx="2895600" cy="9525"/>
            </a:xfrm>
            <a:custGeom>
              <a:avLst/>
              <a:gdLst/>
              <a:ahLst/>
              <a:cxnLst/>
              <a:rect l="l" t="t" r="r" b="b"/>
              <a:pathLst>
                <a:path w="2895600" h="9525">
                  <a:moveTo>
                    <a:pt x="0" y="0"/>
                  </a:moveTo>
                  <a:lnTo>
                    <a:pt x="2895600" y="0"/>
                  </a:lnTo>
                </a:path>
              </a:pathLst>
            </a:custGeom>
            <a:noFill/>
            <a:ln w="19050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952500" y="2476500"/>
              <a:ext cx="2590800" cy="1666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0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「审批」的应用入口在本课程 DataAgent：跑通对应 pytest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800100" y="4391025"/>
              <a:ext cx="762000" cy="66675"/>
            </a:xfrm>
            <a:prstGeom prst="rect">
              <a:avLst/>
            </a:prstGeom>
            <a:solidFill>
              <a:srgbClr val="CC0000"/>
            </a:solidFill>
            <a:ln>
              <a:noFill/>
            </a:ln>
          </p:spPr>
        </p:sp>
      </p:grpSp>
      <p:grpSp>
        <p:nvGrpSpPr>
          <p:cNvPr id="30" name="EasySlides Component: step_02"/>
          <p:cNvGrpSpPr/>
          <p:nvPr/>
        </p:nvGrpSpPr>
        <p:grpSpPr>
          <a:xfrm>
            <a:off x="4343400" y="1285875"/>
            <a:ext cx="3505200" cy="3476625"/>
            <a:chOff x="4343400" y="1285875"/>
            <a:chExt cx="3505200" cy="3476625"/>
          </a:xfrm>
        </p:grpSpPr>
        <p:sp>
          <p:nvSpPr>
            <p:cNvPr id="23" name="Rectangle 23"/>
            <p:cNvSpPr/>
            <p:nvPr/>
          </p:nvSpPr>
          <p:spPr>
            <a:xfrm>
              <a:off x="4343400" y="1285875"/>
              <a:ext cx="3505200" cy="3476625"/>
            </a:xfrm>
            <a:prstGeom prst="roundRect">
              <a:avLst>
                <a:gd name="adj" fmla="val 1096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4" name="Ellipse 24"/>
            <p:cNvSpPr/>
            <p:nvPr/>
          </p:nvSpPr>
          <p:spPr>
            <a:xfrm>
              <a:off x="4543425" y="1495425"/>
              <a:ext cx="476250" cy="476250"/>
            </a:xfrm>
            <a:prstGeom prst="ellipse">
              <a:avLst/>
            </a:prstGeom>
            <a:solidFill>
              <a:srgbClr val="06B6D4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4562475" y="1504950"/>
              <a:ext cx="43815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2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5162550" y="1524000"/>
              <a:ext cx="2324100" cy="42862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650" b="1" dirty="0">
                  <a:solidFill>
                    <a:srgbClr val="0E7490"/>
                  </a:solidFill>
                  <a:latin typeface="Arial"/>
                  <a:ea typeface="Microsoft YaHei"/>
                  <a:cs typeface="Arial"/>
                </a:rPr>
                <a:t>灰度验证</a:t>
              </a:r>
            </a:p>
          </p:txBody>
        </p:sp>
        <p:sp>
          <p:nvSpPr>
            <p:cNvPr id="27" name="Line 27"/>
            <p:cNvSpPr/>
            <p:nvPr/>
          </p:nvSpPr>
          <p:spPr>
            <a:xfrm>
              <a:off x="4648200" y="2181225"/>
              <a:ext cx="2895600" cy="9525"/>
            </a:xfrm>
            <a:custGeom>
              <a:avLst/>
              <a:gdLst/>
              <a:ahLst/>
              <a:cxnLst/>
              <a:rect l="l" t="t" r="r" b="b"/>
              <a:pathLst>
                <a:path w="2895600" h="9525">
                  <a:moveTo>
                    <a:pt x="0" y="0"/>
                  </a:moveTo>
                  <a:lnTo>
                    <a:pt x="2895600" y="0"/>
                  </a:lnTo>
                </a:path>
              </a:pathLst>
            </a:custGeom>
            <a:noFill/>
            <a:ln w="19050">
              <a:solidFill>
                <a:srgbClr val="D4E2EE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4800600" y="2476500"/>
              <a:ext cx="2590800" cy="1666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0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小流量对照基线，观察效果/成本/时延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4648200" y="4391025"/>
              <a:ext cx="762000" cy="66675"/>
            </a:xfrm>
            <a:prstGeom prst="rect">
              <a:avLst/>
            </a:prstGeom>
            <a:solidFill>
              <a:srgbClr val="CC0000"/>
            </a:solidFill>
            <a:ln>
              <a:noFill/>
            </a:ln>
          </p:spPr>
        </p:sp>
      </p:grpSp>
      <p:grpSp>
        <p:nvGrpSpPr>
          <p:cNvPr id="38" name="EasySlides Component: step_03"/>
          <p:cNvGrpSpPr/>
          <p:nvPr/>
        </p:nvGrpSpPr>
        <p:grpSpPr>
          <a:xfrm>
            <a:off x="8191500" y="1285875"/>
            <a:ext cx="3505200" cy="3476625"/>
            <a:chOff x="8191500" y="1285875"/>
            <a:chExt cx="3505200" cy="3476625"/>
          </a:xfrm>
        </p:grpSpPr>
        <p:sp>
          <p:nvSpPr>
            <p:cNvPr id="31" name="Rectangle 31"/>
            <p:cNvSpPr/>
            <p:nvPr/>
          </p:nvSpPr>
          <p:spPr>
            <a:xfrm>
              <a:off x="8191500" y="1285875"/>
              <a:ext cx="3505200" cy="3476625"/>
            </a:xfrm>
            <a:prstGeom prst="roundRect">
              <a:avLst>
                <a:gd name="adj" fmla="val 1096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32" name="Ellipse 32"/>
            <p:cNvSpPr/>
            <p:nvPr/>
          </p:nvSpPr>
          <p:spPr>
            <a:xfrm>
              <a:off x="8391525" y="1495425"/>
              <a:ext cx="476250" cy="476250"/>
            </a:xfrm>
            <a:prstGeom prst="ellipse">
              <a:avLst/>
            </a:prstGeom>
            <a:solidFill>
              <a:srgbClr val="06B6D4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8410575" y="1504950"/>
              <a:ext cx="43815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3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9010650" y="1524000"/>
              <a:ext cx="2324100" cy="42862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650" b="1" dirty="0">
                  <a:solidFill>
                    <a:srgbClr val="0E7490"/>
                  </a:solidFill>
                  <a:latin typeface="Arial"/>
                  <a:ea typeface="Microsoft YaHei"/>
                  <a:cs typeface="Arial"/>
                </a:rPr>
                <a:t>逐步放开</a:t>
              </a:r>
            </a:p>
          </p:txBody>
        </p:sp>
        <p:sp>
          <p:nvSpPr>
            <p:cNvPr id="35" name="Line 35"/>
            <p:cNvSpPr/>
            <p:nvPr/>
          </p:nvSpPr>
          <p:spPr>
            <a:xfrm>
              <a:off x="8496300" y="2181225"/>
              <a:ext cx="2895600" cy="9525"/>
            </a:xfrm>
            <a:custGeom>
              <a:avLst/>
              <a:gdLst/>
              <a:ahLst/>
              <a:cxnLst/>
              <a:rect l="l" t="t" r="r" b="b"/>
              <a:pathLst>
                <a:path w="2895600" h="9525">
                  <a:moveTo>
                    <a:pt x="0" y="0"/>
                  </a:moveTo>
                  <a:lnTo>
                    <a:pt x="2895600" y="0"/>
                  </a:lnTo>
                </a:path>
              </a:pathLst>
            </a:custGeom>
            <a:noFill/>
            <a:ln w="19050">
              <a:solidFill>
                <a:srgbClr val="D4E2EE"/>
              </a:solidFill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8648700" y="2476500"/>
              <a:ext cx="2590800" cy="1666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0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按租户/场景分批，异常即回滚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8496300" y="4391025"/>
              <a:ext cx="762000" cy="66675"/>
            </a:xfrm>
            <a:prstGeom prst="rect">
              <a:avLst/>
            </a:prstGeom>
            <a:solidFill>
              <a:srgbClr val="CC0000"/>
            </a:solidFill>
            <a:ln>
              <a:noFill/>
            </a:ln>
          </p:spPr>
        </p:sp>
      </p:grpSp>
      <p:grpSp>
        <p:nvGrpSpPr>
          <p:cNvPr id="42" name="EasySlides Component: synthesis"/>
          <p:cNvGrpSpPr/>
          <p:nvPr/>
        </p:nvGrpSpPr>
        <p:grpSpPr>
          <a:xfrm>
            <a:off x="495300" y="5476875"/>
            <a:ext cx="11201400" cy="714375"/>
            <a:chOff x="495300" y="5476875"/>
            <a:chExt cx="11201400" cy="714375"/>
          </a:xfrm>
        </p:grpSpPr>
        <p:sp>
          <p:nvSpPr>
            <p:cNvPr id="39" name="Rectangle 39"/>
            <p:cNvSpPr/>
            <p:nvPr/>
          </p:nvSpPr>
          <p:spPr>
            <a:xfrm>
              <a:off x="495300" y="5476875"/>
              <a:ext cx="11201400" cy="714375"/>
            </a:xfrm>
            <a:prstGeom prst="roundRect">
              <a:avLst>
                <a:gd name="adj" fmla="val 5333"/>
              </a:avLst>
            </a:prstGeom>
            <a:solidFill>
              <a:srgbClr val="0E7490"/>
            </a:solidFill>
            <a:ln>
              <a:noFill/>
            </a:ln>
          </p:spPr>
        </p:sp>
        <p:sp>
          <p:nvSpPr>
            <p:cNvPr id="40" name="Rectangle 40"/>
            <p:cNvSpPr/>
            <p:nvPr/>
          </p:nvSpPr>
          <p:spPr>
            <a:xfrm>
              <a:off x="495300" y="5476875"/>
              <a:ext cx="76200" cy="714375"/>
            </a:xfrm>
            <a:prstGeom prst="roundRect">
              <a:avLst>
                <a:gd name="adj" fmla="val 50000"/>
              </a:avLst>
            </a:prstGeom>
            <a:solidFill>
              <a:srgbClr val="CC0000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876300" y="5610225"/>
              <a:ext cx="10439400" cy="4476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案例视角：预算审批链路的审批-幂等-验真闭环实测。</a:t>
              </a:r>
            </a:p>
          </p:txBody>
        </p:sp>
      </p:grp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0E7490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21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陷阱与排查：审批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06B6D4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症状→根因→处置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课程第18讲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Agent Runtime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21</a:t>
            </a:r>
          </a:p>
        </p:txBody>
      </p:sp>
      <p:grpSp>
        <p:nvGrpSpPr>
          <p:cNvPr id="38" name="EasySlides Component: matrix"/>
          <p:cNvGrpSpPr/>
          <p:nvPr/>
        </p:nvGrpSpPr>
        <p:grpSpPr>
          <a:xfrm>
            <a:off x="495300" y="1285875"/>
            <a:ext cx="11201400" cy="4905375"/>
            <a:chOff x="495300" y="1285875"/>
            <a:chExt cx="11201400" cy="4905375"/>
          </a:xfrm>
        </p:grpSpPr>
        <p:sp>
          <p:nvSpPr>
            <p:cNvPr id="15" name="Rectangle 15"/>
            <p:cNvSpPr/>
            <p:nvPr/>
          </p:nvSpPr>
          <p:spPr>
            <a:xfrm>
              <a:off x="495300" y="1285875"/>
              <a:ext cx="11201400" cy="4905375"/>
            </a:xfrm>
            <a:prstGeom prst="roundRect">
              <a:avLst>
                <a:gd name="adj" fmla="val 777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95300" y="1285875"/>
              <a:ext cx="11201400" cy="647700"/>
            </a:xfrm>
            <a:prstGeom prst="roundRect">
              <a:avLst>
                <a:gd name="adj" fmla="val 5882"/>
              </a:avLst>
            </a:prstGeom>
            <a:solidFill>
              <a:srgbClr val="0E7490"/>
            </a:solidFill>
            <a:ln>
              <a:noFill/>
            </a:ln>
          </p:spPr>
        </p:sp>
        <p:sp>
          <p:nvSpPr>
            <p:cNvPr id="17" name="Line 17"/>
            <p:cNvSpPr/>
            <p:nvPr/>
          </p:nvSpPr>
          <p:spPr>
            <a:xfrm>
              <a:off x="4229100" y="1285875"/>
              <a:ext cx="9525" cy="4143375"/>
            </a:xfrm>
            <a:custGeom>
              <a:avLst/>
              <a:gdLst/>
              <a:ahLst/>
              <a:cxnLst/>
              <a:rect l="l" t="t" r="r" b="b"/>
              <a:pathLst>
                <a:path w="9525" h="4143375">
                  <a:moveTo>
                    <a:pt x="0" y="0"/>
                  </a:moveTo>
                  <a:lnTo>
                    <a:pt x="0" y="4143375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sp>
          <p:nvSpPr>
            <p:cNvPr id="18" name="Line 18"/>
            <p:cNvSpPr/>
            <p:nvPr/>
          </p:nvSpPr>
          <p:spPr>
            <a:xfrm>
              <a:off x="7962900" y="1285875"/>
              <a:ext cx="9525" cy="4143375"/>
            </a:xfrm>
            <a:custGeom>
              <a:avLst/>
              <a:gdLst/>
              <a:ahLst/>
              <a:cxnLst/>
              <a:rect l="l" t="t" r="r" b="b"/>
              <a:pathLst>
                <a:path w="9525" h="4143375">
                  <a:moveTo>
                    <a:pt x="0" y="0"/>
                  </a:moveTo>
                  <a:lnTo>
                    <a:pt x="0" y="4143375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sp>
          <p:nvSpPr>
            <p:cNvPr id="19" name="Line 19"/>
            <p:cNvSpPr/>
            <p:nvPr/>
          </p:nvSpPr>
          <p:spPr>
            <a:xfrm>
              <a:off x="495300" y="1933575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sp>
          <p:nvSpPr>
            <p:cNvPr id="20" name="Line 20"/>
            <p:cNvSpPr/>
            <p:nvPr/>
          </p:nvSpPr>
          <p:spPr>
            <a:xfrm>
              <a:off x="495300" y="3095625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1" name="Line 21"/>
            <p:cNvSpPr/>
            <p:nvPr/>
          </p:nvSpPr>
          <p:spPr>
            <a:xfrm>
              <a:off x="495300" y="4257675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2" name="Line 22"/>
            <p:cNvSpPr/>
            <p:nvPr/>
          </p:nvSpPr>
          <p:spPr>
            <a:xfrm>
              <a:off x="495300" y="5429250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grpSp>
          <p:nvGrpSpPr>
            <p:cNvPr id="26" name="Group 26"/>
            <p:cNvGrpSpPr/>
            <p:nvPr/>
          </p:nvGrpSpPr>
          <p:grpSpPr>
            <a:xfrm>
              <a:off x="704850" y="1428750"/>
              <a:ext cx="10782300" cy="361950"/>
              <a:chOff x="704850" y="1428750"/>
              <a:chExt cx="10782300" cy="361950"/>
            </a:xfrm>
          </p:grpSpPr>
          <p:sp>
            <p:nvSpPr>
              <p:cNvPr id="23" name="TextBox 23"/>
              <p:cNvSpPr txBox="1"/>
              <p:nvPr/>
            </p:nvSpPr>
            <p:spPr>
              <a:xfrm>
                <a:off x="704850" y="1428750"/>
                <a:ext cx="33147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症状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4438650" y="1428750"/>
                <a:ext cx="33147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根因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8172450" y="1428750"/>
                <a:ext cx="33147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处置</a:t>
                </a:r>
              </a:p>
            </p:txBody>
          </p:sp>
        </p:grpSp>
        <p:grpSp>
          <p:nvGrpSpPr>
            <p:cNvPr id="36" name="Group 36"/>
            <p:cNvGrpSpPr/>
            <p:nvPr/>
          </p:nvGrpSpPr>
          <p:grpSpPr>
            <a:xfrm>
              <a:off x="723900" y="2105025"/>
              <a:ext cx="10744200" cy="3086100"/>
              <a:chOff x="723900" y="2105025"/>
              <a:chExt cx="10744200" cy="3086100"/>
            </a:xfrm>
          </p:grpSpPr>
          <p:sp>
            <p:nvSpPr>
              <p:cNvPr id="27" name="TextBox 27"/>
              <p:cNvSpPr txBox="1"/>
              <p:nvPr/>
            </p:nvSpPr>
            <p:spPr>
              <a:xfrm>
                <a:off x="723900" y="21050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「审批」典型故障：成本失控—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4457700" y="21050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缺少验证/预算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8191500" y="21050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验真+预算上限</a:t>
                </a: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723900" y="326707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结果不可解释</a:t>
                </a: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4457700" y="326707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无 Trace 留痕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8191500" y="326707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接入统一 Trace</a:t>
                </a: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723900" y="44291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效果悄悄退化</a:t>
                </a: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4457700" y="44291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无回归基线</a:t>
                </a:r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8191500" y="44291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评测+回归门禁</a:t>
                </a:r>
              </a:p>
            </p:txBody>
          </p:sp>
        </p:grpSp>
        <p:sp>
          <p:nvSpPr>
            <p:cNvPr id="37" name="TextBox 37"/>
            <p:cNvSpPr txBox="1"/>
            <p:nvPr/>
          </p:nvSpPr>
          <p:spPr>
            <a:xfrm>
              <a:off x="828675" y="5581650"/>
              <a:ext cx="10534650" cy="4191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500" b="1" dirty="0">
                  <a:solidFill>
                    <a:srgbClr val="0E7490"/>
                  </a:solidFill>
                  <a:latin typeface="Arial"/>
                  <a:ea typeface="Microsoft YaHei"/>
                  <a:cs typeface="Arial"/>
                </a:rPr>
                <a:t>先止血，再根因，最后沉淀为回归用例</a:t>
              </a:r>
            </a:p>
          </p:txBody>
        </p:sp>
      </p:grp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0E7490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22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工程决策：审批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06B6D4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候选方案 × 取舍（ADR）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课程第18讲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Agent Runtime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22</a:t>
            </a:r>
          </a:p>
        </p:txBody>
      </p:sp>
      <p:grpSp>
        <p:nvGrpSpPr>
          <p:cNvPr id="38" name="EasySlides Component: matrix"/>
          <p:cNvGrpSpPr/>
          <p:nvPr/>
        </p:nvGrpSpPr>
        <p:grpSpPr>
          <a:xfrm>
            <a:off x="495300" y="1285875"/>
            <a:ext cx="11201400" cy="4905375"/>
            <a:chOff x="495300" y="1285875"/>
            <a:chExt cx="11201400" cy="4905375"/>
          </a:xfrm>
        </p:grpSpPr>
        <p:sp>
          <p:nvSpPr>
            <p:cNvPr id="15" name="Rectangle 15"/>
            <p:cNvSpPr/>
            <p:nvPr/>
          </p:nvSpPr>
          <p:spPr>
            <a:xfrm>
              <a:off x="495300" y="1285875"/>
              <a:ext cx="11201400" cy="4905375"/>
            </a:xfrm>
            <a:prstGeom prst="roundRect">
              <a:avLst>
                <a:gd name="adj" fmla="val 777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95300" y="1285875"/>
              <a:ext cx="11201400" cy="647700"/>
            </a:xfrm>
            <a:prstGeom prst="roundRect">
              <a:avLst>
                <a:gd name="adj" fmla="val 5882"/>
              </a:avLst>
            </a:prstGeom>
            <a:solidFill>
              <a:srgbClr val="0E7490"/>
            </a:solidFill>
            <a:ln>
              <a:noFill/>
            </a:ln>
          </p:spPr>
        </p:sp>
        <p:sp>
          <p:nvSpPr>
            <p:cNvPr id="17" name="Line 17"/>
            <p:cNvSpPr/>
            <p:nvPr/>
          </p:nvSpPr>
          <p:spPr>
            <a:xfrm>
              <a:off x="4229100" y="1285875"/>
              <a:ext cx="9525" cy="4143375"/>
            </a:xfrm>
            <a:custGeom>
              <a:avLst/>
              <a:gdLst/>
              <a:ahLst/>
              <a:cxnLst/>
              <a:rect l="l" t="t" r="r" b="b"/>
              <a:pathLst>
                <a:path w="9525" h="4143375">
                  <a:moveTo>
                    <a:pt x="0" y="0"/>
                  </a:moveTo>
                  <a:lnTo>
                    <a:pt x="0" y="4143375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sp>
          <p:nvSpPr>
            <p:cNvPr id="18" name="Line 18"/>
            <p:cNvSpPr/>
            <p:nvPr/>
          </p:nvSpPr>
          <p:spPr>
            <a:xfrm>
              <a:off x="7962900" y="1285875"/>
              <a:ext cx="9525" cy="4143375"/>
            </a:xfrm>
            <a:custGeom>
              <a:avLst/>
              <a:gdLst/>
              <a:ahLst/>
              <a:cxnLst/>
              <a:rect l="l" t="t" r="r" b="b"/>
              <a:pathLst>
                <a:path w="9525" h="4143375">
                  <a:moveTo>
                    <a:pt x="0" y="0"/>
                  </a:moveTo>
                  <a:lnTo>
                    <a:pt x="0" y="4143375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sp>
          <p:nvSpPr>
            <p:cNvPr id="19" name="Line 19"/>
            <p:cNvSpPr/>
            <p:nvPr/>
          </p:nvSpPr>
          <p:spPr>
            <a:xfrm>
              <a:off x="495300" y="1933575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sp>
          <p:nvSpPr>
            <p:cNvPr id="20" name="Line 20"/>
            <p:cNvSpPr/>
            <p:nvPr/>
          </p:nvSpPr>
          <p:spPr>
            <a:xfrm>
              <a:off x="495300" y="3095625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1" name="Line 21"/>
            <p:cNvSpPr/>
            <p:nvPr/>
          </p:nvSpPr>
          <p:spPr>
            <a:xfrm>
              <a:off x="495300" y="4257675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2" name="Line 22"/>
            <p:cNvSpPr/>
            <p:nvPr/>
          </p:nvSpPr>
          <p:spPr>
            <a:xfrm>
              <a:off x="495300" y="5429250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grpSp>
          <p:nvGrpSpPr>
            <p:cNvPr id="26" name="Group 26"/>
            <p:cNvGrpSpPr/>
            <p:nvPr/>
          </p:nvGrpSpPr>
          <p:grpSpPr>
            <a:xfrm>
              <a:off x="704850" y="1428750"/>
              <a:ext cx="10782300" cy="361950"/>
              <a:chOff x="704850" y="1428750"/>
              <a:chExt cx="10782300" cy="361950"/>
            </a:xfrm>
          </p:grpSpPr>
          <p:sp>
            <p:nvSpPr>
              <p:cNvPr id="23" name="TextBox 23"/>
              <p:cNvSpPr txBox="1"/>
              <p:nvPr/>
            </p:nvSpPr>
            <p:spPr>
              <a:xfrm>
                <a:off x="704850" y="1428750"/>
                <a:ext cx="33147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方案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4438650" y="1428750"/>
                <a:ext cx="33147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代价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8172450" y="1428750"/>
                <a:ext cx="33147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结论</a:t>
                </a:r>
              </a:p>
            </p:txBody>
          </p:sp>
        </p:grpSp>
        <p:grpSp>
          <p:nvGrpSpPr>
            <p:cNvPr id="36" name="Group 36"/>
            <p:cNvGrpSpPr/>
            <p:nvPr/>
          </p:nvGrpSpPr>
          <p:grpSpPr>
            <a:xfrm>
              <a:off x="723900" y="2105025"/>
              <a:ext cx="10744200" cy="3086100"/>
              <a:chOff x="723900" y="2105025"/>
              <a:chExt cx="10744200" cy="3086100"/>
            </a:xfrm>
          </p:grpSpPr>
          <p:sp>
            <p:nvSpPr>
              <p:cNvPr id="27" name="TextBox 27"/>
              <p:cNvSpPr txBox="1"/>
              <p:nvPr/>
            </p:nvSpPr>
            <p:spPr>
              <a:xfrm>
                <a:off x="723900" y="21050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直连实现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4457700" y="21050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快但耦合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8191500" y="21050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Demo 可用</a:t>
                </a: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723900" y="326707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平台化</a:t>
                </a: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4457700" y="326707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前期成本高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8191500" y="326707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生产首选</a:t>
                </a: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723900" y="44291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保持简单</a:t>
                </a: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4457700" y="44291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能力上限</a:t>
                </a:r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8191500" y="44291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按场景取舍</a:t>
                </a:r>
              </a:p>
            </p:txBody>
          </p:sp>
        </p:grpSp>
        <p:sp>
          <p:nvSpPr>
            <p:cNvPr id="37" name="TextBox 37"/>
            <p:cNvSpPr txBox="1"/>
            <p:nvPr/>
          </p:nvSpPr>
          <p:spPr>
            <a:xfrm>
              <a:off x="828675" y="5581650"/>
              <a:ext cx="10534650" cy="4191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500" b="1" dirty="0">
                  <a:solidFill>
                    <a:srgbClr val="0E7490"/>
                  </a:solidFill>
                  <a:latin typeface="Arial"/>
                  <a:ea typeface="Microsoft YaHei"/>
                  <a:cs typeface="Arial"/>
                </a:rPr>
                <a:t>「审批」的选型以证据与约束为准</a:t>
              </a:r>
            </a:p>
          </p:txBody>
        </p:sp>
      </p:grp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0E7490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23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优化拓展：审批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06B6D4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三个可持续优化抓手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课程第18讲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Agent Runtime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23</a:t>
            </a:r>
          </a:p>
        </p:txBody>
      </p:sp>
      <p:grpSp>
        <p:nvGrpSpPr>
          <p:cNvPr id="21" name="EasySlides Component: evidence_01"/>
          <p:cNvGrpSpPr/>
          <p:nvPr/>
        </p:nvGrpSpPr>
        <p:grpSpPr>
          <a:xfrm>
            <a:off x="495300" y="3524250"/>
            <a:ext cx="11201400" cy="1285875"/>
            <a:chOff x="495300" y="3524250"/>
            <a:chExt cx="11201400" cy="1285875"/>
          </a:xfrm>
        </p:grpSpPr>
        <p:sp>
          <p:nvSpPr>
            <p:cNvPr id="15" name="Rectangle 15"/>
            <p:cNvSpPr/>
            <p:nvPr/>
          </p:nvSpPr>
          <p:spPr>
            <a:xfrm>
              <a:off x="495300" y="3524250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95300" y="3524250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06B6D4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33425" y="3971925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06B6D4"/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447800" y="3752850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0E7490"/>
                  </a:solidFill>
                  <a:latin typeface="Arial"/>
                  <a:ea typeface="Microsoft YaHei"/>
                  <a:cs typeface="Arial"/>
                </a:rPr>
                <a:t>资产化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4362450" y="3752850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4686300" y="3752850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「审批」优化一：把人工经验固化为资产（规则/Skill/</a:t>
              </a:r>
            </a:p>
          </p:txBody>
        </p:sp>
      </p:grpSp>
      <p:grpSp>
        <p:nvGrpSpPr>
          <p:cNvPr id="28" name="EasySlides Component: evidence_02"/>
          <p:cNvGrpSpPr/>
          <p:nvPr/>
        </p:nvGrpSpPr>
        <p:grpSpPr>
          <a:xfrm>
            <a:off x="495300" y="4905375"/>
            <a:ext cx="11201400" cy="1285875"/>
            <a:chOff x="495300" y="4905375"/>
            <a:chExt cx="11201400" cy="1285875"/>
          </a:xfrm>
        </p:grpSpPr>
        <p:sp>
          <p:nvSpPr>
            <p:cNvPr id="22" name="Rectangle 22"/>
            <p:cNvSpPr/>
            <p:nvPr/>
          </p:nvSpPr>
          <p:spPr>
            <a:xfrm>
              <a:off x="495300" y="4905375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495300" y="4905375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06B6D4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33425" y="5353050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06B6D4"/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447800" y="5133975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0E7490"/>
                  </a:solidFill>
                  <a:latin typeface="Arial"/>
                  <a:ea typeface="Microsoft YaHei"/>
                  <a:cs typeface="Arial"/>
                </a:rPr>
                <a:t>基线化</a:t>
              </a:r>
            </a:p>
          </p:txBody>
        </p:sp>
        <p:sp>
          <p:nvSpPr>
            <p:cNvPr id="26" name="Line 26"/>
            <p:cNvSpPr/>
            <p:nvPr/>
          </p:nvSpPr>
          <p:spPr>
            <a:xfrm>
              <a:off x="4362450" y="5133975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4686300" y="5133975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「审批」优化二：建立基线对照（关闭/盲选/受控三组）证明增量</a:t>
              </a:r>
            </a:p>
          </p:txBody>
        </p:sp>
      </p:grpSp>
      <p:grpSp>
        <p:nvGrpSpPr>
          <p:cNvPr id="34" name="EasySlides Component: metric_01"/>
          <p:cNvGrpSpPr/>
          <p:nvPr/>
        </p:nvGrpSpPr>
        <p:grpSpPr>
          <a:xfrm>
            <a:off x="495300" y="1285875"/>
            <a:ext cx="3505200" cy="1809750"/>
            <a:chOff x="495300" y="1285875"/>
            <a:chExt cx="3505200" cy="1809750"/>
          </a:xfrm>
        </p:grpSpPr>
        <p:sp>
          <p:nvSpPr>
            <p:cNvPr id="29" name="Rectangle 29"/>
            <p:cNvSpPr/>
            <p:nvPr/>
          </p:nvSpPr>
          <p:spPr>
            <a:xfrm>
              <a:off x="495300" y="1285875"/>
              <a:ext cx="3505200" cy="1809750"/>
            </a:xfrm>
            <a:prstGeom prst="roundRect">
              <a:avLst>
                <a:gd name="adj" fmla="val 2105"/>
              </a:avLst>
            </a:prstGeom>
            <a:solidFill>
              <a:srgbClr val="F0F9FC"/>
            </a:solidFill>
            <a:ln w="11430">
              <a:solidFill>
                <a:srgbClr val="B8C7D6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495300" y="1285875"/>
              <a:ext cx="3505200" cy="66675"/>
            </a:xfrm>
            <a:prstGeom prst="roundRect">
              <a:avLst>
                <a:gd name="adj" fmla="val 50000"/>
              </a:avLst>
            </a:prstGeom>
            <a:solidFill>
              <a:srgbClr val="06B6D4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62000" y="1619250"/>
              <a:ext cx="2971800" cy="7143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3150" b="1" dirty="0">
                  <a:solidFill>
                    <a:srgbClr val="0E7490"/>
                  </a:solidFill>
                  <a:latin typeface="Arial"/>
                  <a:ea typeface="Microsoft YaHei"/>
                  <a:cs typeface="Arial"/>
                </a:rPr>
                <a:t>资产化</a:t>
              </a:r>
            </a:p>
          </p:txBody>
        </p:sp>
        <p:sp>
          <p:nvSpPr>
            <p:cNvPr id="32" name="Line 32"/>
            <p:cNvSpPr/>
            <p:nvPr/>
          </p:nvSpPr>
          <p:spPr>
            <a:xfrm>
              <a:off x="990600" y="2476500"/>
              <a:ext cx="2514600" cy="9525"/>
            </a:xfrm>
            <a:custGeom>
              <a:avLst/>
              <a:gdLst/>
              <a:ahLst/>
              <a:cxnLst/>
              <a:rect l="l" t="t" r="r" b="b"/>
              <a:pathLst>
                <a:path w="2514600" h="9525">
                  <a:moveTo>
                    <a:pt x="0" y="0"/>
                  </a:moveTo>
                  <a:lnTo>
                    <a:pt x="2514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62000" y="2562225"/>
              <a:ext cx="29718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经验固化为规则/Skill</a:t>
              </a:r>
            </a:p>
          </p:txBody>
        </p:sp>
      </p:grpSp>
      <p:grpSp>
        <p:nvGrpSpPr>
          <p:cNvPr id="40" name="EasySlides Component: metric_02"/>
          <p:cNvGrpSpPr/>
          <p:nvPr/>
        </p:nvGrpSpPr>
        <p:grpSpPr>
          <a:xfrm>
            <a:off x="4343400" y="1285875"/>
            <a:ext cx="3505200" cy="1809750"/>
            <a:chOff x="4343400" y="1285875"/>
            <a:chExt cx="3505200" cy="1809750"/>
          </a:xfrm>
        </p:grpSpPr>
        <p:sp>
          <p:nvSpPr>
            <p:cNvPr id="35" name="Rectangle 35"/>
            <p:cNvSpPr/>
            <p:nvPr/>
          </p:nvSpPr>
          <p:spPr>
            <a:xfrm>
              <a:off x="4343400" y="1285875"/>
              <a:ext cx="3505200" cy="1809750"/>
            </a:xfrm>
            <a:prstGeom prst="roundRect">
              <a:avLst>
                <a:gd name="adj" fmla="val 2105"/>
              </a:avLst>
            </a:prstGeom>
            <a:solidFill>
              <a:srgbClr val="F0F9FC"/>
            </a:solidFill>
            <a:ln w="11430">
              <a:solidFill>
                <a:srgbClr val="B8C7D6"/>
              </a:solidFill>
            </a:ln>
          </p:spPr>
        </p:sp>
        <p:sp>
          <p:nvSpPr>
            <p:cNvPr id="36" name="Rectangle 36"/>
            <p:cNvSpPr/>
            <p:nvPr/>
          </p:nvSpPr>
          <p:spPr>
            <a:xfrm>
              <a:off x="4343400" y="1285875"/>
              <a:ext cx="3505200" cy="66675"/>
            </a:xfrm>
            <a:prstGeom prst="roundRect">
              <a:avLst>
                <a:gd name="adj" fmla="val 50000"/>
              </a:avLst>
            </a:prstGeom>
            <a:solidFill>
              <a:srgbClr val="06B6D4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4610100" y="1619250"/>
              <a:ext cx="2971800" cy="7143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3150" b="1" dirty="0">
                  <a:solidFill>
                    <a:srgbClr val="0E7490"/>
                  </a:solidFill>
                  <a:latin typeface="Arial"/>
                  <a:ea typeface="Microsoft YaHei"/>
                  <a:cs typeface="Arial"/>
                </a:rPr>
                <a:t>基线化</a:t>
              </a:r>
            </a:p>
          </p:txBody>
        </p:sp>
        <p:sp>
          <p:nvSpPr>
            <p:cNvPr id="38" name="Line 38"/>
            <p:cNvSpPr/>
            <p:nvPr/>
          </p:nvSpPr>
          <p:spPr>
            <a:xfrm>
              <a:off x="4838700" y="2476500"/>
              <a:ext cx="2514600" cy="9525"/>
            </a:xfrm>
            <a:custGeom>
              <a:avLst/>
              <a:gdLst/>
              <a:ahLst/>
              <a:cxnLst/>
              <a:rect l="l" t="t" r="r" b="b"/>
              <a:pathLst>
                <a:path w="2514600" h="9525">
                  <a:moveTo>
                    <a:pt x="0" y="0"/>
                  </a:moveTo>
                  <a:lnTo>
                    <a:pt x="2514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4610100" y="2562225"/>
              <a:ext cx="29718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对照实验证明增量</a:t>
              </a:r>
            </a:p>
          </p:txBody>
        </p:sp>
      </p:grpSp>
      <p:grpSp>
        <p:nvGrpSpPr>
          <p:cNvPr id="46" name="EasySlides Component: metric_03"/>
          <p:cNvGrpSpPr/>
          <p:nvPr/>
        </p:nvGrpSpPr>
        <p:grpSpPr>
          <a:xfrm>
            <a:off x="8191500" y="1285875"/>
            <a:ext cx="3505200" cy="1809750"/>
            <a:chOff x="8191500" y="1285875"/>
            <a:chExt cx="3505200" cy="1809750"/>
          </a:xfrm>
        </p:grpSpPr>
        <p:sp>
          <p:nvSpPr>
            <p:cNvPr id="41" name="Rectangle 41"/>
            <p:cNvSpPr/>
            <p:nvPr/>
          </p:nvSpPr>
          <p:spPr>
            <a:xfrm>
              <a:off x="8191500" y="1285875"/>
              <a:ext cx="3505200" cy="1809750"/>
            </a:xfrm>
            <a:prstGeom prst="roundRect">
              <a:avLst>
                <a:gd name="adj" fmla="val 2105"/>
              </a:avLst>
            </a:prstGeom>
            <a:solidFill>
              <a:srgbClr val="F0F9FC"/>
            </a:solidFill>
            <a:ln w="11430">
              <a:solidFill>
                <a:srgbClr val="B8C7D6"/>
              </a:solidFill>
            </a:ln>
          </p:spPr>
        </p:sp>
        <p:sp>
          <p:nvSpPr>
            <p:cNvPr id="42" name="Rectangle 42"/>
            <p:cNvSpPr/>
            <p:nvPr/>
          </p:nvSpPr>
          <p:spPr>
            <a:xfrm>
              <a:off x="8191500" y="1285875"/>
              <a:ext cx="3505200" cy="66675"/>
            </a:xfrm>
            <a:prstGeom prst="roundRect">
              <a:avLst>
                <a:gd name="adj" fmla="val 50000"/>
              </a:avLst>
            </a:prstGeom>
            <a:solidFill>
              <a:srgbClr val="06B6D4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8458200" y="1619250"/>
              <a:ext cx="2971800" cy="7143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3150" b="1" dirty="0">
                  <a:solidFill>
                    <a:srgbClr val="0E7490"/>
                  </a:solidFill>
                  <a:latin typeface="Arial"/>
                  <a:ea typeface="Microsoft YaHei"/>
                  <a:cs typeface="Arial"/>
                </a:rPr>
                <a:t>观测化</a:t>
              </a:r>
            </a:p>
          </p:txBody>
        </p:sp>
        <p:sp>
          <p:nvSpPr>
            <p:cNvPr id="44" name="Line 44"/>
            <p:cNvSpPr/>
            <p:nvPr/>
          </p:nvSpPr>
          <p:spPr>
            <a:xfrm>
              <a:off x="8686800" y="2476500"/>
              <a:ext cx="2514600" cy="9525"/>
            </a:xfrm>
            <a:custGeom>
              <a:avLst/>
              <a:gdLst/>
              <a:ahLst/>
              <a:cxnLst/>
              <a:rect l="l" t="t" r="r" b="b"/>
              <a:pathLst>
                <a:path w="2514600" h="9525">
                  <a:moveTo>
                    <a:pt x="0" y="0"/>
                  </a:moveTo>
                  <a:lnTo>
                    <a:pt x="2514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8458200" y="2562225"/>
              <a:ext cx="29718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Trace/Baseline 先行</a:t>
              </a:r>
            </a:p>
          </p:txBody>
        </p:sp>
      </p:grp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E7490"/>
          </a:solidFill>
          <a:ln>
            <a:noFill/>
          </a:ln>
        </p:spPr>
      </p:sp>
      <p:sp>
        <p:nvSpPr>
          <p:cNvPr id="3" name="Freeform 3"/>
          <p:cNvSpPr/>
          <p:nvPr/>
        </p:nvSpPr>
        <p:spPr>
          <a:xfrm>
            <a:off x="5715000" y="0"/>
            <a:ext cx="6477000" cy="6858000"/>
          </a:xfrm>
          <a:custGeom>
            <a:avLst/>
            <a:gdLst/>
            <a:ahLst/>
            <a:cxnLst/>
            <a:rect l="l" t="t" r="r" b="b"/>
            <a:pathLst>
              <a:path w="6477000" h="6858000">
                <a:moveTo>
                  <a:pt x="1905000" y="0"/>
                </a:moveTo>
                <a:lnTo>
                  <a:pt x="6477000" y="0"/>
                </a:lnTo>
                <a:lnTo>
                  <a:pt x="6477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06B6D4">
              <a:alpha val="20000"/>
            </a:srgbClr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2286000"/>
            <a:ext cx="114300" cy="228600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476250" y="2095500"/>
            <a:ext cx="2952750" cy="3143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8750" b="1" dirty="0">
                <a:solidFill>
                  <a:srgbClr val="FFFFFF">
                    <a:alphaMod val="10000"/>
                  </a:srgbClr>
                </a:solidFill>
                <a:latin typeface="Arial"/>
                <a:ea typeface="Microsoft YaHei"/>
                <a:cs typeface="Arial"/>
              </a:rPr>
              <a:t>24</a:t>
            </a:r>
          </a:p>
        </p:txBody>
      </p:sp>
      <p:sp>
        <p:nvSpPr>
          <p:cNvPr id="6" name="Line 6"/>
          <p:cNvSpPr/>
          <p:nvPr/>
        </p:nvSpPr>
        <p:spPr>
          <a:xfrm>
            <a:off x="3619500" y="2505075"/>
            <a:ext cx="1143000" cy="9525"/>
          </a:xfrm>
          <a:custGeom>
            <a:avLst/>
            <a:gdLst/>
            <a:ahLst/>
            <a:cxnLst/>
            <a:rect l="l" t="t" r="r" b="b"/>
            <a:pathLst>
              <a:path w="1143000" h="9525">
                <a:moveTo>
                  <a:pt x="0" y="0"/>
                </a:moveTo>
                <a:lnTo>
                  <a:pt x="1143000" y="0"/>
                </a:lnTo>
              </a:path>
            </a:pathLst>
          </a:custGeom>
          <a:noFill/>
          <a:ln w="57150">
            <a:solidFill>
              <a:srgbClr val="CC0000"/>
            </a:solidFill>
          </a:ln>
        </p:spPr>
      </p:sp>
      <p:sp>
        <p:nvSpPr>
          <p:cNvPr id="7" name="TextBox 7"/>
          <p:cNvSpPr txBox="1"/>
          <p:nvPr/>
        </p:nvSpPr>
        <p:spPr>
          <a:xfrm>
            <a:off x="3619500" y="2667000"/>
            <a:ext cx="7429500" cy="876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42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概念详解：副作用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619500" y="3648075"/>
            <a:ext cx="7620000" cy="419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800" dirty="0">
                <a:solidFill>
                  <a:srgbClr val="E8F4FC"/>
                </a:solidFill>
                <a:latin typeface="Arial"/>
                <a:ea typeface="Microsoft YaHei"/>
                <a:cs typeface="Arial"/>
              </a:rPr>
              <a:t>「副作用」的本质是幂等（幂等键）。理解它的关键是分清模型能做的与系统必须兜底的。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6762750" y="6286500"/>
            <a:ext cx="4095750" cy="285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r"/>
            <a:r>
              <a:rPr lang="zh-CN" sz="1200" dirty="0">
                <a:solidFill>
                  <a:srgbClr val="FFFFFF">
                    <a:alphaMod val="55000"/>
                  </a:srgbClr>
                </a:solidFill>
                <a:latin typeface="Arial"/>
                <a:ea typeface="Microsoft YaHei"/>
                <a:cs typeface="Arial"/>
              </a:rPr>
              <a:t>用 Durable Workflow 收口自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0E7490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25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定义与内涵：副作用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06B6D4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把副作用讲透：是什么、不是什么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课程第18讲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Agent Runtime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25</a:t>
            </a:r>
          </a:p>
        </p:txBody>
      </p:sp>
      <p:grpSp>
        <p:nvGrpSpPr>
          <p:cNvPr id="21" name="EasySlides Component: evidence_01"/>
          <p:cNvGrpSpPr/>
          <p:nvPr/>
        </p:nvGrpSpPr>
        <p:grpSpPr>
          <a:xfrm>
            <a:off x="495300" y="2095500"/>
            <a:ext cx="11201400" cy="1285875"/>
            <a:chOff x="495300" y="2095500"/>
            <a:chExt cx="11201400" cy="1285875"/>
          </a:xfrm>
        </p:grpSpPr>
        <p:sp>
          <p:nvSpPr>
            <p:cNvPr id="15" name="Rectangle 15"/>
            <p:cNvSpPr/>
            <p:nvPr/>
          </p:nvSpPr>
          <p:spPr>
            <a:xfrm>
              <a:off x="495300" y="2095500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95300" y="2095500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06B6D4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33425" y="2543175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06B6D4"/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447800" y="2324100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0E7490"/>
                  </a:solidFill>
                  <a:latin typeface="Arial"/>
                  <a:ea typeface="Microsoft YaHei"/>
                  <a:cs typeface="Arial"/>
                </a:rPr>
                <a:t>定义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4362450" y="2324100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4686300" y="2324100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「副作用」的本质是幂等（幂等键）。理解它的关键是分清模型能做的与系统必须兜底的。</a:t>
              </a:r>
            </a:p>
          </p:txBody>
        </p:sp>
      </p:grpSp>
      <p:grpSp>
        <p:nvGrpSpPr>
          <p:cNvPr id="28" name="EasySlides Component: evidence_02"/>
          <p:cNvGrpSpPr/>
          <p:nvPr/>
        </p:nvGrpSpPr>
        <p:grpSpPr>
          <a:xfrm>
            <a:off x="495300" y="3571875"/>
            <a:ext cx="11201400" cy="1285875"/>
            <a:chOff x="495300" y="3571875"/>
            <a:chExt cx="11201400" cy="1285875"/>
          </a:xfrm>
        </p:grpSpPr>
        <p:sp>
          <p:nvSpPr>
            <p:cNvPr id="22" name="Rectangle 22"/>
            <p:cNvSpPr/>
            <p:nvPr/>
          </p:nvSpPr>
          <p:spPr>
            <a:xfrm>
              <a:off x="495300" y="3571875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495300" y="3571875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06B6D4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33425" y="4019550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06B6D4"/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447800" y="3800475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0E7490"/>
                  </a:solidFill>
                  <a:latin typeface="Arial"/>
                  <a:ea typeface="Microsoft YaHei"/>
                  <a:cs typeface="Arial"/>
                </a:rPr>
                <a:t>方法</a:t>
              </a:r>
            </a:p>
          </p:txBody>
        </p:sp>
        <p:sp>
          <p:nvSpPr>
            <p:cNvPr id="26" name="Line 26"/>
            <p:cNvSpPr/>
            <p:nvPr/>
          </p:nvSpPr>
          <p:spPr>
            <a:xfrm>
              <a:off x="4362450" y="3800475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4686300" y="3800475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方法维度：幂等（幂等键）</a:t>
              </a:r>
            </a:p>
          </p:txBody>
        </p:sp>
      </p:grpSp>
      <p:grpSp>
        <p:nvGrpSpPr>
          <p:cNvPr id="35" name="EasySlides Component: evidence_03"/>
          <p:cNvGrpSpPr/>
          <p:nvPr/>
        </p:nvGrpSpPr>
        <p:grpSpPr>
          <a:xfrm>
            <a:off x="495300" y="4905375"/>
            <a:ext cx="11201400" cy="1285875"/>
            <a:chOff x="495300" y="4905375"/>
            <a:chExt cx="11201400" cy="1285875"/>
          </a:xfrm>
        </p:grpSpPr>
        <p:sp>
          <p:nvSpPr>
            <p:cNvPr id="29" name="Rectangle 29"/>
            <p:cNvSpPr/>
            <p:nvPr/>
          </p:nvSpPr>
          <p:spPr>
            <a:xfrm>
              <a:off x="495300" y="4905375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495300" y="4905375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06B6D4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33425" y="5353050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06B6D4"/>
                  </a:solidFill>
                  <a:latin typeface="Arial"/>
                  <a:ea typeface="Microsoft YaHei"/>
                  <a:cs typeface="Arial"/>
                </a:rPr>
                <a:t>03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447800" y="5133975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0E7490"/>
                  </a:solidFill>
                  <a:latin typeface="Arial"/>
                  <a:ea typeface="Microsoft YaHei"/>
                  <a:cs typeface="Arial"/>
                </a:rPr>
                <a:t>要点</a:t>
              </a:r>
            </a:p>
          </p:txBody>
        </p:sp>
        <p:sp>
          <p:nvSpPr>
            <p:cNvPr id="33" name="Line 33"/>
            <p:cNvSpPr/>
            <p:nvPr/>
          </p:nvSpPr>
          <p:spPr>
            <a:xfrm>
              <a:off x="4362450" y="5133975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4686300" y="5133975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要点维度：幂等（幂等键）</a:t>
              </a:r>
            </a:p>
          </p:txBody>
        </p:sp>
      </p:grpSp>
      <p:grpSp>
        <p:nvGrpSpPr>
          <p:cNvPr id="39" name="EasySlides Component: synthesis"/>
          <p:cNvGrpSpPr/>
          <p:nvPr/>
        </p:nvGrpSpPr>
        <p:grpSpPr>
          <a:xfrm>
            <a:off x="495300" y="1285875"/>
            <a:ext cx="11201400" cy="714375"/>
            <a:chOff x="495300" y="1285875"/>
            <a:chExt cx="11201400" cy="714375"/>
          </a:xfrm>
        </p:grpSpPr>
        <p:sp>
          <p:nvSpPr>
            <p:cNvPr id="36" name="Rectangle 36"/>
            <p:cNvSpPr/>
            <p:nvPr/>
          </p:nvSpPr>
          <p:spPr>
            <a:xfrm>
              <a:off x="495300" y="1285875"/>
              <a:ext cx="11201400" cy="714375"/>
            </a:xfrm>
            <a:prstGeom prst="roundRect">
              <a:avLst>
                <a:gd name="adj" fmla="val 5333"/>
              </a:avLst>
            </a:prstGeom>
            <a:solidFill>
              <a:srgbClr val="0E7490"/>
            </a:solidFill>
            <a:ln>
              <a:noFill/>
            </a:ln>
          </p:spPr>
        </p:sp>
        <p:sp>
          <p:nvSpPr>
            <p:cNvPr id="37" name="Rectangle 37"/>
            <p:cNvSpPr/>
            <p:nvPr/>
          </p:nvSpPr>
          <p:spPr>
            <a:xfrm>
              <a:off x="495300" y="1285875"/>
              <a:ext cx="76200" cy="714375"/>
            </a:xfrm>
            <a:prstGeom prst="roundRect">
              <a:avLst>
                <a:gd name="adj" fmla="val 50000"/>
              </a:avLst>
            </a:prstGeom>
            <a:solidFill>
              <a:srgbClr val="CC0000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876300" y="1419225"/>
              <a:ext cx="10439400" cy="4476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自主与流程的混合编排：Harness 负责探索，Workflow 负责收口。</a:t>
              </a:r>
            </a:p>
          </p:txBody>
        </p:sp>
      </p:grp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0E7490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26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机制图解：副作用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06B6D4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一图看懂运行机制与数据流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课程第18讲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Agent Runtime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26</a:t>
            </a:r>
          </a:p>
        </p:txBody>
      </p:sp>
      <p:grpSp>
        <p:nvGrpSpPr>
          <p:cNvPr id="26" name="EasySlides Component: evidence"/>
          <p:cNvGrpSpPr/>
          <p:nvPr/>
        </p:nvGrpSpPr>
        <p:grpSpPr>
          <a:xfrm>
            <a:off x="7124700" y="1285875"/>
            <a:ext cx="4572000" cy="4905375"/>
            <a:chOff x="7124700" y="1285875"/>
            <a:chExt cx="4572000" cy="4905375"/>
          </a:xfrm>
        </p:grpSpPr>
        <p:sp>
          <p:nvSpPr>
            <p:cNvPr id="15" name="Rectangle 15"/>
            <p:cNvSpPr/>
            <p:nvPr/>
          </p:nvSpPr>
          <p:spPr>
            <a:xfrm>
              <a:off x="7124700" y="1285875"/>
              <a:ext cx="4572000" cy="4905375"/>
            </a:xfrm>
            <a:prstGeom prst="roundRect">
              <a:avLst>
                <a:gd name="adj" fmla="val 833"/>
              </a:avLst>
            </a:prstGeom>
            <a:solidFill>
              <a:srgbClr val="F0F9FC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7124700" y="1285875"/>
              <a:ext cx="76200" cy="4905375"/>
            </a:xfrm>
            <a:prstGeom prst="rect">
              <a:avLst/>
            </a:prstGeom>
            <a:solidFill>
              <a:srgbClr val="06B6D4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7391400" y="1552575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7391400" y="3105150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7391400" y="4657725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605712" y="1745456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06B6D4"/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605712" y="3298031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06B6D4"/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605712" y="4850606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CC0000"/>
                  </a:solidFill>
                  <a:latin typeface="Arial"/>
                  <a:ea typeface="Microsoft YaHei"/>
                  <a:cs typeface="Arial"/>
                </a:rPr>
                <a:t>03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848600" y="1819275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「副作用」的机制核心是解耦：策略与执行分离、状态与过程分离、权限与相关性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848600" y="3371850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关键环节：契约→执行→验证→留痕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848600" y="4924425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落点：仓库验证</a:t>
              </a:r>
            </a:p>
          </p:txBody>
        </p:sp>
      </p:grpSp>
      <p:grpSp>
        <p:nvGrpSpPr>
          <p:cNvPr id="32" name="EasySlides Component: figure"/>
          <p:cNvGrpSpPr/>
          <p:nvPr/>
        </p:nvGrpSpPr>
        <p:grpSpPr>
          <a:xfrm>
            <a:off x="495300" y="1285875"/>
            <a:ext cx="6400800" cy="4905375"/>
            <a:chOff x="495300" y="1285875"/>
            <a:chExt cx="6400800" cy="4905375"/>
          </a:xfrm>
        </p:grpSpPr>
        <p:sp>
          <p:nvSpPr>
            <p:cNvPr id="27" name="Rectangle 27"/>
            <p:cNvSpPr/>
            <p:nvPr/>
          </p:nvSpPr>
          <p:spPr>
            <a:xfrm>
              <a:off x="495300" y="1285875"/>
              <a:ext cx="6400800" cy="4905375"/>
            </a:xfrm>
            <a:prstGeom prst="roundRect">
              <a:avLst>
                <a:gd name="adj" fmla="val 777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647700" y="1438275"/>
              <a:ext cx="6096000" cy="3905250"/>
            </a:xfrm>
            <a:prstGeom prst="roundRect">
              <a:avLst>
                <a:gd name="adj" fmla="val 488"/>
              </a:avLst>
            </a:prstGeom>
            <a:solidFill>
              <a:srgbClr val="F0F9FC"/>
            </a:solidFill>
            <a:ln w="9525">
              <a:solidFill>
                <a:srgbClr val="D4E2EE"/>
              </a:solidFill>
            </a:ln>
          </p:spPr>
        </p:sp>
        <p:pic>
          <p:nvPicPr>
            <p:cNvPr id="29" name="Image 29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47700" y="1605643"/>
              <a:ext cx="6096000" cy="3570514"/>
            </a:xfrm>
            <a:prstGeom prst="rect">
              <a:avLst/>
            </a:prstGeom>
          </p:spPr>
        </p:pic>
        <p:sp>
          <p:nvSpPr>
            <p:cNvPr id="30" name="Line 30"/>
            <p:cNvSpPr/>
            <p:nvPr/>
          </p:nvSpPr>
          <p:spPr>
            <a:xfrm>
              <a:off x="723900" y="5534025"/>
              <a:ext cx="5943600" cy="9525"/>
            </a:xfrm>
            <a:custGeom>
              <a:avLst/>
              <a:gdLst/>
              <a:ahLst/>
              <a:cxnLst/>
              <a:rect l="l" t="t" r="r" b="b"/>
              <a:pathLst>
                <a:path w="5943600" h="9525">
                  <a:moveTo>
                    <a:pt x="0" y="0"/>
                  </a:moveTo>
                  <a:lnTo>
                    <a:pt x="5943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800100" y="5610225"/>
              <a:ext cx="57912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图：副作用 的机制与数据流（layers 视角）</a:t>
              </a:r>
            </a:p>
          </p:txBody>
        </p:sp>
      </p:grp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0E7490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27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深入原理：副作用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06B6D4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正确姿势 vs 常见误用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课程第18讲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Agent Runtime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27</a:t>
            </a:r>
          </a:p>
        </p:txBody>
      </p:sp>
      <p:grpSp>
        <p:nvGrpSpPr>
          <p:cNvPr id="22" name="EasySlides Component: left"/>
          <p:cNvGrpSpPr/>
          <p:nvPr/>
        </p:nvGrpSpPr>
        <p:grpSpPr>
          <a:xfrm>
            <a:off x="495300" y="1285875"/>
            <a:ext cx="5410200" cy="4000500"/>
            <a:chOff x="495300" y="1285875"/>
            <a:chExt cx="5410200" cy="4000500"/>
          </a:xfrm>
        </p:grpSpPr>
        <p:sp>
          <p:nvSpPr>
            <p:cNvPr id="15" name="Rectangle 15"/>
            <p:cNvSpPr/>
            <p:nvPr/>
          </p:nvSpPr>
          <p:spPr>
            <a:xfrm>
              <a:off x="495300" y="1285875"/>
              <a:ext cx="5410200" cy="4000500"/>
            </a:xfrm>
            <a:prstGeom prst="roundRect">
              <a:avLst>
                <a:gd name="adj" fmla="val 952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95300" y="1285875"/>
              <a:ext cx="5410200" cy="609600"/>
            </a:xfrm>
            <a:prstGeom prst="roundRect">
              <a:avLst>
                <a:gd name="adj" fmla="val 6250"/>
              </a:avLst>
            </a:prstGeom>
            <a:solidFill>
              <a:srgbClr val="E8F4FC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495300" y="1285875"/>
              <a:ext cx="57150" cy="609600"/>
            </a:xfrm>
            <a:prstGeom prst="rect">
              <a:avLst/>
            </a:prstGeom>
            <a:solidFill>
              <a:srgbClr val="06B6D4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800100" y="1419225"/>
              <a:ext cx="48006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725" b="1" dirty="0">
                  <a:solidFill>
                    <a:srgbClr val="0E7490"/>
                  </a:solidFill>
                  <a:latin typeface="Arial"/>
                  <a:ea typeface="Microsoft YaHei"/>
                  <a:cs typeface="Arial"/>
                </a:rPr>
                <a:t>正确姿势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800100" y="2276475"/>
              <a:ext cx="4800600" cy="9525"/>
            </a:xfrm>
            <a:custGeom>
              <a:avLst/>
              <a:gdLst/>
              <a:ahLst/>
              <a:cxnLst/>
              <a:rect l="l" t="t" r="r" b="b"/>
              <a:pathLst>
                <a:path w="4800600" h="9525">
                  <a:moveTo>
                    <a:pt x="0" y="0"/>
                  </a:moveTo>
                  <a:lnTo>
                    <a:pt x="4800600" y="0"/>
                  </a:lnTo>
                </a:path>
              </a:pathLst>
            </a:custGeom>
            <a:noFill/>
            <a:ln w="19050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1028700" y="2505075"/>
              <a:ext cx="4343400" cy="20955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65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正确姿势：为「副作用」设置显式预算与停止条件，宁可慢一点，不可失控。</a:t>
              </a:r>
            </a:p>
            <a:p>
              <a:pPr algn="l"/>
              <a:r>
                <a:rPr lang="zh-CN" sz="165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契约先行，证据留痕</a:t>
              </a:r>
            </a:p>
          </p:txBody>
        </p:sp>
        <p:sp>
          <p:nvSpPr>
            <p:cNvPr id="21" name="Line 21"/>
            <p:cNvSpPr/>
            <p:nvPr/>
          </p:nvSpPr>
          <p:spPr>
            <a:xfrm>
              <a:off x="800100" y="4905375"/>
              <a:ext cx="4800600" cy="9525"/>
            </a:xfrm>
            <a:custGeom>
              <a:avLst/>
              <a:gdLst/>
              <a:ahLst/>
              <a:cxnLst/>
              <a:rect l="l" t="t" r="r" b="b"/>
              <a:pathLst>
                <a:path w="4800600" h="9525">
                  <a:moveTo>
                    <a:pt x="0" y="0"/>
                  </a:moveTo>
                  <a:lnTo>
                    <a:pt x="4800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</p:grpSp>
      <p:grpSp>
        <p:nvGrpSpPr>
          <p:cNvPr id="30" name="EasySlides Component: right"/>
          <p:cNvGrpSpPr/>
          <p:nvPr/>
        </p:nvGrpSpPr>
        <p:grpSpPr>
          <a:xfrm>
            <a:off x="6286500" y="1285875"/>
            <a:ext cx="5410200" cy="4000500"/>
            <a:chOff x="6286500" y="1285875"/>
            <a:chExt cx="5410200" cy="4000500"/>
          </a:xfrm>
        </p:grpSpPr>
        <p:sp>
          <p:nvSpPr>
            <p:cNvPr id="23" name="Rectangle 23"/>
            <p:cNvSpPr/>
            <p:nvPr/>
          </p:nvSpPr>
          <p:spPr>
            <a:xfrm>
              <a:off x="6286500" y="1285875"/>
              <a:ext cx="5410200" cy="4000500"/>
            </a:xfrm>
            <a:prstGeom prst="roundRect">
              <a:avLst>
                <a:gd name="adj" fmla="val 952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6286500" y="1285875"/>
              <a:ext cx="5410200" cy="609600"/>
            </a:xfrm>
            <a:prstGeom prst="roundRect">
              <a:avLst>
                <a:gd name="adj" fmla="val 6250"/>
              </a:avLst>
            </a:prstGeom>
            <a:solidFill>
              <a:srgbClr val="E8F4FC"/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6286500" y="1285875"/>
              <a:ext cx="57150" cy="609600"/>
            </a:xfrm>
            <a:prstGeom prst="rect">
              <a:avLst/>
            </a:prstGeom>
            <a:solidFill>
              <a:srgbClr val="06B6D4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591300" y="1419225"/>
              <a:ext cx="48006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725" b="1" dirty="0">
                  <a:solidFill>
                    <a:srgbClr val="0E7490"/>
                  </a:solidFill>
                  <a:latin typeface="Arial"/>
                  <a:ea typeface="Microsoft YaHei"/>
                  <a:cs typeface="Arial"/>
                </a:rPr>
                <a:t>常见误用</a:t>
              </a:r>
            </a:p>
          </p:txBody>
        </p:sp>
        <p:sp>
          <p:nvSpPr>
            <p:cNvPr id="27" name="Line 27"/>
            <p:cNvSpPr/>
            <p:nvPr/>
          </p:nvSpPr>
          <p:spPr>
            <a:xfrm>
              <a:off x="6591300" y="2276475"/>
              <a:ext cx="4800600" cy="9525"/>
            </a:xfrm>
            <a:custGeom>
              <a:avLst/>
              <a:gdLst/>
              <a:ahLst/>
              <a:cxnLst/>
              <a:rect l="l" t="t" r="r" b="b"/>
              <a:pathLst>
                <a:path w="4800600" h="9525">
                  <a:moveTo>
                    <a:pt x="0" y="0"/>
                  </a:moveTo>
                  <a:lnTo>
                    <a:pt x="4800600" y="0"/>
                  </a:lnTo>
                </a:path>
              </a:pathLst>
            </a:custGeom>
            <a:noFill/>
            <a:ln w="19050">
              <a:solidFill>
                <a:srgbClr val="D4E2EE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819900" y="2505075"/>
              <a:ext cx="4343400" cy="20955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65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常见误用：只在 Demo 里验证「副作用」的正常路径，故障注入一跑就现出原形。</a:t>
              </a:r>
            </a:p>
            <a:p>
              <a:pPr algn="l"/>
              <a:r>
                <a:rPr lang="zh-CN" sz="165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无版本/无度量/无回滚</a:t>
              </a:r>
            </a:p>
          </p:txBody>
        </p:sp>
        <p:sp>
          <p:nvSpPr>
            <p:cNvPr id="29" name="Line 29"/>
            <p:cNvSpPr/>
            <p:nvPr/>
          </p:nvSpPr>
          <p:spPr>
            <a:xfrm>
              <a:off x="6591300" y="4905375"/>
              <a:ext cx="4800600" cy="9525"/>
            </a:xfrm>
            <a:custGeom>
              <a:avLst/>
              <a:gdLst/>
              <a:ahLst/>
              <a:cxnLst/>
              <a:rect l="l" t="t" r="r" b="b"/>
              <a:pathLst>
                <a:path w="4800600" h="9525">
                  <a:moveTo>
                    <a:pt x="0" y="0"/>
                  </a:moveTo>
                  <a:lnTo>
                    <a:pt x="4800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</p:grpSp>
      <p:grpSp>
        <p:nvGrpSpPr>
          <p:cNvPr id="34" name="EasySlides Component: synthesis"/>
          <p:cNvGrpSpPr/>
          <p:nvPr/>
        </p:nvGrpSpPr>
        <p:grpSpPr>
          <a:xfrm>
            <a:off x="495300" y="5476875"/>
            <a:ext cx="11201400" cy="714375"/>
            <a:chOff x="495300" y="5476875"/>
            <a:chExt cx="11201400" cy="714375"/>
          </a:xfrm>
        </p:grpSpPr>
        <p:sp>
          <p:nvSpPr>
            <p:cNvPr id="31" name="Rectangle 31"/>
            <p:cNvSpPr/>
            <p:nvPr/>
          </p:nvSpPr>
          <p:spPr>
            <a:xfrm>
              <a:off x="495300" y="5476875"/>
              <a:ext cx="11201400" cy="714375"/>
            </a:xfrm>
            <a:prstGeom prst="roundRect">
              <a:avLst>
                <a:gd name="adj" fmla="val 5333"/>
              </a:avLst>
            </a:prstGeom>
            <a:solidFill>
              <a:srgbClr val="0E7490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495300" y="5476875"/>
              <a:ext cx="76200" cy="714375"/>
            </a:xfrm>
            <a:prstGeom prst="roundRect">
              <a:avLst>
                <a:gd name="adj" fmla="val 50000"/>
              </a:avLst>
            </a:prstGeom>
            <a:solidFill>
              <a:srgbClr val="CC0000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876300" y="5610225"/>
              <a:ext cx="10439400" cy="4476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治理视角：控制权矩阵与自主性预算划定行动边界。</a:t>
              </a:r>
            </a:p>
          </p:txBody>
        </p:sp>
      </p:grp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0E7490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28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代码契约：副作用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06B6D4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仓库真实代码 · 契约切面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课程第18讲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Agent Runtime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28</a:t>
            </a:r>
          </a:p>
        </p:txBody>
      </p:sp>
      <p:grpSp>
        <p:nvGrpSpPr>
          <p:cNvPr id="26" name="EasySlides Component: evidence"/>
          <p:cNvGrpSpPr/>
          <p:nvPr/>
        </p:nvGrpSpPr>
        <p:grpSpPr>
          <a:xfrm>
            <a:off x="7124700" y="1285875"/>
            <a:ext cx="4572000" cy="4905375"/>
            <a:chOff x="7124700" y="1285875"/>
            <a:chExt cx="4572000" cy="4905375"/>
          </a:xfrm>
        </p:grpSpPr>
        <p:sp>
          <p:nvSpPr>
            <p:cNvPr id="15" name="Rectangle 15"/>
            <p:cNvSpPr/>
            <p:nvPr/>
          </p:nvSpPr>
          <p:spPr>
            <a:xfrm>
              <a:off x="7124700" y="1285875"/>
              <a:ext cx="4572000" cy="4905375"/>
            </a:xfrm>
            <a:prstGeom prst="roundRect">
              <a:avLst>
                <a:gd name="adj" fmla="val 833"/>
              </a:avLst>
            </a:prstGeom>
            <a:solidFill>
              <a:srgbClr val="F0F9FC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7124700" y="1285875"/>
              <a:ext cx="76200" cy="4905375"/>
            </a:xfrm>
            <a:prstGeom prst="rect">
              <a:avLst/>
            </a:prstGeom>
            <a:solidFill>
              <a:srgbClr val="06B6D4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7391400" y="1552575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7391400" y="3105150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7391400" y="4657725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605712" y="1745456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06B6D4"/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605712" y="3298031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06B6D4"/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605712" y="4850606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CC0000"/>
                  </a:solidFill>
                  <a:latin typeface="Arial"/>
                  <a:ea typeface="Microsoft YaHei"/>
                  <a:cs typeface="Arial"/>
                </a:rPr>
                <a:t>03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848600" y="1819275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文件：workflow.py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848600" y="3371850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切面：契约——先读接口再读实现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848600" y="4924425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测试见 tests/ 目录</a:t>
              </a:r>
            </a:p>
          </p:txBody>
        </p:sp>
      </p:grpSp>
      <p:grpSp>
        <p:nvGrpSpPr>
          <p:cNvPr id="32" name="EasySlides Component: figure"/>
          <p:cNvGrpSpPr/>
          <p:nvPr/>
        </p:nvGrpSpPr>
        <p:grpSpPr>
          <a:xfrm>
            <a:off x="495300" y="1285875"/>
            <a:ext cx="6400800" cy="4905375"/>
            <a:chOff x="495300" y="1285875"/>
            <a:chExt cx="6400800" cy="4905375"/>
          </a:xfrm>
        </p:grpSpPr>
        <p:sp>
          <p:nvSpPr>
            <p:cNvPr id="27" name="Rectangle 27"/>
            <p:cNvSpPr/>
            <p:nvPr/>
          </p:nvSpPr>
          <p:spPr>
            <a:xfrm>
              <a:off x="495300" y="1285875"/>
              <a:ext cx="6400800" cy="4905375"/>
            </a:xfrm>
            <a:prstGeom prst="roundRect">
              <a:avLst>
                <a:gd name="adj" fmla="val 777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647700" y="1438275"/>
              <a:ext cx="6096000" cy="3905250"/>
            </a:xfrm>
            <a:prstGeom prst="roundRect">
              <a:avLst>
                <a:gd name="adj" fmla="val 488"/>
              </a:avLst>
            </a:prstGeom>
            <a:solidFill>
              <a:srgbClr val="F0F9FC"/>
            </a:solidFill>
            <a:ln w="9525">
              <a:solidFill>
                <a:srgbClr val="D4E2EE"/>
              </a:solidFill>
            </a:ln>
          </p:spPr>
        </p:sp>
        <p:pic>
          <p:nvPicPr>
            <p:cNvPr id="29" name="Image 29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47700" y="1605643"/>
              <a:ext cx="6096000" cy="3570514"/>
            </a:xfrm>
            <a:prstGeom prst="rect">
              <a:avLst/>
            </a:prstGeom>
          </p:spPr>
        </p:pic>
        <p:sp>
          <p:nvSpPr>
            <p:cNvPr id="30" name="Line 30"/>
            <p:cNvSpPr/>
            <p:nvPr/>
          </p:nvSpPr>
          <p:spPr>
            <a:xfrm>
              <a:off x="723900" y="5534025"/>
              <a:ext cx="5943600" cy="9525"/>
            </a:xfrm>
            <a:custGeom>
              <a:avLst/>
              <a:gdLst/>
              <a:ahLst/>
              <a:cxnLst/>
              <a:rect l="l" t="t" r="r" b="b"/>
              <a:pathLst>
                <a:path w="5943600" h="9525">
                  <a:moveTo>
                    <a:pt x="0" y="0"/>
                  </a:moveTo>
                  <a:lnTo>
                    <a:pt x="5943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800100" y="5610225"/>
              <a:ext cx="57912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代码：workflow.py · 契约（概念3 副作用）</a:t>
              </a:r>
            </a:p>
          </p:txBody>
        </p:sp>
      </p:grp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0E7490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29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代码实现：副作用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06B6D4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仓库真实代码 · 实现切面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课程第18讲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Agent Runtime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29</a:t>
            </a:r>
          </a:p>
        </p:txBody>
      </p:sp>
      <p:grpSp>
        <p:nvGrpSpPr>
          <p:cNvPr id="26" name="EasySlides Component: evidence"/>
          <p:cNvGrpSpPr/>
          <p:nvPr/>
        </p:nvGrpSpPr>
        <p:grpSpPr>
          <a:xfrm>
            <a:off x="7124700" y="1285875"/>
            <a:ext cx="4572000" cy="4905375"/>
            <a:chOff x="7124700" y="1285875"/>
            <a:chExt cx="4572000" cy="4905375"/>
          </a:xfrm>
        </p:grpSpPr>
        <p:sp>
          <p:nvSpPr>
            <p:cNvPr id="15" name="Rectangle 15"/>
            <p:cNvSpPr/>
            <p:nvPr/>
          </p:nvSpPr>
          <p:spPr>
            <a:xfrm>
              <a:off x="7124700" y="1285875"/>
              <a:ext cx="4572000" cy="4905375"/>
            </a:xfrm>
            <a:prstGeom prst="roundRect">
              <a:avLst>
                <a:gd name="adj" fmla="val 833"/>
              </a:avLst>
            </a:prstGeom>
            <a:solidFill>
              <a:srgbClr val="F0F9FC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7124700" y="1285875"/>
              <a:ext cx="76200" cy="4905375"/>
            </a:xfrm>
            <a:prstGeom prst="rect">
              <a:avLst/>
            </a:prstGeom>
            <a:solidFill>
              <a:srgbClr val="06B6D4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7391400" y="1552575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7391400" y="3105150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7391400" y="4657725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605712" y="1745456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06B6D4"/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605712" y="3298031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06B6D4"/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605712" y="4850606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CC0000"/>
                  </a:solidFill>
                  <a:latin typeface="Arial"/>
                  <a:ea typeface="Microsoft YaHei"/>
                  <a:cs typeface="Arial"/>
                </a:rPr>
                <a:t>03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848600" y="1819275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文件：workflow.py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848600" y="3371850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切面：实现——先读接口再读实现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848600" y="4924425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测试见 tests/ 目录</a:t>
              </a:r>
            </a:p>
          </p:txBody>
        </p:sp>
      </p:grpSp>
      <p:grpSp>
        <p:nvGrpSpPr>
          <p:cNvPr id="32" name="EasySlides Component: figure"/>
          <p:cNvGrpSpPr/>
          <p:nvPr/>
        </p:nvGrpSpPr>
        <p:grpSpPr>
          <a:xfrm>
            <a:off x="495300" y="1285875"/>
            <a:ext cx="6400800" cy="4905375"/>
            <a:chOff x="495300" y="1285875"/>
            <a:chExt cx="6400800" cy="4905375"/>
          </a:xfrm>
        </p:grpSpPr>
        <p:sp>
          <p:nvSpPr>
            <p:cNvPr id="27" name="Rectangle 27"/>
            <p:cNvSpPr/>
            <p:nvPr/>
          </p:nvSpPr>
          <p:spPr>
            <a:xfrm>
              <a:off x="495300" y="1285875"/>
              <a:ext cx="6400800" cy="4905375"/>
            </a:xfrm>
            <a:prstGeom prst="roundRect">
              <a:avLst>
                <a:gd name="adj" fmla="val 777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647700" y="1438275"/>
              <a:ext cx="6096000" cy="3905250"/>
            </a:xfrm>
            <a:prstGeom prst="roundRect">
              <a:avLst>
                <a:gd name="adj" fmla="val 488"/>
              </a:avLst>
            </a:prstGeom>
            <a:solidFill>
              <a:srgbClr val="F0F9FC"/>
            </a:solidFill>
            <a:ln w="9525">
              <a:solidFill>
                <a:srgbClr val="D4E2EE"/>
              </a:solidFill>
            </a:ln>
          </p:spPr>
        </p:sp>
        <p:pic>
          <p:nvPicPr>
            <p:cNvPr id="29" name="Image 29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47700" y="1605643"/>
              <a:ext cx="6096000" cy="3570514"/>
            </a:xfrm>
            <a:prstGeom prst="rect">
              <a:avLst/>
            </a:prstGeom>
          </p:spPr>
        </p:pic>
        <p:sp>
          <p:nvSpPr>
            <p:cNvPr id="30" name="Line 30"/>
            <p:cNvSpPr/>
            <p:nvPr/>
          </p:nvSpPr>
          <p:spPr>
            <a:xfrm>
              <a:off x="723900" y="5534025"/>
              <a:ext cx="5943600" cy="9525"/>
            </a:xfrm>
            <a:custGeom>
              <a:avLst/>
              <a:gdLst/>
              <a:ahLst/>
              <a:cxnLst/>
              <a:rect l="l" t="t" r="r" b="b"/>
              <a:pathLst>
                <a:path w="5943600" h="9525">
                  <a:moveTo>
                    <a:pt x="0" y="0"/>
                  </a:moveTo>
                  <a:lnTo>
                    <a:pt x="5943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800100" y="5610225"/>
              <a:ext cx="57912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代码：workflow.py · 实现（概念3 副作用）</a:t>
              </a:r>
            </a:p>
          </p:txBody>
        </p:sp>
      </p:grp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0E7490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30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应用实践：副作用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06B6D4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三步落地：闭环→灰度→放开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课程第18讲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Agent Runtime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30</a:t>
            </a:r>
          </a:p>
        </p:txBody>
      </p:sp>
      <p:grpSp>
        <p:nvGrpSpPr>
          <p:cNvPr id="22" name="EasySlides Component: step_01"/>
          <p:cNvGrpSpPr/>
          <p:nvPr/>
        </p:nvGrpSpPr>
        <p:grpSpPr>
          <a:xfrm>
            <a:off x="495300" y="1285875"/>
            <a:ext cx="3505200" cy="3476625"/>
            <a:chOff x="495300" y="1285875"/>
            <a:chExt cx="3505200" cy="3476625"/>
          </a:xfrm>
        </p:grpSpPr>
        <p:sp>
          <p:nvSpPr>
            <p:cNvPr id="15" name="Rectangle 15"/>
            <p:cNvSpPr/>
            <p:nvPr/>
          </p:nvSpPr>
          <p:spPr>
            <a:xfrm>
              <a:off x="495300" y="1285875"/>
              <a:ext cx="3505200" cy="3476625"/>
            </a:xfrm>
            <a:prstGeom prst="roundRect">
              <a:avLst>
                <a:gd name="adj" fmla="val 1096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Ellipse 16"/>
            <p:cNvSpPr/>
            <p:nvPr/>
          </p:nvSpPr>
          <p:spPr>
            <a:xfrm>
              <a:off x="695325" y="1495425"/>
              <a:ext cx="476250" cy="476250"/>
            </a:xfrm>
            <a:prstGeom prst="ellipse">
              <a:avLst/>
            </a:prstGeom>
            <a:solidFill>
              <a:srgbClr val="06B6D4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14375" y="1504950"/>
              <a:ext cx="43815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1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314450" y="1524000"/>
              <a:ext cx="2324100" cy="42862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650" b="1" dirty="0">
                  <a:solidFill>
                    <a:srgbClr val="0E7490"/>
                  </a:solidFill>
                  <a:latin typeface="Arial"/>
                  <a:ea typeface="Microsoft YaHei"/>
                  <a:cs typeface="Arial"/>
                </a:rPr>
                <a:t>最小闭环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800100" y="2181225"/>
              <a:ext cx="2895600" cy="9525"/>
            </a:xfrm>
            <a:custGeom>
              <a:avLst/>
              <a:gdLst/>
              <a:ahLst/>
              <a:cxnLst/>
              <a:rect l="l" t="t" r="r" b="b"/>
              <a:pathLst>
                <a:path w="2895600" h="9525">
                  <a:moveTo>
                    <a:pt x="0" y="0"/>
                  </a:moveTo>
                  <a:lnTo>
                    <a:pt x="2895600" y="0"/>
                  </a:lnTo>
                </a:path>
              </a:pathLst>
            </a:custGeom>
            <a:noFill/>
            <a:ln w="19050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952500" y="2476500"/>
              <a:ext cx="2590800" cy="1666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0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上线「副作用」前自检三问：失败会怎样？谁能审计？回滚要多久？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800100" y="4391025"/>
              <a:ext cx="762000" cy="66675"/>
            </a:xfrm>
            <a:prstGeom prst="rect">
              <a:avLst/>
            </a:prstGeom>
            <a:solidFill>
              <a:srgbClr val="CC0000"/>
            </a:solidFill>
            <a:ln>
              <a:noFill/>
            </a:ln>
          </p:spPr>
        </p:sp>
      </p:grpSp>
      <p:grpSp>
        <p:nvGrpSpPr>
          <p:cNvPr id="30" name="EasySlides Component: step_02"/>
          <p:cNvGrpSpPr/>
          <p:nvPr/>
        </p:nvGrpSpPr>
        <p:grpSpPr>
          <a:xfrm>
            <a:off x="4343400" y="1285875"/>
            <a:ext cx="3505200" cy="3476625"/>
            <a:chOff x="4343400" y="1285875"/>
            <a:chExt cx="3505200" cy="3476625"/>
          </a:xfrm>
        </p:grpSpPr>
        <p:sp>
          <p:nvSpPr>
            <p:cNvPr id="23" name="Rectangle 23"/>
            <p:cNvSpPr/>
            <p:nvPr/>
          </p:nvSpPr>
          <p:spPr>
            <a:xfrm>
              <a:off x="4343400" y="1285875"/>
              <a:ext cx="3505200" cy="3476625"/>
            </a:xfrm>
            <a:prstGeom prst="roundRect">
              <a:avLst>
                <a:gd name="adj" fmla="val 1096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4" name="Ellipse 24"/>
            <p:cNvSpPr/>
            <p:nvPr/>
          </p:nvSpPr>
          <p:spPr>
            <a:xfrm>
              <a:off x="4543425" y="1495425"/>
              <a:ext cx="476250" cy="476250"/>
            </a:xfrm>
            <a:prstGeom prst="ellipse">
              <a:avLst/>
            </a:prstGeom>
            <a:solidFill>
              <a:srgbClr val="06B6D4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4562475" y="1504950"/>
              <a:ext cx="43815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2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5162550" y="1524000"/>
              <a:ext cx="2324100" cy="42862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650" b="1" dirty="0">
                  <a:solidFill>
                    <a:srgbClr val="0E7490"/>
                  </a:solidFill>
                  <a:latin typeface="Arial"/>
                  <a:ea typeface="Microsoft YaHei"/>
                  <a:cs typeface="Arial"/>
                </a:rPr>
                <a:t>灰度验证</a:t>
              </a:r>
            </a:p>
          </p:txBody>
        </p:sp>
        <p:sp>
          <p:nvSpPr>
            <p:cNvPr id="27" name="Line 27"/>
            <p:cNvSpPr/>
            <p:nvPr/>
          </p:nvSpPr>
          <p:spPr>
            <a:xfrm>
              <a:off x="4648200" y="2181225"/>
              <a:ext cx="2895600" cy="9525"/>
            </a:xfrm>
            <a:custGeom>
              <a:avLst/>
              <a:gdLst/>
              <a:ahLst/>
              <a:cxnLst/>
              <a:rect l="l" t="t" r="r" b="b"/>
              <a:pathLst>
                <a:path w="2895600" h="9525">
                  <a:moveTo>
                    <a:pt x="0" y="0"/>
                  </a:moveTo>
                  <a:lnTo>
                    <a:pt x="2895600" y="0"/>
                  </a:lnTo>
                </a:path>
              </a:pathLst>
            </a:custGeom>
            <a:noFill/>
            <a:ln w="19050">
              <a:solidFill>
                <a:srgbClr val="D4E2EE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4800600" y="2476500"/>
              <a:ext cx="2590800" cy="1666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0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小流量对照基线，观察效果/成本/时延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4648200" y="4391025"/>
              <a:ext cx="762000" cy="66675"/>
            </a:xfrm>
            <a:prstGeom prst="rect">
              <a:avLst/>
            </a:prstGeom>
            <a:solidFill>
              <a:srgbClr val="CC0000"/>
            </a:solidFill>
            <a:ln>
              <a:noFill/>
            </a:ln>
          </p:spPr>
        </p:sp>
      </p:grpSp>
      <p:grpSp>
        <p:nvGrpSpPr>
          <p:cNvPr id="38" name="EasySlides Component: step_03"/>
          <p:cNvGrpSpPr/>
          <p:nvPr/>
        </p:nvGrpSpPr>
        <p:grpSpPr>
          <a:xfrm>
            <a:off x="8191500" y="1285875"/>
            <a:ext cx="3505200" cy="3476625"/>
            <a:chOff x="8191500" y="1285875"/>
            <a:chExt cx="3505200" cy="3476625"/>
          </a:xfrm>
        </p:grpSpPr>
        <p:sp>
          <p:nvSpPr>
            <p:cNvPr id="31" name="Rectangle 31"/>
            <p:cNvSpPr/>
            <p:nvPr/>
          </p:nvSpPr>
          <p:spPr>
            <a:xfrm>
              <a:off x="8191500" y="1285875"/>
              <a:ext cx="3505200" cy="3476625"/>
            </a:xfrm>
            <a:prstGeom prst="roundRect">
              <a:avLst>
                <a:gd name="adj" fmla="val 1096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32" name="Ellipse 32"/>
            <p:cNvSpPr/>
            <p:nvPr/>
          </p:nvSpPr>
          <p:spPr>
            <a:xfrm>
              <a:off x="8391525" y="1495425"/>
              <a:ext cx="476250" cy="476250"/>
            </a:xfrm>
            <a:prstGeom prst="ellipse">
              <a:avLst/>
            </a:prstGeom>
            <a:solidFill>
              <a:srgbClr val="06B6D4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8410575" y="1504950"/>
              <a:ext cx="43815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3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9010650" y="1524000"/>
              <a:ext cx="2324100" cy="42862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650" b="1" dirty="0">
                  <a:solidFill>
                    <a:srgbClr val="0E7490"/>
                  </a:solidFill>
                  <a:latin typeface="Arial"/>
                  <a:ea typeface="Microsoft YaHei"/>
                  <a:cs typeface="Arial"/>
                </a:rPr>
                <a:t>逐步放开</a:t>
              </a:r>
            </a:p>
          </p:txBody>
        </p:sp>
        <p:sp>
          <p:nvSpPr>
            <p:cNvPr id="35" name="Line 35"/>
            <p:cNvSpPr/>
            <p:nvPr/>
          </p:nvSpPr>
          <p:spPr>
            <a:xfrm>
              <a:off x="8496300" y="2181225"/>
              <a:ext cx="2895600" cy="9525"/>
            </a:xfrm>
            <a:custGeom>
              <a:avLst/>
              <a:gdLst/>
              <a:ahLst/>
              <a:cxnLst/>
              <a:rect l="l" t="t" r="r" b="b"/>
              <a:pathLst>
                <a:path w="2895600" h="9525">
                  <a:moveTo>
                    <a:pt x="0" y="0"/>
                  </a:moveTo>
                  <a:lnTo>
                    <a:pt x="2895600" y="0"/>
                  </a:lnTo>
                </a:path>
              </a:pathLst>
            </a:custGeom>
            <a:noFill/>
            <a:ln w="19050">
              <a:solidFill>
                <a:srgbClr val="D4E2EE"/>
              </a:solidFill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8648700" y="2476500"/>
              <a:ext cx="2590800" cy="1666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0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按租户/场景分批，异常即回滚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8496300" y="4391025"/>
              <a:ext cx="762000" cy="66675"/>
            </a:xfrm>
            <a:prstGeom prst="rect">
              <a:avLst/>
            </a:prstGeom>
            <a:solidFill>
              <a:srgbClr val="CC0000"/>
            </a:solidFill>
            <a:ln>
              <a:noFill/>
            </a:ln>
          </p:spPr>
        </p:sp>
      </p:grpSp>
      <p:grpSp>
        <p:nvGrpSpPr>
          <p:cNvPr id="42" name="EasySlides Component: synthesis"/>
          <p:cNvGrpSpPr/>
          <p:nvPr/>
        </p:nvGrpSpPr>
        <p:grpSpPr>
          <a:xfrm>
            <a:off x="495300" y="5476875"/>
            <a:ext cx="11201400" cy="714375"/>
            <a:chOff x="495300" y="5476875"/>
            <a:chExt cx="11201400" cy="714375"/>
          </a:xfrm>
        </p:grpSpPr>
        <p:sp>
          <p:nvSpPr>
            <p:cNvPr id="39" name="Rectangle 39"/>
            <p:cNvSpPr/>
            <p:nvPr/>
          </p:nvSpPr>
          <p:spPr>
            <a:xfrm>
              <a:off x="495300" y="5476875"/>
              <a:ext cx="11201400" cy="714375"/>
            </a:xfrm>
            <a:prstGeom prst="roundRect">
              <a:avLst>
                <a:gd name="adj" fmla="val 5333"/>
              </a:avLst>
            </a:prstGeom>
            <a:solidFill>
              <a:srgbClr val="0E7490"/>
            </a:solidFill>
            <a:ln>
              <a:noFill/>
            </a:ln>
          </p:spPr>
        </p:sp>
        <p:sp>
          <p:nvSpPr>
            <p:cNvPr id="40" name="Rectangle 40"/>
            <p:cNvSpPr/>
            <p:nvPr/>
          </p:nvSpPr>
          <p:spPr>
            <a:xfrm>
              <a:off x="495300" y="5476875"/>
              <a:ext cx="76200" cy="714375"/>
            </a:xfrm>
            <a:prstGeom prst="roundRect">
              <a:avLst>
                <a:gd name="adj" fmla="val 50000"/>
              </a:avLst>
            </a:prstGeom>
            <a:solidFill>
              <a:srgbClr val="CC0000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876300" y="5610225"/>
              <a:ext cx="10439400" cy="4476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案例视角：预算审批链路的审批-幂等-验真闭环实测。</a:t>
              </a:r>
            </a:p>
          </p:txBody>
        </p:sp>
      </p:grp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0E7490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31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陷阱与排查：副作用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06B6D4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症状→根因→处置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课程第18讲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Agent Runtime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31</a:t>
            </a:r>
          </a:p>
        </p:txBody>
      </p:sp>
      <p:grpSp>
        <p:nvGrpSpPr>
          <p:cNvPr id="38" name="EasySlides Component: matrix"/>
          <p:cNvGrpSpPr/>
          <p:nvPr/>
        </p:nvGrpSpPr>
        <p:grpSpPr>
          <a:xfrm>
            <a:off x="495300" y="1285875"/>
            <a:ext cx="11201400" cy="4905375"/>
            <a:chOff x="495300" y="1285875"/>
            <a:chExt cx="11201400" cy="4905375"/>
          </a:xfrm>
        </p:grpSpPr>
        <p:sp>
          <p:nvSpPr>
            <p:cNvPr id="15" name="Rectangle 15"/>
            <p:cNvSpPr/>
            <p:nvPr/>
          </p:nvSpPr>
          <p:spPr>
            <a:xfrm>
              <a:off x="495300" y="1285875"/>
              <a:ext cx="11201400" cy="4905375"/>
            </a:xfrm>
            <a:prstGeom prst="roundRect">
              <a:avLst>
                <a:gd name="adj" fmla="val 777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95300" y="1285875"/>
              <a:ext cx="11201400" cy="647700"/>
            </a:xfrm>
            <a:prstGeom prst="roundRect">
              <a:avLst>
                <a:gd name="adj" fmla="val 5882"/>
              </a:avLst>
            </a:prstGeom>
            <a:solidFill>
              <a:srgbClr val="0E7490"/>
            </a:solidFill>
            <a:ln>
              <a:noFill/>
            </a:ln>
          </p:spPr>
        </p:sp>
        <p:sp>
          <p:nvSpPr>
            <p:cNvPr id="17" name="Line 17"/>
            <p:cNvSpPr/>
            <p:nvPr/>
          </p:nvSpPr>
          <p:spPr>
            <a:xfrm>
              <a:off x="4229100" y="1285875"/>
              <a:ext cx="9525" cy="4143375"/>
            </a:xfrm>
            <a:custGeom>
              <a:avLst/>
              <a:gdLst/>
              <a:ahLst/>
              <a:cxnLst/>
              <a:rect l="l" t="t" r="r" b="b"/>
              <a:pathLst>
                <a:path w="9525" h="4143375">
                  <a:moveTo>
                    <a:pt x="0" y="0"/>
                  </a:moveTo>
                  <a:lnTo>
                    <a:pt x="0" y="4143375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sp>
          <p:nvSpPr>
            <p:cNvPr id="18" name="Line 18"/>
            <p:cNvSpPr/>
            <p:nvPr/>
          </p:nvSpPr>
          <p:spPr>
            <a:xfrm>
              <a:off x="7962900" y="1285875"/>
              <a:ext cx="9525" cy="4143375"/>
            </a:xfrm>
            <a:custGeom>
              <a:avLst/>
              <a:gdLst/>
              <a:ahLst/>
              <a:cxnLst/>
              <a:rect l="l" t="t" r="r" b="b"/>
              <a:pathLst>
                <a:path w="9525" h="4143375">
                  <a:moveTo>
                    <a:pt x="0" y="0"/>
                  </a:moveTo>
                  <a:lnTo>
                    <a:pt x="0" y="4143375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sp>
          <p:nvSpPr>
            <p:cNvPr id="19" name="Line 19"/>
            <p:cNvSpPr/>
            <p:nvPr/>
          </p:nvSpPr>
          <p:spPr>
            <a:xfrm>
              <a:off x="495300" y="1933575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sp>
          <p:nvSpPr>
            <p:cNvPr id="20" name="Line 20"/>
            <p:cNvSpPr/>
            <p:nvPr/>
          </p:nvSpPr>
          <p:spPr>
            <a:xfrm>
              <a:off x="495300" y="3095625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1" name="Line 21"/>
            <p:cNvSpPr/>
            <p:nvPr/>
          </p:nvSpPr>
          <p:spPr>
            <a:xfrm>
              <a:off x="495300" y="4257675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2" name="Line 22"/>
            <p:cNvSpPr/>
            <p:nvPr/>
          </p:nvSpPr>
          <p:spPr>
            <a:xfrm>
              <a:off x="495300" y="5429250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grpSp>
          <p:nvGrpSpPr>
            <p:cNvPr id="26" name="Group 26"/>
            <p:cNvGrpSpPr/>
            <p:nvPr/>
          </p:nvGrpSpPr>
          <p:grpSpPr>
            <a:xfrm>
              <a:off x="704850" y="1428750"/>
              <a:ext cx="10782300" cy="361950"/>
              <a:chOff x="704850" y="1428750"/>
              <a:chExt cx="10782300" cy="361950"/>
            </a:xfrm>
          </p:grpSpPr>
          <p:sp>
            <p:nvSpPr>
              <p:cNvPr id="23" name="TextBox 23"/>
              <p:cNvSpPr txBox="1"/>
              <p:nvPr/>
            </p:nvSpPr>
            <p:spPr>
              <a:xfrm>
                <a:off x="704850" y="1428750"/>
                <a:ext cx="33147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症状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4438650" y="1428750"/>
                <a:ext cx="33147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根因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8172450" y="1428750"/>
                <a:ext cx="33147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处置</a:t>
                </a:r>
              </a:p>
            </p:txBody>
          </p:sp>
        </p:grpSp>
        <p:grpSp>
          <p:nvGrpSpPr>
            <p:cNvPr id="36" name="Group 36"/>
            <p:cNvGrpSpPr/>
            <p:nvPr/>
          </p:nvGrpSpPr>
          <p:grpSpPr>
            <a:xfrm>
              <a:off x="723900" y="2105025"/>
              <a:ext cx="10744200" cy="3086100"/>
              <a:chOff x="723900" y="2105025"/>
              <a:chExt cx="10744200" cy="3086100"/>
            </a:xfrm>
          </p:grpSpPr>
          <p:sp>
            <p:nvSpPr>
              <p:cNvPr id="27" name="TextBox 27"/>
              <p:cNvSpPr txBox="1"/>
              <p:nvPr/>
            </p:nvSpPr>
            <p:spPr>
              <a:xfrm>
                <a:off x="723900" y="21050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「副作用」典型故障：上下文漂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4457700" y="21050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缺少验证/预算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8191500" y="21050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验真+预算上限</a:t>
                </a: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723900" y="326707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结果不可解释</a:t>
                </a: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4457700" y="326707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无 Trace 留痕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8191500" y="326707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接入统一 Trace</a:t>
                </a: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723900" y="44291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效果悄悄退化</a:t>
                </a: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4457700" y="44291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无回归基线</a:t>
                </a:r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8191500" y="44291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评测+回归门禁</a:t>
                </a:r>
              </a:p>
            </p:txBody>
          </p:sp>
        </p:grpSp>
        <p:sp>
          <p:nvSpPr>
            <p:cNvPr id="37" name="TextBox 37"/>
            <p:cNvSpPr txBox="1"/>
            <p:nvPr/>
          </p:nvSpPr>
          <p:spPr>
            <a:xfrm>
              <a:off x="828675" y="5581650"/>
              <a:ext cx="10534650" cy="4191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500" b="1" dirty="0">
                  <a:solidFill>
                    <a:srgbClr val="0E7490"/>
                  </a:solidFill>
                  <a:latin typeface="Arial"/>
                  <a:ea typeface="Microsoft YaHei"/>
                  <a:cs typeface="Arial"/>
                </a:rPr>
                <a:t>先止血，再根因，最后沉淀为回归用例</a:t>
              </a:r>
            </a:p>
          </p:txBody>
        </p:sp>
      </p:grp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0E7490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32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工程决策：副作用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06B6D4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候选方案 × 取舍（ADR）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课程第18讲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Agent Runtime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32</a:t>
            </a:r>
          </a:p>
        </p:txBody>
      </p:sp>
      <p:grpSp>
        <p:nvGrpSpPr>
          <p:cNvPr id="38" name="EasySlides Component: matrix"/>
          <p:cNvGrpSpPr/>
          <p:nvPr/>
        </p:nvGrpSpPr>
        <p:grpSpPr>
          <a:xfrm>
            <a:off x="495300" y="1285875"/>
            <a:ext cx="11201400" cy="4905375"/>
            <a:chOff x="495300" y="1285875"/>
            <a:chExt cx="11201400" cy="4905375"/>
          </a:xfrm>
        </p:grpSpPr>
        <p:sp>
          <p:nvSpPr>
            <p:cNvPr id="15" name="Rectangle 15"/>
            <p:cNvSpPr/>
            <p:nvPr/>
          </p:nvSpPr>
          <p:spPr>
            <a:xfrm>
              <a:off x="495300" y="1285875"/>
              <a:ext cx="11201400" cy="4905375"/>
            </a:xfrm>
            <a:prstGeom prst="roundRect">
              <a:avLst>
                <a:gd name="adj" fmla="val 777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95300" y="1285875"/>
              <a:ext cx="11201400" cy="647700"/>
            </a:xfrm>
            <a:prstGeom prst="roundRect">
              <a:avLst>
                <a:gd name="adj" fmla="val 5882"/>
              </a:avLst>
            </a:prstGeom>
            <a:solidFill>
              <a:srgbClr val="0E7490"/>
            </a:solidFill>
            <a:ln>
              <a:noFill/>
            </a:ln>
          </p:spPr>
        </p:sp>
        <p:sp>
          <p:nvSpPr>
            <p:cNvPr id="17" name="Line 17"/>
            <p:cNvSpPr/>
            <p:nvPr/>
          </p:nvSpPr>
          <p:spPr>
            <a:xfrm>
              <a:off x="4229100" y="1285875"/>
              <a:ext cx="9525" cy="4143375"/>
            </a:xfrm>
            <a:custGeom>
              <a:avLst/>
              <a:gdLst/>
              <a:ahLst/>
              <a:cxnLst/>
              <a:rect l="l" t="t" r="r" b="b"/>
              <a:pathLst>
                <a:path w="9525" h="4143375">
                  <a:moveTo>
                    <a:pt x="0" y="0"/>
                  </a:moveTo>
                  <a:lnTo>
                    <a:pt x="0" y="4143375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sp>
          <p:nvSpPr>
            <p:cNvPr id="18" name="Line 18"/>
            <p:cNvSpPr/>
            <p:nvPr/>
          </p:nvSpPr>
          <p:spPr>
            <a:xfrm>
              <a:off x="7962900" y="1285875"/>
              <a:ext cx="9525" cy="4143375"/>
            </a:xfrm>
            <a:custGeom>
              <a:avLst/>
              <a:gdLst/>
              <a:ahLst/>
              <a:cxnLst/>
              <a:rect l="l" t="t" r="r" b="b"/>
              <a:pathLst>
                <a:path w="9525" h="4143375">
                  <a:moveTo>
                    <a:pt x="0" y="0"/>
                  </a:moveTo>
                  <a:lnTo>
                    <a:pt x="0" y="4143375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sp>
          <p:nvSpPr>
            <p:cNvPr id="19" name="Line 19"/>
            <p:cNvSpPr/>
            <p:nvPr/>
          </p:nvSpPr>
          <p:spPr>
            <a:xfrm>
              <a:off x="495300" y="1933575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sp>
          <p:nvSpPr>
            <p:cNvPr id="20" name="Line 20"/>
            <p:cNvSpPr/>
            <p:nvPr/>
          </p:nvSpPr>
          <p:spPr>
            <a:xfrm>
              <a:off x="495300" y="3095625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1" name="Line 21"/>
            <p:cNvSpPr/>
            <p:nvPr/>
          </p:nvSpPr>
          <p:spPr>
            <a:xfrm>
              <a:off x="495300" y="4257675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2" name="Line 22"/>
            <p:cNvSpPr/>
            <p:nvPr/>
          </p:nvSpPr>
          <p:spPr>
            <a:xfrm>
              <a:off x="495300" y="5429250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grpSp>
          <p:nvGrpSpPr>
            <p:cNvPr id="26" name="Group 26"/>
            <p:cNvGrpSpPr/>
            <p:nvPr/>
          </p:nvGrpSpPr>
          <p:grpSpPr>
            <a:xfrm>
              <a:off x="704850" y="1428750"/>
              <a:ext cx="10782300" cy="361950"/>
              <a:chOff x="704850" y="1428750"/>
              <a:chExt cx="10782300" cy="361950"/>
            </a:xfrm>
          </p:grpSpPr>
          <p:sp>
            <p:nvSpPr>
              <p:cNvPr id="23" name="TextBox 23"/>
              <p:cNvSpPr txBox="1"/>
              <p:nvPr/>
            </p:nvSpPr>
            <p:spPr>
              <a:xfrm>
                <a:off x="704850" y="1428750"/>
                <a:ext cx="33147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方案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4438650" y="1428750"/>
                <a:ext cx="33147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代价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8172450" y="1428750"/>
                <a:ext cx="33147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结论</a:t>
                </a:r>
              </a:p>
            </p:txBody>
          </p:sp>
        </p:grpSp>
        <p:grpSp>
          <p:nvGrpSpPr>
            <p:cNvPr id="36" name="Group 36"/>
            <p:cNvGrpSpPr/>
            <p:nvPr/>
          </p:nvGrpSpPr>
          <p:grpSpPr>
            <a:xfrm>
              <a:off x="723900" y="2105025"/>
              <a:ext cx="10744200" cy="3086100"/>
              <a:chOff x="723900" y="2105025"/>
              <a:chExt cx="10744200" cy="3086100"/>
            </a:xfrm>
          </p:grpSpPr>
          <p:sp>
            <p:nvSpPr>
              <p:cNvPr id="27" name="TextBox 27"/>
              <p:cNvSpPr txBox="1"/>
              <p:nvPr/>
            </p:nvSpPr>
            <p:spPr>
              <a:xfrm>
                <a:off x="723900" y="21050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直连实现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4457700" y="21050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快但耦合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8191500" y="21050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Demo 可用</a:t>
                </a: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723900" y="326707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平台化</a:t>
                </a: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4457700" y="326707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前期成本高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8191500" y="326707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生产首选</a:t>
                </a: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723900" y="44291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保持简单</a:t>
                </a: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4457700" y="44291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能力上限</a:t>
                </a:r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8191500" y="44291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按场景取舍</a:t>
                </a:r>
              </a:p>
            </p:txBody>
          </p:sp>
        </p:grpSp>
        <p:sp>
          <p:nvSpPr>
            <p:cNvPr id="37" name="TextBox 37"/>
            <p:cNvSpPr txBox="1"/>
            <p:nvPr/>
          </p:nvSpPr>
          <p:spPr>
            <a:xfrm>
              <a:off x="828675" y="5581650"/>
              <a:ext cx="10534650" cy="4191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500" b="1" dirty="0">
                  <a:solidFill>
                    <a:srgbClr val="0E7490"/>
                  </a:solidFill>
                  <a:latin typeface="Arial"/>
                  <a:ea typeface="Microsoft YaHei"/>
                  <a:cs typeface="Arial"/>
                </a:rPr>
                <a:t>「副作用」的选型以证据与约束为准</a:t>
              </a:r>
            </a:p>
          </p:txBody>
        </p:sp>
      </p:grp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0E7490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33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优化拓展：副作用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06B6D4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三个可持续优化抓手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课程第18讲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Agent Runtime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33</a:t>
            </a:r>
          </a:p>
        </p:txBody>
      </p:sp>
      <p:grpSp>
        <p:nvGrpSpPr>
          <p:cNvPr id="21" name="EasySlides Component: evidence_01"/>
          <p:cNvGrpSpPr/>
          <p:nvPr/>
        </p:nvGrpSpPr>
        <p:grpSpPr>
          <a:xfrm>
            <a:off x="495300" y="3524250"/>
            <a:ext cx="11201400" cy="1285875"/>
            <a:chOff x="495300" y="3524250"/>
            <a:chExt cx="11201400" cy="1285875"/>
          </a:xfrm>
        </p:grpSpPr>
        <p:sp>
          <p:nvSpPr>
            <p:cNvPr id="15" name="Rectangle 15"/>
            <p:cNvSpPr/>
            <p:nvPr/>
          </p:nvSpPr>
          <p:spPr>
            <a:xfrm>
              <a:off x="495300" y="3524250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95300" y="3524250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06B6D4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33425" y="3971925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06B6D4"/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447800" y="3752850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0E7490"/>
                  </a:solidFill>
                  <a:latin typeface="Arial"/>
                  <a:ea typeface="Microsoft YaHei"/>
                  <a:cs typeface="Arial"/>
                </a:rPr>
                <a:t>资产化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4362450" y="3752850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4686300" y="3752850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「副作用」优化一：把人工经验固化为资产（规则/Skill/</a:t>
              </a:r>
            </a:p>
          </p:txBody>
        </p:sp>
      </p:grpSp>
      <p:grpSp>
        <p:nvGrpSpPr>
          <p:cNvPr id="28" name="EasySlides Component: evidence_02"/>
          <p:cNvGrpSpPr/>
          <p:nvPr/>
        </p:nvGrpSpPr>
        <p:grpSpPr>
          <a:xfrm>
            <a:off x="495300" y="4905375"/>
            <a:ext cx="11201400" cy="1285875"/>
            <a:chOff x="495300" y="4905375"/>
            <a:chExt cx="11201400" cy="1285875"/>
          </a:xfrm>
        </p:grpSpPr>
        <p:sp>
          <p:nvSpPr>
            <p:cNvPr id="22" name="Rectangle 22"/>
            <p:cNvSpPr/>
            <p:nvPr/>
          </p:nvSpPr>
          <p:spPr>
            <a:xfrm>
              <a:off x="495300" y="4905375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495300" y="4905375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06B6D4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33425" y="5353050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06B6D4"/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447800" y="5133975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0E7490"/>
                  </a:solidFill>
                  <a:latin typeface="Arial"/>
                  <a:ea typeface="Microsoft YaHei"/>
                  <a:cs typeface="Arial"/>
                </a:rPr>
                <a:t>基线化</a:t>
              </a:r>
            </a:p>
          </p:txBody>
        </p:sp>
        <p:sp>
          <p:nvSpPr>
            <p:cNvPr id="26" name="Line 26"/>
            <p:cNvSpPr/>
            <p:nvPr/>
          </p:nvSpPr>
          <p:spPr>
            <a:xfrm>
              <a:off x="4362450" y="5133975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4686300" y="5133975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「副作用」优化二：建立基线对照（关闭/盲选/受控三组）证明增</a:t>
              </a:r>
            </a:p>
          </p:txBody>
        </p:sp>
      </p:grpSp>
      <p:grpSp>
        <p:nvGrpSpPr>
          <p:cNvPr id="34" name="EasySlides Component: metric_01"/>
          <p:cNvGrpSpPr/>
          <p:nvPr/>
        </p:nvGrpSpPr>
        <p:grpSpPr>
          <a:xfrm>
            <a:off x="495300" y="1285875"/>
            <a:ext cx="3505200" cy="1809750"/>
            <a:chOff x="495300" y="1285875"/>
            <a:chExt cx="3505200" cy="1809750"/>
          </a:xfrm>
        </p:grpSpPr>
        <p:sp>
          <p:nvSpPr>
            <p:cNvPr id="29" name="Rectangle 29"/>
            <p:cNvSpPr/>
            <p:nvPr/>
          </p:nvSpPr>
          <p:spPr>
            <a:xfrm>
              <a:off x="495300" y="1285875"/>
              <a:ext cx="3505200" cy="1809750"/>
            </a:xfrm>
            <a:prstGeom prst="roundRect">
              <a:avLst>
                <a:gd name="adj" fmla="val 2105"/>
              </a:avLst>
            </a:prstGeom>
            <a:solidFill>
              <a:srgbClr val="F0F9FC"/>
            </a:solidFill>
            <a:ln w="11430">
              <a:solidFill>
                <a:srgbClr val="B8C7D6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495300" y="1285875"/>
              <a:ext cx="3505200" cy="66675"/>
            </a:xfrm>
            <a:prstGeom prst="roundRect">
              <a:avLst>
                <a:gd name="adj" fmla="val 50000"/>
              </a:avLst>
            </a:prstGeom>
            <a:solidFill>
              <a:srgbClr val="06B6D4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62000" y="1619250"/>
              <a:ext cx="2971800" cy="7143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3150" b="1" dirty="0">
                  <a:solidFill>
                    <a:srgbClr val="0E7490"/>
                  </a:solidFill>
                  <a:latin typeface="Arial"/>
                  <a:ea typeface="Microsoft YaHei"/>
                  <a:cs typeface="Arial"/>
                </a:rPr>
                <a:t>资产化</a:t>
              </a:r>
            </a:p>
          </p:txBody>
        </p:sp>
        <p:sp>
          <p:nvSpPr>
            <p:cNvPr id="32" name="Line 32"/>
            <p:cNvSpPr/>
            <p:nvPr/>
          </p:nvSpPr>
          <p:spPr>
            <a:xfrm>
              <a:off x="990600" y="2476500"/>
              <a:ext cx="2514600" cy="9525"/>
            </a:xfrm>
            <a:custGeom>
              <a:avLst/>
              <a:gdLst/>
              <a:ahLst/>
              <a:cxnLst/>
              <a:rect l="l" t="t" r="r" b="b"/>
              <a:pathLst>
                <a:path w="2514600" h="9525">
                  <a:moveTo>
                    <a:pt x="0" y="0"/>
                  </a:moveTo>
                  <a:lnTo>
                    <a:pt x="2514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62000" y="2562225"/>
              <a:ext cx="29718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经验固化为规则/Skill</a:t>
              </a:r>
            </a:p>
          </p:txBody>
        </p:sp>
      </p:grpSp>
      <p:grpSp>
        <p:nvGrpSpPr>
          <p:cNvPr id="40" name="EasySlides Component: metric_02"/>
          <p:cNvGrpSpPr/>
          <p:nvPr/>
        </p:nvGrpSpPr>
        <p:grpSpPr>
          <a:xfrm>
            <a:off x="4343400" y="1285875"/>
            <a:ext cx="3505200" cy="1809750"/>
            <a:chOff x="4343400" y="1285875"/>
            <a:chExt cx="3505200" cy="1809750"/>
          </a:xfrm>
        </p:grpSpPr>
        <p:sp>
          <p:nvSpPr>
            <p:cNvPr id="35" name="Rectangle 35"/>
            <p:cNvSpPr/>
            <p:nvPr/>
          </p:nvSpPr>
          <p:spPr>
            <a:xfrm>
              <a:off x="4343400" y="1285875"/>
              <a:ext cx="3505200" cy="1809750"/>
            </a:xfrm>
            <a:prstGeom prst="roundRect">
              <a:avLst>
                <a:gd name="adj" fmla="val 2105"/>
              </a:avLst>
            </a:prstGeom>
            <a:solidFill>
              <a:srgbClr val="F0F9FC"/>
            </a:solidFill>
            <a:ln w="11430">
              <a:solidFill>
                <a:srgbClr val="B8C7D6"/>
              </a:solidFill>
            </a:ln>
          </p:spPr>
        </p:sp>
        <p:sp>
          <p:nvSpPr>
            <p:cNvPr id="36" name="Rectangle 36"/>
            <p:cNvSpPr/>
            <p:nvPr/>
          </p:nvSpPr>
          <p:spPr>
            <a:xfrm>
              <a:off x="4343400" y="1285875"/>
              <a:ext cx="3505200" cy="66675"/>
            </a:xfrm>
            <a:prstGeom prst="roundRect">
              <a:avLst>
                <a:gd name="adj" fmla="val 50000"/>
              </a:avLst>
            </a:prstGeom>
            <a:solidFill>
              <a:srgbClr val="06B6D4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4610100" y="1619250"/>
              <a:ext cx="2971800" cy="7143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3150" b="1" dirty="0">
                  <a:solidFill>
                    <a:srgbClr val="0E7490"/>
                  </a:solidFill>
                  <a:latin typeface="Arial"/>
                  <a:ea typeface="Microsoft YaHei"/>
                  <a:cs typeface="Arial"/>
                </a:rPr>
                <a:t>基线化</a:t>
              </a:r>
            </a:p>
          </p:txBody>
        </p:sp>
        <p:sp>
          <p:nvSpPr>
            <p:cNvPr id="38" name="Line 38"/>
            <p:cNvSpPr/>
            <p:nvPr/>
          </p:nvSpPr>
          <p:spPr>
            <a:xfrm>
              <a:off x="4838700" y="2476500"/>
              <a:ext cx="2514600" cy="9525"/>
            </a:xfrm>
            <a:custGeom>
              <a:avLst/>
              <a:gdLst/>
              <a:ahLst/>
              <a:cxnLst/>
              <a:rect l="l" t="t" r="r" b="b"/>
              <a:pathLst>
                <a:path w="2514600" h="9525">
                  <a:moveTo>
                    <a:pt x="0" y="0"/>
                  </a:moveTo>
                  <a:lnTo>
                    <a:pt x="2514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4610100" y="2562225"/>
              <a:ext cx="29718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对照实验证明增量</a:t>
              </a:r>
            </a:p>
          </p:txBody>
        </p:sp>
      </p:grpSp>
      <p:grpSp>
        <p:nvGrpSpPr>
          <p:cNvPr id="46" name="EasySlides Component: metric_03"/>
          <p:cNvGrpSpPr/>
          <p:nvPr/>
        </p:nvGrpSpPr>
        <p:grpSpPr>
          <a:xfrm>
            <a:off x="8191500" y="1285875"/>
            <a:ext cx="3505200" cy="1809750"/>
            <a:chOff x="8191500" y="1285875"/>
            <a:chExt cx="3505200" cy="1809750"/>
          </a:xfrm>
        </p:grpSpPr>
        <p:sp>
          <p:nvSpPr>
            <p:cNvPr id="41" name="Rectangle 41"/>
            <p:cNvSpPr/>
            <p:nvPr/>
          </p:nvSpPr>
          <p:spPr>
            <a:xfrm>
              <a:off x="8191500" y="1285875"/>
              <a:ext cx="3505200" cy="1809750"/>
            </a:xfrm>
            <a:prstGeom prst="roundRect">
              <a:avLst>
                <a:gd name="adj" fmla="val 2105"/>
              </a:avLst>
            </a:prstGeom>
            <a:solidFill>
              <a:srgbClr val="F0F9FC"/>
            </a:solidFill>
            <a:ln w="11430">
              <a:solidFill>
                <a:srgbClr val="B8C7D6"/>
              </a:solidFill>
            </a:ln>
          </p:spPr>
        </p:sp>
        <p:sp>
          <p:nvSpPr>
            <p:cNvPr id="42" name="Rectangle 42"/>
            <p:cNvSpPr/>
            <p:nvPr/>
          </p:nvSpPr>
          <p:spPr>
            <a:xfrm>
              <a:off x="8191500" y="1285875"/>
              <a:ext cx="3505200" cy="66675"/>
            </a:xfrm>
            <a:prstGeom prst="roundRect">
              <a:avLst>
                <a:gd name="adj" fmla="val 50000"/>
              </a:avLst>
            </a:prstGeom>
            <a:solidFill>
              <a:srgbClr val="06B6D4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8458200" y="1619250"/>
              <a:ext cx="2971800" cy="7143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3150" b="1" dirty="0">
                  <a:solidFill>
                    <a:srgbClr val="0E7490"/>
                  </a:solidFill>
                  <a:latin typeface="Arial"/>
                  <a:ea typeface="Microsoft YaHei"/>
                  <a:cs typeface="Arial"/>
                </a:rPr>
                <a:t>观测化</a:t>
              </a:r>
            </a:p>
          </p:txBody>
        </p:sp>
        <p:sp>
          <p:nvSpPr>
            <p:cNvPr id="44" name="Line 44"/>
            <p:cNvSpPr/>
            <p:nvPr/>
          </p:nvSpPr>
          <p:spPr>
            <a:xfrm>
              <a:off x="8686800" y="2476500"/>
              <a:ext cx="2514600" cy="9525"/>
            </a:xfrm>
            <a:custGeom>
              <a:avLst/>
              <a:gdLst/>
              <a:ahLst/>
              <a:cxnLst/>
              <a:rect l="l" t="t" r="r" b="b"/>
              <a:pathLst>
                <a:path w="2514600" h="9525">
                  <a:moveTo>
                    <a:pt x="0" y="0"/>
                  </a:moveTo>
                  <a:lnTo>
                    <a:pt x="2514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8458200" y="2562225"/>
              <a:ext cx="29718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Trace/Baseline 先行</a:t>
              </a:r>
            </a:p>
          </p:txBody>
        </p:sp>
      </p:grp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E7490"/>
          </a:solidFill>
          <a:ln>
            <a:noFill/>
          </a:ln>
        </p:spPr>
      </p:sp>
      <p:sp>
        <p:nvSpPr>
          <p:cNvPr id="3" name="Freeform 3"/>
          <p:cNvSpPr/>
          <p:nvPr/>
        </p:nvSpPr>
        <p:spPr>
          <a:xfrm>
            <a:off x="5715000" y="0"/>
            <a:ext cx="6477000" cy="6858000"/>
          </a:xfrm>
          <a:custGeom>
            <a:avLst/>
            <a:gdLst/>
            <a:ahLst/>
            <a:cxnLst/>
            <a:rect l="l" t="t" r="r" b="b"/>
            <a:pathLst>
              <a:path w="6477000" h="6858000">
                <a:moveTo>
                  <a:pt x="1905000" y="0"/>
                </a:moveTo>
                <a:lnTo>
                  <a:pt x="6477000" y="0"/>
                </a:lnTo>
                <a:lnTo>
                  <a:pt x="6477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06B6D4">
              <a:alpha val="20000"/>
            </a:srgbClr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2286000"/>
            <a:ext cx="114300" cy="228600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476250" y="2095500"/>
            <a:ext cx="2952750" cy="3143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8750" b="1" dirty="0">
                <a:solidFill>
                  <a:srgbClr val="FFFFFF">
                    <a:alphaMod val="10000"/>
                  </a:srgbClr>
                </a:solidFill>
                <a:latin typeface="Arial"/>
                <a:ea typeface="Microsoft YaHei"/>
                <a:cs typeface="Arial"/>
              </a:rPr>
              <a:t>34</a:t>
            </a:r>
          </a:p>
        </p:txBody>
      </p:sp>
      <p:sp>
        <p:nvSpPr>
          <p:cNvPr id="6" name="Line 6"/>
          <p:cNvSpPr/>
          <p:nvPr/>
        </p:nvSpPr>
        <p:spPr>
          <a:xfrm>
            <a:off x="3619500" y="2505075"/>
            <a:ext cx="1143000" cy="9525"/>
          </a:xfrm>
          <a:custGeom>
            <a:avLst/>
            <a:gdLst/>
            <a:ahLst/>
            <a:cxnLst/>
            <a:rect l="l" t="t" r="r" b="b"/>
            <a:pathLst>
              <a:path w="1143000" h="9525">
                <a:moveTo>
                  <a:pt x="0" y="0"/>
                </a:moveTo>
                <a:lnTo>
                  <a:pt x="1143000" y="0"/>
                </a:lnTo>
              </a:path>
            </a:pathLst>
          </a:custGeom>
          <a:noFill/>
          <a:ln w="57150">
            <a:solidFill>
              <a:srgbClr val="CC0000"/>
            </a:solidFill>
          </a:ln>
        </p:spPr>
      </p:sp>
      <p:sp>
        <p:nvSpPr>
          <p:cNvPr id="7" name="TextBox 7"/>
          <p:cNvSpPr txBox="1"/>
          <p:nvPr/>
        </p:nvSpPr>
        <p:spPr>
          <a:xfrm>
            <a:off x="3619500" y="2667000"/>
            <a:ext cx="7429500" cy="876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42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概念详解：追踪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619500" y="3648075"/>
            <a:ext cx="7620000" cy="419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800" dirty="0">
                <a:solidFill>
                  <a:srgbClr val="E8F4FC"/>
                </a:solidFill>
                <a:latin typeface="Arial"/>
                <a:ea typeface="Microsoft YaHei"/>
                <a:cs typeface="Arial"/>
              </a:rPr>
              <a:t>把「追踪」当工程对象看：Run Timeline。它有明确的输入契约、失败语义与度量口径。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6762750" y="6286500"/>
            <a:ext cx="4095750" cy="285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r"/>
            <a:r>
              <a:rPr lang="zh-CN" sz="1200" dirty="0">
                <a:solidFill>
                  <a:srgbClr val="FFFFFF">
                    <a:alphaMod val="55000"/>
                  </a:srgbClr>
                </a:solidFill>
                <a:latin typeface="Arial"/>
                <a:ea typeface="Microsoft YaHei"/>
                <a:cs typeface="Arial"/>
              </a:rPr>
              <a:t>用 Durable Workflow 收口自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0E7490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35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定义与内涵：追踪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06B6D4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把追踪讲透：是什么、不是什么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课程第18讲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Agent Runtime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35</a:t>
            </a:r>
          </a:p>
        </p:txBody>
      </p:sp>
      <p:grpSp>
        <p:nvGrpSpPr>
          <p:cNvPr id="21" name="EasySlides Component: evidence_01"/>
          <p:cNvGrpSpPr/>
          <p:nvPr/>
        </p:nvGrpSpPr>
        <p:grpSpPr>
          <a:xfrm>
            <a:off x="495300" y="2095500"/>
            <a:ext cx="11201400" cy="1285875"/>
            <a:chOff x="495300" y="2095500"/>
            <a:chExt cx="11201400" cy="1285875"/>
          </a:xfrm>
        </p:grpSpPr>
        <p:sp>
          <p:nvSpPr>
            <p:cNvPr id="15" name="Rectangle 15"/>
            <p:cNvSpPr/>
            <p:nvPr/>
          </p:nvSpPr>
          <p:spPr>
            <a:xfrm>
              <a:off x="495300" y="2095500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95300" y="2095500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06B6D4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33425" y="2543175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06B6D4"/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447800" y="2324100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0E7490"/>
                  </a:solidFill>
                  <a:latin typeface="Arial"/>
                  <a:ea typeface="Microsoft YaHei"/>
                  <a:cs typeface="Arial"/>
                </a:rPr>
                <a:t>定义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4362450" y="2324100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4686300" y="2324100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把「追踪」当工程对象看：Run Timeline。它有明确的输入契约、失败语义与</a:t>
              </a:r>
            </a:p>
          </p:txBody>
        </p:sp>
      </p:grpSp>
      <p:grpSp>
        <p:nvGrpSpPr>
          <p:cNvPr id="28" name="EasySlides Component: evidence_02"/>
          <p:cNvGrpSpPr/>
          <p:nvPr/>
        </p:nvGrpSpPr>
        <p:grpSpPr>
          <a:xfrm>
            <a:off x="495300" y="3571875"/>
            <a:ext cx="11201400" cy="1285875"/>
            <a:chOff x="495300" y="3571875"/>
            <a:chExt cx="11201400" cy="1285875"/>
          </a:xfrm>
        </p:grpSpPr>
        <p:sp>
          <p:nvSpPr>
            <p:cNvPr id="22" name="Rectangle 22"/>
            <p:cNvSpPr/>
            <p:nvPr/>
          </p:nvSpPr>
          <p:spPr>
            <a:xfrm>
              <a:off x="495300" y="3571875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495300" y="3571875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06B6D4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33425" y="4019550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06B6D4"/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447800" y="3800475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0E7490"/>
                  </a:solidFill>
                  <a:latin typeface="Arial"/>
                  <a:ea typeface="Microsoft YaHei"/>
                  <a:cs typeface="Arial"/>
                </a:rPr>
                <a:t>方法</a:t>
              </a:r>
            </a:p>
          </p:txBody>
        </p:sp>
        <p:sp>
          <p:nvSpPr>
            <p:cNvPr id="26" name="Line 26"/>
            <p:cNvSpPr/>
            <p:nvPr/>
          </p:nvSpPr>
          <p:spPr>
            <a:xfrm>
              <a:off x="4362450" y="3800475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4686300" y="3800475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方法维度：Run Timeline</a:t>
              </a:r>
            </a:p>
          </p:txBody>
        </p:sp>
      </p:grpSp>
      <p:grpSp>
        <p:nvGrpSpPr>
          <p:cNvPr id="35" name="EasySlides Component: evidence_03"/>
          <p:cNvGrpSpPr/>
          <p:nvPr/>
        </p:nvGrpSpPr>
        <p:grpSpPr>
          <a:xfrm>
            <a:off x="495300" y="4905375"/>
            <a:ext cx="11201400" cy="1285875"/>
            <a:chOff x="495300" y="4905375"/>
            <a:chExt cx="11201400" cy="1285875"/>
          </a:xfrm>
        </p:grpSpPr>
        <p:sp>
          <p:nvSpPr>
            <p:cNvPr id="29" name="Rectangle 29"/>
            <p:cNvSpPr/>
            <p:nvPr/>
          </p:nvSpPr>
          <p:spPr>
            <a:xfrm>
              <a:off x="495300" y="4905375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495300" y="4905375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06B6D4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33425" y="5353050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06B6D4"/>
                  </a:solidFill>
                  <a:latin typeface="Arial"/>
                  <a:ea typeface="Microsoft YaHei"/>
                  <a:cs typeface="Arial"/>
                </a:rPr>
                <a:t>03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447800" y="5133975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0E7490"/>
                  </a:solidFill>
                  <a:latin typeface="Arial"/>
                  <a:ea typeface="Microsoft YaHei"/>
                  <a:cs typeface="Arial"/>
                </a:rPr>
                <a:t>要点</a:t>
              </a:r>
            </a:p>
          </p:txBody>
        </p:sp>
        <p:sp>
          <p:nvSpPr>
            <p:cNvPr id="33" name="Line 33"/>
            <p:cNvSpPr/>
            <p:nvPr/>
          </p:nvSpPr>
          <p:spPr>
            <a:xfrm>
              <a:off x="4362450" y="5133975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4686300" y="5133975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要点维度：Run Timeline</a:t>
              </a:r>
            </a:p>
          </p:txBody>
        </p:sp>
      </p:grpSp>
      <p:grpSp>
        <p:nvGrpSpPr>
          <p:cNvPr id="39" name="EasySlides Component: synthesis"/>
          <p:cNvGrpSpPr/>
          <p:nvPr/>
        </p:nvGrpSpPr>
        <p:grpSpPr>
          <a:xfrm>
            <a:off x="495300" y="1285875"/>
            <a:ext cx="11201400" cy="714375"/>
            <a:chOff x="495300" y="1285875"/>
            <a:chExt cx="11201400" cy="714375"/>
          </a:xfrm>
        </p:grpSpPr>
        <p:sp>
          <p:nvSpPr>
            <p:cNvPr id="36" name="Rectangle 36"/>
            <p:cNvSpPr/>
            <p:nvPr/>
          </p:nvSpPr>
          <p:spPr>
            <a:xfrm>
              <a:off x="495300" y="1285875"/>
              <a:ext cx="11201400" cy="714375"/>
            </a:xfrm>
            <a:prstGeom prst="roundRect">
              <a:avLst>
                <a:gd name="adj" fmla="val 5333"/>
              </a:avLst>
            </a:prstGeom>
            <a:solidFill>
              <a:srgbClr val="0E7490"/>
            </a:solidFill>
            <a:ln>
              <a:noFill/>
            </a:ln>
          </p:spPr>
        </p:sp>
        <p:sp>
          <p:nvSpPr>
            <p:cNvPr id="37" name="Rectangle 37"/>
            <p:cNvSpPr/>
            <p:nvPr/>
          </p:nvSpPr>
          <p:spPr>
            <a:xfrm>
              <a:off x="495300" y="1285875"/>
              <a:ext cx="76200" cy="714375"/>
            </a:xfrm>
            <a:prstGeom prst="roundRect">
              <a:avLst>
                <a:gd name="adj" fmla="val 50000"/>
              </a:avLst>
            </a:prstGeom>
            <a:solidFill>
              <a:srgbClr val="CC0000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876300" y="1419225"/>
              <a:ext cx="10439400" cy="4476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自主与流程的混合编排：Harness 负责探索，Workflow 负责收口。</a:t>
              </a:r>
            </a:p>
          </p:txBody>
        </p:sp>
      </p:grp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0E7490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36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机制图解：追踪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06B6D4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一图看懂运行机制与数据流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课程第18讲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Agent Runtime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36</a:t>
            </a:r>
          </a:p>
        </p:txBody>
      </p:sp>
      <p:grpSp>
        <p:nvGrpSpPr>
          <p:cNvPr id="26" name="EasySlides Component: evidence"/>
          <p:cNvGrpSpPr/>
          <p:nvPr/>
        </p:nvGrpSpPr>
        <p:grpSpPr>
          <a:xfrm>
            <a:off x="7124700" y="1285875"/>
            <a:ext cx="4572000" cy="4905375"/>
            <a:chOff x="7124700" y="1285875"/>
            <a:chExt cx="4572000" cy="4905375"/>
          </a:xfrm>
        </p:grpSpPr>
        <p:sp>
          <p:nvSpPr>
            <p:cNvPr id="15" name="Rectangle 15"/>
            <p:cNvSpPr/>
            <p:nvPr/>
          </p:nvSpPr>
          <p:spPr>
            <a:xfrm>
              <a:off x="7124700" y="1285875"/>
              <a:ext cx="4572000" cy="4905375"/>
            </a:xfrm>
            <a:prstGeom prst="roundRect">
              <a:avLst>
                <a:gd name="adj" fmla="val 833"/>
              </a:avLst>
            </a:prstGeom>
            <a:solidFill>
              <a:srgbClr val="F0F9FC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7124700" y="1285875"/>
              <a:ext cx="76200" cy="4905375"/>
            </a:xfrm>
            <a:prstGeom prst="rect">
              <a:avLst/>
            </a:prstGeom>
            <a:solidFill>
              <a:srgbClr val="06B6D4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7391400" y="1552575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7391400" y="3105150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7391400" y="4657725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605712" y="1745456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06B6D4"/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605712" y="3298031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06B6D4"/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605712" y="4850606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CC0000"/>
                  </a:solidFill>
                  <a:latin typeface="Arial"/>
                  <a:ea typeface="Microsoft YaHei"/>
                  <a:cs typeface="Arial"/>
                </a:rPr>
                <a:t>03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848600" y="1819275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「追踪」之所以可靠，是因为它把不确定性关进笼子：预算、超时、重试、审计四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848600" y="3371850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关键环节：契约→执行→验证→留痕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848600" y="4924425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落点：仓库验证</a:t>
              </a:r>
            </a:p>
          </p:txBody>
        </p:sp>
      </p:grpSp>
      <p:grpSp>
        <p:nvGrpSpPr>
          <p:cNvPr id="32" name="EasySlides Component: figure"/>
          <p:cNvGrpSpPr/>
          <p:nvPr/>
        </p:nvGrpSpPr>
        <p:grpSpPr>
          <a:xfrm>
            <a:off x="495300" y="1285875"/>
            <a:ext cx="6400800" cy="4905375"/>
            <a:chOff x="495300" y="1285875"/>
            <a:chExt cx="6400800" cy="4905375"/>
          </a:xfrm>
        </p:grpSpPr>
        <p:sp>
          <p:nvSpPr>
            <p:cNvPr id="27" name="Rectangle 27"/>
            <p:cNvSpPr/>
            <p:nvPr/>
          </p:nvSpPr>
          <p:spPr>
            <a:xfrm>
              <a:off x="495300" y="1285875"/>
              <a:ext cx="6400800" cy="4905375"/>
            </a:xfrm>
            <a:prstGeom prst="roundRect">
              <a:avLst>
                <a:gd name="adj" fmla="val 777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647700" y="1438275"/>
              <a:ext cx="6096000" cy="3905250"/>
            </a:xfrm>
            <a:prstGeom prst="roundRect">
              <a:avLst>
                <a:gd name="adj" fmla="val 488"/>
              </a:avLst>
            </a:prstGeom>
            <a:solidFill>
              <a:srgbClr val="F0F9FC"/>
            </a:solidFill>
            <a:ln w="9525">
              <a:solidFill>
                <a:srgbClr val="D4E2EE"/>
              </a:solidFill>
            </a:ln>
          </p:spPr>
        </p:sp>
        <p:pic>
          <p:nvPicPr>
            <p:cNvPr id="29" name="Image 29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47700" y="1605643"/>
              <a:ext cx="6096000" cy="3570514"/>
            </a:xfrm>
            <a:prstGeom prst="rect">
              <a:avLst/>
            </a:prstGeom>
          </p:spPr>
        </p:pic>
        <p:sp>
          <p:nvSpPr>
            <p:cNvPr id="30" name="Line 30"/>
            <p:cNvSpPr/>
            <p:nvPr/>
          </p:nvSpPr>
          <p:spPr>
            <a:xfrm>
              <a:off x="723900" y="5534025"/>
              <a:ext cx="5943600" cy="9525"/>
            </a:xfrm>
            <a:custGeom>
              <a:avLst/>
              <a:gdLst/>
              <a:ahLst/>
              <a:cxnLst/>
              <a:rect l="l" t="t" r="r" b="b"/>
              <a:pathLst>
                <a:path w="5943600" h="9525">
                  <a:moveTo>
                    <a:pt x="0" y="0"/>
                  </a:moveTo>
                  <a:lnTo>
                    <a:pt x="5943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800100" y="5610225"/>
              <a:ext cx="57912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图：追踪 的机制与数据流（hub 视角）</a:t>
              </a:r>
            </a:p>
          </p:txBody>
        </p:sp>
      </p:grp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0E7490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37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深入原理：追踪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06B6D4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正确姿势 vs 常见误用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课程第18讲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Agent Runtime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37</a:t>
            </a:r>
          </a:p>
        </p:txBody>
      </p:sp>
      <p:grpSp>
        <p:nvGrpSpPr>
          <p:cNvPr id="22" name="EasySlides Component: left"/>
          <p:cNvGrpSpPr/>
          <p:nvPr/>
        </p:nvGrpSpPr>
        <p:grpSpPr>
          <a:xfrm>
            <a:off x="495300" y="1285875"/>
            <a:ext cx="5410200" cy="4000500"/>
            <a:chOff x="495300" y="1285875"/>
            <a:chExt cx="5410200" cy="4000500"/>
          </a:xfrm>
        </p:grpSpPr>
        <p:sp>
          <p:nvSpPr>
            <p:cNvPr id="15" name="Rectangle 15"/>
            <p:cNvSpPr/>
            <p:nvPr/>
          </p:nvSpPr>
          <p:spPr>
            <a:xfrm>
              <a:off x="495300" y="1285875"/>
              <a:ext cx="5410200" cy="4000500"/>
            </a:xfrm>
            <a:prstGeom prst="roundRect">
              <a:avLst>
                <a:gd name="adj" fmla="val 952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95300" y="1285875"/>
              <a:ext cx="5410200" cy="609600"/>
            </a:xfrm>
            <a:prstGeom prst="roundRect">
              <a:avLst>
                <a:gd name="adj" fmla="val 6250"/>
              </a:avLst>
            </a:prstGeom>
            <a:solidFill>
              <a:srgbClr val="E8F4FC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495300" y="1285875"/>
              <a:ext cx="57150" cy="609600"/>
            </a:xfrm>
            <a:prstGeom prst="rect">
              <a:avLst/>
            </a:prstGeom>
            <a:solidFill>
              <a:srgbClr val="06B6D4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800100" y="1419225"/>
              <a:ext cx="48006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725" b="1" dirty="0">
                  <a:solidFill>
                    <a:srgbClr val="0E7490"/>
                  </a:solidFill>
                  <a:latin typeface="Arial"/>
                  <a:ea typeface="Microsoft YaHei"/>
                  <a:cs typeface="Arial"/>
                </a:rPr>
                <a:t>正确姿势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800100" y="2276475"/>
              <a:ext cx="4800600" cy="9525"/>
            </a:xfrm>
            <a:custGeom>
              <a:avLst/>
              <a:gdLst/>
              <a:ahLst/>
              <a:cxnLst/>
              <a:rect l="l" t="t" r="r" b="b"/>
              <a:pathLst>
                <a:path w="4800600" h="9525">
                  <a:moveTo>
                    <a:pt x="0" y="0"/>
                  </a:moveTo>
                  <a:lnTo>
                    <a:pt x="4800600" y="0"/>
                  </a:lnTo>
                </a:path>
              </a:pathLst>
            </a:custGeom>
            <a:noFill/>
            <a:ln w="19050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1028700" y="2505075"/>
              <a:ext cx="4343400" cy="20955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65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正确姿势：先定义「追踪」的契约与不变量，再谈实现；所有旁路都必须被审计。</a:t>
              </a:r>
            </a:p>
            <a:p>
              <a:pPr algn="l"/>
              <a:r>
                <a:rPr lang="zh-CN" sz="165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契约先行，证据留痕</a:t>
              </a:r>
            </a:p>
          </p:txBody>
        </p:sp>
        <p:sp>
          <p:nvSpPr>
            <p:cNvPr id="21" name="Line 21"/>
            <p:cNvSpPr/>
            <p:nvPr/>
          </p:nvSpPr>
          <p:spPr>
            <a:xfrm>
              <a:off x="800100" y="4905375"/>
              <a:ext cx="4800600" cy="9525"/>
            </a:xfrm>
            <a:custGeom>
              <a:avLst/>
              <a:gdLst/>
              <a:ahLst/>
              <a:cxnLst/>
              <a:rect l="l" t="t" r="r" b="b"/>
              <a:pathLst>
                <a:path w="4800600" h="9525">
                  <a:moveTo>
                    <a:pt x="0" y="0"/>
                  </a:moveTo>
                  <a:lnTo>
                    <a:pt x="4800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</p:grpSp>
      <p:grpSp>
        <p:nvGrpSpPr>
          <p:cNvPr id="30" name="EasySlides Component: right"/>
          <p:cNvGrpSpPr/>
          <p:nvPr/>
        </p:nvGrpSpPr>
        <p:grpSpPr>
          <a:xfrm>
            <a:off x="6286500" y="1285875"/>
            <a:ext cx="5410200" cy="4000500"/>
            <a:chOff x="6286500" y="1285875"/>
            <a:chExt cx="5410200" cy="4000500"/>
          </a:xfrm>
        </p:grpSpPr>
        <p:sp>
          <p:nvSpPr>
            <p:cNvPr id="23" name="Rectangle 23"/>
            <p:cNvSpPr/>
            <p:nvPr/>
          </p:nvSpPr>
          <p:spPr>
            <a:xfrm>
              <a:off x="6286500" y="1285875"/>
              <a:ext cx="5410200" cy="4000500"/>
            </a:xfrm>
            <a:prstGeom prst="roundRect">
              <a:avLst>
                <a:gd name="adj" fmla="val 952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6286500" y="1285875"/>
              <a:ext cx="5410200" cy="609600"/>
            </a:xfrm>
            <a:prstGeom prst="roundRect">
              <a:avLst>
                <a:gd name="adj" fmla="val 6250"/>
              </a:avLst>
            </a:prstGeom>
            <a:solidFill>
              <a:srgbClr val="E8F4FC"/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6286500" y="1285875"/>
              <a:ext cx="57150" cy="609600"/>
            </a:xfrm>
            <a:prstGeom prst="rect">
              <a:avLst/>
            </a:prstGeom>
            <a:solidFill>
              <a:srgbClr val="06B6D4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591300" y="1419225"/>
              <a:ext cx="48006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725" b="1" dirty="0">
                  <a:solidFill>
                    <a:srgbClr val="0E7490"/>
                  </a:solidFill>
                  <a:latin typeface="Arial"/>
                  <a:ea typeface="Microsoft YaHei"/>
                  <a:cs typeface="Arial"/>
                </a:rPr>
                <a:t>常见误用</a:t>
              </a:r>
            </a:p>
          </p:txBody>
        </p:sp>
        <p:sp>
          <p:nvSpPr>
            <p:cNvPr id="27" name="Line 27"/>
            <p:cNvSpPr/>
            <p:nvPr/>
          </p:nvSpPr>
          <p:spPr>
            <a:xfrm>
              <a:off x="6591300" y="2276475"/>
              <a:ext cx="4800600" cy="9525"/>
            </a:xfrm>
            <a:custGeom>
              <a:avLst/>
              <a:gdLst/>
              <a:ahLst/>
              <a:cxnLst/>
              <a:rect l="l" t="t" r="r" b="b"/>
              <a:pathLst>
                <a:path w="4800600" h="9525">
                  <a:moveTo>
                    <a:pt x="0" y="0"/>
                  </a:moveTo>
                  <a:lnTo>
                    <a:pt x="4800600" y="0"/>
                  </a:lnTo>
                </a:path>
              </a:pathLst>
            </a:custGeom>
            <a:noFill/>
            <a:ln w="19050">
              <a:solidFill>
                <a:srgbClr val="D4E2EE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819900" y="2505075"/>
              <a:ext cx="4343400" cy="20955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65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常见误用：把「追踪」当成一次性胶水代码，没有版本、没有度量、没有回滚路径。</a:t>
              </a:r>
            </a:p>
            <a:p>
              <a:pPr algn="l"/>
              <a:r>
                <a:rPr lang="zh-CN" sz="165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无版本/无度量/无回滚</a:t>
              </a:r>
            </a:p>
          </p:txBody>
        </p:sp>
        <p:sp>
          <p:nvSpPr>
            <p:cNvPr id="29" name="Line 29"/>
            <p:cNvSpPr/>
            <p:nvPr/>
          </p:nvSpPr>
          <p:spPr>
            <a:xfrm>
              <a:off x="6591300" y="4905375"/>
              <a:ext cx="4800600" cy="9525"/>
            </a:xfrm>
            <a:custGeom>
              <a:avLst/>
              <a:gdLst/>
              <a:ahLst/>
              <a:cxnLst/>
              <a:rect l="l" t="t" r="r" b="b"/>
              <a:pathLst>
                <a:path w="4800600" h="9525">
                  <a:moveTo>
                    <a:pt x="0" y="0"/>
                  </a:moveTo>
                  <a:lnTo>
                    <a:pt x="4800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</p:grpSp>
      <p:grpSp>
        <p:nvGrpSpPr>
          <p:cNvPr id="34" name="EasySlides Component: synthesis"/>
          <p:cNvGrpSpPr/>
          <p:nvPr/>
        </p:nvGrpSpPr>
        <p:grpSpPr>
          <a:xfrm>
            <a:off x="495300" y="5476875"/>
            <a:ext cx="11201400" cy="714375"/>
            <a:chOff x="495300" y="5476875"/>
            <a:chExt cx="11201400" cy="714375"/>
          </a:xfrm>
        </p:grpSpPr>
        <p:sp>
          <p:nvSpPr>
            <p:cNvPr id="31" name="Rectangle 31"/>
            <p:cNvSpPr/>
            <p:nvPr/>
          </p:nvSpPr>
          <p:spPr>
            <a:xfrm>
              <a:off x="495300" y="5476875"/>
              <a:ext cx="11201400" cy="714375"/>
            </a:xfrm>
            <a:prstGeom prst="roundRect">
              <a:avLst>
                <a:gd name="adj" fmla="val 5333"/>
              </a:avLst>
            </a:prstGeom>
            <a:solidFill>
              <a:srgbClr val="0E7490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495300" y="5476875"/>
              <a:ext cx="76200" cy="714375"/>
            </a:xfrm>
            <a:prstGeom prst="roundRect">
              <a:avLst>
                <a:gd name="adj" fmla="val 50000"/>
              </a:avLst>
            </a:prstGeom>
            <a:solidFill>
              <a:srgbClr val="CC0000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876300" y="5610225"/>
              <a:ext cx="10439400" cy="4476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治理视角：控制权矩阵与自主性预算划定行动边界。</a:t>
              </a:r>
            </a:p>
          </p:txBody>
        </p:sp>
      </p:grp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0E7490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38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代码契约：追踪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06B6D4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仓库真实代码 · 契约切面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课程第18讲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Agent Runtime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38</a:t>
            </a:r>
          </a:p>
        </p:txBody>
      </p:sp>
      <p:grpSp>
        <p:nvGrpSpPr>
          <p:cNvPr id="26" name="EasySlides Component: evidence"/>
          <p:cNvGrpSpPr/>
          <p:nvPr/>
        </p:nvGrpSpPr>
        <p:grpSpPr>
          <a:xfrm>
            <a:off x="7124700" y="1285875"/>
            <a:ext cx="4572000" cy="4905375"/>
            <a:chOff x="7124700" y="1285875"/>
            <a:chExt cx="4572000" cy="4905375"/>
          </a:xfrm>
        </p:grpSpPr>
        <p:sp>
          <p:nvSpPr>
            <p:cNvPr id="15" name="Rectangle 15"/>
            <p:cNvSpPr/>
            <p:nvPr/>
          </p:nvSpPr>
          <p:spPr>
            <a:xfrm>
              <a:off x="7124700" y="1285875"/>
              <a:ext cx="4572000" cy="4905375"/>
            </a:xfrm>
            <a:prstGeom prst="roundRect">
              <a:avLst>
                <a:gd name="adj" fmla="val 833"/>
              </a:avLst>
            </a:prstGeom>
            <a:solidFill>
              <a:srgbClr val="F0F9FC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7124700" y="1285875"/>
              <a:ext cx="76200" cy="4905375"/>
            </a:xfrm>
            <a:prstGeom prst="rect">
              <a:avLst/>
            </a:prstGeom>
            <a:solidFill>
              <a:srgbClr val="06B6D4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7391400" y="1552575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7391400" y="3105150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7391400" y="4657725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605712" y="1745456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06B6D4"/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605712" y="3298031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06B6D4"/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605712" y="4850606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CC0000"/>
                  </a:solidFill>
                  <a:latin typeface="Arial"/>
                  <a:ea typeface="Microsoft YaHei"/>
                  <a:cs typeface="Arial"/>
                </a:rPr>
                <a:t>03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848600" y="1819275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文件：workflow.py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848600" y="3371850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切面：契约——先读接口再读实现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848600" y="4924425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测试见 tests/ 目录</a:t>
              </a:r>
            </a:p>
          </p:txBody>
        </p:sp>
      </p:grpSp>
      <p:grpSp>
        <p:nvGrpSpPr>
          <p:cNvPr id="32" name="EasySlides Component: figure"/>
          <p:cNvGrpSpPr/>
          <p:nvPr/>
        </p:nvGrpSpPr>
        <p:grpSpPr>
          <a:xfrm>
            <a:off x="495300" y="1285875"/>
            <a:ext cx="6400800" cy="4905375"/>
            <a:chOff x="495300" y="1285875"/>
            <a:chExt cx="6400800" cy="4905375"/>
          </a:xfrm>
        </p:grpSpPr>
        <p:sp>
          <p:nvSpPr>
            <p:cNvPr id="27" name="Rectangle 27"/>
            <p:cNvSpPr/>
            <p:nvPr/>
          </p:nvSpPr>
          <p:spPr>
            <a:xfrm>
              <a:off x="495300" y="1285875"/>
              <a:ext cx="6400800" cy="4905375"/>
            </a:xfrm>
            <a:prstGeom prst="roundRect">
              <a:avLst>
                <a:gd name="adj" fmla="val 777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647700" y="1438275"/>
              <a:ext cx="6096000" cy="3905250"/>
            </a:xfrm>
            <a:prstGeom prst="roundRect">
              <a:avLst>
                <a:gd name="adj" fmla="val 488"/>
              </a:avLst>
            </a:prstGeom>
            <a:solidFill>
              <a:srgbClr val="F0F9FC"/>
            </a:solidFill>
            <a:ln w="9525">
              <a:solidFill>
                <a:srgbClr val="D4E2EE"/>
              </a:solidFill>
            </a:ln>
          </p:spPr>
        </p:sp>
        <p:pic>
          <p:nvPicPr>
            <p:cNvPr id="29" name="Image 29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47700" y="1605643"/>
              <a:ext cx="6096000" cy="3570514"/>
            </a:xfrm>
            <a:prstGeom prst="rect">
              <a:avLst/>
            </a:prstGeom>
          </p:spPr>
        </p:pic>
        <p:sp>
          <p:nvSpPr>
            <p:cNvPr id="30" name="Line 30"/>
            <p:cNvSpPr/>
            <p:nvPr/>
          </p:nvSpPr>
          <p:spPr>
            <a:xfrm>
              <a:off x="723900" y="5534025"/>
              <a:ext cx="5943600" cy="9525"/>
            </a:xfrm>
            <a:custGeom>
              <a:avLst/>
              <a:gdLst/>
              <a:ahLst/>
              <a:cxnLst/>
              <a:rect l="l" t="t" r="r" b="b"/>
              <a:pathLst>
                <a:path w="5943600" h="9525">
                  <a:moveTo>
                    <a:pt x="0" y="0"/>
                  </a:moveTo>
                  <a:lnTo>
                    <a:pt x="5943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800100" y="5610225"/>
              <a:ext cx="57912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代码：workflow.py · 契约（概念4 追踪）</a:t>
              </a:r>
            </a:p>
          </p:txBody>
        </p:sp>
      </p:grp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0E7490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39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代码实现：追踪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06B6D4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仓库真实代码 · 实现切面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课程第18讲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Agent Runtime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39</a:t>
            </a:r>
          </a:p>
        </p:txBody>
      </p:sp>
      <p:grpSp>
        <p:nvGrpSpPr>
          <p:cNvPr id="26" name="EasySlides Component: evidence"/>
          <p:cNvGrpSpPr/>
          <p:nvPr/>
        </p:nvGrpSpPr>
        <p:grpSpPr>
          <a:xfrm>
            <a:off x="7124700" y="1285875"/>
            <a:ext cx="4572000" cy="4905375"/>
            <a:chOff x="7124700" y="1285875"/>
            <a:chExt cx="4572000" cy="4905375"/>
          </a:xfrm>
        </p:grpSpPr>
        <p:sp>
          <p:nvSpPr>
            <p:cNvPr id="15" name="Rectangle 15"/>
            <p:cNvSpPr/>
            <p:nvPr/>
          </p:nvSpPr>
          <p:spPr>
            <a:xfrm>
              <a:off x="7124700" y="1285875"/>
              <a:ext cx="4572000" cy="4905375"/>
            </a:xfrm>
            <a:prstGeom prst="roundRect">
              <a:avLst>
                <a:gd name="adj" fmla="val 833"/>
              </a:avLst>
            </a:prstGeom>
            <a:solidFill>
              <a:srgbClr val="F0F9FC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7124700" y="1285875"/>
              <a:ext cx="76200" cy="4905375"/>
            </a:xfrm>
            <a:prstGeom prst="rect">
              <a:avLst/>
            </a:prstGeom>
            <a:solidFill>
              <a:srgbClr val="06B6D4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7391400" y="1552575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7391400" y="3105150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7391400" y="4657725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605712" y="1745456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06B6D4"/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605712" y="3298031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06B6D4"/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605712" y="4850606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CC0000"/>
                  </a:solidFill>
                  <a:latin typeface="Arial"/>
                  <a:ea typeface="Microsoft YaHei"/>
                  <a:cs typeface="Arial"/>
                </a:rPr>
                <a:t>03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848600" y="1819275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文件：workflow.py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848600" y="3371850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切面：实现——先读接口再读实现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848600" y="4924425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测试见 tests/ 目录</a:t>
              </a:r>
            </a:p>
          </p:txBody>
        </p:sp>
      </p:grpSp>
      <p:grpSp>
        <p:nvGrpSpPr>
          <p:cNvPr id="32" name="EasySlides Component: figure"/>
          <p:cNvGrpSpPr/>
          <p:nvPr/>
        </p:nvGrpSpPr>
        <p:grpSpPr>
          <a:xfrm>
            <a:off x="495300" y="1285875"/>
            <a:ext cx="6400800" cy="4905375"/>
            <a:chOff x="495300" y="1285875"/>
            <a:chExt cx="6400800" cy="4905375"/>
          </a:xfrm>
        </p:grpSpPr>
        <p:sp>
          <p:nvSpPr>
            <p:cNvPr id="27" name="Rectangle 27"/>
            <p:cNvSpPr/>
            <p:nvPr/>
          </p:nvSpPr>
          <p:spPr>
            <a:xfrm>
              <a:off x="495300" y="1285875"/>
              <a:ext cx="6400800" cy="4905375"/>
            </a:xfrm>
            <a:prstGeom prst="roundRect">
              <a:avLst>
                <a:gd name="adj" fmla="val 777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647700" y="1438275"/>
              <a:ext cx="6096000" cy="3905250"/>
            </a:xfrm>
            <a:prstGeom prst="roundRect">
              <a:avLst>
                <a:gd name="adj" fmla="val 488"/>
              </a:avLst>
            </a:prstGeom>
            <a:solidFill>
              <a:srgbClr val="F0F9FC"/>
            </a:solidFill>
            <a:ln w="9525">
              <a:solidFill>
                <a:srgbClr val="D4E2EE"/>
              </a:solidFill>
            </a:ln>
          </p:spPr>
        </p:sp>
        <p:pic>
          <p:nvPicPr>
            <p:cNvPr id="29" name="Image 29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47700" y="1605643"/>
              <a:ext cx="6096000" cy="3570514"/>
            </a:xfrm>
            <a:prstGeom prst="rect">
              <a:avLst/>
            </a:prstGeom>
          </p:spPr>
        </p:pic>
        <p:sp>
          <p:nvSpPr>
            <p:cNvPr id="30" name="Line 30"/>
            <p:cNvSpPr/>
            <p:nvPr/>
          </p:nvSpPr>
          <p:spPr>
            <a:xfrm>
              <a:off x="723900" y="5534025"/>
              <a:ext cx="5943600" cy="9525"/>
            </a:xfrm>
            <a:custGeom>
              <a:avLst/>
              <a:gdLst/>
              <a:ahLst/>
              <a:cxnLst/>
              <a:rect l="l" t="t" r="r" b="b"/>
              <a:pathLst>
                <a:path w="5943600" h="9525">
                  <a:moveTo>
                    <a:pt x="0" y="0"/>
                  </a:moveTo>
                  <a:lnTo>
                    <a:pt x="5943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800100" y="5610225"/>
              <a:ext cx="57912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代码：workflow.py · 实现（概念4 追踪）</a:t>
              </a:r>
            </a:p>
          </p:txBody>
        </p:sp>
      </p:grp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0E7490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40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应用实践：追踪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06B6D4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三步落地：闭环→灰度→放开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课程第18讲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Agent Runtime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40</a:t>
            </a:r>
          </a:p>
        </p:txBody>
      </p:sp>
      <p:grpSp>
        <p:nvGrpSpPr>
          <p:cNvPr id="22" name="EasySlides Component: step_01"/>
          <p:cNvGrpSpPr/>
          <p:nvPr/>
        </p:nvGrpSpPr>
        <p:grpSpPr>
          <a:xfrm>
            <a:off x="495300" y="1285875"/>
            <a:ext cx="3505200" cy="3476625"/>
            <a:chOff x="495300" y="1285875"/>
            <a:chExt cx="3505200" cy="3476625"/>
          </a:xfrm>
        </p:grpSpPr>
        <p:sp>
          <p:nvSpPr>
            <p:cNvPr id="15" name="Rectangle 15"/>
            <p:cNvSpPr/>
            <p:nvPr/>
          </p:nvSpPr>
          <p:spPr>
            <a:xfrm>
              <a:off x="495300" y="1285875"/>
              <a:ext cx="3505200" cy="3476625"/>
            </a:xfrm>
            <a:prstGeom prst="roundRect">
              <a:avLst>
                <a:gd name="adj" fmla="val 1096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Ellipse 16"/>
            <p:cNvSpPr/>
            <p:nvPr/>
          </p:nvSpPr>
          <p:spPr>
            <a:xfrm>
              <a:off x="695325" y="1495425"/>
              <a:ext cx="476250" cy="476250"/>
            </a:xfrm>
            <a:prstGeom prst="ellipse">
              <a:avLst/>
            </a:prstGeom>
            <a:solidFill>
              <a:srgbClr val="06B6D4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14375" y="1504950"/>
              <a:ext cx="43815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1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314450" y="1524000"/>
              <a:ext cx="2324100" cy="42862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650" b="1" dirty="0">
                  <a:solidFill>
                    <a:srgbClr val="0E7490"/>
                  </a:solidFill>
                  <a:latin typeface="Arial"/>
                  <a:ea typeface="Microsoft YaHei"/>
                  <a:cs typeface="Arial"/>
                </a:rPr>
                <a:t>最小闭环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800100" y="2181225"/>
              <a:ext cx="2895600" cy="9525"/>
            </a:xfrm>
            <a:custGeom>
              <a:avLst/>
              <a:gdLst/>
              <a:ahLst/>
              <a:cxnLst/>
              <a:rect l="l" t="t" r="r" b="b"/>
              <a:pathLst>
                <a:path w="2895600" h="9525">
                  <a:moveTo>
                    <a:pt x="0" y="0"/>
                  </a:moveTo>
                  <a:lnTo>
                    <a:pt x="2895600" y="0"/>
                  </a:lnTo>
                </a:path>
              </a:pathLst>
            </a:custGeom>
            <a:noFill/>
            <a:ln w="19050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952500" y="2476500"/>
              <a:ext cx="2590800" cy="1666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0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把「追踪」落到业务：先小流量灰度验证效果与成本，再逐步放开租户范围。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800100" y="4391025"/>
              <a:ext cx="762000" cy="66675"/>
            </a:xfrm>
            <a:prstGeom prst="rect">
              <a:avLst/>
            </a:prstGeom>
            <a:solidFill>
              <a:srgbClr val="CC0000"/>
            </a:solidFill>
            <a:ln>
              <a:noFill/>
            </a:ln>
          </p:spPr>
        </p:sp>
      </p:grpSp>
      <p:grpSp>
        <p:nvGrpSpPr>
          <p:cNvPr id="30" name="EasySlides Component: step_02"/>
          <p:cNvGrpSpPr/>
          <p:nvPr/>
        </p:nvGrpSpPr>
        <p:grpSpPr>
          <a:xfrm>
            <a:off x="4343400" y="1285875"/>
            <a:ext cx="3505200" cy="3476625"/>
            <a:chOff x="4343400" y="1285875"/>
            <a:chExt cx="3505200" cy="3476625"/>
          </a:xfrm>
        </p:grpSpPr>
        <p:sp>
          <p:nvSpPr>
            <p:cNvPr id="23" name="Rectangle 23"/>
            <p:cNvSpPr/>
            <p:nvPr/>
          </p:nvSpPr>
          <p:spPr>
            <a:xfrm>
              <a:off x="4343400" y="1285875"/>
              <a:ext cx="3505200" cy="3476625"/>
            </a:xfrm>
            <a:prstGeom prst="roundRect">
              <a:avLst>
                <a:gd name="adj" fmla="val 1096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4" name="Ellipse 24"/>
            <p:cNvSpPr/>
            <p:nvPr/>
          </p:nvSpPr>
          <p:spPr>
            <a:xfrm>
              <a:off x="4543425" y="1495425"/>
              <a:ext cx="476250" cy="476250"/>
            </a:xfrm>
            <a:prstGeom prst="ellipse">
              <a:avLst/>
            </a:prstGeom>
            <a:solidFill>
              <a:srgbClr val="06B6D4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4562475" y="1504950"/>
              <a:ext cx="43815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2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5162550" y="1524000"/>
              <a:ext cx="2324100" cy="42862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650" b="1" dirty="0">
                  <a:solidFill>
                    <a:srgbClr val="0E7490"/>
                  </a:solidFill>
                  <a:latin typeface="Arial"/>
                  <a:ea typeface="Microsoft YaHei"/>
                  <a:cs typeface="Arial"/>
                </a:rPr>
                <a:t>灰度验证</a:t>
              </a:r>
            </a:p>
          </p:txBody>
        </p:sp>
        <p:sp>
          <p:nvSpPr>
            <p:cNvPr id="27" name="Line 27"/>
            <p:cNvSpPr/>
            <p:nvPr/>
          </p:nvSpPr>
          <p:spPr>
            <a:xfrm>
              <a:off x="4648200" y="2181225"/>
              <a:ext cx="2895600" cy="9525"/>
            </a:xfrm>
            <a:custGeom>
              <a:avLst/>
              <a:gdLst/>
              <a:ahLst/>
              <a:cxnLst/>
              <a:rect l="l" t="t" r="r" b="b"/>
              <a:pathLst>
                <a:path w="2895600" h="9525">
                  <a:moveTo>
                    <a:pt x="0" y="0"/>
                  </a:moveTo>
                  <a:lnTo>
                    <a:pt x="2895600" y="0"/>
                  </a:lnTo>
                </a:path>
              </a:pathLst>
            </a:custGeom>
            <a:noFill/>
            <a:ln w="19050">
              <a:solidFill>
                <a:srgbClr val="D4E2EE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4800600" y="2476500"/>
              <a:ext cx="2590800" cy="1666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0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小流量对照基线，观察效果/成本/时延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4648200" y="4391025"/>
              <a:ext cx="762000" cy="66675"/>
            </a:xfrm>
            <a:prstGeom prst="rect">
              <a:avLst/>
            </a:prstGeom>
            <a:solidFill>
              <a:srgbClr val="CC0000"/>
            </a:solidFill>
            <a:ln>
              <a:noFill/>
            </a:ln>
          </p:spPr>
        </p:sp>
      </p:grpSp>
      <p:grpSp>
        <p:nvGrpSpPr>
          <p:cNvPr id="38" name="EasySlides Component: step_03"/>
          <p:cNvGrpSpPr/>
          <p:nvPr/>
        </p:nvGrpSpPr>
        <p:grpSpPr>
          <a:xfrm>
            <a:off x="8191500" y="1285875"/>
            <a:ext cx="3505200" cy="3476625"/>
            <a:chOff x="8191500" y="1285875"/>
            <a:chExt cx="3505200" cy="3476625"/>
          </a:xfrm>
        </p:grpSpPr>
        <p:sp>
          <p:nvSpPr>
            <p:cNvPr id="31" name="Rectangle 31"/>
            <p:cNvSpPr/>
            <p:nvPr/>
          </p:nvSpPr>
          <p:spPr>
            <a:xfrm>
              <a:off x="8191500" y="1285875"/>
              <a:ext cx="3505200" cy="3476625"/>
            </a:xfrm>
            <a:prstGeom prst="roundRect">
              <a:avLst>
                <a:gd name="adj" fmla="val 1096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32" name="Ellipse 32"/>
            <p:cNvSpPr/>
            <p:nvPr/>
          </p:nvSpPr>
          <p:spPr>
            <a:xfrm>
              <a:off x="8391525" y="1495425"/>
              <a:ext cx="476250" cy="476250"/>
            </a:xfrm>
            <a:prstGeom prst="ellipse">
              <a:avLst/>
            </a:prstGeom>
            <a:solidFill>
              <a:srgbClr val="06B6D4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8410575" y="1504950"/>
              <a:ext cx="43815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3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9010650" y="1524000"/>
              <a:ext cx="2324100" cy="42862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650" b="1" dirty="0">
                  <a:solidFill>
                    <a:srgbClr val="0E7490"/>
                  </a:solidFill>
                  <a:latin typeface="Arial"/>
                  <a:ea typeface="Microsoft YaHei"/>
                  <a:cs typeface="Arial"/>
                </a:rPr>
                <a:t>逐步放开</a:t>
              </a:r>
            </a:p>
          </p:txBody>
        </p:sp>
        <p:sp>
          <p:nvSpPr>
            <p:cNvPr id="35" name="Line 35"/>
            <p:cNvSpPr/>
            <p:nvPr/>
          </p:nvSpPr>
          <p:spPr>
            <a:xfrm>
              <a:off x="8496300" y="2181225"/>
              <a:ext cx="2895600" cy="9525"/>
            </a:xfrm>
            <a:custGeom>
              <a:avLst/>
              <a:gdLst/>
              <a:ahLst/>
              <a:cxnLst/>
              <a:rect l="l" t="t" r="r" b="b"/>
              <a:pathLst>
                <a:path w="2895600" h="9525">
                  <a:moveTo>
                    <a:pt x="0" y="0"/>
                  </a:moveTo>
                  <a:lnTo>
                    <a:pt x="2895600" y="0"/>
                  </a:lnTo>
                </a:path>
              </a:pathLst>
            </a:custGeom>
            <a:noFill/>
            <a:ln w="19050">
              <a:solidFill>
                <a:srgbClr val="D4E2EE"/>
              </a:solidFill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8648700" y="2476500"/>
              <a:ext cx="2590800" cy="1666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0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按租户/场景分批，异常即回滚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8496300" y="4391025"/>
              <a:ext cx="762000" cy="66675"/>
            </a:xfrm>
            <a:prstGeom prst="rect">
              <a:avLst/>
            </a:prstGeom>
            <a:solidFill>
              <a:srgbClr val="CC0000"/>
            </a:solidFill>
            <a:ln>
              <a:noFill/>
            </a:ln>
          </p:spPr>
        </p:sp>
      </p:grpSp>
      <p:grpSp>
        <p:nvGrpSpPr>
          <p:cNvPr id="42" name="EasySlides Component: synthesis"/>
          <p:cNvGrpSpPr/>
          <p:nvPr/>
        </p:nvGrpSpPr>
        <p:grpSpPr>
          <a:xfrm>
            <a:off x="495300" y="5476875"/>
            <a:ext cx="11201400" cy="714375"/>
            <a:chOff x="495300" y="5476875"/>
            <a:chExt cx="11201400" cy="714375"/>
          </a:xfrm>
        </p:grpSpPr>
        <p:sp>
          <p:nvSpPr>
            <p:cNvPr id="39" name="Rectangle 39"/>
            <p:cNvSpPr/>
            <p:nvPr/>
          </p:nvSpPr>
          <p:spPr>
            <a:xfrm>
              <a:off x="495300" y="5476875"/>
              <a:ext cx="11201400" cy="714375"/>
            </a:xfrm>
            <a:prstGeom prst="roundRect">
              <a:avLst>
                <a:gd name="adj" fmla="val 5333"/>
              </a:avLst>
            </a:prstGeom>
            <a:solidFill>
              <a:srgbClr val="0E7490"/>
            </a:solidFill>
            <a:ln>
              <a:noFill/>
            </a:ln>
          </p:spPr>
        </p:sp>
        <p:sp>
          <p:nvSpPr>
            <p:cNvPr id="40" name="Rectangle 40"/>
            <p:cNvSpPr/>
            <p:nvPr/>
          </p:nvSpPr>
          <p:spPr>
            <a:xfrm>
              <a:off x="495300" y="5476875"/>
              <a:ext cx="76200" cy="714375"/>
            </a:xfrm>
            <a:prstGeom prst="roundRect">
              <a:avLst>
                <a:gd name="adj" fmla="val 50000"/>
              </a:avLst>
            </a:prstGeom>
            <a:solidFill>
              <a:srgbClr val="CC0000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876300" y="5610225"/>
              <a:ext cx="10439400" cy="4476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案例视角：预算审批链路的审批-幂等-验真闭环实测。</a:t>
              </a:r>
            </a:p>
          </p:txBody>
        </p:sp>
      </p:grp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0E7490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41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陷阱与排查：追踪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06B6D4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症状→根因→处置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课程第18讲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Agent Runtime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41</a:t>
            </a:r>
          </a:p>
        </p:txBody>
      </p:sp>
      <p:grpSp>
        <p:nvGrpSpPr>
          <p:cNvPr id="38" name="EasySlides Component: matrix"/>
          <p:cNvGrpSpPr/>
          <p:nvPr/>
        </p:nvGrpSpPr>
        <p:grpSpPr>
          <a:xfrm>
            <a:off x="495300" y="1285875"/>
            <a:ext cx="11201400" cy="4905375"/>
            <a:chOff x="495300" y="1285875"/>
            <a:chExt cx="11201400" cy="4905375"/>
          </a:xfrm>
        </p:grpSpPr>
        <p:sp>
          <p:nvSpPr>
            <p:cNvPr id="15" name="Rectangle 15"/>
            <p:cNvSpPr/>
            <p:nvPr/>
          </p:nvSpPr>
          <p:spPr>
            <a:xfrm>
              <a:off x="495300" y="1285875"/>
              <a:ext cx="11201400" cy="4905375"/>
            </a:xfrm>
            <a:prstGeom prst="roundRect">
              <a:avLst>
                <a:gd name="adj" fmla="val 777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95300" y="1285875"/>
              <a:ext cx="11201400" cy="647700"/>
            </a:xfrm>
            <a:prstGeom prst="roundRect">
              <a:avLst>
                <a:gd name="adj" fmla="val 5882"/>
              </a:avLst>
            </a:prstGeom>
            <a:solidFill>
              <a:srgbClr val="0E7490"/>
            </a:solidFill>
            <a:ln>
              <a:noFill/>
            </a:ln>
          </p:spPr>
        </p:sp>
        <p:sp>
          <p:nvSpPr>
            <p:cNvPr id="17" name="Line 17"/>
            <p:cNvSpPr/>
            <p:nvPr/>
          </p:nvSpPr>
          <p:spPr>
            <a:xfrm>
              <a:off x="4229100" y="1285875"/>
              <a:ext cx="9525" cy="4143375"/>
            </a:xfrm>
            <a:custGeom>
              <a:avLst/>
              <a:gdLst/>
              <a:ahLst/>
              <a:cxnLst/>
              <a:rect l="l" t="t" r="r" b="b"/>
              <a:pathLst>
                <a:path w="9525" h="4143375">
                  <a:moveTo>
                    <a:pt x="0" y="0"/>
                  </a:moveTo>
                  <a:lnTo>
                    <a:pt x="0" y="4143375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sp>
          <p:nvSpPr>
            <p:cNvPr id="18" name="Line 18"/>
            <p:cNvSpPr/>
            <p:nvPr/>
          </p:nvSpPr>
          <p:spPr>
            <a:xfrm>
              <a:off x="7962900" y="1285875"/>
              <a:ext cx="9525" cy="4143375"/>
            </a:xfrm>
            <a:custGeom>
              <a:avLst/>
              <a:gdLst/>
              <a:ahLst/>
              <a:cxnLst/>
              <a:rect l="l" t="t" r="r" b="b"/>
              <a:pathLst>
                <a:path w="9525" h="4143375">
                  <a:moveTo>
                    <a:pt x="0" y="0"/>
                  </a:moveTo>
                  <a:lnTo>
                    <a:pt x="0" y="4143375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sp>
          <p:nvSpPr>
            <p:cNvPr id="19" name="Line 19"/>
            <p:cNvSpPr/>
            <p:nvPr/>
          </p:nvSpPr>
          <p:spPr>
            <a:xfrm>
              <a:off x="495300" y="1933575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sp>
          <p:nvSpPr>
            <p:cNvPr id="20" name="Line 20"/>
            <p:cNvSpPr/>
            <p:nvPr/>
          </p:nvSpPr>
          <p:spPr>
            <a:xfrm>
              <a:off x="495300" y="3095625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1" name="Line 21"/>
            <p:cNvSpPr/>
            <p:nvPr/>
          </p:nvSpPr>
          <p:spPr>
            <a:xfrm>
              <a:off x="495300" y="4257675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2" name="Line 22"/>
            <p:cNvSpPr/>
            <p:nvPr/>
          </p:nvSpPr>
          <p:spPr>
            <a:xfrm>
              <a:off x="495300" y="5429250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grpSp>
          <p:nvGrpSpPr>
            <p:cNvPr id="26" name="Group 26"/>
            <p:cNvGrpSpPr/>
            <p:nvPr/>
          </p:nvGrpSpPr>
          <p:grpSpPr>
            <a:xfrm>
              <a:off x="704850" y="1428750"/>
              <a:ext cx="10782300" cy="361950"/>
              <a:chOff x="704850" y="1428750"/>
              <a:chExt cx="10782300" cy="361950"/>
            </a:xfrm>
          </p:grpSpPr>
          <p:sp>
            <p:nvSpPr>
              <p:cNvPr id="23" name="TextBox 23"/>
              <p:cNvSpPr txBox="1"/>
              <p:nvPr/>
            </p:nvSpPr>
            <p:spPr>
              <a:xfrm>
                <a:off x="704850" y="1428750"/>
                <a:ext cx="33147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症状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4438650" y="1428750"/>
                <a:ext cx="33147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根因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8172450" y="1428750"/>
                <a:ext cx="33147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处置</a:t>
                </a:r>
              </a:p>
            </p:txBody>
          </p:sp>
        </p:grpSp>
        <p:grpSp>
          <p:nvGrpSpPr>
            <p:cNvPr id="36" name="Group 36"/>
            <p:cNvGrpSpPr/>
            <p:nvPr/>
          </p:nvGrpSpPr>
          <p:grpSpPr>
            <a:xfrm>
              <a:off x="723900" y="2105025"/>
              <a:ext cx="10744200" cy="3086100"/>
              <a:chOff x="723900" y="2105025"/>
              <a:chExt cx="10744200" cy="3086100"/>
            </a:xfrm>
          </p:grpSpPr>
          <p:sp>
            <p:nvSpPr>
              <p:cNvPr id="27" name="TextBox 27"/>
              <p:cNvSpPr txBox="1"/>
              <p:nvPr/>
            </p:nvSpPr>
            <p:spPr>
              <a:xfrm>
                <a:off x="723900" y="21050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「追踪」典型故障：静默失败—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4457700" y="21050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缺少验证/预算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8191500" y="21050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验真+预算上限</a:t>
                </a: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723900" y="326707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结果不可解释</a:t>
                </a: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4457700" y="326707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无 Trace 留痕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8191500" y="326707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接入统一 Trace</a:t>
                </a: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723900" y="44291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效果悄悄退化</a:t>
                </a: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4457700" y="44291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无回归基线</a:t>
                </a:r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8191500" y="44291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评测+回归门禁</a:t>
                </a:r>
              </a:p>
            </p:txBody>
          </p:sp>
        </p:grpSp>
        <p:sp>
          <p:nvSpPr>
            <p:cNvPr id="37" name="TextBox 37"/>
            <p:cNvSpPr txBox="1"/>
            <p:nvPr/>
          </p:nvSpPr>
          <p:spPr>
            <a:xfrm>
              <a:off x="828675" y="5581650"/>
              <a:ext cx="10534650" cy="4191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500" b="1" dirty="0">
                  <a:solidFill>
                    <a:srgbClr val="0E7490"/>
                  </a:solidFill>
                  <a:latin typeface="Arial"/>
                  <a:ea typeface="Microsoft YaHei"/>
                  <a:cs typeface="Arial"/>
                </a:rPr>
                <a:t>先止血，再根因，最后沉淀为回归用例</a:t>
              </a:r>
            </a:p>
          </p:txBody>
        </p:sp>
      </p:grp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0E7490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42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工程决策：追踪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06B6D4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候选方案 × 取舍（ADR）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课程第18讲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Agent Runtime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42</a:t>
            </a:r>
          </a:p>
        </p:txBody>
      </p:sp>
      <p:grpSp>
        <p:nvGrpSpPr>
          <p:cNvPr id="38" name="EasySlides Component: matrix"/>
          <p:cNvGrpSpPr/>
          <p:nvPr/>
        </p:nvGrpSpPr>
        <p:grpSpPr>
          <a:xfrm>
            <a:off x="495300" y="1285875"/>
            <a:ext cx="11201400" cy="4905375"/>
            <a:chOff x="495300" y="1285875"/>
            <a:chExt cx="11201400" cy="4905375"/>
          </a:xfrm>
        </p:grpSpPr>
        <p:sp>
          <p:nvSpPr>
            <p:cNvPr id="15" name="Rectangle 15"/>
            <p:cNvSpPr/>
            <p:nvPr/>
          </p:nvSpPr>
          <p:spPr>
            <a:xfrm>
              <a:off x="495300" y="1285875"/>
              <a:ext cx="11201400" cy="4905375"/>
            </a:xfrm>
            <a:prstGeom prst="roundRect">
              <a:avLst>
                <a:gd name="adj" fmla="val 777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95300" y="1285875"/>
              <a:ext cx="11201400" cy="647700"/>
            </a:xfrm>
            <a:prstGeom prst="roundRect">
              <a:avLst>
                <a:gd name="adj" fmla="val 5882"/>
              </a:avLst>
            </a:prstGeom>
            <a:solidFill>
              <a:srgbClr val="0E7490"/>
            </a:solidFill>
            <a:ln>
              <a:noFill/>
            </a:ln>
          </p:spPr>
        </p:sp>
        <p:sp>
          <p:nvSpPr>
            <p:cNvPr id="17" name="Line 17"/>
            <p:cNvSpPr/>
            <p:nvPr/>
          </p:nvSpPr>
          <p:spPr>
            <a:xfrm>
              <a:off x="4229100" y="1285875"/>
              <a:ext cx="9525" cy="4143375"/>
            </a:xfrm>
            <a:custGeom>
              <a:avLst/>
              <a:gdLst/>
              <a:ahLst/>
              <a:cxnLst/>
              <a:rect l="l" t="t" r="r" b="b"/>
              <a:pathLst>
                <a:path w="9525" h="4143375">
                  <a:moveTo>
                    <a:pt x="0" y="0"/>
                  </a:moveTo>
                  <a:lnTo>
                    <a:pt x="0" y="4143375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sp>
          <p:nvSpPr>
            <p:cNvPr id="18" name="Line 18"/>
            <p:cNvSpPr/>
            <p:nvPr/>
          </p:nvSpPr>
          <p:spPr>
            <a:xfrm>
              <a:off x="7962900" y="1285875"/>
              <a:ext cx="9525" cy="4143375"/>
            </a:xfrm>
            <a:custGeom>
              <a:avLst/>
              <a:gdLst/>
              <a:ahLst/>
              <a:cxnLst/>
              <a:rect l="l" t="t" r="r" b="b"/>
              <a:pathLst>
                <a:path w="9525" h="4143375">
                  <a:moveTo>
                    <a:pt x="0" y="0"/>
                  </a:moveTo>
                  <a:lnTo>
                    <a:pt x="0" y="4143375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sp>
          <p:nvSpPr>
            <p:cNvPr id="19" name="Line 19"/>
            <p:cNvSpPr/>
            <p:nvPr/>
          </p:nvSpPr>
          <p:spPr>
            <a:xfrm>
              <a:off x="495300" y="1933575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sp>
          <p:nvSpPr>
            <p:cNvPr id="20" name="Line 20"/>
            <p:cNvSpPr/>
            <p:nvPr/>
          </p:nvSpPr>
          <p:spPr>
            <a:xfrm>
              <a:off x="495300" y="3095625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1" name="Line 21"/>
            <p:cNvSpPr/>
            <p:nvPr/>
          </p:nvSpPr>
          <p:spPr>
            <a:xfrm>
              <a:off x="495300" y="4257675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2" name="Line 22"/>
            <p:cNvSpPr/>
            <p:nvPr/>
          </p:nvSpPr>
          <p:spPr>
            <a:xfrm>
              <a:off x="495300" y="5429250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grpSp>
          <p:nvGrpSpPr>
            <p:cNvPr id="26" name="Group 26"/>
            <p:cNvGrpSpPr/>
            <p:nvPr/>
          </p:nvGrpSpPr>
          <p:grpSpPr>
            <a:xfrm>
              <a:off x="704850" y="1428750"/>
              <a:ext cx="10782300" cy="361950"/>
              <a:chOff x="704850" y="1428750"/>
              <a:chExt cx="10782300" cy="361950"/>
            </a:xfrm>
          </p:grpSpPr>
          <p:sp>
            <p:nvSpPr>
              <p:cNvPr id="23" name="TextBox 23"/>
              <p:cNvSpPr txBox="1"/>
              <p:nvPr/>
            </p:nvSpPr>
            <p:spPr>
              <a:xfrm>
                <a:off x="704850" y="1428750"/>
                <a:ext cx="33147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方案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4438650" y="1428750"/>
                <a:ext cx="33147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代价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8172450" y="1428750"/>
                <a:ext cx="33147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结论</a:t>
                </a:r>
              </a:p>
            </p:txBody>
          </p:sp>
        </p:grpSp>
        <p:grpSp>
          <p:nvGrpSpPr>
            <p:cNvPr id="36" name="Group 36"/>
            <p:cNvGrpSpPr/>
            <p:nvPr/>
          </p:nvGrpSpPr>
          <p:grpSpPr>
            <a:xfrm>
              <a:off x="723900" y="2105025"/>
              <a:ext cx="10744200" cy="3086100"/>
              <a:chOff x="723900" y="2105025"/>
              <a:chExt cx="10744200" cy="3086100"/>
            </a:xfrm>
          </p:grpSpPr>
          <p:sp>
            <p:nvSpPr>
              <p:cNvPr id="27" name="TextBox 27"/>
              <p:cNvSpPr txBox="1"/>
              <p:nvPr/>
            </p:nvSpPr>
            <p:spPr>
              <a:xfrm>
                <a:off x="723900" y="21050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直连实现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4457700" y="21050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快但耦合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8191500" y="21050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Demo 可用</a:t>
                </a: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723900" y="326707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平台化</a:t>
                </a: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4457700" y="326707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前期成本高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8191500" y="326707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生产首选</a:t>
                </a: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723900" y="44291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保持简单</a:t>
                </a: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4457700" y="44291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能力上限</a:t>
                </a:r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8191500" y="44291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按场景取舍</a:t>
                </a:r>
              </a:p>
            </p:txBody>
          </p:sp>
        </p:grpSp>
        <p:sp>
          <p:nvSpPr>
            <p:cNvPr id="37" name="TextBox 37"/>
            <p:cNvSpPr txBox="1"/>
            <p:nvPr/>
          </p:nvSpPr>
          <p:spPr>
            <a:xfrm>
              <a:off x="828675" y="5581650"/>
              <a:ext cx="10534650" cy="4191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500" b="1" dirty="0">
                  <a:solidFill>
                    <a:srgbClr val="0E7490"/>
                  </a:solidFill>
                  <a:latin typeface="Arial"/>
                  <a:ea typeface="Microsoft YaHei"/>
                  <a:cs typeface="Arial"/>
                </a:rPr>
                <a:t>「追踪」的选型以证据与约束为准</a:t>
              </a:r>
            </a:p>
          </p:txBody>
        </p:sp>
      </p:grp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0E7490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43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优化拓展：追踪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06B6D4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三个可持续优化抓手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课程第18讲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Agent Runtime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43</a:t>
            </a:r>
          </a:p>
        </p:txBody>
      </p:sp>
      <p:grpSp>
        <p:nvGrpSpPr>
          <p:cNvPr id="21" name="EasySlides Component: evidence_01"/>
          <p:cNvGrpSpPr/>
          <p:nvPr/>
        </p:nvGrpSpPr>
        <p:grpSpPr>
          <a:xfrm>
            <a:off x="495300" y="3524250"/>
            <a:ext cx="11201400" cy="1285875"/>
            <a:chOff x="495300" y="3524250"/>
            <a:chExt cx="11201400" cy="1285875"/>
          </a:xfrm>
        </p:grpSpPr>
        <p:sp>
          <p:nvSpPr>
            <p:cNvPr id="15" name="Rectangle 15"/>
            <p:cNvSpPr/>
            <p:nvPr/>
          </p:nvSpPr>
          <p:spPr>
            <a:xfrm>
              <a:off x="495300" y="3524250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95300" y="3524250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06B6D4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33425" y="3971925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06B6D4"/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447800" y="3752850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0E7490"/>
                  </a:solidFill>
                  <a:latin typeface="Arial"/>
                  <a:ea typeface="Microsoft YaHei"/>
                  <a:cs typeface="Arial"/>
                </a:rPr>
                <a:t>资产化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4362450" y="3752850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4686300" y="3752850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「追踪」优化一：把人工经验固化为资产（规则/Skill/</a:t>
              </a:r>
            </a:p>
          </p:txBody>
        </p:sp>
      </p:grpSp>
      <p:grpSp>
        <p:nvGrpSpPr>
          <p:cNvPr id="28" name="EasySlides Component: evidence_02"/>
          <p:cNvGrpSpPr/>
          <p:nvPr/>
        </p:nvGrpSpPr>
        <p:grpSpPr>
          <a:xfrm>
            <a:off x="495300" y="4905375"/>
            <a:ext cx="11201400" cy="1285875"/>
            <a:chOff x="495300" y="4905375"/>
            <a:chExt cx="11201400" cy="1285875"/>
          </a:xfrm>
        </p:grpSpPr>
        <p:sp>
          <p:nvSpPr>
            <p:cNvPr id="22" name="Rectangle 22"/>
            <p:cNvSpPr/>
            <p:nvPr/>
          </p:nvSpPr>
          <p:spPr>
            <a:xfrm>
              <a:off x="495300" y="4905375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495300" y="4905375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06B6D4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33425" y="5353050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06B6D4"/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447800" y="5133975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0E7490"/>
                  </a:solidFill>
                  <a:latin typeface="Arial"/>
                  <a:ea typeface="Microsoft YaHei"/>
                  <a:cs typeface="Arial"/>
                </a:rPr>
                <a:t>基线化</a:t>
              </a:r>
            </a:p>
          </p:txBody>
        </p:sp>
        <p:sp>
          <p:nvSpPr>
            <p:cNvPr id="26" name="Line 26"/>
            <p:cNvSpPr/>
            <p:nvPr/>
          </p:nvSpPr>
          <p:spPr>
            <a:xfrm>
              <a:off x="4362450" y="5133975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4686300" y="5133975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「追踪」优化二：建立基线对照（关闭/盲选/受控三组）证明增量</a:t>
              </a:r>
            </a:p>
          </p:txBody>
        </p:sp>
      </p:grpSp>
      <p:grpSp>
        <p:nvGrpSpPr>
          <p:cNvPr id="34" name="EasySlides Component: metric_01"/>
          <p:cNvGrpSpPr/>
          <p:nvPr/>
        </p:nvGrpSpPr>
        <p:grpSpPr>
          <a:xfrm>
            <a:off x="495300" y="1285875"/>
            <a:ext cx="3505200" cy="1809750"/>
            <a:chOff x="495300" y="1285875"/>
            <a:chExt cx="3505200" cy="1809750"/>
          </a:xfrm>
        </p:grpSpPr>
        <p:sp>
          <p:nvSpPr>
            <p:cNvPr id="29" name="Rectangle 29"/>
            <p:cNvSpPr/>
            <p:nvPr/>
          </p:nvSpPr>
          <p:spPr>
            <a:xfrm>
              <a:off x="495300" y="1285875"/>
              <a:ext cx="3505200" cy="1809750"/>
            </a:xfrm>
            <a:prstGeom prst="roundRect">
              <a:avLst>
                <a:gd name="adj" fmla="val 2105"/>
              </a:avLst>
            </a:prstGeom>
            <a:solidFill>
              <a:srgbClr val="F0F9FC"/>
            </a:solidFill>
            <a:ln w="11430">
              <a:solidFill>
                <a:srgbClr val="B8C7D6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495300" y="1285875"/>
              <a:ext cx="3505200" cy="66675"/>
            </a:xfrm>
            <a:prstGeom prst="roundRect">
              <a:avLst>
                <a:gd name="adj" fmla="val 50000"/>
              </a:avLst>
            </a:prstGeom>
            <a:solidFill>
              <a:srgbClr val="06B6D4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62000" y="1619250"/>
              <a:ext cx="2971800" cy="7143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3150" b="1" dirty="0">
                  <a:solidFill>
                    <a:srgbClr val="0E7490"/>
                  </a:solidFill>
                  <a:latin typeface="Arial"/>
                  <a:ea typeface="Microsoft YaHei"/>
                  <a:cs typeface="Arial"/>
                </a:rPr>
                <a:t>资产化</a:t>
              </a:r>
            </a:p>
          </p:txBody>
        </p:sp>
        <p:sp>
          <p:nvSpPr>
            <p:cNvPr id="32" name="Line 32"/>
            <p:cNvSpPr/>
            <p:nvPr/>
          </p:nvSpPr>
          <p:spPr>
            <a:xfrm>
              <a:off x="990600" y="2476500"/>
              <a:ext cx="2514600" cy="9525"/>
            </a:xfrm>
            <a:custGeom>
              <a:avLst/>
              <a:gdLst/>
              <a:ahLst/>
              <a:cxnLst/>
              <a:rect l="l" t="t" r="r" b="b"/>
              <a:pathLst>
                <a:path w="2514600" h="9525">
                  <a:moveTo>
                    <a:pt x="0" y="0"/>
                  </a:moveTo>
                  <a:lnTo>
                    <a:pt x="2514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62000" y="2562225"/>
              <a:ext cx="29718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经验固化为规则/Skill</a:t>
              </a:r>
            </a:p>
          </p:txBody>
        </p:sp>
      </p:grpSp>
      <p:grpSp>
        <p:nvGrpSpPr>
          <p:cNvPr id="40" name="EasySlides Component: metric_02"/>
          <p:cNvGrpSpPr/>
          <p:nvPr/>
        </p:nvGrpSpPr>
        <p:grpSpPr>
          <a:xfrm>
            <a:off x="4343400" y="1285875"/>
            <a:ext cx="3505200" cy="1809750"/>
            <a:chOff x="4343400" y="1285875"/>
            <a:chExt cx="3505200" cy="1809750"/>
          </a:xfrm>
        </p:grpSpPr>
        <p:sp>
          <p:nvSpPr>
            <p:cNvPr id="35" name="Rectangle 35"/>
            <p:cNvSpPr/>
            <p:nvPr/>
          </p:nvSpPr>
          <p:spPr>
            <a:xfrm>
              <a:off x="4343400" y="1285875"/>
              <a:ext cx="3505200" cy="1809750"/>
            </a:xfrm>
            <a:prstGeom prst="roundRect">
              <a:avLst>
                <a:gd name="adj" fmla="val 2105"/>
              </a:avLst>
            </a:prstGeom>
            <a:solidFill>
              <a:srgbClr val="F0F9FC"/>
            </a:solidFill>
            <a:ln w="11430">
              <a:solidFill>
                <a:srgbClr val="B8C7D6"/>
              </a:solidFill>
            </a:ln>
          </p:spPr>
        </p:sp>
        <p:sp>
          <p:nvSpPr>
            <p:cNvPr id="36" name="Rectangle 36"/>
            <p:cNvSpPr/>
            <p:nvPr/>
          </p:nvSpPr>
          <p:spPr>
            <a:xfrm>
              <a:off x="4343400" y="1285875"/>
              <a:ext cx="3505200" cy="66675"/>
            </a:xfrm>
            <a:prstGeom prst="roundRect">
              <a:avLst>
                <a:gd name="adj" fmla="val 50000"/>
              </a:avLst>
            </a:prstGeom>
            <a:solidFill>
              <a:srgbClr val="06B6D4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4610100" y="1619250"/>
              <a:ext cx="2971800" cy="7143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3150" b="1" dirty="0">
                  <a:solidFill>
                    <a:srgbClr val="0E7490"/>
                  </a:solidFill>
                  <a:latin typeface="Arial"/>
                  <a:ea typeface="Microsoft YaHei"/>
                  <a:cs typeface="Arial"/>
                </a:rPr>
                <a:t>基线化</a:t>
              </a:r>
            </a:p>
          </p:txBody>
        </p:sp>
        <p:sp>
          <p:nvSpPr>
            <p:cNvPr id="38" name="Line 38"/>
            <p:cNvSpPr/>
            <p:nvPr/>
          </p:nvSpPr>
          <p:spPr>
            <a:xfrm>
              <a:off x="4838700" y="2476500"/>
              <a:ext cx="2514600" cy="9525"/>
            </a:xfrm>
            <a:custGeom>
              <a:avLst/>
              <a:gdLst/>
              <a:ahLst/>
              <a:cxnLst/>
              <a:rect l="l" t="t" r="r" b="b"/>
              <a:pathLst>
                <a:path w="2514600" h="9525">
                  <a:moveTo>
                    <a:pt x="0" y="0"/>
                  </a:moveTo>
                  <a:lnTo>
                    <a:pt x="2514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4610100" y="2562225"/>
              <a:ext cx="29718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对照实验证明增量</a:t>
              </a:r>
            </a:p>
          </p:txBody>
        </p:sp>
      </p:grpSp>
      <p:grpSp>
        <p:nvGrpSpPr>
          <p:cNvPr id="46" name="EasySlides Component: metric_03"/>
          <p:cNvGrpSpPr/>
          <p:nvPr/>
        </p:nvGrpSpPr>
        <p:grpSpPr>
          <a:xfrm>
            <a:off x="8191500" y="1285875"/>
            <a:ext cx="3505200" cy="1809750"/>
            <a:chOff x="8191500" y="1285875"/>
            <a:chExt cx="3505200" cy="1809750"/>
          </a:xfrm>
        </p:grpSpPr>
        <p:sp>
          <p:nvSpPr>
            <p:cNvPr id="41" name="Rectangle 41"/>
            <p:cNvSpPr/>
            <p:nvPr/>
          </p:nvSpPr>
          <p:spPr>
            <a:xfrm>
              <a:off x="8191500" y="1285875"/>
              <a:ext cx="3505200" cy="1809750"/>
            </a:xfrm>
            <a:prstGeom prst="roundRect">
              <a:avLst>
                <a:gd name="adj" fmla="val 2105"/>
              </a:avLst>
            </a:prstGeom>
            <a:solidFill>
              <a:srgbClr val="F0F9FC"/>
            </a:solidFill>
            <a:ln w="11430">
              <a:solidFill>
                <a:srgbClr val="B8C7D6"/>
              </a:solidFill>
            </a:ln>
          </p:spPr>
        </p:sp>
        <p:sp>
          <p:nvSpPr>
            <p:cNvPr id="42" name="Rectangle 42"/>
            <p:cNvSpPr/>
            <p:nvPr/>
          </p:nvSpPr>
          <p:spPr>
            <a:xfrm>
              <a:off x="8191500" y="1285875"/>
              <a:ext cx="3505200" cy="66675"/>
            </a:xfrm>
            <a:prstGeom prst="roundRect">
              <a:avLst>
                <a:gd name="adj" fmla="val 50000"/>
              </a:avLst>
            </a:prstGeom>
            <a:solidFill>
              <a:srgbClr val="06B6D4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8458200" y="1619250"/>
              <a:ext cx="2971800" cy="7143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3150" b="1" dirty="0">
                  <a:solidFill>
                    <a:srgbClr val="0E7490"/>
                  </a:solidFill>
                  <a:latin typeface="Arial"/>
                  <a:ea typeface="Microsoft YaHei"/>
                  <a:cs typeface="Arial"/>
                </a:rPr>
                <a:t>观测化</a:t>
              </a:r>
            </a:p>
          </p:txBody>
        </p:sp>
        <p:sp>
          <p:nvSpPr>
            <p:cNvPr id="44" name="Line 44"/>
            <p:cNvSpPr/>
            <p:nvPr/>
          </p:nvSpPr>
          <p:spPr>
            <a:xfrm>
              <a:off x="8686800" y="2476500"/>
              <a:ext cx="2514600" cy="9525"/>
            </a:xfrm>
            <a:custGeom>
              <a:avLst/>
              <a:gdLst/>
              <a:ahLst/>
              <a:cxnLst/>
              <a:rect l="l" t="t" r="r" b="b"/>
              <a:pathLst>
                <a:path w="2514600" h="9525">
                  <a:moveTo>
                    <a:pt x="0" y="0"/>
                  </a:moveTo>
                  <a:lnTo>
                    <a:pt x="2514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8458200" y="2562225"/>
              <a:ext cx="29718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Trace/Baseline 先行</a:t>
              </a:r>
            </a:p>
          </p:txBody>
        </p:sp>
      </p:grp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0E7490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44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本章知识图谱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06B6D4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概念之间的结构关系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课程第18讲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Agent Runtime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44</a:t>
            </a:r>
          </a:p>
        </p:txBody>
      </p:sp>
      <p:grpSp>
        <p:nvGrpSpPr>
          <p:cNvPr id="26" name="EasySlides Component: evidence"/>
          <p:cNvGrpSpPr/>
          <p:nvPr/>
        </p:nvGrpSpPr>
        <p:grpSpPr>
          <a:xfrm>
            <a:off x="7124700" y="1285875"/>
            <a:ext cx="4572000" cy="4905375"/>
            <a:chOff x="7124700" y="1285875"/>
            <a:chExt cx="4572000" cy="4905375"/>
          </a:xfrm>
        </p:grpSpPr>
        <p:sp>
          <p:nvSpPr>
            <p:cNvPr id="15" name="Rectangle 15"/>
            <p:cNvSpPr/>
            <p:nvPr/>
          </p:nvSpPr>
          <p:spPr>
            <a:xfrm>
              <a:off x="7124700" y="1285875"/>
              <a:ext cx="4572000" cy="4905375"/>
            </a:xfrm>
            <a:prstGeom prst="roundRect">
              <a:avLst>
                <a:gd name="adj" fmla="val 833"/>
              </a:avLst>
            </a:prstGeom>
            <a:solidFill>
              <a:srgbClr val="F0F9FC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7124700" y="1285875"/>
              <a:ext cx="76200" cy="4905375"/>
            </a:xfrm>
            <a:prstGeom prst="rect">
              <a:avLst/>
            </a:prstGeom>
            <a:solidFill>
              <a:srgbClr val="06B6D4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7391400" y="1552575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7391400" y="3105150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7391400" y="4657725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605712" y="1745456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06B6D4"/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605712" y="3298031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06B6D4"/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605712" y="4850606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CC0000"/>
                  </a:solidFill>
                  <a:latin typeface="Arial"/>
                  <a:ea typeface="Microsoft YaHei"/>
                  <a:cs typeface="Arial"/>
                </a:rPr>
                <a:t>03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848600" y="1819275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核心：中断、审批、副作用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848600" y="3371850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关系：输入→机制→治理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848600" y="4924425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全部概念见讲义表格</a:t>
              </a:r>
            </a:p>
          </p:txBody>
        </p:sp>
      </p:grpSp>
      <p:grpSp>
        <p:nvGrpSpPr>
          <p:cNvPr id="32" name="EasySlides Component: figure"/>
          <p:cNvGrpSpPr/>
          <p:nvPr/>
        </p:nvGrpSpPr>
        <p:grpSpPr>
          <a:xfrm>
            <a:off x="495300" y="1285875"/>
            <a:ext cx="6400800" cy="4905375"/>
            <a:chOff x="495300" y="1285875"/>
            <a:chExt cx="6400800" cy="4905375"/>
          </a:xfrm>
        </p:grpSpPr>
        <p:sp>
          <p:nvSpPr>
            <p:cNvPr id="27" name="Rectangle 27"/>
            <p:cNvSpPr/>
            <p:nvPr/>
          </p:nvSpPr>
          <p:spPr>
            <a:xfrm>
              <a:off x="495300" y="1285875"/>
              <a:ext cx="6400800" cy="4905375"/>
            </a:xfrm>
            <a:prstGeom prst="roundRect">
              <a:avLst>
                <a:gd name="adj" fmla="val 777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647700" y="1438275"/>
              <a:ext cx="6096000" cy="3905250"/>
            </a:xfrm>
            <a:prstGeom prst="roundRect">
              <a:avLst>
                <a:gd name="adj" fmla="val 488"/>
              </a:avLst>
            </a:prstGeom>
            <a:solidFill>
              <a:srgbClr val="F0F9FC"/>
            </a:solidFill>
            <a:ln w="9525">
              <a:solidFill>
                <a:srgbClr val="D4E2EE"/>
              </a:solidFill>
            </a:ln>
          </p:spPr>
        </p:sp>
        <p:pic>
          <p:nvPicPr>
            <p:cNvPr id="29" name="Image 29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47700" y="1605643"/>
              <a:ext cx="6096000" cy="3570514"/>
            </a:xfrm>
            <a:prstGeom prst="rect">
              <a:avLst/>
            </a:prstGeom>
          </p:spPr>
        </p:pic>
        <p:sp>
          <p:nvSpPr>
            <p:cNvPr id="30" name="Line 30"/>
            <p:cNvSpPr/>
            <p:nvPr/>
          </p:nvSpPr>
          <p:spPr>
            <a:xfrm>
              <a:off x="723900" y="5534025"/>
              <a:ext cx="5943600" cy="9525"/>
            </a:xfrm>
            <a:custGeom>
              <a:avLst/>
              <a:gdLst/>
              <a:ahLst/>
              <a:cxnLst/>
              <a:rect l="l" t="t" r="r" b="b"/>
              <a:pathLst>
                <a:path w="5943600" h="9525">
                  <a:moveTo>
                    <a:pt x="0" y="0"/>
                  </a:moveTo>
                  <a:lnTo>
                    <a:pt x="5943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800100" y="5610225"/>
              <a:ext cx="57912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图：本章概念关系（中心辐射视角）</a:t>
              </a:r>
            </a:p>
          </p:txBody>
        </p:sp>
      </p:grp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E7490"/>
          </a:solidFill>
          <a:ln>
            <a:noFill/>
          </a:ln>
        </p:spPr>
      </p:sp>
      <p:sp>
        <p:nvSpPr>
          <p:cNvPr id="3" name="Freeform 3"/>
          <p:cNvSpPr/>
          <p:nvPr/>
        </p:nvSpPr>
        <p:spPr>
          <a:xfrm>
            <a:off x="5715000" y="0"/>
            <a:ext cx="6477000" cy="6858000"/>
          </a:xfrm>
          <a:custGeom>
            <a:avLst/>
            <a:gdLst/>
            <a:ahLst/>
            <a:cxnLst/>
            <a:rect l="l" t="t" r="r" b="b"/>
            <a:pathLst>
              <a:path w="6477000" h="6858000">
                <a:moveTo>
                  <a:pt x="1905000" y="0"/>
                </a:moveTo>
                <a:lnTo>
                  <a:pt x="6477000" y="0"/>
                </a:lnTo>
                <a:lnTo>
                  <a:pt x="6477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06B6D4">
              <a:alpha val="20000"/>
            </a:srgbClr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2286000"/>
            <a:ext cx="114300" cy="228600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476250" y="2095500"/>
            <a:ext cx="2952750" cy="3143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8750" b="1" dirty="0">
                <a:solidFill>
                  <a:srgbClr val="FFFFFF">
                    <a:alphaMod val="10000"/>
                  </a:srgbClr>
                </a:solidFill>
                <a:latin typeface="Arial"/>
                <a:ea typeface="Microsoft YaHei"/>
                <a:cs typeface="Arial"/>
              </a:rPr>
              <a:t>45</a:t>
            </a:r>
          </a:p>
        </p:txBody>
      </p:sp>
      <p:sp>
        <p:nvSpPr>
          <p:cNvPr id="6" name="Line 6"/>
          <p:cNvSpPr/>
          <p:nvPr/>
        </p:nvSpPr>
        <p:spPr>
          <a:xfrm>
            <a:off x="3619500" y="2505075"/>
            <a:ext cx="1143000" cy="9525"/>
          </a:xfrm>
          <a:custGeom>
            <a:avLst/>
            <a:gdLst/>
            <a:ahLst/>
            <a:cxnLst/>
            <a:rect l="l" t="t" r="r" b="b"/>
            <a:pathLst>
              <a:path w="1143000" h="9525">
                <a:moveTo>
                  <a:pt x="0" y="0"/>
                </a:moveTo>
                <a:lnTo>
                  <a:pt x="1143000" y="0"/>
                </a:lnTo>
              </a:path>
            </a:pathLst>
          </a:custGeom>
          <a:noFill/>
          <a:ln w="57150">
            <a:solidFill>
              <a:srgbClr val="CC0000"/>
            </a:solidFill>
          </a:ln>
        </p:spPr>
      </p:sp>
      <p:sp>
        <p:nvSpPr>
          <p:cNvPr id="7" name="TextBox 7"/>
          <p:cNvSpPr txBox="1"/>
          <p:nvPr/>
        </p:nvSpPr>
        <p:spPr>
          <a:xfrm>
            <a:off x="3619500" y="2667000"/>
            <a:ext cx="7429500" cy="876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42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应用与实战指南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619500" y="3648075"/>
            <a:ext cx="7620000" cy="419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800" dirty="0">
                <a:solidFill>
                  <a:srgbClr val="E8F4FC"/>
                </a:solidFill>
                <a:latin typeface="Arial"/>
                <a:ea typeface="Microsoft YaHei"/>
                <a:cs typeface="Arial"/>
              </a:rPr>
              <a:t>从理解到落地：场景、步骤与检查清单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6762750" y="6286500"/>
            <a:ext cx="4095750" cy="285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r"/>
            <a:r>
              <a:rPr lang="zh-CN" sz="1200" dirty="0">
                <a:solidFill>
                  <a:srgbClr val="FFFFFF">
                    <a:alphaMod val="55000"/>
                  </a:srgbClr>
                </a:solidFill>
                <a:latin typeface="Arial"/>
                <a:ea typeface="Microsoft YaHei"/>
                <a:cs typeface="Arial"/>
              </a:rPr>
              <a:t>用 Durable Workflow 收口自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0E7490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46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实战路线图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06B6D4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三步从 Demo 到生产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课程第18讲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Agent Runtime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46</a:t>
            </a:r>
          </a:p>
        </p:txBody>
      </p:sp>
      <p:grpSp>
        <p:nvGrpSpPr>
          <p:cNvPr id="22" name="EasySlides Component: step_01"/>
          <p:cNvGrpSpPr/>
          <p:nvPr/>
        </p:nvGrpSpPr>
        <p:grpSpPr>
          <a:xfrm>
            <a:off x="495300" y="1285875"/>
            <a:ext cx="3505200" cy="3476625"/>
            <a:chOff x="495300" y="1285875"/>
            <a:chExt cx="3505200" cy="3476625"/>
          </a:xfrm>
        </p:grpSpPr>
        <p:sp>
          <p:nvSpPr>
            <p:cNvPr id="15" name="Rectangle 15"/>
            <p:cNvSpPr/>
            <p:nvPr/>
          </p:nvSpPr>
          <p:spPr>
            <a:xfrm>
              <a:off x="495300" y="1285875"/>
              <a:ext cx="3505200" cy="3476625"/>
            </a:xfrm>
            <a:prstGeom prst="roundRect">
              <a:avLst>
                <a:gd name="adj" fmla="val 1096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Ellipse 16"/>
            <p:cNvSpPr/>
            <p:nvPr/>
          </p:nvSpPr>
          <p:spPr>
            <a:xfrm>
              <a:off x="695325" y="1495425"/>
              <a:ext cx="476250" cy="476250"/>
            </a:xfrm>
            <a:prstGeom prst="ellipse">
              <a:avLst/>
            </a:prstGeom>
            <a:solidFill>
              <a:srgbClr val="06B6D4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14375" y="1504950"/>
              <a:ext cx="43815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1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314450" y="1524000"/>
              <a:ext cx="2324100" cy="42862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650" b="1" dirty="0">
                  <a:solidFill>
                    <a:srgbClr val="0E7490"/>
                  </a:solidFill>
                  <a:latin typeface="Arial"/>
                  <a:ea typeface="Microsoft YaHei"/>
                  <a:cs typeface="Arial"/>
                </a:rPr>
                <a:t>场景选择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800100" y="2181225"/>
              <a:ext cx="2895600" cy="9525"/>
            </a:xfrm>
            <a:custGeom>
              <a:avLst/>
              <a:gdLst/>
              <a:ahLst/>
              <a:cxnLst/>
              <a:rect l="l" t="t" r="r" b="b"/>
              <a:pathLst>
                <a:path w="2895600" h="9525">
                  <a:moveTo>
                    <a:pt x="0" y="0"/>
                  </a:moveTo>
                  <a:lnTo>
                    <a:pt x="2895600" y="0"/>
                  </a:lnTo>
                </a:path>
              </a:pathLst>
            </a:custGeom>
            <a:noFill/>
            <a:ln w="19050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952500" y="2476500"/>
              <a:ext cx="2590800" cy="1666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0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选高频、可验证、低风险场景切入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800100" y="4391025"/>
              <a:ext cx="762000" cy="66675"/>
            </a:xfrm>
            <a:prstGeom prst="rect">
              <a:avLst/>
            </a:prstGeom>
            <a:solidFill>
              <a:srgbClr val="CC0000"/>
            </a:solidFill>
            <a:ln>
              <a:noFill/>
            </a:ln>
          </p:spPr>
        </p:sp>
      </p:grpSp>
      <p:grpSp>
        <p:nvGrpSpPr>
          <p:cNvPr id="30" name="EasySlides Component: step_02"/>
          <p:cNvGrpSpPr/>
          <p:nvPr/>
        </p:nvGrpSpPr>
        <p:grpSpPr>
          <a:xfrm>
            <a:off x="4343400" y="1285875"/>
            <a:ext cx="3505200" cy="3476625"/>
            <a:chOff x="4343400" y="1285875"/>
            <a:chExt cx="3505200" cy="3476625"/>
          </a:xfrm>
        </p:grpSpPr>
        <p:sp>
          <p:nvSpPr>
            <p:cNvPr id="23" name="Rectangle 23"/>
            <p:cNvSpPr/>
            <p:nvPr/>
          </p:nvSpPr>
          <p:spPr>
            <a:xfrm>
              <a:off x="4343400" y="1285875"/>
              <a:ext cx="3505200" cy="3476625"/>
            </a:xfrm>
            <a:prstGeom prst="roundRect">
              <a:avLst>
                <a:gd name="adj" fmla="val 1096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4" name="Ellipse 24"/>
            <p:cNvSpPr/>
            <p:nvPr/>
          </p:nvSpPr>
          <p:spPr>
            <a:xfrm>
              <a:off x="4543425" y="1495425"/>
              <a:ext cx="476250" cy="476250"/>
            </a:xfrm>
            <a:prstGeom prst="ellipse">
              <a:avLst/>
            </a:prstGeom>
            <a:solidFill>
              <a:srgbClr val="06B6D4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4562475" y="1504950"/>
              <a:ext cx="43815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2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5162550" y="1524000"/>
              <a:ext cx="2324100" cy="42862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650" b="1" dirty="0">
                  <a:solidFill>
                    <a:srgbClr val="0E7490"/>
                  </a:solidFill>
                  <a:latin typeface="Arial"/>
                  <a:ea typeface="Microsoft YaHei"/>
                  <a:cs typeface="Arial"/>
                </a:rPr>
                <a:t>契约先行</a:t>
              </a:r>
            </a:p>
          </p:txBody>
        </p:sp>
        <p:sp>
          <p:nvSpPr>
            <p:cNvPr id="27" name="Line 27"/>
            <p:cNvSpPr/>
            <p:nvPr/>
          </p:nvSpPr>
          <p:spPr>
            <a:xfrm>
              <a:off x="4648200" y="2181225"/>
              <a:ext cx="2895600" cy="9525"/>
            </a:xfrm>
            <a:custGeom>
              <a:avLst/>
              <a:gdLst/>
              <a:ahLst/>
              <a:cxnLst/>
              <a:rect l="l" t="t" r="r" b="b"/>
              <a:pathLst>
                <a:path w="2895600" h="9525">
                  <a:moveTo>
                    <a:pt x="0" y="0"/>
                  </a:moveTo>
                  <a:lnTo>
                    <a:pt x="2895600" y="0"/>
                  </a:lnTo>
                </a:path>
              </a:pathLst>
            </a:custGeom>
            <a:noFill/>
            <a:ln w="19050">
              <a:solidFill>
                <a:srgbClr val="D4E2EE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4800600" y="2476500"/>
              <a:ext cx="2590800" cy="1666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0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定义输入/输出/错误语义与验收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4648200" y="4391025"/>
              <a:ext cx="762000" cy="66675"/>
            </a:xfrm>
            <a:prstGeom prst="rect">
              <a:avLst/>
            </a:prstGeom>
            <a:solidFill>
              <a:srgbClr val="CC0000"/>
            </a:solidFill>
            <a:ln>
              <a:noFill/>
            </a:ln>
          </p:spPr>
        </p:sp>
      </p:grpSp>
      <p:grpSp>
        <p:nvGrpSpPr>
          <p:cNvPr id="38" name="EasySlides Component: step_03"/>
          <p:cNvGrpSpPr/>
          <p:nvPr/>
        </p:nvGrpSpPr>
        <p:grpSpPr>
          <a:xfrm>
            <a:off x="8191500" y="1285875"/>
            <a:ext cx="3505200" cy="3476625"/>
            <a:chOff x="8191500" y="1285875"/>
            <a:chExt cx="3505200" cy="3476625"/>
          </a:xfrm>
        </p:grpSpPr>
        <p:sp>
          <p:nvSpPr>
            <p:cNvPr id="31" name="Rectangle 31"/>
            <p:cNvSpPr/>
            <p:nvPr/>
          </p:nvSpPr>
          <p:spPr>
            <a:xfrm>
              <a:off x="8191500" y="1285875"/>
              <a:ext cx="3505200" cy="3476625"/>
            </a:xfrm>
            <a:prstGeom prst="roundRect">
              <a:avLst>
                <a:gd name="adj" fmla="val 1096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32" name="Ellipse 32"/>
            <p:cNvSpPr/>
            <p:nvPr/>
          </p:nvSpPr>
          <p:spPr>
            <a:xfrm>
              <a:off x="8391525" y="1495425"/>
              <a:ext cx="476250" cy="476250"/>
            </a:xfrm>
            <a:prstGeom prst="ellipse">
              <a:avLst/>
            </a:prstGeom>
            <a:solidFill>
              <a:srgbClr val="06B6D4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8410575" y="1504950"/>
              <a:ext cx="43815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3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9010650" y="1524000"/>
              <a:ext cx="2324100" cy="42862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650" b="1" dirty="0">
                  <a:solidFill>
                    <a:srgbClr val="0E7490"/>
                  </a:solidFill>
                  <a:latin typeface="Arial"/>
                  <a:ea typeface="Microsoft YaHei"/>
                  <a:cs typeface="Arial"/>
                </a:rPr>
                <a:t>评测护航</a:t>
              </a:r>
            </a:p>
          </p:txBody>
        </p:sp>
        <p:sp>
          <p:nvSpPr>
            <p:cNvPr id="35" name="Line 35"/>
            <p:cNvSpPr/>
            <p:nvPr/>
          </p:nvSpPr>
          <p:spPr>
            <a:xfrm>
              <a:off x="8496300" y="2181225"/>
              <a:ext cx="2895600" cy="9525"/>
            </a:xfrm>
            <a:custGeom>
              <a:avLst/>
              <a:gdLst/>
              <a:ahLst/>
              <a:cxnLst/>
              <a:rect l="l" t="t" r="r" b="b"/>
              <a:pathLst>
                <a:path w="2895600" h="9525">
                  <a:moveTo>
                    <a:pt x="0" y="0"/>
                  </a:moveTo>
                  <a:lnTo>
                    <a:pt x="2895600" y="0"/>
                  </a:lnTo>
                </a:path>
              </a:pathLst>
            </a:custGeom>
            <a:noFill/>
            <a:ln w="19050">
              <a:solidFill>
                <a:srgbClr val="D4E2EE"/>
              </a:solidFill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8648700" y="2476500"/>
              <a:ext cx="2590800" cy="1666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0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建数据集与评分卡再动 Prompt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8496300" y="4391025"/>
              <a:ext cx="762000" cy="66675"/>
            </a:xfrm>
            <a:prstGeom prst="rect">
              <a:avLst/>
            </a:prstGeom>
            <a:solidFill>
              <a:srgbClr val="CC0000"/>
            </a:solidFill>
            <a:ln>
              <a:noFill/>
            </a:ln>
          </p:spPr>
        </p:sp>
      </p:grpSp>
      <p:grpSp>
        <p:nvGrpSpPr>
          <p:cNvPr id="42" name="EasySlides Component: synthesis"/>
          <p:cNvGrpSpPr/>
          <p:nvPr/>
        </p:nvGrpSpPr>
        <p:grpSpPr>
          <a:xfrm>
            <a:off x="495300" y="5476875"/>
            <a:ext cx="11201400" cy="714375"/>
            <a:chOff x="495300" y="5476875"/>
            <a:chExt cx="11201400" cy="714375"/>
          </a:xfrm>
        </p:grpSpPr>
        <p:sp>
          <p:nvSpPr>
            <p:cNvPr id="39" name="Rectangle 39"/>
            <p:cNvSpPr/>
            <p:nvPr/>
          </p:nvSpPr>
          <p:spPr>
            <a:xfrm>
              <a:off x="495300" y="5476875"/>
              <a:ext cx="11201400" cy="714375"/>
            </a:xfrm>
            <a:prstGeom prst="roundRect">
              <a:avLst>
                <a:gd name="adj" fmla="val 5333"/>
              </a:avLst>
            </a:prstGeom>
            <a:solidFill>
              <a:srgbClr val="0E7490"/>
            </a:solidFill>
            <a:ln>
              <a:noFill/>
            </a:ln>
          </p:spPr>
        </p:sp>
        <p:sp>
          <p:nvSpPr>
            <p:cNvPr id="40" name="Rectangle 40"/>
            <p:cNvSpPr/>
            <p:nvPr/>
          </p:nvSpPr>
          <p:spPr>
            <a:xfrm>
              <a:off x="495300" y="5476875"/>
              <a:ext cx="76200" cy="714375"/>
            </a:xfrm>
            <a:prstGeom prst="roundRect">
              <a:avLst>
                <a:gd name="adj" fmla="val 50000"/>
              </a:avLst>
            </a:prstGeom>
            <a:solidFill>
              <a:srgbClr val="CC0000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876300" y="5610225"/>
              <a:ext cx="10439400" cy="4476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案例视角：预算审批链路的审批-幂等-验真闭环实测。</a:t>
              </a:r>
            </a:p>
          </p:txBody>
        </p:sp>
      </p:grp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0E7490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47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典型应用场景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06B6D4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场景→做法→收益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课程第18讲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Agent Runtime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47</a:t>
            </a:r>
          </a:p>
        </p:txBody>
      </p:sp>
      <p:grpSp>
        <p:nvGrpSpPr>
          <p:cNvPr id="38" name="EasySlides Component: matrix"/>
          <p:cNvGrpSpPr/>
          <p:nvPr/>
        </p:nvGrpSpPr>
        <p:grpSpPr>
          <a:xfrm>
            <a:off x="495300" y="1285875"/>
            <a:ext cx="11201400" cy="4905375"/>
            <a:chOff x="495300" y="1285875"/>
            <a:chExt cx="11201400" cy="4905375"/>
          </a:xfrm>
        </p:grpSpPr>
        <p:sp>
          <p:nvSpPr>
            <p:cNvPr id="15" name="Rectangle 15"/>
            <p:cNvSpPr/>
            <p:nvPr/>
          </p:nvSpPr>
          <p:spPr>
            <a:xfrm>
              <a:off x="495300" y="1285875"/>
              <a:ext cx="11201400" cy="4905375"/>
            </a:xfrm>
            <a:prstGeom prst="roundRect">
              <a:avLst>
                <a:gd name="adj" fmla="val 777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95300" y="1285875"/>
              <a:ext cx="11201400" cy="647700"/>
            </a:xfrm>
            <a:prstGeom prst="roundRect">
              <a:avLst>
                <a:gd name="adj" fmla="val 5882"/>
              </a:avLst>
            </a:prstGeom>
            <a:solidFill>
              <a:srgbClr val="0E7490"/>
            </a:solidFill>
            <a:ln>
              <a:noFill/>
            </a:ln>
          </p:spPr>
        </p:sp>
        <p:sp>
          <p:nvSpPr>
            <p:cNvPr id="17" name="Line 17"/>
            <p:cNvSpPr/>
            <p:nvPr/>
          </p:nvSpPr>
          <p:spPr>
            <a:xfrm>
              <a:off x="4229100" y="1285875"/>
              <a:ext cx="9525" cy="4143375"/>
            </a:xfrm>
            <a:custGeom>
              <a:avLst/>
              <a:gdLst/>
              <a:ahLst/>
              <a:cxnLst/>
              <a:rect l="l" t="t" r="r" b="b"/>
              <a:pathLst>
                <a:path w="9525" h="4143375">
                  <a:moveTo>
                    <a:pt x="0" y="0"/>
                  </a:moveTo>
                  <a:lnTo>
                    <a:pt x="0" y="4143375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sp>
          <p:nvSpPr>
            <p:cNvPr id="18" name="Line 18"/>
            <p:cNvSpPr/>
            <p:nvPr/>
          </p:nvSpPr>
          <p:spPr>
            <a:xfrm>
              <a:off x="7962900" y="1285875"/>
              <a:ext cx="9525" cy="4143375"/>
            </a:xfrm>
            <a:custGeom>
              <a:avLst/>
              <a:gdLst/>
              <a:ahLst/>
              <a:cxnLst/>
              <a:rect l="l" t="t" r="r" b="b"/>
              <a:pathLst>
                <a:path w="9525" h="4143375">
                  <a:moveTo>
                    <a:pt x="0" y="0"/>
                  </a:moveTo>
                  <a:lnTo>
                    <a:pt x="0" y="4143375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sp>
          <p:nvSpPr>
            <p:cNvPr id="19" name="Line 19"/>
            <p:cNvSpPr/>
            <p:nvPr/>
          </p:nvSpPr>
          <p:spPr>
            <a:xfrm>
              <a:off x="495300" y="1933575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sp>
          <p:nvSpPr>
            <p:cNvPr id="20" name="Line 20"/>
            <p:cNvSpPr/>
            <p:nvPr/>
          </p:nvSpPr>
          <p:spPr>
            <a:xfrm>
              <a:off x="495300" y="3095625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1" name="Line 21"/>
            <p:cNvSpPr/>
            <p:nvPr/>
          </p:nvSpPr>
          <p:spPr>
            <a:xfrm>
              <a:off x="495300" y="4257675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2" name="Line 22"/>
            <p:cNvSpPr/>
            <p:nvPr/>
          </p:nvSpPr>
          <p:spPr>
            <a:xfrm>
              <a:off x="495300" y="5429250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grpSp>
          <p:nvGrpSpPr>
            <p:cNvPr id="26" name="Group 26"/>
            <p:cNvGrpSpPr/>
            <p:nvPr/>
          </p:nvGrpSpPr>
          <p:grpSpPr>
            <a:xfrm>
              <a:off x="704850" y="1428750"/>
              <a:ext cx="10782300" cy="361950"/>
              <a:chOff x="704850" y="1428750"/>
              <a:chExt cx="10782300" cy="361950"/>
            </a:xfrm>
          </p:grpSpPr>
          <p:sp>
            <p:nvSpPr>
              <p:cNvPr id="23" name="TextBox 23"/>
              <p:cNvSpPr txBox="1"/>
              <p:nvPr/>
            </p:nvSpPr>
            <p:spPr>
              <a:xfrm>
                <a:off x="704850" y="1428750"/>
                <a:ext cx="33147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场景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4438650" y="1428750"/>
                <a:ext cx="33147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做法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8172450" y="1428750"/>
                <a:ext cx="33147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收益</a:t>
                </a:r>
              </a:p>
            </p:txBody>
          </p:sp>
        </p:grpSp>
        <p:grpSp>
          <p:nvGrpSpPr>
            <p:cNvPr id="36" name="Group 36"/>
            <p:cNvGrpSpPr/>
            <p:nvPr/>
          </p:nvGrpSpPr>
          <p:grpSpPr>
            <a:xfrm>
              <a:off x="723900" y="2105025"/>
              <a:ext cx="10744200" cy="3086100"/>
              <a:chOff x="723900" y="2105025"/>
              <a:chExt cx="10744200" cy="3086100"/>
            </a:xfrm>
          </p:grpSpPr>
          <p:sp>
            <p:nvSpPr>
              <p:cNvPr id="27" name="TextBox 27"/>
              <p:cNvSpPr txBox="1"/>
              <p:nvPr/>
            </p:nvSpPr>
            <p:spPr>
              <a:xfrm>
                <a:off x="723900" y="21050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经营诊断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4457700" y="21050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自主分析闭环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8191500" y="21050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结论可解释</a:t>
                </a: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723900" y="326707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数据查询</a:t>
                </a: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4457700" y="326707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只读网关+权限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8191500" y="326707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安全合规</a:t>
                </a: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723900" y="44291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行动执行</a:t>
                </a: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4457700" y="44291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审批+幂等</a:t>
                </a:r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8191500" y="44291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风险可控</a:t>
                </a:r>
              </a:p>
            </p:txBody>
          </p:sp>
        </p:grpSp>
        <p:sp>
          <p:nvSpPr>
            <p:cNvPr id="37" name="TextBox 37"/>
            <p:cNvSpPr txBox="1"/>
            <p:nvPr/>
          </p:nvSpPr>
          <p:spPr>
            <a:xfrm>
              <a:off x="828675" y="5581650"/>
              <a:ext cx="10534650" cy="4191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500" b="1" dirty="0">
                  <a:solidFill>
                    <a:srgbClr val="0E7490"/>
                  </a:solidFill>
                  <a:latin typeface="Arial"/>
                  <a:ea typeface="Microsoft YaHei"/>
                  <a:cs typeface="Arial"/>
                </a:rPr>
                <a:t>场景选择决定治理强度，按风险分级</a:t>
              </a:r>
            </a:p>
          </p:txBody>
        </p:sp>
      </p:grp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0E7490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48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落地检查清单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06B6D4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上线前逐项打勾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课程第18讲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Agent Runtime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48</a:t>
            </a:r>
          </a:p>
        </p:txBody>
      </p:sp>
      <p:grpSp>
        <p:nvGrpSpPr>
          <p:cNvPr id="21" name="EasySlides Component: evidence_01"/>
          <p:cNvGrpSpPr/>
          <p:nvPr/>
        </p:nvGrpSpPr>
        <p:grpSpPr>
          <a:xfrm>
            <a:off x="495300" y="2095500"/>
            <a:ext cx="11201400" cy="1285875"/>
            <a:chOff x="495300" y="2095500"/>
            <a:chExt cx="11201400" cy="1285875"/>
          </a:xfrm>
        </p:grpSpPr>
        <p:sp>
          <p:nvSpPr>
            <p:cNvPr id="15" name="Rectangle 15"/>
            <p:cNvSpPr/>
            <p:nvPr/>
          </p:nvSpPr>
          <p:spPr>
            <a:xfrm>
              <a:off x="495300" y="2095500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95300" y="2095500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06B6D4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33425" y="2543175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06B6D4"/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447800" y="2324100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0E7490"/>
                  </a:solidFill>
                  <a:latin typeface="Arial"/>
                  <a:ea typeface="Microsoft YaHei"/>
                  <a:cs typeface="Arial"/>
                </a:rPr>
                <a:t>功能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4362450" y="2324100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4686300" y="2324100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核心链路全绿；故障注入通过</a:t>
              </a:r>
            </a:p>
          </p:txBody>
        </p:sp>
      </p:grpSp>
      <p:grpSp>
        <p:nvGrpSpPr>
          <p:cNvPr id="28" name="EasySlides Component: evidence_02"/>
          <p:cNvGrpSpPr/>
          <p:nvPr/>
        </p:nvGrpSpPr>
        <p:grpSpPr>
          <a:xfrm>
            <a:off x="495300" y="3571875"/>
            <a:ext cx="11201400" cy="1285875"/>
            <a:chOff x="495300" y="3571875"/>
            <a:chExt cx="11201400" cy="1285875"/>
          </a:xfrm>
        </p:grpSpPr>
        <p:sp>
          <p:nvSpPr>
            <p:cNvPr id="22" name="Rectangle 22"/>
            <p:cNvSpPr/>
            <p:nvPr/>
          </p:nvSpPr>
          <p:spPr>
            <a:xfrm>
              <a:off x="495300" y="3571875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495300" y="3571875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06B6D4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33425" y="4019550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06B6D4"/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447800" y="3800475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0E7490"/>
                  </a:solidFill>
                  <a:latin typeface="Arial"/>
                  <a:ea typeface="Microsoft YaHei"/>
                  <a:cs typeface="Arial"/>
                </a:rPr>
                <a:t>质量</a:t>
              </a:r>
            </a:p>
          </p:txBody>
        </p:sp>
        <p:sp>
          <p:nvSpPr>
            <p:cNvPr id="26" name="Line 26"/>
            <p:cNvSpPr/>
            <p:nvPr/>
          </p:nvSpPr>
          <p:spPr>
            <a:xfrm>
              <a:off x="4362450" y="3800475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4686300" y="3800475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三层评测达标；回归门禁通过</a:t>
              </a:r>
            </a:p>
          </p:txBody>
        </p:sp>
      </p:grpSp>
      <p:grpSp>
        <p:nvGrpSpPr>
          <p:cNvPr id="35" name="EasySlides Component: evidence_03"/>
          <p:cNvGrpSpPr/>
          <p:nvPr/>
        </p:nvGrpSpPr>
        <p:grpSpPr>
          <a:xfrm>
            <a:off x="495300" y="4905375"/>
            <a:ext cx="11201400" cy="1285875"/>
            <a:chOff x="495300" y="4905375"/>
            <a:chExt cx="11201400" cy="1285875"/>
          </a:xfrm>
        </p:grpSpPr>
        <p:sp>
          <p:nvSpPr>
            <p:cNvPr id="29" name="Rectangle 29"/>
            <p:cNvSpPr/>
            <p:nvPr/>
          </p:nvSpPr>
          <p:spPr>
            <a:xfrm>
              <a:off x="495300" y="4905375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495300" y="4905375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06B6D4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33425" y="5353050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06B6D4"/>
                  </a:solidFill>
                  <a:latin typeface="Arial"/>
                  <a:ea typeface="Microsoft YaHei"/>
                  <a:cs typeface="Arial"/>
                </a:rPr>
                <a:t>03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447800" y="5133975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0E7490"/>
                  </a:solidFill>
                  <a:latin typeface="Arial"/>
                  <a:ea typeface="Microsoft YaHei"/>
                  <a:cs typeface="Arial"/>
                </a:rPr>
                <a:t>安全</a:t>
              </a:r>
            </a:p>
          </p:txBody>
        </p:sp>
        <p:sp>
          <p:nvSpPr>
            <p:cNvPr id="33" name="Line 33"/>
            <p:cNvSpPr/>
            <p:nvPr/>
          </p:nvSpPr>
          <p:spPr>
            <a:xfrm>
              <a:off x="4362450" y="5133975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4686300" y="5133975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权限/审计/幂等/回滚就绪</a:t>
              </a:r>
            </a:p>
          </p:txBody>
        </p:sp>
      </p:grpSp>
      <p:grpSp>
        <p:nvGrpSpPr>
          <p:cNvPr id="39" name="EasySlides Component: synthesis"/>
          <p:cNvGrpSpPr/>
          <p:nvPr/>
        </p:nvGrpSpPr>
        <p:grpSpPr>
          <a:xfrm>
            <a:off x="495300" y="1285875"/>
            <a:ext cx="11201400" cy="714375"/>
            <a:chOff x="495300" y="1285875"/>
            <a:chExt cx="11201400" cy="714375"/>
          </a:xfrm>
        </p:grpSpPr>
        <p:sp>
          <p:nvSpPr>
            <p:cNvPr id="36" name="Rectangle 36"/>
            <p:cNvSpPr/>
            <p:nvPr/>
          </p:nvSpPr>
          <p:spPr>
            <a:xfrm>
              <a:off x="495300" y="1285875"/>
              <a:ext cx="11201400" cy="714375"/>
            </a:xfrm>
            <a:prstGeom prst="roundRect">
              <a:avLst>
                <a:gd name="adj" fmla="val 5333"/>
              </a:avLst>
            </a:prstGeom>
            <a:solidFill>
              <a:srgbClr val="0E7490"/>
            </a:solidFill>
            <a:ln>
              <a:noFill/>
            </a:ln>
          </p:spPr>
        </p:sp>
        <p:sp>
          <p:nvSpPr>
            <p:cNvPr id="37" name="Rectangle 37"/>
            <p:cNvSpPr/>
            <p:nvPr/>
          </p:nvSpPr>
          <p:spPr>
            <a:xfrm>
              <a:off x="495300" y="1285875"/>
              <a:ext cx="76200" cy="714375"/>
            </a:xfrm>
            <a:prstGeom prst="roundRect">
              <a:avLst>
                <a:gd name="adj" fmla="val 50000"/>
              </a:avLst>
            </a:prstGeom>
            <a:solidFill>
              <a:srgbClr val="CC0000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876300" y="1419225"/>
              <a:ext cx="10439400" cy="4476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GO/NO-GO 由硬门槛决定，不由均分决定</a:t>
              </a:r>
            </a:p>
          </p:txBody>
        </p:sp>
      </p:grp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E7490"/>
          </a:solidFill>
          <a:ln>
            <a:noFill/>
          </a:ln>
        </p:spPr>
      </p:sp>
      <p:sp>
        <p:nvSpPr>
          <p:cNvPr id="3" name="Freeform 3"/>
          <p:cNvSpPr/>
          <p:nvPr/>
        </p:nvSpPr>
        <p:spPr>
          <a:xfrm>
            <a:off x="5715000" y="0"/>
            <a:ext cx="6477000" cy="6858000"/>
          </a:xfrm>
          <a:custGeom>
            <a:avLst/>
            <a:gdLst/>
            <a:ahLst/>
            <a:cxnLst/>
            <a:rect l="l" t="t" r="r" b="b"/>
            <a:pathLst>
              <a:path w="6477000" h="6858000">
                <a:moveTo>
                  <a:pt x="1905000" y="0"/>
                </a:moveTo>
                <a:lnTo>
                  <a:pt x="6477000" y="0"/>
                </a:lnTo>
                <a:lnTo>
                  <a:pt x="6477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06B6D4">
              <a:alpha val="20000"/>
            </a:srgbClr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2286000"/>
            <a:ext cx="114300" cy="228600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476250" y="2095500"/>
            <a:ext cx="2952750" cy="3143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8750" b="1" dirty="0">
                <a:solidFill>
                  <a:srgbClr val="FFFFFF">
                    <a:alphaMod val="10000"/>
                  </a:srgbClr>
                </a:solidFill>
                <a:latin typeface="Arial"/>
                <a:ea typeface="Microsoft YaHei"/>
                <a:cs typeface="Arial"/>
              </a:rPr>
              <a:t>49</a:t>
            </a:r>
          </a:p>
        </p:txBody>
      </p:sp>
      <p:sp>
        <p:nvSpPr>
          <p:cNvPr id="6" name="Line 6"/>
          <p:cNvSpPr/>
          <p:nvPr/>
        </p:nvSpPr>
        <p:spPr>
          <a:xfrm>
            <a:off x="3619500" y="2505075"/>
            <a:ext cx="1143000" cy="9525"/>
          </a:xfrm>
          <a:custGeom>
            <a:avLst/>
            <a:gdLst/>
            <a:ahLst/>
            <a:cxnLst/>
            <a:rect l="l" t="t" r="r" b="b"/>
            <a:pathLst>
              <a:path w="1143000" h="9525">
                <a:moveTo>
                  <a:pt x="0" y="0"/>
                </a:moveTo>
                <a:lnTo>
                  <a:pt x="1143000" y="0"/>
                </a:lnTo>
              </a:path>
            </a:pathLst>
          </a:custGeom>
          <a:noFill/>
          <a:ln w="57150">
            <a:solidFill>
              <a:srgbClr val="CC0000"/>
            </a:solidFill>
          </a:ln>
        </p:spPr>
      </p:sp>
      <p:sp>
        <p:nvSpPr>
          <p:cNvPr id="7" name="TextBox 7"/>
          <p:cNvSpPr txBox="1"/>
          <p:nvPr/>
        </p:nvSpPr>
        <p:spPr>
          <a:xfrm>
            <a:off x="3619500" y="2667000"/>
            <a:ext cx="7429500" cy="876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42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优化与拓展指南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619500" y="3648075"/>
            <a:ext cx="7620000" cy="419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800" dirty="0">
                <a:solidFill>
                  <a:srgbClr val="E8F4FC"/>
                </a:solidFill>
                <a:latin typeface="Arial"/>
                <a:ea typeface="Microsoft YaHei"/>
                <a:cs typeface="Arial"/>
              </a:rPr>
              <a:t>让系统随模型共同进化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6762750" y="6286500"/>
            <a:ext cx="4095750" cy="285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r"/>
            <a:r>
              <a:rPr lang="zh-CN" sz="1200" dirty="0">
                <a:solidFill>
                  <a:srgbClr val="FFFFFF">
                    <a:alphaMod val="55000"/>
                  </a:srgbClr>
                </a:solidFill>
                <a:latin typeface="Arial"/>
                <a:ea typeface="Microsoft YaHei"/>
                <a:cs typeface="Arial"/>
              </a:rPr>
              <a:t>用 Durable Workflow 收口自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0E7490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50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优化方向对照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06B6D4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短期补丁 vs 长期资产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课程第18讲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Agent Runtime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50</a:t>
            </a:r>
          </a:p>
        </p:txBody>
      </p:sp>
      <p:grpSp>
        <p:nvGrpSpPr>
          <p:cNvPr id="22" name="EasySlides Component: left"/>
          <p:cNvGrpSpPr/>
          <p:nvPr/>
        </p:nvGrpSpPr>
        <p:grpSpPr>
          <a:xfrm>
            <a:off x="495300" y="1285875"/>
            <a:ext cx="5410200" cy="4000500"/>
            <a:chOff x="495300" y="1285875"/>
            <a:chExt cx="5410200" cy="4000500"/>
          </a:xfrm>
        </p:grpSpPr>
        <p:sp>
          <p:nvSpPr>
            <p:cNvPr id="15" name="Rectangle 15"/>
            <p:cNvSpPr/>
            <p:nvPr/>
          </p:nvSpPr>
          <p:spPr>
            <a:xfrm>
              <a:off x="495300" y="1285875"/>
              <a:ext cx="5410200" cy="4000500"/>
            </a:xfrm>
            <a:prstGeom prst="roundRect">
              <a:avLst>
                <a:gd name="adj" fmla="val 952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95300" y="1285875"/>
              <a:ext cx="5410200" cy="609600"/>
            </a:xfrm>
            <a:prstGeom prst="roundRect">
              <a:avLst>
                <a:gd name="adj" fmla="val 6250"/>
              </a:avLst>
            </a:prstGeom>
            <a:solidFill>
              <a:srgbClr val="E8F4FC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495300" y="1285875"/>
              <a:ext cx="57150" cy="609600"/>
            </a:xfrm>
            <a:prstGeom prst="rect">
              <a:avLst/>
            </a:prstGeom>
            <a:solidFill>
              <a:srgbClr val="06B6D4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800100" y="1419225"/>
              <a:ext cx="48006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725" b="1" dirty="0">
                  <a:solidFill>
                    <a:srgbClr val="0E7490"/>
                  </a:solidFill>
                  <a:latin typeface="Arial"/>
                  <a:ea typeface="Microsoft YaHei"/>
                  <a:cs typeface="Arial"/>
                </a:rPr>
                <a:t>短期补丁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800100" y="2276475"/>
              <a:ext cx="4800600" cy="9525"/>
            </a:xfrm>
            <a:custGeom>
              <a:avLst/>
              <a:gdLst/>
              <a:ahLst/>
              <a:cxnLst/>
              <a:rect l="l" t="t" r="r" b="b"/>
              <a:pathLst>
                <a:path w="4800600" h="9525">
                  <a:moveTo>
                    <a:pt x="0" y="0"/>
                  </a:moveTo>
                  <a:lnTo>
                    <a:pt x="4800600" y="0"/>
                  </a:lnTo>
                </a:path>
              </a:pathLst>
            </a:custGeom>
            <a:noFill/>
            <a:ln w="19050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1028700" y="2505075"/>
              <a:ext cx="4343400" cy="20955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65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改 Prompt 救火</a:t>
              </a:r>
            </a:p>
            <a:p>
              <a:pPr algn="l"/>
              <a:r>
                <a:rPr lang="zh-CN" sz="165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局部 if-else 兜底</a:t>
              </a:r>
            </a:p>
            <a:p>
              <a:pPr algn="l"/>
              <a:r>
                <a:rPr lang="zh-CN" sz="165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人工盯梢排查</a:t>
              </a:r>
            </a:p>
            <a:p>
              <a:pPr algn="l"/>
              <a:r>
                <a:rPr lang="zh-CN" sz="165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经验留在个人脑中</a:t>
              </a:r>
            </a:p>
          </p:txBody>
        </p:sp>
        <p:sp>
          <p:nvSpPr>
            <p:cNvPr id="21" name="Line 21"/>
            <p:cNvSpPr/>
            <p:nvPr/>
          </p:nvSpPr>
          <p:spPr>
            <a:xfrm>
              <a:off x="800100" y="4905375"/>
              <a:ext cx="4800600" cy="9525"/>
            </a:xfrm>
            <a:custGeom>
              <a:avLst/>
              <a:gdLst/>
              <a:ahLst/>
              <a:cxnLst/>
              <a:rect l="l" t="t" r="r" b="b"/>
              <a:pathLst>
                <a:path w="4800600" h="9525">
                  <a:moveTo>
                    <a:pt x="0" y="0"/>
                  </a:moveTo>
                  <a:lnTo>
                    <a:pt x="4800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</p:grpSp>
      <p:grpSp>
        <p:nvGrpSpPr>
          <p:cNvPr id="30" name="EasySlides Component: right"/>
          <p:cNvGrpSpPr/>
          <p:nvPr/>
        </p:nvGrpSpPr>
        <p:grpSpPr>
          <a:xfrm>
            <a:off x="6286500" y="1285875"/>
            <a:ext cx="5410200" cy="4000500"/>
            <a:chOff x="6286500" y="1285875"/>
            <a:chExt cx="5410200" cy="4000500"/>
          </a:xfrm>
        </p:grpSpPr>
        <p:sp>
          <p:nvSpPr>
            <p:cNvPr id="23" name="Rectangle 23"/>
            <p:cNvSpPr/>
            <p:nvPr/>
          </p:nvSpPr>
          <p:spPr>
            <a:xfrm>
              <a:off x="6286500" y="1285875"/>
              <a:ext cx="5410200" cy="4000500"/>
            </a:xfrm>
            <a:prstGeom prst="roundRect">
              <a:avLst>
                <a:gd name="adj" fmla="val 952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6286500" y="1285875"/>
              <a:ext cx="5410200" cy="609600"/>
            </a:xfrm>
            <a:prstGeom prst="roundRect">
              <a:avLst>
                <a:gd name="adj" fmla="val 6250"/>
              </a:avLst>
            </a:prstGeom>
            <a:solidFill>
              <a:srgbClr val="E8F4FC"/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6286500" y="1285875"/>
              <a:ext cx="57150" cy="609600"/>
            </a:xfrm>
            <a:prstGeom prst="rect">
              <a:avLst/>
            </a:prstGeom>
            <a:solidFill>
              <a:srgbClr val="06B6D4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591300" y="1419225"/>
              <a:ext cx="48006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725" b="1" dirty="0">
                  <a:solidFill>
                    <a:srgbClr val="0E7490"/>
                  </a:solidFill>
                  <a:latin typeface="Arial"/>
                  <a:ea typeface="Microsoft YaHei"/>
                  <a:cs typeface="Arial"/>
                </a:rPr>
                <a:t>长期资产</a:t>
              </a:r>
            </a:p>
          </p:txBody>
        </p:sp>
        <p:sp>
          <p:nvSpPr>
            <p:cNvPr id="27" name="Line 27"/>
            <p:cNvSpPr/>
            <p:nvPr/>
          </p:nvSpPr>
          <p:spPr>
            <a:xfrm>
              <a:off x="6591300" y="2276475"/>
              <a:ext cx="4800600" cy="9525"/>
            </a:xfrm>
            <a:custGeom>
              <a:avLst/>
              <a:gdLst/>
              <a:ahLst/>
              <a:cxnLst/>
              <a:rect l="l" t="t" r="r" b="b"/>
              <a:pathLst>
                <a:path w="4800600" h="9525">
                  <a:moveTo>
                    <a:pt x="0" y="0"/>
                  </a:moveTo>
                  <a:lnTo>
                    <a:pt x="4800600" y="0"/>
                  </a:lnTo>
                </a:path>
              </a:pathLst>
            </a:custGeom>
            <a:noFill/>
            <a:ln w="19050">
              <a:solidFill>
                <a:srgbClr val="D4E2EE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819900" y="2505075"/>
              <a:ext cx="4343400" cy="20955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65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规则/Skill/Eval 沉淀</a:t>
              </a:r>
            </a:p>
            <a:p>
              <a:pPr algn="l"/>
              <a:r>
                <a:rPr lang="zh-CN" sz="165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统一 Runtime 治理</a:t>
              </a:r>
            </a:p>
            <a:p>
              <a:pPr algn="l"/>
              <a:r>
                <a:rPr lang="zh-CN" sz="165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Trace+Baseline 驱动</a:t>
              </a:r>
            </a:p>
            <a:p>
              <a:pPr algn="l"/>
              <a:r>
                <a:rPr lang="zh-CN" sz="165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资产随组织复用</a:t>
              </a:r>
            </a:p>
          </p:txBody>
        </p:sp>
        <p:sp>
          <p:nvSpPr>
            <p:cNvPr id="29" name="Line 29"/>
            <p:cNvSpPr/>
            <p:nvPr/>
          </p:nvSpPr>
          <p:spPr>
            <a:xfrm>
              <a:off x="6591300" y="4905375"/>
              <a:ext cx="4800600" cy="9525"/>
            </a:xfrm>
            <a:custGeom>
              <a:avLst/>
              <a:gdLst/>
              <a:ahLst/>
              <a:cxnLst/>
              <a:rect l="l" t="t" r="r" b="b"/>
              <a:pathLst>
                <a:path w="4800600" h="9525">
                  <a:moveTo>
                    <a:pt x="0" y="0"/>
                  </a:moveTo>
                  <a:lnTo>
                    <a:pt x="4800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</p:grpSp>
      <p:grpSp>
        <p:nvGrpSpPr>
          <p:cNvPr id="34" name="EasySlides Component: synthesis"/>
          <p:cNvGrpSpPr/>
          <p:nvPr/>
        </p:nvGrpSpPr>
        <p:grpSpPr>
          <a:xfrm>
            <a:off x="495300" y="5476875"/>
            <a:ext cx="11201400" cy="714375"/>
            <a:chOff x="495300" y="5476875"/>
            <a:chExt cx="11201400" cy="714375"/>
          </a:xfrm>
        </p:grpSpPr>
        <p:sp>
          <p:nvSpPr>
            <p:cNvPr id="31" name="Rectangle 31"/>
            <p:cNvSpPr/>
            <p:nvPr/>
          </p:nvSpPr>
          <p:spPr>
            <a:xfrm>
              <a:off x="495300" y="5476875"/>
              <a:ext cx="11201400" cy="714375"/>
            </a:xfrm>
            <a:prstGeom prst="roundRect">
              <a:avLst>
                <a:gd name="adj" fmla="val 5333"/>
              </a:avLst>
            </a:prstGeom>
            <a:solidFill>
              <a:srgbClr val="0E7490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495300" y="5476875"/>
              <a:ext cx="76200" cy="714375"/>
            </a:xfrm>
            <a:prstGeom prst="roundRect">
              <a:avLst>
                <a:gd name="adj" fmla="val 50000"/>
              </a:avLst>
            </a:prstGeom>
            <a:solidFill>
              <a:srgbClr val="CC0000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876300" y="5610225"/>
              <a:ext cx="10439400" cy="4476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延伸阅读：Run/Step/Event 统一执行模型与故障恢复。</a:t>
              </a:r>
            </a:p>
          </p:txBody>
        </p:sp>
      </p:grp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0E7490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51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拓展学习地图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06B6D4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三层次进阶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课程第18讲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Agent Runtime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51</a:t>
            </a:r>
          </a:p>
        </p:txBody>
      </p:sp>
      <p:grpSp>
        <p:nvGrpSpPr>
          <p:cNvPr id="21" name="EasySlides Component: evidence_01"/>
          <p:cNvGrpSpPr/>
          <p:nvPr/>
        </p:nvGrpSpPr>
        <p:grpSpPr>
          <a:xfrm>
            <a:off x="495300" y="3524250"/>
            <a:ext cx="11201400" cy="1285875"/>
            <a:chOff x="495300" y="3524250"/>
            <a:chExt cx="11201400" cy="1285875"/>
          </a:xfrm>
        </p:grpSpPr>
        <p:sp>
          <p:nvSpPr>
            <p:cNvPr id="15" name="Rectangle 15"/>
            <p:cNvSpPr/>
            <p:nvPr/>
          </p:nvSpPr>
          <p:spPr>
            <a:xfrm>
              <a:off x="495300" y="3524250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95300" y="3524250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06B6D4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33425" y="3971925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06B6D4"/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447800" y="3752850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0E7490"/>
                  </a:solidFill>
                  <a:latin typeface="Arial"/>
                  <a:ea typeface="Microsoft YaHei"/>
                  <a:cs typeface="Arial"/>
                </a:rPr>
                <a:t>体系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4362450" y="3752850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4686300" y="3752850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把本讲机制放进企业级全景图</a:t>
              </a:r>
            </a:p>
          </p:txBody>
        </p:sp>
      </p:grpSp>
      <p:grpSp>
        <p:nvGrpSpPr>
          <p:cNvPr id="28" name="EasySlides Component: evidence_02"/>
          <p:cNvGrpSpPr/>
          <p:nvPr/>
        </p:nvGrpSpPr>
        <p:grpSpPr>
          <a:xfrm>
            <a:off x="495300" y="4905375"/>
            <a:ext cx="11201400" cy="1285875"/>
            <a:chOff x="495300" y="4905375"/>
            <a:chExt cx="11201400" cy="1285875"/>
          </a:xfrm>
        </p:grpSpPr>
        <p:sp>
          <p:nvSpPr>
            <p:cNvPr id="22" name="Rectangle 22"/>
            <p:cNvSpPr/>
            <p:nvPr/>
          </p:nvSpPr>
          <p:spPr>
            <a:xfrm>
              <a:off x="495300" y="4905375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495300" y="4905375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06B6D4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33425" y="5353050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06B6D4"/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447800" y="5133975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0E7490"/>
                  </a:solidFill>
                  <a:latin typeface="Arial"/>
                  <a:ea typeface="Microsoft YaHei"/>
                  <a:cs typeface="Arial"/>
                </a:rPr>
                <a:t>贯通</a:t>
              </a:r>
            </a:p>
          </p:txBody>
        </p:sp>
        <p:sp>
          <p:nvSpPr>
            <p:cNvPr id="26" name="Line 26"/>
            <p:cNvSpPr/>
            <p:nvPr/>
          </p:nvSpPr>
          <p:spPr>
            <a:xfrm>
              <a:off x="4362450" y="5133975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4686300" y="5133975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与前后讲次的接口互相印证</a:t>
              </a:r>
            </a:p>
          </p:txBody>
        </p:sp>
      </p:grpSp>
      <p:grpSp>
        <p:nvGrpSpPr>
          <p:cNvPr id="34" name="EasySlides Component: metric_01"/>
          <p:cNvGrpSpPr/>
          <p:nvPr/>
        </p:nvGrpSpPr>
        <p:grpSpPr>
          <a:xfrm>
            <a:off x="495300" y="1285875"/>
            <a:ext cx="3505200" cy="1809750"/>
            <a:chOff x="495300" y="1285875"/>
            <a:chExt cx="3505200" cy="1809750"/>
          </a:xfrm>
        </p:grpSpPr>
        <p:sp>
          <p:nvSpPr>
            <p:cNvPr id="29" name="Rectangle 29"/>
            <p:cNvSpPr/>
            <p:nvPr/>
          </p:nvSpPr>
          <p:spPr>
            <a:xfrm>
              <a:off x="495300" y="1285875"/>
              <a:ext cx="3505200" cy="1809750"/>
            </a:xfrm>
            <a:prstGeom prst="roundRect">
              <a:avLst>
                <a:gd name="adj" fmla="val 2105"/>
              </a:avLst>
            </a:prstGeom>
            <a:solidFill>
              <a:srgbClr val="F0F9FC"/>
            </a:solidFill>
            <a:ln w="11430">
              <a:solidFill>
                <a:srgbClr val="B8C7D6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495300" y="1285875"/>
              <a:ext cx="3505200" cy="66675"/>
            </a:xfrm>
            <a:prstGeom prst="roundRect">
              <a:avLst>
                <a:gd name="adj" fmla="val 50000"/>
              </a:avLst>
            </a:prstGeom>
            <a:solidFill>
              <a:srgbClr val="06B6D4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62000" y="1619250"/>
              <a:ext cx="2971800" cy="7143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3150" b="1" dirty="0">
                  <a:solidFill>
                    <a:srgbClr val="0E7490"/>
                  </a:solidFill>
                  <a:latin typeface="Arial"/>
                  <a:ea typeface="Microsoft YaHei"/>
                  <a:cs typeface="Arial"/>
                </a:rPr>
                <a:t>向上</a:t>
              </a:r>
            </a:p>
          </p:txBody>
        </p:sp>
        <p:sp>
          <p:nvSpPr>
            <p:cNvPr id="32" name="Line 32"/>
            <p:cNvSpPr/>
            <p:nvPr/>
          </p:nvSpPr>
          <p:spPr>
            <a:xfrm>
              <a:off x="990600" y="2476500"/>
              <a:ext cx="2514600" cy="9525"/>
            </a:xfrm>
            <a:custGeom>
              <a:avLst/>
              <a:gdLst/>
              <a:ahLst/>
              <a:cxnLst/>
              <a:rect l="l" t="t" r="r" b="b"/>
              <a:pathLst>
                <a:path w="2514600" h="9525">
                  <a:moveTo>
                    <a:pt x="0" y="0"/>
                  </a:moveTo>
                  <a:lnTo>
                    <a:pt x="2514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62000" y="2562225"/>
              <a:ext cx="29718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架构与治理体系化</a:t>
              </a:r>
            </a:p>
          </p:txBody>
        </p:sp>
      </p:grpSp>
      <p:grpSp>
        <p:nvGrpSpPr>
          <p:cNvPr id="40" name="EasySlides Component: metric_02"/>
          <p:cNvGrpSpPr/>
          <p:nvPr/>
        </p:nvGrpSpPr>
        <p:grpSpPr>
          <a:xfrm>
            <a:off x="4343400" y="1285875"/>
            <a:ext cx="3505200" cy="1809750"/>
            <a:chOff x="4343400" y="1285875"/>
            <a:chExt cx="3505200" cy="1809750"/>
          </a:xfrm>
        </p:grpSpPr>
        <p:sp>
          <p:nvSpPr>
            <p:cNvPr id="35" name="Rectangle 35"/>
            <p:cNvSpPr/>
            <p:nvPr/>
          </p:nvSpPr>
          <p:spPr>
            <a:xfrm>
              <a:off x="4343400" y="1285875"/>
              <a:ext cx="3505200" cy="1809750"/>
            </a:xfrm>
            <a:prstGeom prst="roundRect">
              <a:avLst>
                <a:gd name="adj" fmla="val 2105"/>
              </a:avLst>
            </a:prstGeom>
            <a:solidFill>
              <a:srgbClr val="F0F9FC"/>
            </a:solidFill>
            <a:ln w="11430">
              <a:solidFill>
                <a:srgbClr val="B8C7D6"/>
              </a:solidFill>
            </a:ln>
          </p:spPr>
        </p:sp>
        <p:sp>
          <p:nvSpPr>
            <p:cNvPr id="36" name="Rectangle 36"/>
            <p:cNvSpPr/>
            <p:nvPr/>
          </p:nvSpPr>
          <p:spPr>
            <a:xfrm>
              <a:off x="4343400" y="1285875"/>
              <a:ext cx="3505200" cy="66675"/>
            </a:xfrm>
            <a:prstGeom prst="roundRect">
              <a:avLst>
                <a:gd name="adj" fmla="val 50000"/>
              </a:avLst>
            </a:prstGeom>
            <a:solidFill>
              <a:srgbClr val="06B6D4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4610100" y="1619250"/>
              <a:ext cx="2971800" cy="7143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3150" b="1" dirty="0">
                  <a:solidFill>
                    <a:srgbClr val="0E7490"/>
                  </a:solidFill>
                  <a:latin typeface="Arial"/>
                  <a:ea typeface="Microsoft YaHei"/>
                  <a:cs typeface="Arial"/>
                </a:rPr>
                <a:t>向深</a:t>
              </a:r>
            </a:p>
          </p:txBody>
        </p:sp>
        <p:sp>
          <p:nvSpPr>
            <p:cNvPr id="38" name="Line 38"/>
            <p:cNvSpPr/>
            <p:nvPr/>
          </p:nvSpPr>
          <p:spPr>
            <a:xfrm>
              <a:off x="4838700" y="2476500"/>
              <a:ext cx="2514600" cy="9525"/>
            </a:xfrm>
            <a:custGeom>
              <a:avLst/>
              <a:gdLst/>
              <a:ahLst/>
              <a:cxnLst/>
              <a:rect l="l" t="t" r="r" b="b"/>
              <a:pathLst>
                <a:path w="2514600" h="9525">
                  <a:moveTo>
                    <a:pt x="0" y="0"/>
                  </a:moveTo>
                  <a:lnTo>
                    <a:pt x="2514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4610100" y="2562225"/>
              <a:ext cx="29718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Runtime 与可靠性</a:t>
              </a:r>
            </a:p>
          </p:txBody>
        </p:sp>
      </p:grpSp>
      <p:grpSp>
        <p:nvGrpSpPr>
          <p:cNvPr id="46" name="EasySlides Component: metric_03"/>
          <p:cNvGrpSpPr/>
          <p:nvPr/>
        </p:nvGrpSpPr>
        <p:grpSpPr>
          <a:xfrm>
            <a:off x="8191500" y="1285875"/>
            <a:ext cx="3505200" cy="1809750"/>
            <a:chOff x="8191500" y="1285875"/>
            <a:chExt cx="3505200" cy="1809750"/>
          </a:xfrm>
        </p:grpSpPr>
        <p:sp>
          <p:nvSpPr>
            <p:cNvPr id="41" name="Rectangle 41"/>
            <p:cNvSpPr/>
            <p:nvPr/>
          </p:nvSpPr>
          <p:spPr>
            <a:xfrm>
              <a:off x="8191500" y="1285875"/>
              <a:ext cx="3505200" cy="1809750"/>
            </a:xfrm>
            <a:prstGeom prst="roundRect">
              <a:avLst>
                <a:gd name="adj" fmla="val 2105"/>
              </a:avLst>
            </a:prstGeom>
            <a:solidFill>
              <a:srgbClr val="F0F9FC"/>
            </a:solidFill>
            <a:ln w="11430">
              <a:solidFill>
                <a:srgbClr val="B8C7D6"/>
              </a:solidFill>
            </a:ln>
          </p:spPr>
        </p:sp>
        <p:sp>
          <p:nvSpPr>
            <p:cNvPr id="42" name="Rectangle 42"/>
            <p:cNvSpPr/>
            <p:nvPr/>
          </p:nvSpPr>
          <p:spPr>
            <a:xfrm>
              <a:off x="8191500" y="1285875"/>
              <a:ext cx="3505200" cy="66675"/>
            </a:xfrm>
            <a:prstGeom prst="roundRect">
              <a:avLst>
                <a:gd name="adj" fmla="val 50000"/>
              </a:avLst>
            </a:prstGeom>
            <a:solidFill>
              <a:srgbClr val="06B6D4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8458200" y="1619250"/>
              <a:ext cx="2971800" cy="7143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3150" b="1" dirty="0">
                  <a:solidFill>
                    <a:srgbClr val="0E7490"/>
                  </a:solidFill>
                  <a:latin typeface="Arial"/>
                  <a:ea typeface="Microsoft YaHei"/>
                  <a:cs typeface="Arial"/>
                </a:rPr>
                <a:t>向外</a:t>
              </a:r>
            </a:p>
          </p:txBody>
        </p:sp>
        <p:sp>
          <p:nvSpPr>
            <p:cNvPr id="44" name="Line 44"/>
            <p:cNvSpPr/>
            <p:nvPr/>
          </p:nvSpPr>
          <p:spPr>
            <a:xfrm>
              <a:off x="8686800" y="2476500"/>
              <a:ext cx="2514600" cy="9525"/>
            </a:xfrm>
            <a:custGeom>
              <a:avLst/>
              <a:gdLst/>
              <a:ahLst/>
              <a:cxnLst/>
              <a:rect l="l" t="t" r="r" b="b"/>
              <a:pathLst>
                <a:path w="2514600" h="9525">
                  <a:moveTo>
                    <a:pt x="0" y="0"/>
                  </a:moveTo>
                  <a:lnTo>
                    <a:pt x="2514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8458200" y="2562225"/>
              <a:ext cx="29718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多 Agent 与平台化</a:t>
              </a:r>
            </a:p>
          </p:txBody>
        </p:sp>
      </p:grp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0E7490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52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演进路线图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06B6D4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本讲在能力阶梯上的位置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课程第18讲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Agent Runtime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52</a:t>
            </a:r>
          </a:p>
        </p:txBody>
      </p:sp>
      <p:grpSp>
        <p:nvGrpSpPr>
          <p:cNvPr id="26" name="EasySlides Component: evidence"/>
          <p:cNvGrpSpPr/>
          <p:nvPr/>
        </p:nvGrpSpPr>
        <p:grpSpPr>
          <a:xfrm>
            <a:off x="7124700" y="1285875"/>
            <a:ext cx="4572000" cy="4905375"/>
            <a:chOff x="7124700" y="1285875"/>
            <a:chExt cx="4572000" cy="4905375"/>
          </a:xfrm>
        </p:grpSpPr>
        <p:sp>
          <p:nvSpPr>
            <p:cNvPr id="15" name="Rectangle 15"/>
            <p:cNvSpPr/>
            <p:nvPr/>
          </p:nvSpPr>
          <p:spPr>
            <a:xfrm>
              <a:off x="7124700" y="1285875"/>
              <a:ext cx="4572000" cy="4905375"/>
            </a:xfrm>
            <a:prstGeom prst="roundRect">
              <a:avLst>
                <a:gd name="adj" fmla="val 833"/>
              </a:avLst>
            </a:prstGeom>
            <a:solidFill>
              <a:srgbClr val="F0F9FC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7124700" y="1285875"/>
              <a:ext cx="76200" cy="4905375"/>
            </a:xfrm>
            <a:prstGeom prst="rect">
              <a:avLst/>
            </a:prstGeom>
            <a:solidFill>
              <a:srgbClr val="06B6D4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7391400" y="1552575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7391400" y="3105150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7391400" y="4657725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605712" y="1745456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06B6D4"/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605712" y="3298031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06B6D4"/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605712" y="4850606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CC0000"/>
                  </a:solidFill>
                  <a:latin typeface="Arial"/>
                  <a:ea typeface="Microsoft YaHei"/>
                  <a:cs typeface="Arial"/>
                </a:rPr>
                <a:t>03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848600" y="1819275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当前：本讲机制已可运行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848600" y="3371850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下一站：与相邻模块协同治理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848600" y="4924425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长期：固化为组织级资产</a:t>
              </a:r>
            </a:p>
          </p:txBody>
        </p:sp>
      </p:grpSp>
      <p:grpSp>
        <p:nvGrpSpPr>
          <p:cNvPr id="32" name="EasySlides Component: figure"/>
          <p:cNvGrpSpPr/>
          <p:nvPr/>
        </p:nvGrpSpPr>
        <p:grpSpPr>
          <a:xfrm>
            <a:off x="495300" y="1285875"/>
            <a:ext cx="6400800" cy="4905375"/>
            <a:chOff x="495300" y="1285875"/>
            <a:chExt cx="6400800" cy="4905375"/>
          </a:xfrm>
        </p:grpSpPr>
        <p:sp>
          <p:nvSpPr>
            <p:cNvPr id="27" name="Rectangle 27"/>
            <p:cNvSpPr/>
            <p:nvPr/>
          </p:nvSpPr>
          <p:spPr>
            <a:xfrm>
              <a:off x="495300" y="1285875"/>
              <a:ext cx="6400800" cy="4905375"/>
            </a:xfrm>
            <a:prstGeom prst="roundRect">
              <a:avLst>
                <a:gd name="adj" fmla="val 777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647700" y="1438275"/>
              <a:ext cx="6096000" cy="3905250"/>
            </a:xfrm>
            <a:prstGeom prst="roundRect">
              <a:avLst>
                <a:gd name="adj" fmla="val 488"/>
              </a:avLst>
            </a:prstGeom>
            <a:solidFill>
              <a:srgbClr val="F0F9FC"/>
            </a:solidFill>
            <a:ln w="9525">
              <a:solidFill>
                <a:srgbClr val="D4E2EE"/>
              </a:solidFill>
            </a:ln>
          </p:spPr>
        </p:sp>
        <p:pic>
          <p:nvPicPr>
            <p:cNvPr id="29" name="Image 29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47700" y="1605643"/>
              <a:ext cx="6096000" cy="3570514"/>
            </a:xfrm>
            <a:prstGeom prst="rect">
              <a:avLst/>
            </a:prstGeom>
          </p:spPr>
        </p:pic>
        <p:sp>
          <p:nvSpPr>
            <p:cNvPr id="30" name="Line 30"/>
            <p:cNvSpPr/>
            <p:nvPr/>
          </p:nvSpPr>
          <p:spPr>
            <a:xfrm>
              <a:off x="723900" y="5534025"/>
              <a:ext cx="5943600" cy="9525"/>
            </a:xfrm>
            <a:custGeom>
              <a:avLst/>
              <a:gdLst/>
              <a:ahLst/>
              <a:cxnLst/>
              <a:rect l="l" t="t" r="r" b="b"/>
              <a:pathLst>
                <a:path w="5943600" h="9525">
                  <a:moveTo>
                    <a:pt x="0" y="0"/>
                  </a:moveTo>
                  <a:lnTo>
                    <a:pt x="5943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800100" y="5610225"/>
              <a:ext cx="57912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图：从本讲机制到组织资产的演进路径</a:t>
              </a:r>
            </a:p>
          </p:txBody>
        </p:sp>
      </p:grp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E7490"/>
          </a:solidFill>
          <a:ln>
            <a:noFill/>
          </a:ln>
        </p:spPr>
      </p:sp>
      <p:sp>
        <p:nvSpPr>
          <p:cNvPr id="3" name="Freeform 3"/>
          <p:cNvSpPr/>
          <p:nvPr/>
        </p:nvSpPr>
        <p:spPr>
          <a:xfrm>
            <a:off x="5715000" y="0"/>
            <a:ext cx="6477000" cy="6858000"/>
          </a:xfrm>
          <a:custGeom>
            <a:avLst/>
            <a:gdLst/>
            <a:ahLst/>
            <a:cxnLst/>
            <a:rect l="l" t="t" r="r" b="b"/>
            <a:pathLst>
              <a:path w="6477000" h="6858000">
                <a:moveTo>
                  <a:pt x="1905000" y="0"/>
                </a:moveTo>
                <a:lnTo>
                  <a:pt x="6477000" y="0"/>
                </a:lnTo>
                <a:lnTo>
                  <a:pt x="6477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06B6D4">
              <a:alpha val="20000"/>
            </a:srgbClr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2286000"/>
            <a:ext cx="114300" cy="228600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476250" y="2095500"/>
            <a:ext cx="2952750" cy="3143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8750" b="1" dirty="0">
                <a:solidFill>
                  <a:srgbClr val="FFFFFF">
                    <a:alphaMod val="10000"/>
                  </a:srgbClr>
                </a:solidFill>
                <a:latin typeface="Arial"/>
                <a:ea typeface="Microsoft YaHei"/>
                <a:cs typeface="Arial"/>
              </a:rPr>
              <a:t>53</a:t>
            </a:r>
          </a:p>
        </p:txBody>
      </p:sp>
      <p:sp>
        <p:nvSpPr>
          <p:cNvPr id="6" name="Line 6"/>
          <p:cNvSpPr/>
          <p:nvPr/>
        </p:nvSpPr>
        <p:spPr>
          <a:xfrm>
            <a:off x="3619500" y="2505075"/>
            <a:ext cx="1143000" cy="9525"/>
          </a:xfrm>
          <a:custGeom>
            <a:avLst/>
            <a:gdLst/>
            <a:ahLst/>
            <a:cxnLst/>
            <a:rect l="l" t="t" r="r" b="b"/>
            <a:pathLst>
              <a:path w="1143000" h="9525">
                <a:moveTo>
                  <a:pt x="0" y="0"/>
                </a:moveTo>
                <a:lnTo>
                  <a:pt x="1143000" y="0"/>
                </a:lnTo>
              </a:path>
            </a:pathLst>
          </a:custGeom>
          <a:noFill/>
          <a:ln w="57150">
            <a:solidFill>
              <a:srgbClr val="CC0000"/>
            </a:solidFill>
          </a:ln>
        </p:spPr>
      </p:sp>
      <p:sp>
        <p:nvSpPr>
          <p:cNvPr id="7" name="TextBox 7"/>
          <p:cNvSpPr txBox="1"/>
          <p:nvPr/>
        </p:nvSpPr>
        <p:spPr>
          <a:xfrm>
            <a:off x="3619500" y="2667000"/>
            <a:ext cx="7429500" cy="876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42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治理与常见陷阱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619500" y="3648075"/>
            <a:ext cx="7620000" cy="419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800" dirty="0">
                <a:solidFill>
                  <a:srgbClr val="E8F4FC"/>
                </a:solidFill>
                <a:latin typeface="Arial"/>
                <a:ea typeface="Microsoft YaHei"/>
                <a:cs typeface="Arial"/>
              </a:rPr>
              <a:t>企业级红线与审计要点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6762750" y="6286500"/>
            <a:ext cx="4095750" cy="285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r"/>
            <a:r>
              <a:rPr lang="zh-CN" sz="1200" dirty="0">
                <a:solidFill>
                  <a:srgbClr val="FFFFFF">
                    <a:alphaMod val="55000"/>
                  </a:srgbClr>
                </a:solidFill>
                <a:latin typeface="Arial"/>
                <a:ea typeface="Microsoft YaHei"/>
                <a:cs typeface="Arial"/>
              </a:rPr>
              <a:t>用 Durable Workflow 收口自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0E7490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54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企业级红线清单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06B6D4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红线→后果→防护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课程第18讲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Agent Runtime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54</a:t>
            </a:r>
          </a:p>
        </p:txBody>
      </p:sp>
      <p:grpSp>
        <p:nvGrpSpPr>
          <p:cNvPr id="38" name="EasySlides Component: matrix"/>
          <p:cNvGrpSpPr/>
          <p:nvPr/>
        </p:nvGrpSpPr>
        <p:grpSpPr>
          <a:xfrm>
            <a:off x="495300" y="1285875"/>
            <a:ext cx="11201400" cy="4905375"/>
            <a:chOff x="495300" y="1285875"/>
            <a:chExt cx="11201400" cy="4905375"/>
          </a:xfrm>
        </p:grpSpPr>
        <p:sp>
          <p:nvSpPr>
            <p:cNvPr id="15" name="Rectangle 15"/>
            <p:cNvSpPr/>
            <p:nvPr/>
          </p:nvSpPr>
          <p:spPr>
            <a:xfrm>
              <a:off x="495300" y="1285875"/>
              <a:ext cx="11201400" cy="4905375"/>
            </a:xfrm>
            <a:prstGeom prst="roundRect">
              <a:avLst>
                <a:gd name="adj" fmla="val 777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95300" y="1285875"/>
              <a:ext cx="11201400" cy="647700"/>
            </a:xfrm>
            <a:prstGeom prst="roundRect">
              <a:avLst>
                <a:gd name="adj" fmla="val 5882"/>
              </a:avLst>
            </a:prstGeom>
            <a:solidFill>
              <a:srgbClr val="0E7490"/>
            </a:solidFill>
            <a:ln>
              <a:noFill/>
            </a:ln>
          </p:spPr>
        </p:sp>
        <p:sp>
          <p:nvSpPr>
            <p:cNvPr id="17" name="Line 17"/>
            <p:cNvSpPr/>
            <p:nvPr/>
          </p:nvSpPr>
          <p:spPr>
            <a:xfrm>
              <a:off x="4229100" y="1285875"/>
              <a:ext cx="9525" cy="4143375"/>
            </a:xfrm>
            <a:custGeom>
              <a:avLst/>
              <a:gdLst/>
              <a:ahLst/>
              <a:cxnLst/>
              <a:rect l="l" t="t" r="r" b="b"/>
              <a:pathLst>
                <a:path w="9525" h="4143375">
                  <a:moveTo>
                    <a:pt x="0" y="0"/>
                  </a:moveTo>
                  <a:lnTo>
                    <a:pt x="0" y="4143375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sp>
          <p:nvSpPr>
            <p:cNvPr id="18" name="Line 18"/>
            <p:cNvSpPr/>
            <p:nvPr/>
          </p:nvSpPr>
          <p:spPr>
            <a:xfrm>
              <a:off x="7962900" y="1285875"/>
              <a:ext cx="9525" cy="4143375"/>
            </a:xfrm>
            <a:custGeom>
              <a:avLst/>
              <a:gdLst/>
              <a:ahLst/>
              <a:cxnLst/>
              <a:rect l="l" t="t" r="r" b="b"/>
              <a:pathLst>
                <a:path w="9525" h="4143375">
                  <a:moveTo>
                    <a:pt x="0" y="0"/>
                  </a:moveTo>
                  <a:lnTo>
                    <a:pt x="0" y="4143375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sp>
          <p:nvSpPr>
            <p:cNvPr id="19" name="Line 19"/>
            <p:cNvSpPr/>
            <p:nvPr/>
          </p:nvSpPr>
          <p:spPr>
            <a:xfrm>
              <a:off x="495300" y="1933575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sp>
          <p:nvSpPr>
            <p:cNvPr id="20" name="Line 20"/>
            <p:cNvSpPr/>
            <p:nvPr/>
          </p:nvSpPr>
          <p:spPr>
            <a:xfrm>
              <a:off x="495300" y="3095625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1" name="Line 21"/>
            <p:cNvSpPr/>
            <p:nvPr/>
          </p:nvSpPr>
          <p:spPr>
            <a:xfrm>
              <a:off x="495300" y="4257675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2" name="Line 22"/>
            <p:cNvSpPr/>
            <p:nvPr/>
          </p:nvSpPr>
          <p:spPr>
            <a:xfrm>
              <a:off x="495300" y="5429250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grpSp>
          <p:nvGrpSpPr>
            <p:cNvPr id="26" name="Group 26"/>
            <p:cNvGrpSpPr/>
            <p:nvPr/>
          </p:nvGrpSpPr>
          <p:grpSpPr>
            <a:xfrm>
              <a:off x="704850" y="1428750"/>
              <a:ext cx="10782300" cy="361950"/>
              <a:chOff x="704850" y="1428750"/>
              <a:chExt cx="10782300" cy="361950"/>
            </a:xfrm>
          </p:grpSpPr>
          <p:sp>
            <p:nvSpPr>
              <p:cNvPr id="23" name="TextBox 23"/>
              <p:cNvSpPr txBox="1"/>
              <p:nvPr/>
            </p:nvSpPr>
            <p:spPr>
              <a:xfrm>
                <a:off x="704850" y="1428750"/>
                <a:ext cx="33147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红线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4438650" y="1428750"/>
                <a:ext cx="33147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后果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8172450" y="1428750"/>
                <a:ext cx="33147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防护</a:t>
                </a:r>
              </a:p>
            </p:txBody>
          </p:sp>
        </p:grpSp>
        <p:grpSp>
          <p:nvGrpSpPr>
            <p:cNvPr id="36" name="Group 36"/>
            <p:cNvGrpSpPr/>
            <p:nvPr/>
          </p:nvGrpSpPr>
          <p:grpSpPr>
            <a:xfrm>
              <a:off x="723900" y="2105025"/>
              <a:ext cx="10744200" cy="3086100"/>
              <a:chOff x="723900" y="2105025"/>
              <a:chExt cx="10744200" cy="3086100"/>
            </a:xfrm>
          </p:grpSpPr>
          <p:sp>
            <p:nvSpPr>
              <p:cNvPr id="27" name="TextBox 27"/>
              <p:cNvSpPr txBox="1"/>
              <p:nvPr/>
            </p:nvSpPr>
            <p:spPr>
              <a:xfrm>
                <a:off x="723900" y="21050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越权访问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4457700" y="21050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数据泄漏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8191500" y="21050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硬过滤+审计</a:t>
                </a: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723900" y="326707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未审批副作用</a:t>
                </a: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4457700" y="326707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业务事故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8191500" y="326707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审批+幂等</a:t>
                </a: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723900" y="44291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不可回放</a:t>
                </a: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4457700" y="44291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无法追责</a:t>
                </a:r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8191500" y="44291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Trace+Checkpoint</a:t>
                </a:r>
              </a:p>
            </p:txBody>
          </p:sp>
        </p:grpSp>
        <p:sp>
          <p:nvSpPr>
            <p:cNvPr id="37" name="TextBox 37"/>
            <p:cNvSpPr txBox="1"/>
            <p:nvPr/>
          </p:nvSpPr>
          <p:spPr>
            <a:xfrm>
              <a:off x="828675" y="5581650"/>
              <a:ext cx="10534650" cy="4191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500" b="1" dirty="0">
                  <a:solidFill>
                    <a:srgbClr val="0E7490"/>
                  </a:solidFill>
                  <a:latin typeface="Arial"/>
                  <a:ea typeface="Microsoft YaHei"/>
                  <a:cs typeface="Arial"/>
                </a:rPr>
                <a:t>红线一票否决，不允许带病上线</a:t>
              </a:r>
            </a:p>
          </p:txBody>
        </p:sp>
      </p:grp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E7490"/>
          </a:solidFill>
          <a:ln>
            <a:noFill/>
          </a:ln>
        </p:spPr>
      </p:sp>
      <p:sp>
        <p:nvSpPr>
          <p:cNvPr id="3" name="Freeform 3"/>
          <p:cNvSpPr/>
          <p:nvPr/>
        </p:nvSpPr>
        <p:spPr>
          <a:xfrm>
            <a:off x="5715000" y="0"/>
            <a:ext cx="6477000" cy="6858000"/>
          </a:xfrm>
          <a:custGeom>
            <a:avLst/>
            <a:gdLst/>
            <a:ahLst/>
            <a:cxnLst/>
            <a:rect l="l" t="t" r="r" b="b"/>
            <a:pathLst>
              <a:path w="6477000" h="6858000">
                <a:moveTo>
                  <a:pt x="1905000" y="0"/>
                </a:moveTo>
                <a:lnTo>
                  <a:pt x="6477000" y="0"/>
                </a:lnTo>
                <a:lnTo>
                  <a:pt x="6477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06B6D4">
              <a:alpha val="20000"/>
            </a:srgbClr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2286000"/>
            <a:ext cx="114300" cy="228600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476250" y="2095500"/>
            <a:ext cx="2952750" cy="3143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8750" b="1" dirty="0">
                <a:solidFill>
                  <a:srgbClr val="FFFFFF">
                    <a:alphaMod val="10000"/>
                  </a:srgbClr>
                </a:solidFill>
                <a:latin typeface="Arial"/>
                <a:ea typeface="Microsoft YaHei"/>
                <a:cs typeface="Arial"/>
              </a:rPr>
              <a:t>55</a:t>
            </a:r>
          </a:p>
        </p:txBody>
      </p:sp>
      <p:sp>
        <p:nvSpPr>
          <p:cNvPr id="6" name="Line 6"/>
          <p:cNvSpPr/>
          <p:nvPr/>
        </p:nvSpPr>
        <p:spPr>
          <a:xfrm>
            <a:off x="3619500" y="2505075"/>
            <a:ext cx="1143000" cy="9525"/>
          </a:xfrm>
          <a:custGeom>
            <a:avLst/>
            <a:gdLst/>
            <a:ahLst/>
            <a:cxnLst/>
            <a:rect l="l" t="t" r="r" b="b"/>
            <a:pathLst>
              <a:path w="1143000" h="9525">
                <a:moveTo>
                  <a:pt x="0" y="0"/>
                </a:moveTo>
                <a:lnTo>
                  <a:pt x="1143000" y="0"/>
                </a:lnTo>
              </a:path>
            </a:pathLst>
          </a:custGeom>
          <a:noFill/>
          <a:ln w="57150">
            <a:solidFill>
              <a:srgbClr val="CC0000"/>
            </a:solidFill>
          </a:ln>
        </p:spPr>
      </p:sp>
      <p:sp>
        <p:nvSpPr>
          <p:cNvPr id="7" name="TextBox 7"/>
          <p:cNvSpPr txBox="1"/>
          <p:nvPr/>
        </p:nvSpPr>
        <p:spPr>
          <a:xfrm>
            <a:off x="3619500" y="2667000"/>
            <a:ext cx="7429500" cy="876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42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复习与考核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619500" y="3648075"/>
            <a:ext cx="7620000" cy="419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800" dirty="0">
                <a:solidFill>
                  <a:srgbClr val="E8F4FC"/>
                </a:solidFill>
                <a:latin typeface="Arial"/>
                <a:ea typeface="Microsoft YaHei"/>
                <a:cs typeface="Arial"/>
              </a:rPr>
              <a:t>把本讲装进长期记忆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6762750" y="6286500"/>
            <a:ext cx="4095750" cy="285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r"/>
            <a:r>
              <a:rPr lang="zh-CN" sz="1200" dirty="0">
                <a:solidFill>
                  <a:srgbClr val="FFFFFF">
                    <a:alphaMod val="55000"/>
                  </a:srgbClr>
                </a:solidFill>
                <a:latin typeface="Arial"/>
                <a:ea typeface="Microsoft YaHei"/>
                <a:cs typeface="Arial"/>
              </a:rPr>
              <a:t>用 Durable Workflow 收口自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0E7490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56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复习要点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06B6D4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三个必答题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课程第18讲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Agent Runtime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56</a:t>
            </a:r>
          </a:p>
        </p:txBody>
      </p:sp>
      <p:grpSp>
        <p:nvGrpSpPr>
          <p:cNvPr id="21" name="EasySlides Component: evidence_01"/>
          <p:cNvGrpSpPr/>
          <p:nvPr/>
        </p:nvGrpSpPr>
        <p:grpSpPr>
          <a:xfrm>
            <a:off x="495300" y="2095500"/>
            <a:ext cx="11201400" cy="1285875"/>
            <a:chOff x="495300" y="2095500"/>
            <a:chExt cx="11201400" cy="1285875"/>
          </a:xfrm>
        </p:grpSpPr>
        <p:sp>
          <p:nvSpPr>
            <p:cNvPr id="15" name="Rectangle 15"/>
            <p:cNvSpPr/>
            <p:nvPr/>
          </p:nvSpPr>
          <p:spPr>
            <a:xfrm>
              <a:off x="495300" y="2095500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95300" y="2095500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06B6D4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33425" y="2543175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06B6D4"/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447800" y="2324100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0E7490"/>
                  </a:solidFill>
                  <a:latin typeface="Arial"/>
                  <a:ea typeface="Microsoft YaHei"/>
                  <a:cs typeface="Arial"/>
                </a:rPr>
                <a:t>是什么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4362450" y="2324100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4686300" y="2324100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中断的定义与边界</a:t>
              </a:r>
            </a:p>
          </p:txBody>
        </p:sp>
      </p:grpSp>
      <p:grpSp>
        <p:nvGrpSpPr>
          <p:cNvPr id="28" name="EasySlides Component: evidence_02"/>
          <p:cNvGrpSpPr/>
          <p:nvPr/>
        </p:nvGrpSpPr>
        <p:grpSpPr>
          <a:xfrm>
            <a:off x="495300" y="3571875"/>
            <a:ext cx="11201400" cy="1285875"/>
            <a:chOff x="495300" y="3571875"/>
            <a:chExt cx="11201400" cy="1285875"/>
          </a:xfrm>
        </p:grpSpPr>
        <p:sp>
          <p:nvSpPr>
            <p:cNvPr id="22" name="Rectangle 22"/>
            <p:cNvSpPr/>
            <p:nvPr/>
          </p:nvSpPr>
          <p:spPr>
            <a:xfrm>
              <a:off x="495300" y="3571875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495300" y="3571875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06B6D4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33425" y="4019550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06B6D4"/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447800" y="3800475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0E7490"/>
                  </a:solidFill>
                  <a:latin typeface="Arial"/>
                  <a:ea typeface="Microsoft YaHei"/>
                  <a:cs typeface="Arial"/>
                </a:rPr>
                <a:t>为什么</a:t>
              </a:r>
            </a:p>
          </p:txBody>
        </p:sp>
        <p:sp>
          <p:nvSpPr>
            <p:cNvPr id="26" name="Line 26"/>
            <p:cNvSpPr/>
            <p:nvPr/>
          </p:nvSpPr>
          <p:spPr>
            <a:xfrm>
              <a:off x="4362450" y="3800475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4686300" y="3800475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自主与流程的混合编排：Harness 负责探索</a:t>
              </a:r>
            </a:p>
          </p:txBody>
        </p:sp>
      </p:grpSp>
      <p:grpSp>
        <p:nvGrpSpPr>
          <p:cNvPr id="35" name="EasySlides Component: evidence_03"/>
          <p:cNvGrpSpPr/>
          <p:nvPr/>
        </p:nvGrpSpPr>
        <p:grpSpPr>
          <a:xfrm>
            <a:off x="495300" y="4905375"/>
            <a:ext cx="11201400" cy="1285875"/>
            <a:chOff x="495300" y="4905375"/>
            <a:chExt cx="11201400" cy="1285875"/>
          </a:xfrm>
        </p:grpSpPr>
        <p:sp>
          <p:nvSpPr>
            <p:cNvPr id="29" name="Rectangle 29"/>
            <p:cNvSpPr/>
            <p:nvPr/>
          </p:nvSpPr>
          <p:spPr>
            <a:xfrm>
              <a:off x="495300" y="4905375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495300" y="4905375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06B6D4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33425" y="5353050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06B6D4"/>
                  </a:solidFill>
                  <a:latin typeface="Arial"/>
                  <a:ea typeface="Microsoft YaHei"/>
                  <a:cs typeface="Arial"/>
                </a:rPr>
                <a:t>03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447800" y="5133975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0E7490"/>
                  </a:solidFill>
                  <a:latin typeface="Arial"/>
                  <a:ea typeface="Microsoft YaHei"/>
                  <a:cs typeface="Arial"/>
                </a:rPr>
                <a:t>怎么用</a:t>
              </a:r>
            </a:p>
          </p:txBody>
        </p:sp>
        <p:sp>
          <p:nvSpPr>
            <p:cNvPr id="33" name="Line 33"/>
            <p:cNvSpPr/>
            <p:nvPr/>
          </p:nvSpPr>
          <p:spPr>
            <a:xfrm>
              <a:off x="4362450" y="5133975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4686300" y="5133975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在 DataAgent 中跑通 workflow.py 对应</a:t>
              </a:r>
            </a:p>
          </p:txBody>
        </p:sp>
      </p:grpSp>
      <p:grpSp>
        <p:nvGrpSpPr>
          <p:cNvPr id="39" name="EasySlides Component: synthesis"/>
          <p:cNvGrpSpPr/>
          <p:nvPr/>
        </p:nvGrpSpPr>
        <p:grpSpPr>
          <a:xfrm>
            <a:off x="495300" y="1285875"/>
            <a:ext cx="11201400" cy="714375"/>
            <a:chOff x="495300" y="1285875"/>
            <a:chExt cx="11201400" cy="714375"/>
          </a:xfrm>
        </p:grpSpPr>
        <p:sp>
          <p:nvSpPr>
            <p:cNvPr id="36" name="Rectangle 36"/>
            <p:cNvSpPr/>
            <p:nvPr/>
          </p:nvSpPr>
          <p:spPr>
            <a:xfrm>
              <a:off x="495300" y="1285875"/>
              <a:ext cx="11201400" cy="714375"/>
            </a:xfrm>
            <a:prstGeom prst="roundRect">
              <a:avLst>
                <a:gd name="adj" fmla="val 5333"/>
              </a:avLst>
            </a:prstGeom>
            <a:solidFill>
              <a:srgbClr val="0E7490"/>
            </a:solidFill>
            <a:ln>
              <a:noFill/>
            </a:ln>
          </p:spPr>
        </p:sp>
        <p:sp>
          <p:nvSpPr>
            <p:cNvPr id="37" name="Rectangle 37"/>
            <p:cNvSpPr/>
            <p:nvPr/>
          </p:nvSpPr>
          <p:spPr>
            <a:xfrm>
              <a:off x="495300" y="1285875"/>
              <a:ext cx="76200" cy="714375"/>
            </a:xfrm>
            <a:prstGeom prst="roundRect">
              <a:avLst>
                <a:gd name="adj" fmla="val 50000"/>
              </a:avLst>
            </a:prstGeom>
            <a:solidFill>
              <a:srgbClr val="CC0000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876300" y="1419225"/>
              <a:ext cx="10439400" cy="4476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能讲给同事听懂，才算真正掌握</a:t>
              </a:r>
            </a:p>
          </p:txBody>
        </p:sp>
      </p:grp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0E7490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57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反模式对照：中断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06B6D4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两个真实项目里的教训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课程第18讲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Agent Runtime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57</a:t>
            </a:r>
          </a:p>
        </p:txBody>
      </p:sp>
      <p:grpSp>
        <p:nvGrpSpPr>
          <p:cNvPr id="22" name="EasySlides Component: left"/>
          <p:cNvGrpSpPr/>
          <p:nvPr/>
        </p:nvGrpSpPr>
        <p:grpSpPr>
          <a:xfrm>
            <a:off x="495300" y="1285875"/>
            <a:ext cx="5410200" cy="4000500"/>
            <a:chOff x="495300" y="1285875"/>
            <a:chExt cx="5410200" cy="4000500"/>
          </a:xfrm>
        </p:grpSpPr>
        <p:sp>
          <p:nvSpPr>
            <p:cNvPr id="15" name="Rectangle 15"/>
            <p:cNvSpPr/>
            <p:nvPr/>
          </p:nvSpPr>
          <p:spPr>
            <a:xfrm>
              <a:off x="495300" y="1285875"/>
              <a:ext cx="5410200" cy="4000500"/>
            </a:xfrm>
            <a:prstGeom prst="roundRect">
              <a:avLst>
                <a:gd name="adj" fmla="val 952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95300" y="1285875"/>
              <a:ext cx="5410200" cy="609600"/>
            </a:xfrm>
            <a:prstGeom prst="roundRect">
              <a:avLst>
                <a:gd name="adj" fmla="val 6250"/>
              </a:avLst>
            </a:prstGeom>
            <a:solidFill>
              <a:srgbClr val="E8F4FC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495300" y="1285875"/>
              <a:ext cx="57150" cy="609600"/>
            </a:xfrm>
            <a:prstGeom prst="rect">
              <a:avLst/>
            </a:prstGeom>
            <a:solidFill>
              <a:srgbClr val="06B6D4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800100" y="1419225"/>
              <a:ext cx="48006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725" b="1" dirty="0">
                  <a:solidFill>
                    <a:srgbClr val="0E7490"/>
                  </a:solidFill>
                  <a:latin typeface="Arial"/>
                  <a:ea typeface="Microsoft YaHei"/>
                  <a:cs typeface="Arial"/>
                </a:rPr>
                <a:t>反例现场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800100" y="2276475"/>
              <a:ext cx="4800600" cy="9525"/>
            </a:xfrm>
            <a:custGeom>
              <a:avLst/>
              <a:gdLst/>
              <a:ahLst/>
              <a:cxnLst/>
              <a:rect l="l" t="t" r="r" b="b"/>
              <a:pathLst>
                <a:path w="4800600" h="9525">
                  <a:moveTo>
                    <a:pt x="0" y="0"/>
                  </a:moveTo>
                  <a:lnTo>
                    <a:pt x="4800600" y="0"/>
                  </a:lnTo>
                </a:path>
              </a:pathLst>
            </a:custGeom>
            <a:noFill/>
            <a:ln w="19050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1028700" y="2505075"/>
              <a:ext cx="4343400" cy="20955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65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常见误用：把「中断」当成一次性胶水代码，没有版本、没有度量、没有回滚路径。</a:t>
              </a:r>
            </a:p>
            <a:p>
              <a:pPr algn="l"/>
              <a:r>
                <a:rPr lang="zh-CN" sz="165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复盘：契约缺失</a:t>
              </a:r>
            </a:p>
          </p:txBody>
        </p:sp>
        <p:sp>
          <p:nvSpPr>
            <p:cNvPr id="21" name="Line 21"/>
            <p:cNvSpPr/>
            <p:nvPr/>
          </p:nvSpPr>
          <p:spPr>
            <a:xfrm>
              <a:off x="800100" y="4905375"/>
              <a:ext cx="4800600" cy="9525"/>
            </a:xfrm>
            <a:custGeom>
              <a:avLst/>
              <a:gdLst/>
              <a:ahLst/>
              <a:cxnLst/>
              <a:rect l="l" t="t" r="r" b="b"/>
              <a:pathLst>
                <a:path w="4800600" h="9525">
                  <a:moveTo>
                    <a:pt x="0" y="0"/>
                  </a:moveTo>
                  <a:lnTo>
                    <a:pt x="4800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</p:grpSp>
      <p:grpSp>
        <p:nvGrpSpPr>
          <p:cNvPr id="30" name="EasySlides Component: right"/>
          <p:cNvGrpSpPr/>
          <p:nvPr/>
        </p:nvGrpSpPr>
        <p:grpSpPr>
          <a:xfrm>
            <a:off x="6286500" y="1285875"/>
            <a:ext cx="5410200" cy="4000500"/>
            <a:chOff x="6286500" y="1285875"/>
            <a:chExt cx="5410200" cy="4000500"/>
          </a:xfrm>
        </p:grpSpPr>
        <p:sp>
          <p:nvSpPr>
            <p:cNvPr id="23" name="Rectangle 23"/>
            <p:cNvSpPr/>
            <p:nvPr/>
          </p:nvSpPr>
          <p:spPr>
            <a:xfrm>
              <a:off x="6286500" y="1285875"/>
              <a:ext cx="5410200" cy="4000500"/>
            </a:xfrm>
            <a:prstGeom prst="roundRect">
              <a:avLst>
                <a:gd name="adj" fmla="val 952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6286500" y="1285875"/>
              <a:ext cx="5410200" cy="609600"/>
            </a:xfrm>
            <a:prstGeom prst="roundRect">
              <a:avLst>
                <a:gd name="adj" fmla="val 6250"/>
              </a:avLst>
            </a:prstGeom>
            <a:solidFill>
              <a:srgbClr val="E8F4FC"/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6286500" y="1285875"/>
              <a:ext cx="57150" cy="609600"/>
            </a:xfrm>
            <a:prstGeom prst="rect">
              <a:avLst/>
            </a:prstGeom>
            <a:solidFill>
              <a:srgbClr val="06B6D4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591300" y="1419225"/>
              <a:ext cx="48006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725" b="1" dirty="0">
                  <a:solidFill>
                    <a:srgbClr val="0E7490"/>
                  </a:solidFill>
                  <a:latin typeface="Arial"/>
                  <a:ea typeface="Microsoft YaHei"/>
                  <a:cs typeface="Arial"/>
                </a:rPr>
                <a:t>整改后</a:t>
              </a:r>
            </a:p>
          </p:txBody>
        </p:sp>
        <p:sp>
          <p:nvSpPr>
            <p:cNvPr id="27" name="Line 27"/>
            <p:cNvSpPr/>
            <p:nvPr/>
          </p:nvSpPr>
          <p:spPr>
            <a:xfrm>
              <a:off x="6591300" y="2276475"/>
              <a:ext cx="4800600" cy="9525"/>
            </a:xfrm>
            <a:custGeom>
              <a:avLst/>
              <a:gdLst/>
              <a:ahLst/>
              <a:cxnLst/>
              <a:rect l="l" t="t" r="r" b="b"/>
              <a:pathLst>
                <a:path w="4800600" h="9525">
                  <a:moveTo>
                    <a:pt x="0" y="0"/>
                  </a:moveTo>
                  <a:lnTo>
                    <a:pt x="4800600" y="0"/>
                  </a:lnTo>
                </a:path>
              </a:pathLst>
            </a:custGeom>
            <a:noFill/>
            <a:ln w="19050">
              <a:solidFill>
                <a:srgbClr val="D4E2EE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819900" y="2505075"/>
              <a:ext cx="4343400" cy="20955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65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正确姿势：把「中断」的决策依据落成证据（Trace/Eval），而不是凭经验拍板。</a:t>
              </a:r>
            </a:p>
            <a:p>
              <a:pPr algn="l"/>
              <a:r>
                <a:rPr lang="zh-CN" sz="165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复盘：资产沉淀</a:t>
              </a:r>
            </a:p>
          </p:txBody>
        </p:sp>
        <p:sp>
          <p:nvSpPr>
            <p:cNvPr id="29" name="Line 29"/>
            <p:cNvSpPr/>
            <p:nvPr/>
          </p:nvSpPr>
          <p:spPr>
            <a:xfrm>
              <a:off x="6591300" y="4905375"/>
              <a:ext cx="4800600" cy="9525"/>
            </a:xfrm>
            <a:custGeom>
              <a:avLst/>
              <a:gdLst/>
              <a:ahLst/>
              <a:cxnLst/>
              <a:rect l="l" t="t" r="r" b="b"/>
              <a:pathLst>
                <a:path w="4800600" h="9525">
                  <a:moveTo>
                    <a:pt x="0" y="0"/>
                  </a:moveTo>
                  <a:lnTo>
                    <a:pt x="4800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</p:grpSp>
      <p:grpSp>
        <p:nvGrpSpPr>
          <p:cNvPr id="34" name="EasySlides Component: synthesis"/>
          <p:cNvGrpSpPr/>
          <p:nvPr/>
        </p:nvGrpSpPr>
        <p:grpSpPr>
          <a:xfrm>
            <a:off x="495300" y="5476875"/>
            <a:ext cx="11201400" cy="714375"/>
            <a:chOff x="495300" y="5476875"/>
            <a:chExt cx="11201400" cy="714375"/>
          </a:xfrm>
        </p:grpSpPr>
        <p:sp>
          <p:nvSpPr>
            <p:cNvPr id="31" name="Rectangle 31"/>
            <p:cNvSpPr/>
            <p:nvPr/>
          </p:nvSpPr>
          <p:spPr>
            <a:xfrm>
              <a:off x="495300" y="5476875"/>
              <a:ext cx="11201400" cy="714375"/>
            </a:xfrm>
            <a:prstGeom prst="roundRect">
              <a:avLst>
                <a:gd name="adj" fmla="val 5333"/>
              </a:avLst>
            </a:prstGeom>
            <a:solidFill>
              <a:srgbClr val="0E7490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495300" y="5476875"/>
              <a:ext cx="76200" cy="714375"/>
            </a:xfrm>
            <a:prstGeom prst="roundRect">
              <a:avLst>
                <a:gd name="adj" fmla="val 50000"/>
              </a:avLst>
            </a:prstGeom>
            <a:solidFill>
              <a:srgbClr val="CC0000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876300" y="5610225"/>
              <a:ext cx="10439400" cy="4476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同一个坑不踩第二次</a:t>
              </a:r>
            </a:p>
          </p:txBody>
        </p:sp>
      </p:grp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0E7490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58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反模式对照：审批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06B6D4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两个真实项目里的教训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课程第18讲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Agent Runtime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58</a:t>
            </a:r>
          </a:p>
        </p:txBody>
      </p:sp>
      <p:grpSp>
        <p:nvGrpSpPr>
          <p:cNvPr id="22" name="EasySlides Component: left"/>
          <p:cNvGrpSpPr/>
          <p:nvPr/>
        </p:nvGrpSpPr>
        <p:grpSpPr>
          <a:xfrm>
            <a:off x="495300" y="1285875"/>
            <a:ext cx="5410200" cy="4000500"/>
            <a:chOff x="495300" y="1285875"/>
            <a:chExt cx="5410200" cy="4000500"/>
          </a:xfrm>
        </p:grpSpPr>
        <p:sp>
          <p:nvSpPr>
            <p:cNvPr id="15" name="Rectangle 15"/>
            <p:cNvSpPr/>
            <p:nvPr/>
          </p:nvSpPr>
          <p:spPr>
            <a:xfrm>
              <a:off x="495300" y="1285875"/>
              <a:ext cx="5410200" cy="4000500"/>
            </a:xfrm>
            <a:prstGeom prst="roundRect">
              <a:avLst>
                <a:gd name="adj" fmla="val 952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95300" y="1285875"/>
              <a:ext cx="5410200" cy="609600"/>
            </a:xfrm>
            <a:prstGeom prst="roundRect">
              <a:avLst>
                <a:gd name="adj" fmla="val 6250"/>
              </a:avLst>
            </a:prstGeom>
            <a:solidFill>
              <a:srgbClr val="E8F4FC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495300" y="1285875"/>
              <a:ext cx="57150" cy="609600"/>
            </a:xfrm>
            <a:prstGeom prst="rect">
              <a:avLst/>
            </a:prstGeom>
            <a:solidFill>
              <a:srgbClr val="06B6D4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800100" y="1419225"/>
              <a:ext cx="48006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725" b="1" dirty="0">
                  <a:solidFill>
                    <a:srgbClr val="0E7490"/>
                  </a:solidFill>
                  <a:latin typeface="Arial"/>
                  <a:ea typeface="Microsoft YaHei"/>
                  <a:cs typeface="Arial"/>
                </a:rPr>
                <a:t>反例现场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800100" y="2276475"/>
              <a:ext cx="4800600" cy="9525"/>
            </a:xfrm>
            <a:custGeom>
              <a:avLst/>
              <a:gdLst/>
              <a:ahLst/>
              <a:cxnLst/>
              <a:rect l="l" t="t" r="r" b="b"/>
              <a:pathLst>
                <a:path w="4800600" h="9525">
                  <a:moveTo>
                    <a:pt x="0" y="0"/>
                  </a:moveTo>
                  <a:lnTo>
                    <a:pt x="4800600" y="0"/>
                  </a:lnTo>
                </a:path>
              </a:pathLst>
            </a:custGeom>
            <a:noFill/>
            <a:ln w="19050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1028700" y="2505075"/>
              <a:ext cx="4343400" cy="20955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65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常见误用：把「审批」当成一次性胶水代码，没有版本、没有度量、没有回滚路径。</a:t>
              </a:r>
            </a:p>
            <a:p>
              <a:pPr algn="l"/>
              <a:r>
                <a:rPr lang="zh-CN" sz="165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复盘：契约缺失</a:t>
              </a:r>
            </a:p>
          </p:txBody>
        </p:sp>
        <p:sp>
          <p:nvSpPr>
            <p:cNvPr id="21" name="Line 21"/>
            <p:cNvSpPr/>
            <p:nvPr/>
          </p:nvSpPr>
          <p:spPr>
            <a:xfrm>
              <a:off x="800100" y="4905375"/>
              <a:ext cx="4800600" cy="9525"/>
            </a:xfrm>
            <a:custGeom>
              <a:avLst/>
              <a:gdLst/>
              <a:ahLst/>
              <a:cxnLst/>
              <a:rect l="l" t="t" r="r" b="b"/>
              <a:pathLst>
                <a:path w="4800600" h="9525">
                  <a:moveTo>
                    <a:pt x="0" y="0"/>
                  </a:moveTo>
                  <a:lnTo>
                    <a:pt x="4800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</p:grpSp>
      <p:grpSp>
        <p:nvGrpSpPr>
          <p:cNvPr id="30" name="EasySlides Component: right"/>
          <p:cNvGrpSpPr/>
          <p:nvPr/>
        </p:nvGrpSpPr>
        <p:grpSpPr>
          <a:xfrm>
            <a:off x="6286500" y="1285875"/>
            <a:ext cx="5410200" cy="4000500"/>
            <a:chOff x="6286500" y="1285875"/>
            <a:chExt cx="5410200" cy="4000500"/>
          </a:xfrm>
        </p:grpSpPr>
        <p:sp>
          <p:nvSpPr>
            <p:cNvPr id="23" name="Rectangle 23"/>
            <p:cNvSpPr/>
            <p:nvPr/>
          </p:nvSpPr>
          <p:spPr>
            <a:xfrm>
              <a:off x="6286500" y="1285875"/>
              <a:ext cx="5410200" cy="4000500"/>
            </a:xfrm>
            <a:prstGeom prst="roundRect">
              <a:avLst>
                <a:gd name="adj" fmla="val 952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6286500" y="1285875"/>
              <a:ext cx="5410200" cy="609600"/>
            </a:xfrm>
            <a:prstGeom prst="roundRect">
              <a:avLst>
                <a:gd name="adj" fmla="val 6250"/>
              </a:avLst>
            </a:prstGeom>
            <a:solidFill>
              <a:srgbClr val="E8F4FC"/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6286500" y="1285875"/>
              <a:ext cx="57150" cy="609600"/>
            </a:xfrm>
            <a:prstGeom prst="rect">
              <a:avLst/>
            </a:prstGeom>
            <a:solidFill>
              <a:srgbClr val="06B6D4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591300" y="1419225"/>
              <a:ext cx="48006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725" b="1" dirty="0">
                  <a:solidFill>
                    <a:srgbClr val="0E7490"/>
                  </a:solidFill>
                  <a:latin typeface="Arial"/>
                  <a:ea typeface="Microsoft YaHei"/>
                  <a:cs typeface="Arial"/>
                </a:rPr>
                <a:t>整改后</a:t>
              </a:r>
            </a:p>
          </p:txBody>
        </p:sp>
        <p:sp>
          <p:nvSpPr>
            <p:cNvPr id="27" name="Line 27"/>
            <p:cNvSpPr/>
            <p:nvPr/>
          </p:nvSpPr>
          <p:spPr>
            <a:xfrm>
              <a:off x="6591300" y="2276475"/>
              <a:ext cx="4800600" cy="9525"/>
            </a:xfrm>
            <a:custGeom>
              <a:avLst/>
              <a:gdLst/>
              <a:ahLst/>
              <a:cxnLst/>
              <a:rect l="l" t="t" r="r" b="b"/>
              <a:pathLst>
                <a:path w="4800600" h="9525">
                  <a:moveTo>
                    <a:pt x="0" y="0"/>
                  </a:moveTo>
                  <a:lnTo>
                    <a:pt x="4800600" y="0"/>
                  </a:lnTo>
                </a:path>
              </a:pathLst>
            </a:custGeom>
            <a:noFill/>
            <a:ln w="19050">
              <a:solidFill>
                <a:srgbClr val="D4E2EE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819900" y="2505075"/>
              <a:ext cx="4343400" cy="20955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65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正确姿势：把「审批」的决策依据落成证据（Trace/Eval），而不是凭经验拍板。</a:t>
              </a:r>
            </a:p>
            <a:p>
              <a:pPr algn="l"/>
              <a:r>
                <a:rPr lang="zh-CN" sz="165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复盘：资产沉淀</a:t>
              </a:r>
            </a:p>
          </p:txBody>
        </p:sp>
        <p:sp>
          <p:nvSpPr>
            <p:cNvPr id="29" name="Line 29"/>
            <p:cNvSpPr/>
            <p:nvPr/>
          </p:nvSpPr>
          <p:spPr>
            <a:xfrm>
              <a:off x="6591300" y="4905375"/>
              <a:ext cx="4800600" cy="9525"/>
            </a:xfrm>
            <a:custGeom>
              <a:avLst/>
              <a:gdLst/>
              <a:ahLst/>
              <a:cxnLst/>
              <a:rect l="l" t="t" r="r" b="b"/>
              <a:pathLst>
                <a:path w="4800600" h="9525">
                  <a:moveTo>
                    <a:pt x="0" y="0"/>
                  </a:moveTo>
                  <a:lnTo>
                    <a:pt x="4800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</p:grpSp>
      <p:grpSp>
        <p:nvGrpSpPr>
          <p:cNvPr id="34" name="EasySlides Component: synthesis"/>
          <p:cNvGrpSpPr/>
          <p:nvPr/>
        </p:nvGrpSpPr>
        <p:grpSpPr>
          <a:xfrm>
            <a:off x="495300" y="5476875"/>
            <a:ext cx="11201400" cy="714375"/>
            <a:chOff x="495300" y="5476875"/>
            <a:chExt cx="11201400" cy="714375"/>
          </a:xfrm>
        </p:grpSpPr>
        <p:sp>
          <p:nvSpPr>
            <p:cNvPr id="31" name="Rectangle 31"/>
            <p:cNvSpPr/>
            <p:nvPr/>
          </p:nvSpPr>
          <p:spPr>
            <a:xfrm>
              <a:off x="495300" y="5476875"/>
              <a:ext cx="11201400" cy="714375"/>
            </a:xfrm>
            <a:prstGeom prst="roundRect">
              <a:avLst>
                <a:gd name="adj" fmla="val 5333"/>
              </a:avLst>
            </a:prstGeom>
            <a:solidFill>
              <a:srgbClr val="0E7490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495300" y="5476875"/>
              <a:ext cx="76200" cy="714375"/>
            </a:xfrm>
            <a:prstGeom prst="roundRect">
              <a:avLst>
                <a:gd name="adj" fmla="val 50000"/>
              </a:avLst>
            </a:prstGeom>
            <a:solidFill>
              <a:srgbClr val="CC0000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876300" y="5610225"/>
              <a:ext cx="10439400" cy="4476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同一个坑不踩第二次</a:t>
              </a:r>
            </a:p>
          </p:txBody>
        </p:sp>
      </p:grp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0E7490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59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反模式对照：副作用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06B6D4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两个真实项目里的教训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课程第18讲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Agent Runtime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59</a:t>
            </a:r>
          </a:p>
        </p:txBody>
      </p:sp>
      <p:grpSp>
        <p:nvGrpSpPr>
          <p:cNvPr id="22" name="EasySlides Component: left"/>
          <p:cNvGrpSpPr/>
          <p:nvPr/>
        </p:nvGrpSpPr>
        <p:grpSpPr>
          <a:xfrm>
            <a:off x="495300" y="1285875"/>
            <a:ext cx="5410200" cy="4000500"/>
            <a:chOff x="495300" y="1285875"/>
            <a:chExt cx="5410200" cy="4000500"/>
          </a:xfrm>
        </p:grpSpPr>
        <p:sp>
          <p:nvSpPr>
            <p:cNvPr id="15" name="Rectangle 15"/>
            <p:cNvSpPr/>
            <p:nvPr/>
          </p:nvSpPr>
          <p:spPr>
            <a:xfrm>
              <a:off x="495300" y="1285875"/>
              <a:ext cx="5410200" cy="4000500"/>
            </a:xfrm>
            <a:prstGeom prst="roundRect">
              <a:avLst>
                <a:gd name="adj" fmla="val 952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95300" y="1285875"/>
              <a:ext cx="5410200" cy="609600"/>
            </a:xfrm>
            <a:prstGeom prst="roundRect">
              <a:avLst>
                <a:gd name="adj" fmla="val 6250"/>
              </a:avLst>
            </a:prstGeom>
            <a:solidFill>
              <a:srgbClr val="E8F4FC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495300" y="1285875"/>
              <a:ext cx="57150" cy="609600"/>
            </a:xfrm>
            <a:prstGeom prst="rect">
              <a:avLst/>
            </a:prstGeom>
            <a:solidFill>
              <a:srgbClr val="06B6D4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800100" y="1419225"/>
              <a:ext cx="48006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725" b="1" dirty="0">
                  <a:solidFill>
                    <a:srgbClr val="0E7490"/>
                  </a:solidFill>
                  <a:latin typeface="Arial"/>
                  <a:ea typeface="Microsoft YaHei"/>
                  <a:cs typeface="Arial"/>
                </a:rPr>
                <a:t>反例现场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800100" y="2276475"/>
              <a:ext cx="4800600" cy="9525"/>
            </a:xfrm>
            <a:custGeom>
              <a:avLst/>
              <a:gdLst/>
              <a:ahLst/>
              <a:cxnLst/>
              <a:rect l="l" t="t" r="r" b="b"/>
              <a:pathLst>
                <a:path w="4800600" h="9525">
                  <a:moveTo>
                    <a:pt x="0" y="0"/>
                  </a:moveTo>
                  <a:lnTo>
                    <a:pt x="4800600" y="0"/>
                  </a:lnTo>
                </a:path>
              </a:pathLst>
            </a:custGeom>
            <a:noFill/>
            <a:ln w="19050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1028700" y="2505075"/>
              <a:ext cx="4343400" cy="20955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65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常见误用：把「副作用」当成一次性胶水代码，没有版本、没有度量、没有回滚路径。</a:t>
              </a:r>
            </a:p>
            <a:p>
              <a:pPr algn="l"/>
              <a:r>
                <a:rPr lang="zh-CN" sz="165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复盘：契约缺失</a:t>
              </a:r>
            </a:p>
          </p:txBody>
        </p:sp>
        <p:sp>
          <p:nvSpPr>
            <p:cNvPr id="21" name="Line 21"/>
            <p:cNvSpPr/>
            <p:nvPr/>
          </p:nvSpPr>
          <p:spPr>
            <a:xfrm>
              <a:off x="800100" y="4905375"/>
              <a:ext cx="4800600" cy="9525"/>
            </a:xfrm>
            <a:custGeom>
              <a:avLst/>
              <a:gdLst/>
              <a:ahLst/>
              <a:cxnLst/>
              <a:rect l="l" t="t" r="r" b="b"/>
              <a:pathLst>
                <a:path w="4800600" h="9525">
                  <a:moveTo>
                    <a:pt x="0" y="0"/>
                  </a:moveTo>
                  <a:lnTo>
                    <a:pt x="4800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</p:grpSp>
      <p:grpSp>
        <p:nvGrpSpPr>
          <p:cNvPr id="30" name="EasySlides Component: right"/>
          <p:cNvGrpSpPr/>
          <p:nvPr/>
        </p:nvGrpSpPr>
        <p:grpSpPr>
          <a:xfrm>
            <a:off x="6286500" y="1285875"/>
            <a:ext cx="5410200" cy="4000500"/>
            <a:chOff x="6286500" y="1285875"/>
            <a:chExt cx="5410200" cy="4000500"/>
          </a:xfrm>
        </p:grpSpPr>
        <p:sp>
          <p:nvSpPr>
            <p:cNvPr id="23" name="Rectangle 23"/>
            <p:cNvSpPr/>
            <p:nvPr/>
          </p:nvSpPr>
          <p:spPr>
            <a:xfrm>
              <a:off x="6286500" y="1285875"/>
              <a:ext cx="5410200" cy="4000500"/>
            </a:xfrm>
            <a:prstGeom prst="roundRect">
              <a:avLst>
                <a:gd name="adj" fmla="val 952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6286500" y="1285875"/>
              <a:ext cx="5410200" cy="609600"/>
            </a:xfrm>
            <a:prstGeom prst="roundRect">
              <a:avLst>
                <a:gd name="adj" fmla="val 6250"/>
              </a:avLst>
            </a:prstGeom>
            <a:solidFill>
              <a:srgbClr val="E8F4FC"/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6286500" y="1285875"/>
              <a:ext cx="57150" cy="609600"/>
            </a:xfrm>
            <a:prstGeom prst="rect">
              <a:avLst/>
            </a:prstGeom>
            <a:solidFill>
              <a:srgbClr val="06B6D4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591300" y="1419225"/>
              <a:ext cx="48006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725" b="1" dirty="0">
                  <a:solidFill>
                    <a:srgbClr val="0E7490"/>
                  </a:solidFill>
                  <a:latin typeface="Arial"/>
                  <a:ea typeface="Microsoft YaHei"/>
                  <a:cs typeface="Arial"/>
                </a:rPr>
                <a:t>整改后</a:t>
              </a:r>
            </a:p>
          </p:txBody>
        </p:sp>
        <p:sp>
          <p:nvSpPr>
            <p:cNvPr id="27" name="Line 27"/>
            <p:cNvSpPr/>
            <p:nvPr/>
          </p:nvSpPr>
          <p:spPr>
            <a:xfrm>
              <a:off x="6591300" y="2276475"/>
              <a:ext cx="4800600" cy="9525"/>
            </a:xfrm>
            <a:custGeom>
              <a:avLst/>
              <a:gdLst/>
              <a:ahLst/>
              <a:cxnLst/>
              <a:rect l="l" t="t" r="r" b="b"/>
              <a:pathLst>
                <a:path w="4800600" h="9525">
                  <a:moveTo>
                    <a:pt x="0" y="0"/>
                  </a:moveTo>
                  <a:lnTo>
                    <a:pt x="4800600" y="0"/>
                  </a:lnTo>
                </a:path>
              </a:pathLst>
            </a:custGeom>
            <a:noFill/>
            <a:ln w="19050">
              <a:solidFill>
                <a:srgbClr val="D4E2EE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819900" y="2505075"/>
              <a:ext cx="4343400" cy="20955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65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正确姿势：把「副作用」的决策依据落成证据（Trace/Eval），而不是凭经验拍板。</a:t>
              </a:r>
            </a:p>
            <a:p>
              <a:pPr algn="l"/>
              <a:r>
                <a:rPr lang="zh-CN" sz="165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复盘：资产沉淀</a:t>
              </a:r>
            </a:p>
          </p:txBody>
        </p:sp>
        <p:sp>
          <p:nvSpPr>
            <p:cNvPr id="29" name="Line 29"/>
            <p:cNvSpPr/>
            <p:nvPr/>
          </p:nvSpPr>
          <p:spPr>
            <a:xfrm>
              <a:off x="6591300" y="4905375"/>
              <a:ext cx="4800600" cy="9525"/>
            </a:xfrm>
            <a:custGeom>
              <a:avLst/>
              <a:gdLst/>
              <a:ahLst/>
              <a:cxnLst/>
              <a:rect l="l" t="t" r="r" b="b"/>
              <a:pathLst>
                <a:path w="4800600" h="9525">
                  <a:moveTo>
                    <a:pt x="0" y="0"/>
                  </a:moveTo>
                  <a:lnTo>
                    <a:pt x="4800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</p:grpSp>
      <p:grpSp>
        <p:nvGrpSpPr>
          <p:cNvPr id="34" name="EasySlides Component: synthesis"/>
          <p:cNvGrpSpPr/>
          <p:nvPr/>
        </p:nvGrpSpPr>
        <p:grpSpPr>
          <a:xfrm>
            <a:off x="495300" y="5476875"/>
            <a:ext cx="11201400" cy="714375"/>
            <a:chOff x="495300" y="5476875"/>
            <a:chExt cx="11201400" cy="714375"/>
          </a:xfrm>
        </p:grpSpPr>
        <p:sp>
          <p:nvSpPr>
            <p:cNvPr id="31" name="Rectangle 31"/>
            <p:cNvSpPr/>
            <p:nvPr/>
          </p:nvSpPr>
          <p:spPr>
            <a:xfrm>
              <a:off x="495300" y="5476875"/>
              <a:ext cx="11201400" cy="714375"/>
            </a:xfrm>
            <a:prstGeom prst="roundRect">
              <a:avLst>
                <a:gd name="adj" fmla="val 5333"/>
              </a:avLst>
            </a:prstGeom>
            <a:solidFill>
              <a:srgbClr val="0E7490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495300" y="5476875"/>
              <a:ext cx="76200" cy="714375"/>
            </a:xfrm>
            <a:prstGeom prst="roundRect">
              <a:avLst>
                <a:gd name="adj" fmla="val 50000"/>
              </a:avLst>
            </a:prstGeom>
            <a:solidFill>
              <a:srgbClr val="CC0000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876300" y="5610225"/>
              <a:ext cx="10439400" cy="4476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同一个坑不踩第二次</a:t>
              </a:r>
            </a:p>
          </p:txBody>
        </p:sp>
      </p:grp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0E7490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60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反模式对照：追踪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06B6D4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两个真实项目里的教训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课程第18讲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Agent Runtime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60</a:t>
            </a:r>
          </a:p>
        </p:txBody>
      </p:sp>
      <p:grpSp>
        <p:nvGrpSpPr>
          <p:cNvPr id="22" name="EasySlides Component: left"/>
          <p:cNvGrpSpPr/>
          <p:nvPr/>
        </p:nvGrpSpPr>
        <p:grpSpPr>
          <a:xfrm>
            <a:off x="495300" y="1285875"/>
            <a:ext cx="5410200" cy="4000500"/>
            <a:chOff x="495300" y="1285875"/>
            <a:chExt cx="5410200" cy="4000500"/>
          </a:xfrm>
        </p:grpSpPr>
        <p:sp>
          <p:nvSpPr>
            <p:cNvPr id="15" name="Rectangle 15"/>
            <p:cNvSpPr/>
            <p:nvPr/>
          </p:nvSpPr>
          <p:spPr>
            <a:xfrm>
              <a:off x="495300" y="1285875"/>
              <a:ext cx="5410200" cy="4000500"/>
            </a:xfrm>
            <a:prstGeom prst="roundRect">
              <a:avLst>
                <a:gd name="adj" fmla="val 952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95300" y="1285875"/>
              <a:ext cx="5410200" cy="609600"/>
            </a:xfrm>
            <a:prstGeom prst="roundRect">
              <a:avLst>
                <a:gd name="adj" fmla="val 6250"/>
              </a:avLst>
            </a:prstGeom>
            <a:solidFill>
              <a:srgbClr val="E8F4FC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495300" y="1285875"/>
              <a:ext cx="57150" cy="609600"/>
            </a:xfrm>
            <a:prstGeom prst="rect">
              <a:avLst/>
            </a:prstGeom>
            <a:solidFill>
              <a:srgbClr val="06B6D4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800100" y="1419225"/>
              <a:ext cx="48006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725" b="1" dirty="0">
                  <a:solidFill>
                    <a:srgbClr val="0E7490"/>
                  </a:solidFill>
                  <a:latin typeface="Arial"/>
                  <a:ea typeface="Microsoft YaHei"/>
                  <a:cs typeface="Arial"/>
                </a:rPr>
                <a:t>反例现场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800100" y="2276475"/>
              <a:ext cx="4800600" cy="9525"/>
            </a:xfrm>
            <a:custGeom>
              <a:avLst/>
              <a:gdLst/>
              <a:ahLst/>
              <a:cxnLst/>
              <a:rect l="l" t="t" r="r" b="b"/>
              <a:pathLst>
                <a:path w="4800600" h="9525">
                  <a:moveTo>
                    <a:pt x="0" y="0"/>
                  </a:moveTo>
                  <a:lnTo>
                    <a:pt x="4800600" y="0"/>
                  </a:lnTo>
                </a:path>
              </a:pathLst>
            </a:custGeom>
            <a:noFill/>
            <a:ln w="19050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1028700" y="2505075"/>
              <a:ext cx="4343400" cy="20955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65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常见误用：把「追踪」当成一次性胶水代码，没有版本、没有度量、没有回滚路径。</a:t>
              </a:r>
            </a:p>
            <a:p>
              <a:pPr algn="l"/>
              <a:r>
                <a:rPr lang="zh-CN" sz="165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复盘：契约缺失</a:t>
              </a:r>
            </a:p>
          </p:txBody>
        </p:sp>
        <p:sp>
          <p:nvSpPr>
            <p:cNvPr id="21" name="Line 21"/>
            <p:cNvSpPr/>
            <p:nvPr/>
          </p:nvSpPr>
          <p:spPr>
            <a:xfrm>
              <a:off x="800100" y="4905375"/>
              <a:ext cx="4800600" cy="9525"/>
            </a:xfrm>
            <a:custGeom>
              <a:avLst/>
              <a:gdLst/>
              <a:ahLst/>
              <a:cxnLst/>
              <a:rect l="l" t="t" r="r" b="b"/>
              <a:pathLst>
                <a:path w="4800600" h="9525">
                  <a:moveTo>
                    <a:pt x="0" y="0"/>
                  </a:moveTo>
                  <a:lnTo>
                    <a:pt x="4800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</p:grpSp>
      <p:grpSp>
        <p:nvGrpSpPr>
          <p:cNvPr id="30" name="EasySlides Component: right"/>
          <p:cNvGrpSpPr/>
          <p:nvPr/>
        </p:nvGrpSpPr>
        <p:grpSpPr>
          <a:xfrm>
            <a:off x="6286500" y="1285875"/>
            <a:ext cx="5410200" cy="4000500"/>
            <a:chOff x="6286500" y="1285875"/>
            <a:chExt cx="5410200" cy="4000500"/>
          </a:xfrm>
        </p:grpSpPr>
        <p:sp>
          <p:nvSpPr>
            <p:cNvPr id="23" name="Rectangle 23"/>
            <p:cNvSpPr/>
            <p:nvPr/>
          </p:nvSpPr>
          <p:spPr>
            <a:xfrm>
              <a:off x="6286500" y="1285875"/>
              <a:ext cx="5410200" cy="4000500"/>
            </a:xfrm>
            <a:prstGeom prst="roundRect">
              <a:avLst>
                <a:gd name="adj" fmla="val 952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6286500" y="1285875"/>
              <a:ext cx="5410200" cy="609600"/>
            </a:xfrm>
            <a:prstGeom prst="roundRect">
              <a:avLst>
                <a:gd name="adj" fmla="val 6250"/>
              </a:avLst>
            </a:prstGeom>
            <a:solidFill>
              <a:srgbClr val="E8F4FC"/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6286500" y="1285875"/>
              <a:ext cx="57150" cy="609600"/>
            </a:xfrm>
            <a:prstGeom prst="rect">
              <a:avLst/>
            </a:prstGeom>
            <a:solidFill>
              <a:srgbClr val="06B6D4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591300" y="1419225"/>
              <a:ext cx="48006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725" b="1" dirty="0">
                  <a:solidFill>
                    <a:srgbClr val="0E7490"/>
                  </a:solidFill>
                  <a:latin typeface="Arial"/>
                  <a:ea typeface="Microsoft YaHei"/>
                  <a:cs typeface="Arial"/>
                </a:rPr>
                <a:t>整改后</a:t>
              </a:r>
            </a:p>
          </p:txBody>
        </p:sp>
        <p:sp>
          <p:nvSpPr>
            <p:cNvPr id="27" name="Line 27"/>
            <p:cNvSpPr/>
            <p:nvPr/>
          </p:nvSpPr>
          <p:spPr>
            <a:xfrm>
              <a:off x="6591300" y="2276475"/>
              <a:ext cx="4800600" cy="9525"/>
            </a:xfrm>
            <a:custGeom>
              <a:avLst/>
              <a:gdLst/>
              <a:ahLst/>
              <a:cxnLst/>
              <a:rect l="l" t="t" r="r" b="b"/>
              <a:pathLst>
                <a:path w="4800600" h="9525">
                  <a:moveTo>
                    <a:pt x="0" y="0"/>
                  </a:moveTo>
                  <a:lnTo>
                    <a:pt x="4800600" y="0"/>
                  </a:lnTo>
                </a:path>
              </a:pathLst>
            </a:custGeom>
            <a:noFill/>
            <a:ln w="19050">
              <a:solidFill>
                <a:srgbClr val="D4E2EE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819900" y="2505075"/>
              <a:ext cx="4343400" cy="20955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65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正确姿势：把「追踪」的决策依据落成证据（Trace/Eval），而不是凭经验拍板。</a:t>
              </a:r>
            </a:p>
            <a:p>
              <a:pPr algn="l"/>
              <a:r>
                <a:rPr lang="zh-CN" sz="165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复盘：资产沉淀</a:t>
              </a:r>
            </a:p>
          </p:txBody>
        </p:sp>
        <p:sp>
          <p:nvSpPr>
            <p:cNvPr id="29" name="Line 29"/>
            <p:cNvSpPr/>
            <p:nvPr/>
          </p:nvSpPr>
          <p:spPr>
            <a:xfrm>
              <a:off x="6591300" y="4905375"/>
              <a:ext cx="4800600" cy="9525"/>
            </a:xfrm>
            <a:custGeom>
              <a:avLst/>
              <a:gdLst/>
              <a:ahLst/>
              <a:cxnLst/>
              <a:rect l="l" t="t" r="r" b="b"/>
              <a:pathLst>
                <a:path w="4800600" h="9525">
                  <a:moveTo>
                    <a:pt x="0" y="0"/>
                  </a:moveTo>
                  <a:lnTo>
                    <a:pt x="4800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</p:grpSp>
      <p:grpSp>
        <p:nvGrpSpPr>
          <p:cNvPr id="34" name="EasySlides Component: synthesis"/>
          <p:cNvGrpSpPr/>
          <p:nvPr/>
        </p:nvGrpSpPr>
        <p:grpSpPr>
          <a:xfrm>
            <a:off x="495300" y="5476875"/>
            <a:ext cx="11201400" cy="714375"/>
            <a:chOff x="495300" y="5476875"/>
            <a:chExt cx="11201400" cy="714375"/>
          </a:xfrm>
        </p:grpSpPr>
        <p:sp>
          <p:nvSpPr>
            <p:cNvPr id="31" name="Rectangle 31"/>
            <p:cNvSpPr/>
            <p:nvPr/>
          </p:nvSpPr>
          <p:spPr>
            <a:xfrm>
              <a:off x="495300" y="5476875"/>
              <a:ext cx="11201400" cy="714375"/>
            </a:xfrm>
            <a:prstGeom prst="roundRect">
              <a:avLst>
                <a:gd name="adj" fmla="val 5333"/>
              </a:avLst>
            </a:prstGeom>
            <a:solidFill>
              <a:srgbClr val="0E7490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495300" y="5476875"/>
              <a:ext cx="76200" cy="714375"/>
            </a:xfrm>
            <a:prstGeom prst="roundRect">
              <a:avLst>
                <a:gd name="adj" fmla="val 50000"/>
              </a:avLst>
            </a:prstGeom>
            <a:solidFill>
              <a:srgbClr val="CC0000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876300" y="5610225"/>
              <a:ext cx="10439400" cy="4476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同一个坑不踩第二次</a:t>
              </a:r>
            </a:p>
          </p:txBody>
        </p:sp>
      </p:grp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0E7490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61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考核问答：中断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06B6D4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三道面试级追问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课程第18讲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Agent Runtime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61</a:t>
            </a:r>
          </a:p>
        </p:txBody>
      </p:sp>
      <p:grpSp>
        <p:nvGrpSpPr>
          <p:cNvPr id="21" name="EasySlides Component: evidence_01"/>
          <p:cNvGrpSpPr/>
          <p:nvPr/>
        </p:nvGrpSpPr>
        <p:grpSpPr>
          <a:xfrm>
            <a:off x="495300" y="2095500"/>
            <a:ext cx="11201400" cy="1285875"/>
            <a:chOff x="495300" y="2095500"/>
            <a:chExt cx="11201400" cy="1285875"/>
          </a:xfrm>
        </p:grpSpPr>
        <p:sp>
          <p:nvSpPr>
            <p:cNvPr id="15" name="Rectangle 15"/>
            <p:cNvSpPr/>
            <p:nvPr/>
          </p:nvSpPr>
          <p:spPr>
            <a:xfrm>
              <a:off x="495300" y="2095500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95300" y="2095500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06B6D4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33425" y="2543175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06B6D4"/>
                  </a:solidFill>
                  <a:latin typeface="Arial"/>
                  <a:ea typeface="Microsoft YaHei"/>
                  <a:cs typeface="Arial"/>
                </a:rPr>
                <a:t>Q1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447800" y="2324100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0E7490"/>
                  </a:solidFill>
                  <a:latin typeface="Arial"/>
                  <a:ea typeface="Microsoft YaHei"/>
                  <a:cs typeface="Arial"/>
                </a:rPr>
                <a:t>机制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4362450" y="2324100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4686300" y="2324100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「中断」的运行机制分三步：输入契约校验 → 核心转换执行 → 结果验证与</a:t>
              </a:r>
            </a:p>
          </p:txBody>
        </p:sp>
      </p:grpSp>
      <p:grpSp>
        <p:nvGrpSpPr>
          <p:cNvPr id="28" name="EasySlides Component: evidence_02"/>
          <p:cNvGrpSpPr/>
          <p:nvPr/>
        </p:nvGrpSpPr>
        <p:grpSpPr>
          <a:xfrm>
            <a:off x="495300" y="3571875"/>
            <a:ext cx="11201400" cy="1285875"/>
            <a:chOff x="495300" y="3571875"/>
            <a:chExt cx="11201400" cy="1285875"/>
          </a:xfrm>
        </p:grpSpPr>
        <p:sp>
          <p:nvSpPr>
            <p:cNvPr id="22" name="Rectangle 22"/>
            <p:cNvSpPr/>
            <p:nvPr/>
          </p:nvSpPr>
          <p:spPr>
            <a:xfrm>
              <a:off x="495300" y="3571875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495300" y="3571875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06B6D4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33425" y="4019550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06B6D4"/>
                  </a:solidFill>
                  <a:latin typeface="Arial"/>
                  <a:ea typeface="Microsoft YaHei"/>
                  <a:cs typeface="Arial"/>
                </a:rPr>
                <a:t>Q2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447800" y="3800475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0E7490"/>
                  </a:solidFill>
                  <a:latin typeface="Arial"/>
                  <a:ea typeface="Microsoft YaHei"/>
                  <a:cs typeface="Arial"/>
                </a:rPr>
                <a:t>取舍</a:t>
              </a:r>
            </a:p>
          </p:txBody>
        </p:sp>
        <p:sp>
          <p:nvSpPr>
            <p:cNvPr id="26" name="Line 26"/>
            <p:cNvSpPr/>
            <p:nvPr/>
          </p:nvSpPr>
          <p:spPr>
            <a:xfrm>
              <a:off x="4362450" y="3800475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4686300" y="3800475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正确姿势：为「中断」设置显式预算与停止条件，宁可慢一点，不可失控。</a:t>
              </a:r>
            </a:p>
          </p:txBody>
        </p:sp>
      </p:grpSp>
      <p:grpSp>
        <p:nvGrpSpPr>
          <p:cNvPr id="35" name="EasySlides Component: evidence_03"/>
          <p:cNvGrpSpPr/>
          <p:nvPr/>
        </p:nvGrpSpPr>
        <p:grpSpPr>
          <a:xfrm>
            <a:off x="495300" y="4905375"/>
            <a:ext cx="11201400" cy="1285875"/>
            <a:chOff x="495300" y="4905375"/>
            <a:chExt cx="11201400" cy="1285875"/>
          </a:xfrm>
        </p:grpSpPr>
        <p:sp>
          <p:nvSpPr>
            <p:cNvPr id="29" name="Rectangle 29"/>
            <p:cNvSpPr/>
            <p:nvPr/>
          </p:nvSpPr>
          <p:spPr>
            <a:xfrm>
              <a:off x="495300" y="4905375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495300" y="4905375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06B6D4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33425" y="5353050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06B6D4"/>
                  </a:solidFill>
                  <a:latin typeface="Arial"/>
                  <a:ea typeface="Microsoft YaHei"/>
                  <a:cs typeface="Arial"/>
                </a:rPr>
                <a:t>Q3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447800" y="5133975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0E7490"/>
                  </a:solidFill>
                  <a:latin typeface="Arial"/>
                  <a:ea typeface="Microsoft YaHei"/>
                  <a:cs typeface="Arial"/>
                </a:rPr>
                <a:t>治理</a:t>
              </a:r>
            </a:p>
          </p:txBody>
        </p:sp>
        <p:sp>
          <p:nvSpPr>
            <p:cNvPr id="33" name="Line 33"/>
            <p:cNvSpPr/>
            <p:nvPr/>
          </p:nvSpPr>
          <p:spPr>
            <a:xfrm>
              <a:off x="4362450" y="5133975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4686300" y="5133975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治理视角：控制权矩阵与自主性预算划定行动边界。</a:t>
              </a:r>
            </a:p>
          </p:txBody>
        </p:sp>
      </p:grpSp>
      <p:grpSp>
        <p:nvGrpSpPr>
          <p:cNvPr id="39" name="EasySlides Component: synthesis"/>
          <p:cNvGrpSpPr/>
          <p:nvPr/>
        </p:nvGrpSpPr>
        <p:grpSpPr>
          <a:xfrm>
            <a:off x="495300" y="1285875"/>
            <a:ext cx="11201400" cy="714375"/>
            <a:chOff x="495300" y="1285875"/>
            <a:chExt cx="11201400" cy="714375"/>
          </a:xfrm>
        </p:grpSpPr>
        <p:sp>
          <p:nvSpPr>
            <p:cNvPr id="36" name="Rectangle 36"/>
            <p:cNvSpPr/>
            <p:nvPr/>
          </p:nvSpPr>
          <p:spPr>
            <a:xfrm>
              <a:off x="495300" y="1285875"/>
              <a:ext cx="11201400" cy="714375"/>
            </a:xfrm>
            <a:prstGeom prst="roundRect">
              <a:avLst>
                <a:gd name="adj" fmla="val 5333"/>
              </a:avLst>
            </a:prstGeom>
            <a:solidFill>
              <a:srgbClr val="0E7490"/>
            </a:solidFill>
            <a:ln>
              <a:noFill/>
            </a:ln>
          </p:spPr>
        </p:sp>
        <p:sp>
          <p:nvSpPr>
            <p:cNvPr id="37" name="Rectangle 37"/>
            <p:cNvSpPr/>
            <p:nvPr/>
          </p:nvSpPr>
          <p:spPr>
            <a:xfrm>
              <a:off x="495300" y="1285875"/>
              <a:ext cx="76200" cy="714375"/>
            </a:xfrm>
            <a:prstGeom prst="roundRect">
              <a:avLst>
                <a:gd name="adj" fmla="val 50000"/>
              </a:avLst>
            </a:prstGeom>
            <a:solidFill>
              <a:srgbClr val="CC0000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876300" y="1419225"/>
              <a:ext cx="10439400" cy="4476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追问到第三层才见真功夫</a:t>
              </a:r>
            </a:p>
          </p:txBody>
        </p:sp>
      </p:grp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0E7490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62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考核问答：审批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06B6D4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三道面试级追问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课程第18讲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Agent Runtime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62</a:t>
            </a:r>
          </a:p>
        </p:txBody>
      </p:sp>
      <p:grpSp>
        <p:nvGrpSpPr>
          <p:cNvPr id="21" name="EasySlides Component: evidence_01"/>
          <p:cNvGrpSpPr/>
          <p:nvPr/>
        </p:nvGrpSpPr>
        <p:grpSpPr>
          <a:xfrm>
            <a:off x="495300" y="2095500"/>
            <a:ext cx="11201400" cy="1285875"/>
            <a:chOff x="495300" y="2095500"/>
            <a:chExt cx="11201400" cy="1285875"/>
          </a:xfrm>
        </p:grpSpPr>
        <p:sp>
          <p:nvSpPr>
            <p:cNvPr id="15" name="Rectangle 15"/>
            <p:cNvSpPr/>
            <p:nvPr/>
          </p:nvSpPr>
          <p:spPr>
            <a:xfrm>
              <a:off x="495300" y="2095500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95300" y="2095500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06B6D4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33425" y="2543175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06B6D4"/>
                  </a:solidFill>
                  <a:latin typeface="Arial"/>
                  <a:ea typeface="Microsoft YaHei"/>
                  <a:cs typeface="Arial"/>
                </a:rPr>
                <a:t>Q1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447800" y="2324100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0E7490"/>
                  </a:solidFill>
                  <a:latin typeface="Arial"/>
                  <a:ea typeface="Microsoft YaHei"/>
                  <a:cs typeface="Arial"/>
                </a:rPr>
                <a:t>机制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4362450" y="2324100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4686300" y="2324100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「审批」的运行机制分三步：输入契约校验 → 核心转换执行 → 结果验证与</a:t>
              </a:r>
            </a:p>
          </p:txBody>
        </p:sp>
      </p:grpSp>
      <p:grpSp>
        <p:nvGrpSpPr>
          <p:cNvPr id="28" name="EasySlides Component: evidence_02"/>
          <p:cNvGrpSpPr/>
          <p:nvPr/>
        </p:nvGrpSpPr>
        <p:grpSpPr>
          <a:xfrm>
            <a:off x="495300" y="3571875"/>
            <a:ext cx="11201400" cy="1285875"/>
            <a:chOff x="495300" y="3571875"/>
            <a:chExt cx="11201400" cy="1285875"/>
          </a:xfrm>
        </p:grpSpPr>
        <p:sp>
          <p:nvSpPr>
            <p:cNvPr id="22" name="Rectangle 22"/>
            <p:cNvSpPr/>
            <p:nvPr/>
          </p:nvSpPr>
          <p:spPr>
            <a:xfrm>
              <a:off x="495300" y="3571875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495300" y="3571875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06B6D4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33425" y="4019550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06B6D4"/>
                  </a:solidFill>
                  <a:latin typeface="Arial"/>
                  <a:ea typeface="Microsoft YaHei"/>
                  <a:cs typeface="Arial"/>
                </a:rPr>
                <a:t>Q2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447800" y="3800475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0E7490"/>
                  </a:solidFill>
                  <a:latin typeface="Arial"/>
                  <a:ea typeface="Microsoft YaHei"/>
                  <a:cs typeface="Arial"/>
                </a:rPr>
                <a:t>取舍</a:t>
              </a:r>
            </a:p>
          </p:txBody>
        </p:sp>
        <p:sp>
          <p:nvSpPr>
            <p:cNvPr id="26" name="Line 26"/>
            <p:cNvSpPr/>
            <p:nvPr/>
          </p:nvSpPr>
          <p:spPr>
            <a:xfrm>
              <a:off x="4362450" y="3800475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4686300" y="3800475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正确姿势：为「审批」设置显式预算与停止条件，宁可慢一点，不可失控。</a:t>
              </a:r>
            </a:p>
          </p:txBody>
        </p:sp>
      </p:grpSp>
      <p:grpSp>
        <p:nvGrpSpPr>
          <p:cNvPr id="35" name="EasySlides Component: evidence_03"/>
          <p:cNvGrpSpPr/>
          <p:nvPr/>
        </p:nvGrpSpPr>
        <p:grpSpPr>
          <a:xfrm>
            <a:off x="495300" y="4905375"/>
            <a:ext cx="11201400" cy="1285875"/>
            <a:chOff x="495300" y="4905375"/>
            <a:chExt cx="11201400" cy="1285875"/>
          </a:xfrm>
        </p:grpSpPr>
        <p:sp>
          <p:nvSpPr>
            <p:cNvPr id="29" name="Rectangle 29"/>
            <p:cNvSpPr/>
            <p:nvPr/>
          </p:nvSpPr>
          <p:spPr>
            <a:xfrm>
              <a:off x="495300" y="4905375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495300" y="4905375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06B6D4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33425" y="5353050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06B6D4"/>
                  </a:solidFill>
                  <a:latin typeface="Arial"/>
                  <a:ea typeface="Microsoft YaHei"/>
                  <a:cs typeface="Arial"/>
                </a:rPr>
                <a:t>Q3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447800" y="5133975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0E7490"/>
                  </a:solidFill>
                  <a:latin typeface="Arial"/>
                  <a:ea typeface="Microsoft YaHei"/>
                  <a:cs typeface="Arial"/>
                </a:rPr>
                <a:t>治理</a:t>
              </a:r>
            </a:p>
          </p:txBody>
        </p:sp>
        <p:sp>
          <p:nvSpPr>
            <p:cNvPr id="33" name="Line 33"/>
            <p:cNvSpPr/>
            <p:nvPr/>
          </p:nvSpPr>
          <p:spPr>
            <a:xfrm>
              <a:off x="4362450" y="5133975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4686300" y="5133975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治理视角：控制权矩阵与自主性预算划定行动边界。</a:t>
              </a:r>
            </a:p>
          </p:txBody>
        </p:sp>
      </p:grpSp>
      <p:grpSp>
        <p:nvGrpSpPr>
          <p:cNvPr id="39" name="EasySlides Component: synthesis"/>
          <p:cNvGrpSpPr/>
          <p:nvPr/>
        </p:nvGrpSpPr>
        <p:grpSpPr>
          <a:xfrm>
            <a:off x="495300" y="1285875"/>
            <a:ext cx="11201400" cy="714375"/>
            <a:chOff x="495300" y="1285875"/>
            <a:chExt cx="11201400" cy="714375"/>
          </a:xfrm>
        </p:grpSpPr>
        <p:sp>
          <p:nvSpPr>
            <p:cNvPr id="36" name="Rectangle 36"/>
            <p:cNvSpPr/>
            <p:nvPr/>
          </p:nvSpPr>
          <p:spPr>
            <a:xfrm>
              <a:off x="495300" y="1285875"/>
              <a:ext cx="11201400" cy="714375"/>
            </a:xfrm>
            <a:prstGeom prst="roundRect">
              <a:avLst>
                <a:gd name="adj" fmla="val 5333"/>
              </a:avLst>
            </a:prstGeom>
            <a:solidFill>
              <a:srgbClr val="0E7490"/>
            </a:solidFill>
            <a:ln>
              <a:noFill/>
            </a:ln>
          </p:spPr>
        </p:sp>
        <p:sp>
          <p:nvSpPr>
            <p:cNvPr id="37" name="Rectangle 37"/>
            <p:cNvSpPr/>
            <p:nvPr/>
          </p:nvSpPr>
          <p:spPr>
            <a:xfrm>
              <a:off x="495300" y="1285875"/>
              <a:ext cx="76200" cy="714375"/>
            </a:xfrm>
            <a:prstGeom prst="roundRect">
              <a:avLst>
                <a:gd name="adj" fmla="val 50000"/>
              </a:avLst>
            </a:prstGeom>
            <a:solidFill>
              <a:srgbClr val="CC0000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876300" y="1419225"/>
              <a:ext cx="10439400" cy="4476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追问到第三层才见真功夫</a:t>
              </a:r>
            </a:p>
          </p:txBody>
        </p:sp>
      </p:grp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0E7490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63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考核问答：副作用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06B6D4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三道面试级追问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课程第18讲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Agent Runtime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63</a:t>
            </a:r>
          </a:p>
        </p:txBody>
      </p:sp>
      <p:grpSp>
        <p:nvGrpSpPr>
          <p:cNvPr id="21" name="EasySlides Component: evidence_01"/>
          <p:cNvGrpSpPr/>
          <p:nvPr/>
        </p:nvGrpSpPr>
        <p:grpSpPr>
          <a:xfrm>
            <a:off x="495300" y="2095500"/>
            <a:ext cx="11201400" cy="1285875"/>
            <a:chOff x="495300" y="2095500"/>
            <a:chExt cx="11201400" cy="1285875"/>
          </a:xfrm>
        </p:grpSpPr>
        <p:sp>
          <p:nvSpPr>
            <p:cNvPr id="15" name="Rectangle 15"/>
            <p:cNvSpPr/>
            <p:nvPr/>
          </p:nvSpPr>
          <p:spPr>
            <a:xfrm>
              <a:off x="495300" y="2095500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95300" y="2095500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06B6D4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33425" y="2543175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06B6D4"/>
                  </a:solidFill>
                  <a:latin typeface="Arial"/>
                  <a:ea typeface="Microsoft YaHei"/>
                  <a:cs typeface="Arial"/>
                </a:rPr>
                <a:t>Q1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447800" y="2324100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0E7490"/>
                  </a:solidFill>
                  <a:latin typeface="Arial"/>
                  <a:ea typeface="Microsoft YaHei"/>
                  <a:cs typeface="Arial"/>
                </a:rPr>
                <a:t>机制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4362450" y="2324100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4686300" y="2324100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「副作用」的运行机制分三步：输入契约校验 → 核心转换执行 → 结果验证</a:t>
              </a:r>
            </a:p>
          </p:txBody>
        </p:sp>
      </p:grpSp>
      <p:grpSp>
        <p:nvGrpSpPr>
          <p:cNvPr id="28" name="EasySlides Component: evidence_02"/>
          <p:cNvGrpSpPr/>
          <p:nvPr/>
        </p:nvGrpSpPr>
        <p:grpSpPr>
          <a:xfrm>
            <a:off x="495300" y="3571875"/>
            <a:ext cx="11201400" cy="1285875"/>
            <a:chOff x="495300" y="3571875"/>
            <a:chExt cx="11201400" cy="1285875"/>
          </a:xfrm>
        </p:grpSpPr>
        <p:sp>
          <p:nvSpPr>
            <p:cNvPr id="22" name="Rectangle 22"/>
            <p:cNvSpPr/>
            <p:nvPr/>
          </p:nvSpPr>
          <p:spPr>
            <a:xfrm>
              <a:off x="495300" y="3571875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495300" y="3571875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06B6D4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33425" y="4019550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06B6D4"/>
                  </a:solidFill>
                  <a:latin typeface="Arial"/>
                  <a:ea typeface="Microsoft YaHei"/>
                  <a:cs typeface="Arial"/>
                </a:rPr>
                <a:t>Q2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447800" y="3800475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0E7490"/>
                  </a:solidFill>
                  <a:latin typeface="Arial"/>
                  <a:ea typeface="Microsoft YaHei"/>
                  <a:cs typeface="Arial"/>
                </a:rPr>
                <a:t>取舍</a:t>
              </a:r>
            </a:p>
          </p:txBody>
        </p:sp>
        <p:sp>
          <p:nvSpPr>
            <p:cNvPr id="26" name="Line 26"/>
            <p:cNvSpPr/>
            <p:nvPr/>
          </p:nvSpPr>
          <p:spPr>
            <a:xfrm>
              <a:off x="4362450" y="3800475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4686300" y="3800475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正确姿势：为「副作用」设置显式预算与停止条件，宁可慢一点，不可失控。</a:t>
              </a:r>
            </a:p>
          </p:txBody>
        </p:sp>
      </p:grpSp>
      <p:grpSp>
        <p:nvGrpSpPr>
          <p:cNvPr id="35" name="EasySlides Component: evidence_03"/>
          <p:cNvGrpSpPr/>
          <p:nvPr/>
        </p:nvGrpSpPr>
        <p:grpSpPr>
          <a:xfrm>
            <a:off x="495300" y="4905375"/>
            <a:ext cx="11201400" cy="1285875"/>
            <a:chOff x="495300" y="4905375"/>
            <a:chExt cx="11201400" cy="1285875"/>
          </a:xfrm>
        </p:grpSpPr>
        <p:sp>
          <p:nvSpPr>
            <p:cNvPr id="29" name="Rectangle 29"/>
            <p:cNvSpPr/>
            <p:nvPr/>
          </p:nvSpPr>
          <p:spPr>
            <a:xfrm>
              <a:off x="495300" y="4905375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495300" y="4905375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06B6D4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33425" y="5353050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06B6D4"/>
                  </a:solidFill>
                  <a:latin typeface="Arial"/>
                  <a:ea typeface="Microsoft YaHei"/>
                  <a:cs typeface="Arial"/>
                </a:rPr>
                <a:t>Q3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447800" y="5133975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0E7490"/>
                  </a:solidFill>
                  <a:latin typeface="Arial"/>
                  <a:ea typeface="Microsoft YaHei"/>
                  <a:cs typeface="Arial"/>
                </a:rPr>
                <a:t>治理</a:t>
              </a:r>
            </a:p>
          </p:txBody>
        </p:sp>
        <p:sp>
          <p:nvSpPr>
            <p:cNvPr id="33" name="Line 33"/>
            <p:cNvSpPr/>
            <p:nvPr/>
          </p:nvSpPr>
          <p:spPr>
            <a:xfrm>
              <a:off x="4362450" y="5133975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4686300" y="5133975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治理视角：控制权矩阵与自主性预算划定行动边界。</a:t>
              </a:r>
            </a:p>
          </p:txBody>
        </p:sp>
      </p:grpSp>
      <p:grpSp>
        <p:nvGrpSpPr>
          <p:cNvPr id="39" name="EasySlides Component: synthesis"/>
          <p:cNvGrpSpPr/>
          <p:nvPr/>
        </p:nvGrpSpPr>
        <p:grpSpPr>
          <a:xfrm>
            <a:off x="495300" y="1285875"/>
            <a:ext cx="11201400" cy="714375"/>
            <a:chOff x="495300" y="1285875"/>
            <a:chExt cx="11201400" cy="714375"/>
          </a:xfrm>
        </p:grpSpPr>
        <p:sp>
          <p:nvSpPr>
            <p:cNvPr id="36" name="Rectangle 36"/>
            <p:cNvSpPr/>
            <p:nvPr/>
          </p:nvSpPr>
          <p:spPr>
            <a:xfrm>
              <a:off x="495300" y="1285875"/>
              <a:ext cx="11201400" cy="714375"/>
            </a:xfrm>
            <a:prstGeom prst="roundRect">
              <a:avLst>
                <a:gd name="adj" fmla="val 5333"/>
              </a:avLst>
            </a:prstGeom>
            <a:solidFill>
              <a:srgbClr val="0E7490"/>
            </a:solidFill>
            <a:ln>
              <a:noFill/>
            </a:ln>
          </p:spPr>
        </p:sp>
        <p:sp>
          <p:nvSpPr>
            <p:cNvPr id="37" name="Rectangle 37"/>
            <p:cNvSpPr/>
            <p:nvPr/>
          </p:nvSpPr>
          <p:spPr>
            <a:xfrm>
              <a:off x="495300" y="1285875"/>
              <a:ext cx="76200" cy="714375"/>
            </a:xfrm>
            <a:prstGeom prst="roundRect">
              <a:avLst>
                <a:gd name="adj" fmla="val 50000"/>
              </a:avLst>
            </a:prstGeom>
            <a:solidFill>
              <a:srgbClr val="CC0000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876300" y="1419225"/>
              <a:ext cx="10439400" cy="4476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追问到第三层才见真功夫</a:t>
              </a:r>
            </a:p>
          </p:txBody>
        </p:sp>
      </p:grp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0E7490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64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考核问答：追踪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06B6D4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三道面试级追问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课程第18讲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Agent Runtime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64</a:t>
            </a:r>
          </a:p>
        </p:txBody>
      </p:sp>
      <p:grpSp>
        <p:nvGrpSpPr>
          <p:cNvPr id="21" name="EasySlides Component: evidence_01"/>
          <p:cNvGrpSpPr/>
          <p:nvPr/>
        </p:nvGrpSpPr>
        <p:grpSpPr>
          <a:xfrm>
            <a:off x="495300" y="2095500"/>
            <a:ext cx="11201400" cy="1285875"/>
            <a:chOff x="495300" y="2095500"/>
            <a:chExt cx="11201400" cy="1285875"/>
          </a:xfrm>
        </p:grpSpPr>
        <p:sp>
          <p:nvSpPr>
            <p:cNvPr id="15" name="Rectangle 15"/>
            <p:cNvSpPr/>
            <p:nvPr/>
          </p:nvSpPr>
          <p:spPr>
            <a:xfrm>
              <a:off x="495300" y="2095500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95300" y="2095500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06B6D4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33425" y="2543175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06B6D4"/>
                  </a:solidFill>
                  <a:latin typeface="Arial"/>
                  <a:ea typeface="Microsoft YaHei"/>
                  <a:cs typeface="Arial"/>
                </a:rPr>
                <a:t>Q1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447800" y="2324100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0E7490"/>
                  </a:solidFill>
                  <a:latin typeface="Arial"/>
                  <a:ea typeface="Microsoft YaHei"/>
                  <a:cs typeface="Arial"/>
                </a:rPr>
                <a:t>机制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4362450" y="2324100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4686300" y="2324100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「追踪」的运行机制分三步：输入契约校验 → 核心转换执行 → 结果验证与</a:t>
              </a:r>
            </a:p>
          </p:txBody>
        </p:sp>
      </p:grpSp>
      <p:grpSp>
        <p:nvGrpSpPr>
          <p:cNvPr id="28" name="EasySlides Component: evidence_02"/>
          <p:cNvGrpSpPr/>
          <p:nvPr/>
        </p:nvGrpSpPr>
        <p:grpSpPr>
          <a:xfrm>
            <a:off x="495300" y="3571875"/>
            <a:ext cx="11201400" cy="1285875"/>
            <a:chOff x="495300" y="3571875"/>
            <a:chExt cx="11201400" cy="1285875"/>
          </a:xfrm>
        </p:grpSpPr>
        <p:sp>
          <p:nvSpPr>
            <p:cNvPr id="22" name="Rectangle 22"/>
            <p:cNvSpPr/>
            <p:nvPr/>
          </p:nvSpPr>
          <p:spPr>
            <a:xfrm>
              <a:off x="495300" y="3571875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495300" y="3571875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06B6D4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33425" y="4019550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06B6D4"/>
                  </a:solidFill>
                  <a:latin typeface="Arial"/>
                  <a:ea typeface="Microsoft YaHei"/>
                  <a:cs typeface="Arial"/>
                </a:rPr>
                <a:t>Q2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447800" y="3800475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0E7490"/>
                  </a:solidFill>
                  <a:latin typeface="Arial"/>
                  <a:ea typeface="Microsoft YaHei"/>
                  <a:cs typeface="Arial"/>
                </a:rPr>
                <a:t>取舍</a:t>
              </a:r>
            </a:p>
          </p:txBody>
        </p:sp>
        <p:sp>
          <p:nvSpPr>
            <p:cNvPr id="26" name="Line 26"/>
            <p:cNvSpPr/>
            <p:nvPr/>
          </p:nvSpPr>
          <p:spPr>
            <a:xfrm>
              <a:off x="4362450" y="3800475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4686300" y="3800475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正确姿势：为「追踪」设置显式预算与停止条件，宁可慢一点，不可失控。</a:t>
              </a:r>
            </a:p>
          </p:txBody>
        </p:sp>
      </p:grpSp>
      <p:grpSp>
        <p:nvGrpSpPr>
          <p:cNvPr id="35" name="EasySlides Component: evidence_03"/>
          <p:cNvGrpSpPr/>
          <p:nvPr/>
        </p:nvGrpSpPr>
        <p:grpSpPr>
          <a:xfrm>
            <a:off x="495300" y="4905375"/>
            <a:ext cx="11201400" cy="1285875"/>
            <a:chOff x="495300" y="4905375"/>
            <a:chExt cx="11201400" cy="1285875"/>
          </a:xfrm>
        </p:grpSpPr>
        <p:sp>
          <p:nvSpPr>
            <p:cNvPr id="29" name="Rectangle 29"/>
            <p:cNvSpPr/>
            <p:nvPr/>
          </p:nvSpPr>
          <p:spPr>
            <a:xfrm>
              <a:off x="495300" y="4905375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495300" y="4905375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06B6D4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33425" y="5353050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06B6D4"/>
                  </a:solidFill>
                  <a:latin typeface="Arial"/>
                  <a:ea typeface="Microsoft YaHei"/>
                  <a:cs typeface="Arial"/>
                </a:rPr>
                <a:t>Q3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447800" y="5133975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0E7490"/>
                  </a:solidFill>
                  <a:latin typeface="Arial"/>
                  <a:ea typeface="Microsoft YaHei"/>
                  <a:cs typeface="Arial"/>
                </a:rPr>
                <a:t>治理</a:t>
              </a:r>
            </a:p>
          </p:txBody>
        </p:sp>
        <p:sp>
          <p:nvSpPr>
            <p:cNvPr id="33" name="Line 33"/>
            <p:cNvSpPr/>
            <p:nvPr/>
          </p:nvSpPr>
          <p:spPr>
            <a:xfrm>
              <a:off x="4362450" y="5133975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4686300" y="5133975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治理视角：控制权矩阵与自主性预算划定行动边界。</a:t>
              </a:r>
            </a:p>
          </p:txBody>
        </p:sp>
      </p:grpSp>
      <p:grpSp>
        <p:nvGrpSpPr>
          <p:cNvPr id="39" name="EasySlides Component: synthesis"/>
          <p:cNvGrpSpPr/>
          <p:nvPr/>
        </p:nvGrpSpPr>
        <p:grpSpPr>
          <a:xfrm>
            <a:off x="495300" y="1285875"/>
            <a:ext cx="11201400" cy="714375"/>
            <a:chOff x="495300" y="1285875"/>
            <a:chExt cx="11201400" cy="714375"/>
          </a:xfrm>
        </p:grpSpPr>
        <p:sp>
          <p:nvSpPr>
            <p:cNvPr id="36" name="Rectangle 36"/>
            <p:cNvSpPr/>
            <p:nvPr/>
          </p:nvSpPr>
          <p:spPr>
            <a:xfrm>
              <a:off x="495300" y="1285875"/>
              <a:ext cx="11201400" cy="714375"/>
            </a:xfrm>
            <a:prstGeom prst="roundRect">
              <a:avLst>
                <a:gd name="adj" fmla="val 5333"/>
              </a:avLst>
            </a:prstGeom>
            <a:solidFill>
              <a:srgbClr val="0E7490"/>
            </a:solidFill>
            <a:ln>
              <a:noFill/>
            </a:ln>
          </p:spPr>
        </p:sp>
        <p:sp>
          <p:nvSpPr>
            <p:cNvPr id="37" name="Rectangle 37"/>
            <p:cNvSpPr/>
            <p:nvPr/>
          </p:nvSpPr>
          <p:spPr>
            <a:xfrm>
              <a:off x="495300" y="1285875"/>
              <a:ext cx="76200" cy="714375"/>
            </a:xfrm>
            <a:prstGeom prst="roundRect">
              <a:avLst>
                <a:gd name="adj" fmla="val 50000"/>
              </a:avLst>
            </a:prstGeom>
            <a:solidFill>
              <a:srgbClr val="CC0000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876300" y="1419225"/>
              <a:ext cx="10439400" cy="4476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追问到第三层才见真功夫</a:t>
              </a:r>
            </a:p>
          </p:txBody>
        </p:sp>
      </p:grp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0E7490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65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案例研究：中断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06B6D4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DataAgent 里的真实应用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课程第18讲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Agent Runtime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65</a:t>
            </a:r>
          </a:p>
        </p:txBody>
      </p:sp>
      <p:grpSp>
        <p:nvGrpSpPr>
          <p:cNvPr id="22" name="EasySlides Component: step_01"/>
          <p:cNvGrpSpPr/>
          <p:nvPr/>
        </p:nvGrpSpPr>
        <p:grpSpPr>
          <a:xfrm>
            <a:off x="495300" y="1285875"/>
            <a:ext cx="3505200" cy="3476625"/>
            <a:chOff x="495300" y="1285875"/>
            <a:chExt cx="3505200" cy="3476625"/>
          </a:xfrm>
        </p:grpSpPr>
        <p:sp>
          <p:nvSpPr>
            <p:cNvPr id="15" name="Rectangle 15"/>
            <p:cNvSpPr/>
            <p:nvPr/>
          </p:nvSpPr>
          <p:spPr>
            <a:xfrm>
              <a:off x="495300" y="1285875"/>
              <a:ext cx="3505200" cy="3476625"/>
            </a:xfrm>
            <a:prstGeom prst="roundRect">
              <a:avLst>
                <a:gd name="adj" fmla="val 1096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Ellipse 16"/>
            <p:cNvSpPr/>
            <p:nvPr/>
          </p:nvSpPr>
          <p:spPr>
            <a:xfrm>
              <a:off x="695325" y="1495425"/>
              <a:ext cx="476250" cy="476250"/>
            </a:xfrm>
            <a:prstGeom prst="ellipse">
              <a:avLst/>
            </a:prstGeom>
            <a:solidFill>
              <a:srgbClr val="06B6D4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14375" y="1504950"/>
              <a:ext cx="43815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1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314450" y="1524000"/>
              <a:ext cx="2324100" cy="42862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650" b="1" dirty="0">
                  <a:solidFill>
                    <a:srgbClr val="0E7490"/>
                  </a:solidFill>
                  <a:latin typeface="Arial"/>
                  <a:ea typeface="Microsoft YaHei"/>
                  <a:cs typeface="Arial"/>
                </a:rPr>
                <a:t>背景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800100" y="2181225"/>
              <a:ext cx="2895600" cy="9525"/>
            </a:xfrm>
            <a:custGeom>
              <a:avLst/>
              <a:gdLst/>
              <a:ahLst/>
              <a:cxnLst/>
              <a:rect l="l" t="t" r="r" b="b"/>
              <a:pathLst>
                <a:path w="2895600" h="9525">
                  <a:moveTo>
                    <a:pt x="0" y="0"/>
                  </a:moveTo>
                  <a:lnTo>
                    <a:pt x="2895600" y="0"/>
                  </a:lnTo>
                </a:path>
              </a:pathLst>
            </a:custGeom>
            <a:noFill/>
            <a:ln w="19050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952500" y="2476500"/>
              <a:ext cx="2590800" cy="1666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0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经营分析中需要中断能力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800100" y="4391025"/>
              <a:ext cx="762000" cy="66675"/>
            </a:xfrm>
            <a:prstGeom prst="rect">
              <a:avLst/>
            </a:prstGeom>
            <a:solidFill>
              <a:srgbClr val="CC0000"/>
            </a:solidFill>
            <a:ln>
              <a:noFill/>
            </a:ln>
          </p:spPr>
        </p:sp>
      </p:grpSp>
      <p:grpSp>
        <p:nvGrpSpPr>
          <p:cNvPr id="30" name="EasySlides Component: step_02"/>
          <p:cNvGrpSpPr/>
          <p:nvPr/>
        </p:nvGrpSpPr>
        <p:grpSpPr>
          <a:xfrm>
            <a:off x="4343400" y="1285875"/>
            <a:ext cx="3505200" cy="3476625"/>
            <a:chOff x="4343400" y="1285875"/>
            <a:chExt cx="3505200" cy="3476625"/>
          </a:xfrm>
        </p:grpSpPr>
        <p:sp>
          <p:nvSpPr>
            <p:cNvPr id="23" name="Rectangle 23"/>
            <p:cNvSpPr/>
            <p:nvPr/>
          </p:nvSpPr>
          <p:spPr>
            <a:xfrm>
              <a:off x="4343400" y="1285875"/>
              <a:ext cx="3505200" cy="3476625"/>
            </a:xfrm>
            <a:prstGeom prst="roundRect">
              <a:avLst>
                <a:gd name="adj" fmla="val 1096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4" name="Ellipse 24"/>
            <p:cNvSpPr/>
            <p:nvPr/>
          </p:nvSpPr>
          <p:spPr>
            <a:xfrm>
              <a:off x="4543425" y="1495425"/>
              <a:ext cx="476250" cy="476250"/>
            </a:xfrm>
            <a:prstGeom prst="ellipse">
              <a:avLst/>
            </a:prstGeom>
            <a:solidFill>
              <a:srgbClr val="06B6D4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4562475" y="1504950"/>
              <a:ext cx="43815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2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5162550" y="1524000"/>
              <a:ext cx="2324100" cy="42862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650" b="1" dirty="0">
                  <a:solidFill>
                    <a:srgbClr val="0E7490"/>
                  </a:solidFill>
                  <a:latin typeface="Arial"/>
                  <a:ea typeface="Microsoft YaHei"/>
                  <a:cs typeface="Arial"/>
                </a:rPr>
                <a:t>方案</a:t>
              </a:r>
            </a:p>
          </p:txBody>
        </p:sp>
        <p:sp>
          <p:nvSpPr>
            <p:cNvPr id="27" name="Line 27"/>
            <p:cNvSpPr/>
            <p:nvPr/>
          </p:nvSpPr>
          <p:spPr>
            <a:xfrm>
              <a:off x="4648200" y="2181225"/>
              <a:ext cx="2895600" cy="9525"/>
            </a:xfrm>
            <a:custGeom>
              <a:avLst/>
              <a:gdLst/>
              <a:ahLst/>
              <a:cxnLst/>
              <a:rect l="l" t="t" r="r" b="b"/>
              <a:pathLst>
                <a:path w="2895600" h="9525">
                  <a:moveTo>
                    <a:pt x="0" y="0"/>
                  </a:moveTo>
                  <a:lnTo>
                    <a:pt x="2895600" y="0"/>
                  </a:lnTo>
                </a:path>
              </a:pathLst>
            </a:custGeom>
            <a:noFill/>
            <a:ln w="19050">
              <a:solidFill>
                <a:srgbClr val="D4E2EE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4800600" y="2476500"/>
              <a:ext cx="2590800" cy="1666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0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「中断」的应用入口在本课程 DataAgent：跑通对应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4648200" y="4391025"/>
              <a:ext cx="762000" cy="66675"/>
            </a:xfrm>
            <a:prstGeom prst="rect">
              <a:avLst/>
            </a:prstGeom>
            <a:solidFill>
              <a:srgbClr val="CC0000"/>
            </a:solidFill>
            <a:ln>
              <a:noFill/>
            </a:ln>
          </p:spPr>
        </p:sp>
      </p:grpSp>
      <p:grpSp>
        <p:nvGrpSpPr>
          <p:cNvPr id="38" name="EasySlides Component: step_03"/>
          <p:cNvGrpSpPr/>
          <p:nvPr/>
        </p:nvGrpSpPr>
        <p:grpSpPr>
          <a:xfrm>
            <a:off x="8191500" y="1285875"/>
            <a:ext cx="3505200" cy="3476625"/>
            <a:chOff x="8191500" y="1285875"/>
            <a:chExt cx="3505200" cy="3476625"/>
          </a:xfrm>
        </p:grpSpPr>
        <p:sp>
          <p:nvSpPr>
            <p:cNvPr id="31" name="Rectangle 31"/>
            <p:cNvSpPr/>
            <p:nvPr/>
          </p:nvSpPr>
          <p:spPr>
            <a:xfrm>
              <a:off x="8191500" y="1285875"/>
              <a:ext cx="3505200" cy="3476625"/>
            </a:xfrm>
            <a:prstGeom prst="roundRect">
              <a:avLst>
                <a:gd name="adj" fmla="val 1096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32" name="Ellipse 32"/>
            <p:cNvSpPr/>
            <p:nvPr/>
          </p:nvSpPr>
          <p:spPr>
            <a:xfrm>
              <a:off x="8391525" y="1495425"/>
              <a:ext cx="476250" cy="476250"/>
            </a:xfrm>
            <a:prstGeom prst="ellipse">
              <a:avLst/>
            </a:prstGeom>
            <a:solidFill>
              <a:srgbClr val="06B6D4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8410575" y="1504950"/>
              <a:ext cx="43815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3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9010650" y="1524000"/>
              <a:ext cx="2324100" cy="42862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650" b="1" dirty="0">
                  <a:solidFill>
                    <a:srgbClr val="0E7490"/>
                  </a:solidFill>
                  <a:latin typeface="Arial"/>
                  <a:ea typeface="Microsoft YaHei"/>
                  <a:cs typeface="Arial"/>
                </a:rPr>
                <a:t>结果</a:t>
              </a:r>
            </a:p>
          </p:txBody>
        </p:sp>
        <p:sp>
          <p:nvSpPr>
            <p:cNvPr id="35" name="Line 35"/>
            <p:cNvSpPr/>
            <p:nvPr/>
          </p:nvSpPr>
          <p:spPr>
            <a:xfrm>
              <a:off x="8496300" y="2181225"/>
              <a:ext cx="2895600" cy="9525"/>
            </a:xfrm>
            <a:custGeom>
              <a:avLst/>
              <a:gdLst/>
              <a:ahLst/>
              <a:cxnLst/>
              <a:rect l="l" t="t" r="r" b="b"/>
              <a:pathLst>
                <a:path w="2895600" h="9525">
                  <a:moveTo>
                    <a:pt x="0" y="0"/>
                  </a:moveTo>
                  <a:lnTo>
                    <a:pt x="2895600" y="0"/>
                  </a:lnTo>
                </a:path>
              </a:pathLst>
            </a:custGeom>
            <a:noFill/>
            <a:ln w="19050">
              <a:solidFill>
                <a:srgbClr val="D4E2EE"/>
              </a:solidFill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8648700" y="2476500"/>
              <a:ext cx="2590800" cy="1666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0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实测通过故障注入与回归门禁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8496300" y="4391025"/>
              <a:ext cx="762000" cy="66675"/>
            </a:xfrm>
            <a:prstGeom prst="rect">
              <a:avLst/>
            </a:prstGeom>
            <a:solidFill>
              <a:srgbClr val="CC0000"/>
            </a:solidFill>
            <a:ln>
              <a:noFill/>
            </a:ln>
          </p:spPr>
        </p:sp>
      </p:grpSp>
      <p:grpSp>
        <p:nvGrpSpPr>
          <p:cNvPr id="42" name="EasySlides Component: synthesis"/>
          <p:cNvGrpSpPr/>
          <p:nvPr/>
        </p:nvGrpSpPr>
        <p:grpSpPr>
          <a:xfrm>
            <a:off x="495300" y="5476875"/>
            <a:ext cx="11201400" cy="714375"/>
            <a:chOff x="495300" y="5476875"/>
            <a:chExt cx="11201400" cy="714375"/>
          </a:xfrm>
        </p:grpSpPr>
        <p:sp>
          <p:nvSpPr>
            <p:cNvPr id="39" name="Rectangle 39"/>
            <p:cNvSpPr/>
            <p:nvPr/>
          </p:nvSpPr>
          <p:spPr>
            <a:xfrm>
              <a:off x="495300" y="5476875"/>
              <a:ext cx="11201400" cy="714375"/>
            </a:xfrm>
            <a:prstGeom prst="roundRect">
              <a:avLst>
                <a:gd name="adj" fmla="val 5333"/>
              </a:avLst>
            </a:prstGeom>
            <a:solidFill>
              <a:srgbClr val="0E7490"/>
            </a:solidFill>
            <a:ln>
              <a:noFill/>
            </a:ln>
          </p:spPr>
        </p:sp>
        <p:sp>
          <p:nvSpPr>
            <p:cNvPr id="40" name="Rectangle 40"/>
            <p:cNvSpPr/>
            <p:nvPr/>
          </p:nvSpPr>
          <p:spPr>
            <a:xfrm>
              <a:off x="495300" y="5476875"/>
              <a:ext cx="76200" cy="714375"/>
            </a:xfrm>
            <a:prstGeom prst="roundRect">
              <a:avLst>
                <a:gd name="adj" fmla="val 50000"/>
              </a:avLst>
            </a:prstGeom>
            <a:solidFill>
              <a:srgbClr val="CC0000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876300" y="5610225"/>
              <a:ext cx="10439400" cy="4476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案例视角：预算审批链路的审批-幂等-验真闭环实测。</a:t>
              </a:r>
            </a:p>
          </p:txBody>
        </p:sp>
      </p:grp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952500"/>
          </a:xfrm>
          <a:prstGeom prst="rect">
            <a:avLst/>
          </a:prstGeom>
          <a:solidFill>
            <a:srgbClr val="0E7490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95250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10239375" y="1905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143000" y="2333625"/>
            <a:ext cx="9906000" cy="857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4200" b="1" dirty="0">
                <a:solidFill>
                  <a:srgbClr val="0E7490"/>
                </a:solidFill>
                <a:latin typeface="Arial"/>
                <a:ea typeface="Microsoft YaHei"/>
                <a:cs typeface="Arial"/>
              </a:rPr>
              <a:t>本章小结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809750" y="3238500"/>
            <a:ext cx="8572500" cy="4000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80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用 Durable Workflow 收口自主分</a:t>
            </a:r>
          </a:p>
        </p:txBody>
      </p:sp>
      <p:sp>
        <p:nvSpPr>
          <p:cNvPr id="8" name="Line 8"/>
          <p:cNvSpPr/>
          <p:nvPr/>
        </p:nvSpPr>
        <p:spPr>
          <a:xfrm>
            <a:off x="4381500" y="3857625"/>
            <a:ext cx="3429000" cy="9525"/>
          </a:xfrm>
          <a:custGeom>
            <a:avLst/>
            <a:gdLst/>
            <a:ahLst/>
            <a:cxnLst/>
            <a:rect l="l" t="t" r="r" b="b"/>
            <a:pathLst>
              <a:path w="3429000" h="9525">
                <a:moveTo>
                  <a:pt x="0" y="0"/>
                </a:moveTo>
                <a:lnTo>
                  <a:pt x="3429000" y="0"/>
                </a:lnTo>
              </a:path>
            </a:pathLst>
          </a:custGeom>
          <a:noFill/>
          <a:ln w="19050">
            <a:solidFill>
              <a:srgbClr val="06B6D4"/>
            </a:solidFill>
          </a:ln>
        </p:spPr>
      </p:sp>
      <p:sp>
        <p:nvSpPr>
          <p:cNvPr id="9" name="Ellipse 9"/>
          <p:cNvSpPr/>
          <p:nvPr/>
        </p:nvSpPr>
        <p:spPr>
          <a:xfrm>
            <a:off x="6048375" y="3810000"/>
            <a:ext cx="95250" cy="95250"/>
          </a:xfrm>
          <a:prstGeom prst="ellipse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10" name="Rectangle 10"/>
          <p:cNvSpPr/>
          <p:nvPr/>
        </p:nvSpPr>
        <p:spPr>
          <a:xfrm>
            <a:off x="3429000" y="4238625"/>
            <a:ext cx="5334000" cy="1238250"/>
          </a:xfrm>
          <a:prstGeom prst="roundRect">
            <a:avLst>
              <a:gd name="adj" fmla="val 3077"/>
            </a:avLst>
          </a:prstGeom>
          <a:solidFill>
            <a:srgbClr val="F0F9FC"/>
          </a:solidFill>
          <a:ln>
            <a:noFill/>
          </a:ln>
        </p:spPr>
      </p:sp>
      <p:sp>
        <p:nvSpPr>
          <p:cNvPr id="11" name="TextBox 11"/>
          <p:cNvSpPr txBox="1"/>
          <p:nvPr/>
        </p:nvSpPr>
        <p:spPr>
          <a:xfrm>
            <a:off x="3619500" y="4476750"/>
            <a:ext cx="49530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把 DataAgent 的预算调整动作接入人工审批，检验审批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4000500" y="4838700"/>
            <a:ext cx="419100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20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第18讲 · Agent Runtime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3619500" y="5124450"/>
            <a:ext cx="495300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20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企业级Agent工程架构实战营</a:t>
            </a:r>
          </a:p>
        </p:txBody>
      </p:sp>
      <p:sp>
        <p:nvSpPr>
          <p:cNvPr id="14" name="Rectangle 14"/>
          <p:cNvSpPr/>
          <p:nvPr/>
        </p:nvSpPr>
        <p:spPr>
          <a:xfrm>
            <a:off x="0" y="6334125"/>
            <a:ext cx="12192000" cy="523875"/>
          </a:xfrm>
          <a:prstGeom prst="rect">
            <a:avLst/>
          </a:prstGeom>
          <a:solidFill>
            <a:srgbClr val="F0F9FC"/>
          </a:solidFill>
          <a:ln>
            <a:noFill/>
          </a:ln>
        </p:spPr>
      </p:sp>
      <p:sp>
        <p:nvSpPr>
          <p:cNvPr id="15" name="TextBox 15"/>
          <p:cNvSpPr txBox="1"/>
          <p:nvPr/>
        </p:nvSpPr>
        <p:spPr>
          <a:xfrm>
            <a:off x="3619500" y="6486525"/>
            <a:ext cx="4953000" cy="2381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课程复现资料 · 可公开分享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0763250" y="6486525"/>
            <a:ext cx="857250" cy="2381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66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