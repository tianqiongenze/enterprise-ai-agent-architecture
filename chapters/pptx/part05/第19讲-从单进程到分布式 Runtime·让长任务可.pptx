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762956512dfc38e.png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085e4a493b137922.png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491bb5847f4518b.png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fdd57dd0732442a.png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b979f99e539a3e9.png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be77e327b8392e3.png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08a9ee9ebc43b24.png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4c52384f186633a.png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7f2226e25b9f69c.png"/>
</Relationships>
</file>

<file path=ppt/slides/_rels/slide2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3667afba5f7410b.png"/>
</Relationships>
</file>

<file path=ppt/slides/_rels/slide3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d6f3d52b0a3b7b3a.png"/>
</Relationships>
</file>

<file path=ppt/slides/_rels/slide3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0e2d409431fe285d.png"/>
</Relationships>
</file>

<file path=ppt/slides/_rels/slide3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258727dddb96479.png"/>
</Relationships>
</file>

<file path=ppt/slides/_rels/slide4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3e324ec88ca5f33.png"/>
</Relationships>
</file>

<file path=ppt/slides/_rels/slide4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55b8a5c98b9dfa72.png"/>
</Relationships>
</file>

<file path=ppt/slides/_rels/slide4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69b6748ba298f67.png"/>
</Relationships>
</file>

<file path=ppt/slides/_rels/slide4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1994a104560ecb5.png"/>
</Relationships>
</file>

<file path=ppt/slides/_rels/slide5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67920f0fb8d3b86b.png"/>
</Relationships>
</file>

<file path=ppt/slides/_rels/slide5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c8230dbc1795e83.png"/>
</Relationships>
</file>

<file path=ppt/slides/_rels/slide5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51b9ef9dedea2535.png"/>
</Relationships>
</file>

<file path=ppt/slides/_rels/slide5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519b73d92a2d9bc.png"/>
</Relationships>
</file>

<file path=ppt/slides/_rels/slide6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4d9dbfe2830f289.png"/>
</Relationships>
</file>

<file path=ppt/slides/_rels/slide6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57175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从单进程到分布式 Runtime：让长任务可调度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600450"/>
            <a:ext cx="857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20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Agent Runtime · 深度教学讲义</a:t>
            </a:r>
          </a:p>
        </p:txBody>
      </p:sp>
      <p:sp>
        <p:nvSpPr>
          <p:cNvPr id="8" name="Line 8"/>
          <p:cNvSpPr/>
          <p:nvPr/>
        </p:nvSpPr>
        <p:spPr>
          <a:xfrm>
            <a:off x="4000500" y="43338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06B6D4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428625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14750" y="4714875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725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4750" y="510540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4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第19讲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2750" y="5486400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0F9FC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381500" y="6486525"/>
            <a:ext cx="3429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70355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目录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39375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762000" y="1095375"/>
            <a:ext cx="10668000" cy="2952750"/>
            <a:chOff x="762000" y="1095375"/>
            <a:chExt cx="10668000" cy="2952750"/>
          </a:xfrm>
        </p:grpSpPr>
        <p:sp>
          <p:nvSpPr>
            <p:cNvPr id="7" name="Rectangle 7"/>
            <p:cNvSpPr/>
            <p:nvPr/>
          </p:nvSpPr>
          <p:spPr>
            <a:xfrm>
              <a:off x="762000" y="1095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95375"/>
              <a:ext cx="57150" cy="857250"/>
            </a:xfrm>
            <a:prstGeom prst="rect">
              <a:avLst/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3470" y="1264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71650" y="1190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概念详解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3000" y="1600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核心概念定义与边界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86500" y="1095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286500" y="1095375"/>
              <a:ext cx="57150" cy="857250"/>
            </a:xfrm>
            <a:prstGeom prst="rect">
              <a:avLst/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0" y="1264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96150" y="1190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机制与图解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7500" y="1600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运行机制与图解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238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F0F9FC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2000" y="2238375"/>
              <a:ext cx="57150" cy="85725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93470" y="2407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71650" y="2333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代码实现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3000" y="2743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仓库真实代码三切面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286500" y="2238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F0F9FC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86500" y="2238375"/>
              <a:ext cx="57150" cy="85725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17970" y="2407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96150" y="2333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应用实践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7500" y="2743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落地步骤与场景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" y="3381375"/>
              <a:ext cx="5143500" cy="666750"/>
            </a:xfrm>
            <a:prstGeom prst="roundRect">
              <a:avLst>
                <a:gd name="adj" fmla="val 5714"/>
              </a:avLst>
            </a:prstGeom>
            <a:noFill/>
            <a:ln w="9525">
              <a:solidFill>
                <a:srgbClr val="C8E6EF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52500" y="3524250"/>
              <a:ext cx="47625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75" dirty="0">
                  <a:solidFill>
                    <a:srgbClr val="6B7C8F"/>
                  </a:solidFill>
                  <a:latin typeface="Arial"/>
                  <a:ea typeface="Microsoft YaHei"/>
                  <a:cs typeface="Arial"/>
                </a:rPr>
                <a:t>陷阱与排查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86500" y="3381375"/>
              <a:ext cx="5143500" cy="666750"/>
            </a:xfrm>
            <a:prstGeom prst="roundRect">
              <a:avLst>
                <a:gd name="adj" fmla="val 5714"/>
              </a:avLst>
            </a:prstGeom>
            <a:noFill/>
            <a:ln w="9525">
              <a:solidFill>
                <a:srgbClr val="C8E6E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77000" y="3524250"/>
              <a:ext cx="47625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75" dirty="0">
                  <a:solidFill>
                    <a:srgbClr val="6B7C8F"/>
                  </a:solidFill>
                  <a:latin typeface="Arial"/>
                  <a:ea typeface="Microsoft YaHei"/>
                  <a:cs typeface="Arial"/>
                </a:rPr>
                <a:t>优化拓展</a:t>
              </a:r>
            </a:p>
          </p:txBody>
        </p:sp>
      </p:grpSp>
      <p:sp>
        <p:nvSpPr>
          <p:cNvPr id="32" name="Line 32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学习目标 / Lernziele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1) 能解释Scheduler的机制；2) 能对比Queue的取舍；3) 能跑通 runtime.py 对应测试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从单进程到分布式 Runtime：让长任务可调度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概念详解：Scheduler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「Scheduler」指决定何时执行。在企业级语境下，它同时约束接口契约、生命周期与治理边界，而不只是一个名词。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从单进程到分布式 Runtime：让长任务可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定义与内涵：Scheduler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把Scheduler讲透：是什么、不是什么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「Scheduler」指决定何时执行。在企业级语境下，它同时约束接口契约、生命周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职责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职责维度：决定何时执行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要点维度：决定何时执行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自主与流程的混合编排：Harness 负责探索，Workflow 负责收口。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机制图解：Scheduler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「Scheduler」的运行机制分三步：输入契约校验 → 核心转换执行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图：Scheduler 的机制与数据流（flow_v 视角）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深入原理：Scheduler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正确姿势：先定义「Scheduler」的契约与不变量，再谈实现；所有旁路都必须被审计。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常见误用：把「Scheduler」当成一次性胶水代码，没有版本、没有度量、没有回滚路径。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治理视角：控制权矩阵与自主性预算划定行动边界。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代码契约：Scheduler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代码：runtime.py · 契约（概念1 Scheduler）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代码实现：Scheduler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代码：runtime.py · 实现（概念1 Scheduler）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代码测试：Scheduler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测试切面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文件：test_llm_runtime.py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切面：测试——先读接口再读实现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代码：test_llm_runtime.py · 测试（概念1 Scheduler）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应用实践：Scheduler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把「Scheduler」落到业务：先小流量灰度验证效果与成本，再逐步放开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案例视角：预算审批链路的审批-幂等-验真闭环实测。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陷阱与排查：Scheduler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「Scheduler」典型故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工程决策：Scheduler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「Scheduler」的选型以证据与约束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优化拓展：Scheduler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「Scheduler」优化一：把人工经验固化为资产（规则/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「Scheduler」优化二：建立基线对照（关闭/盲选/受控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概念详解：Queue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对「Queue」的正确定位是：待办缓冲；它是可观测、可治理、可演进的稳定工程对象。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从单进程到分布式 Runtime：让长任务可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定义与内涵：Queue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把Queue讲透：是什么、不是什么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对「Queue」的正确定位是：待办缓冲；它是可观测、可治理、可演进的稳定工程对象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职责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职责维度：待办缓冲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要点维度：待办缓冲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自主与流程的混合编排：Harness 负责探索，Workflow 负责收口。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机制图解：Queue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从数据流看「Queue」：上游产出受控载荷，经 runtime.py 中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图：Queue 的机制与数据流（cycle 视角）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深入原理：Queue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正确姿势：把「Queue」的决策依据落成证据（Trace/Eval），而不是凭经验拍板。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常见误用：用相关性绕过「Queue」的硬性过滤，短期省事，长期必然越权或漂移。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治理视角：控制权矩阵与自主性预算划定行动边界。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代码契约：Queue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代码：runtime.py · 契约（概念2 Queue）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代码实现：Queue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代码：runtime.py · 实现（概念2 Queue）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代码测试：Queue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测试切面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文件：test_llm_runtime.py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切面：测试——先读接口再读实现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代码：test_llm_runtime.py · 测试（概念2 Queue）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应用实践：Queue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「Queue」的应用入口在本课程 DataAgent：跑通对应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案例视角：预算审批链路的审批-幂等-验真闭环实测。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陷阱与排查：Queue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「Queue」典型故障：成本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工程决策：Queue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「Queue」的选型以证据与约束为准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优化拓展：Queue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「Queue」优化一：把人工经验固化为资产（规则/Skill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「Queue」优化二：建立基线对照（关闭/盲选/受控三组）证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26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概念详解：Worker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「Worker」的本质是实际执行/接管。理解它的关键是分清模型能做的与系统必须兜底的。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从单进程到分布式 Runtime：让长任务可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定义与内涵：Worker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把Worker讲透：是什么、不是什么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27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「Worker」的本质是实际执行/接管。理解它的关键是分清模型能做的与系统必须兜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职责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职责维度：实际执行/接管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要点维度：实际执行/接管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自主与流程的混合编排：Harness 负责探索，Workflow 负责收口。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机制图解：Worker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「Worker」的机制核心是解耦：策略与执行分离、状态与过程分离、权限与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图：Worker 的机制与数据流（layers 视角）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深入原理：Worker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正确姿势：为「Worker」设置显式预算与停止条件，宁可慢一点，不可失控。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常见误用：只在 Demo 里验证「Worker」的正常路径，故障注入一跑就现出原形。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治理视角：控制权矩阵与自主性预算划定行动边界。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代码契约：Worker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代码：runtime.py · 契约（概念3 Worker）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代码实现：Worker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代码：runtime.py · 实现（概念3 Worker）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代码测试：Worker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测试切面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文件：test_llm_runtime.py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切面：测试——先读接口再读实现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代码：test_llm_runtime.py · 测试（概念3 Worker）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应用实践：Worker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上线「Worker」前自检三问：失败会怎样？谁能审计？回滚要多久？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案例视角：预算审批链路的审批-幂等-验真闭环实测。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陷阱与排查：Worker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34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「Worker」典型故障：上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工程决策：Worker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「Worker」的选型以证据与约束为准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优化拓展：Worker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「Worker」优化一：把人工经验固化为资产（规则/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「Worker」优化二：建立基线对照（关闭/盲选/受控三组）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37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概念详解：Lease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把「Lease」当工程对象看：并发一致。它有明确的输入契约、失败语义与度量口径。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从单进程到分布式 Runtime：让长任务可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定义与内涵：Lease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把Lease讲透：是什么、不是什么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把「Lease」当工程对象看：并发一致。它有明确的输入契约、失败语义与度量口径。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职责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职责维度：并发一致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要点维度：并发一致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自主与流程的混合编排：Harness 负责探索，Workflow 负责收口。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机制图解：Lease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「Lease」之所以可靠，是因为它把不确定性关进笼子：预算、超时、重试、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图：Lease 的机制与数据流（hub 视角）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深入原理：Lease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40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正确姿势：先定义「Lease」的契约与不变量，再谈实现；所有旁路都必须被审计。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常见误用：把「Lease」当成一次性胶水代码，没有版本、没有度量、没有回滚路径。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治理视角：控制权矩阵与自主性预算划定行动边界。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代码契约：Lease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41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代码：runtime.py · 契约（概念4 Lease）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代码实现：Lease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代码：runtime.py · 实现（概念4 Lease）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代码测试：Lease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测试切面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43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文件：test_llm_runtime.py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切面：测试——先读接口再读实现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代码：test_llm_runtime.py · 测试（概念4 Lease）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应用实践：Lease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44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把「Lease」落到业务：先小流量灰度验证效果与成本，再逐步放开租户范围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案例视角：预算审批链路的审批-幂等-验真闭环实测。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陷阱与排查：Lease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45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「Lease」典型故障：静默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工程决策：Lease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46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「Lease」的选型以证据与约束为准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优化拓展：Lease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47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「Lease」优化一：把人工经验固化为资产（规则/Skill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「Lease」优化二：建立基线对照（关闭/盲选/受控三组）证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48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概念详解：租户配额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「租户配额」指公平隔离。在企业级语境下，它同时约束接口契约、生命周期与治理边界，而不只是一个名词。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从单进程到分布式 Runtime：让长任务可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定义与内涵：租户配额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把租户配额讲透：是什么、不是什么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49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「租户配额」指公平隔离。在企业级语境下，它同时约束接口契约、生命周期与治理边界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职责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职责维度：公平隔离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要点维度：公平隔离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自主与流程的混合编排：Harness 负责探索，Workflow 负责收口。</a:t>
              </a: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机制图解：租户配额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50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「租户配额」的运行机制分三步：输入契约校验 → 核心转换执行 → 结果验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图：租户配额 的机制与数据流（flow_v 视角）</a:t>
              </a: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深入原理：租户配额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51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正确姿势：把「租户配额」的决策依据落成证据（Trace/Eval），而不是凭经验拍板。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常见误用：用相关性绕过「租户配额」的硬性过滤，短期省事，长期必然越权或漂移。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治理视角：控制权矩阵与自主性预算划定行动边界。</a:t>
              </a: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代码契约：租户配额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52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代码：runtime.py · 契约（概念5 租户配额）</a:t>
              </a: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代码实现：租户配额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53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代码：runtime.py · 实现（概念5 租户配额）</a:t>
              </a: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代码测试：租户配额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测试切面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54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文件：test_llm_runtime.py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切面：测试——先读接口再读实现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代码：test_llm_runtime.py · 测试（概念5 租户配额）</a:t>
              </a: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应用实践：租户配额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55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「租户配额」的应用入口在本课程 DataAgent：跑通对应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案例视角：预算审批链路的审批-幂等-验真闭环实测。</a:t>
              </a: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陷阱与排查：租户配额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56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「租户配额」典型故障：成本失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工程决策：租户配额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57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「租户配额」的选型以证据与约束为准</a:t>
              </a: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优化拓展：租户配额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58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「租户配额」优化一：把人工经验固化为资产（规则/Skill/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「租户配额」优化二：建立基线对照（关闭/盲选/受控三组）证明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本章知识图谱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概念之间的结构关系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核心：Schedu、Queue、Worker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关系：输入→机制→治理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全部概念见讲义表格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图：本章概念关系（中心辐射视角）</a:t>
              </a: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60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应用与实战指南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从理解到落地：场景、步骤与检查清单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从单进程到分布式 Runtime：让长任务可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实战路线图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三步从 Demo 到生产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61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场景选择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选高频、可验证、低风险场景切入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契约先行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定义输入/输出/错误语义与验收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评测护航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建数据集与评分卡再动 Prompt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案例视角：预算审批链路的审批-幂等-验真闭环实测。</a:t>
              </a: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典型应用场景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场景→做法→收益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场景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做法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收益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经营诊断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自主分析闭环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结论可解释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数据查询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只读网关+权限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安全合规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行动执行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审批+幂等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风险可控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场景选择决定治理强度，按风险分级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落地检查清单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上线前逐项打勾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功能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核心链路全绿；故障注入通过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质量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三层评测达标；回归门禁通过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安全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权限/审计/幂等/回滚就绪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GO/NO-GO 由硬门槛决定，不由均分决定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64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优化与拓展指南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让系统随模型共同进化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从单进程到分布式 Runtime：让长任务可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优化方向对照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短期补丁 vs 长期资产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65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短期补丁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改 Prompt 救火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局部 if-else 兜底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人工盯梢排查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经验留在个人脑中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长期资产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规则/Skill/Eval 沉淀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统一 Runtime 治理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Trace+Baseline 驱动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资产随组织复用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延伸阅读：Run/Step/Event 统一执行模型与故障恢复。</a:t>
              </a:r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拓展学习地图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三层次进阶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体系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把本讲机制放进企业级全景图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贯通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与前后讲次的接口互相印证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向上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架构与治理体系化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向深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Runtime 与可靠性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向外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多 Agent 与平台化</a:t>
              </a:r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演进路线图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本讲在能力阶梯上的位置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67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当前：本讲机制已可运行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下一站：与相邻模块协同治理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长期：固化为组织级资产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图：从本讲机制到组织资产的演进路径</a:t>
              </a:r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68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治理与常见陷阱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企业级红线与审计要点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从单进程到分布式 Runtime：让长任务可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企业级红线清单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红线→后果→防护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69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红线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后果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防护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越权访问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数据泄漏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硬过滤+审计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未审批副作用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业务事故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审批+幂等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不可回放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无法追责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Trace+Checkpoint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红线一票否决，不允许带病上线</a:t>
              </a:r>
            </a:p>
          </p:txBody>
        </p: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70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复习与考核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把本讲装进长期记忆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从单进程到分布式 Runtime：让长任务可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71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复习要点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三个必答题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71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是什么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Scheduler的定义与边界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为什么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自主与流程的混合编排：Harness 负责探索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怎么用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在 DataAgent 中跑通 runtime.py 对应用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能讲给同事听懂，才算真正掌握</a:t>
              </a:r>
            </a:p>
          </p:txBody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333625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本章小结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238500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从单进程到分布式 Runtime：让长任务可调度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06B6D4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oundRect">
            <a:avLst>
              <a:gd name="adj" fmla="val 3077"/>
            </a:avLst>
          </a:prstGeom>
          <a:solidFill>
            <a:srgbClr val="F0F9F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19500" y="44767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 RunStore 替换为真实队列实现，验证任务可被不同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00500" y="4838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第19讲 · Agent Runtime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9500" y="51244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0F9FC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619500" y="6486525"/>
            <a:ext cx="4953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课程复现资料 · 可公开分享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72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