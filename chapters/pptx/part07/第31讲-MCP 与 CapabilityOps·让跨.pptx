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cca45ccc3626a14.pn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0ba1364e440cb110.pn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00c64e13902ca7e.pn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3548cb6dc1e6cb3.png"/>
</Relationships>
</file>

<file path=ppt/slides/_rels/slide1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1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afc1968b97d56f5.png"/>
</Relationships>
</file>

<file path=ppt/slides/_rels/slide1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5beeca51b2c32b5.png"/>
</Relationships>
</file>

<file path=ppt/slides/_rels/slide2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cc5afc2a375aa19.png"/>
</Relationships>
</file>

<file path=ppt/slides/_rels/slide2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64d038a331fe28d.png"/>
</Relationships>
</file>

<file path=ppt/slides/_rels/slide2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897b4c70dd92bfc5.png"/>
</Relationships>
</file>

<file path=ppt/slides/_rels/slide3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627c1db7af1dc08.png"/>
</Relationships>
</file>

<file path=ppt/slides/_rels/slide3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c02049d0acebaf6a.png"/>
</Relationships>
</file>

<file path=ppt/slides/_rels/slide3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2c5a38556f25303b.png"/>
</Relationships>
</file>

<file path=ppt/slides/_rels/slide4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dc441703e0a165ee.png"/>
</Relationships>
</file>

<file path=ppt/slides/_rels/slide4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e06b3c37f9cd15fd.png"/>
</Relationships>
</file>

<file path=ppt/slides/_rels/slide4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3e76bae49c67c949.png"/>
</Relationships>
</file>

<file path=ppt/slides/_rels/slide5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6060459554a934a4.png"/>
</Relationships>
</file>

<file path=ppt/slides/_rels/slide5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_9e9de0b8153779d8.png"/>
</Relationships>
</file>

<file path=ppt/slides/_rels/slide6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6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MCP 与 CapabilityOps：让跨团队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 · 深度教学讲义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第31讲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54330" y="211455"/>
            <a:ext cx="703555" cy="42672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39375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762000" y="1095375"/>
            <a:ext cx="10668000" cy="2952750"/>
            <a:chOff x="762000" y="1095375"/>
            <a:chExt cx="10668000" cy="2952750"/>
          </a:xfrm>
        </p:grpSpPr>
        <p:sp>
          <p:nvSpPr>
            <p:cNvPr id="7" name="Rectangle 7"/>
            <p:cNvSpPr/>
            <p:nvPr/>
          </p:nvSpPr>
          <p:spPr>
            <a:xfrm>
              <a:off x="7620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7620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934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716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概念详解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1430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核心概念定义与边界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6286500" y="1095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6286500" y="1095375"/>
              <a:ext cx="57150" cy="857250"/>
            </a:xfrm>
            <a:prstGeom prst="rect">
              <a:avLst/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7970" y="1264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296150" y="1190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机制与图解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667500" y="1600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运行机制与图解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7620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10934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7716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代码实现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1430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仓库真实代码三切面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238375"/>
              <a:ext cx="5143500" cy="857250"/>
            </a:xfrm>
            <a:prstGeom prst="roundRect">
              <a:avLst>
                <a:gd name="adj" fmla="val 4444"/>
              </a:avLst>
            </a:prstGeom>
            <a:solidFill>
              <a:srgbClr val="FDF2F5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6286500" y="2238375"/>
              <a:ext cx="57150" cy="85725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6617970" y="2407920"/>
              <a:ext cx="469666" cy="48768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4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04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296150" y="2333625"/>
              <a:ext cx="3810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应用实践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667500" y="2743200"/>
              <a:ext cx="4286250" cy="2667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0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落地步骤与场景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9525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陷阱与排查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81375"/>
              <a:ext cx="5143500" cy="666750"/>
            </a:xfrm>
            <a:prstGeom prst="roundRect">
              <a:avLst>
                <a:gd name="adj" fmla="val 5714"/>
              </a:avLst>
            </a:prstGeom>
            <a:noFill/>
            <a:ln w="9525">
              <a:solidFill>
                <a:srgbClr val="F5D0D9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6477000" y="3524250"/>
              <a:ext cx="4762500" cy="3619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275" dirty="0">
                  <a:solidFill>
                    <a:srgbClr val="6B7C8F"/>
                  </a:solidFill>
                  <a:latin typeface="Arial"/>
                  <a:ea typeface="Microsoft YaHei"/>
                  <a:cs typeface="Arial"/>
                </a:rPr>
                <a:t>优化拓展</a:t>
              </a:r>
            </a:p>
          </p:txBody>
        </p:sp>
      </p:grpSp>
      <p:sp>
        <p:nvSpPr>
          <p:cNvPr id="32" name="Line 32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33" name="TextBox 33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学习目标 / Lernziele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1) 能解释认证的机制；2) 能对比隔离的取舍；3) 能跑通 tool.py 对应测试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MCP 与 CapabilityOps：让跨团队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概念详解：认证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「认证」指短期凭据。在企业级语境下，它同时约束接口契约、生命周期与治理边界，而不只是一个名词。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MCP 与 CapabilityOps：让跨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定义与内涵：认证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把认证讲透：是什么、不是什么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「认证」指短期凭据。在企业级语境下，它同时约束接口契约、生命周期与治理边界，而不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治理维度：短期凭据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要点维度：短期凭据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机制图解：认证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「认证」的运行机制分三步：输入契约校验 → 核心转换执行 → 结果验证与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图：认证 的机制与数据流（flow_v 视角）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深入原理：认证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正确姿势：先定义「认证」的契约与不变量，再谈实现；所有旁路都必须被审计。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常见误用：把「认证」当成一次性胶水代码，没有版本、没有度量、没有回滚路径。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代码契约：认证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契约（概念1 认证）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代码实现：认证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实现（概念1 认证）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应用实践：认证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把「认证」落到业务：先小流量灰度验证效果与成本，再逐步放开租户范围。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陷阱与排查：认证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「认证」典型故障：静默失败—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工程决策：认证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「认证」的选型以证据与约束为准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优化拓展：认证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「认证」优化一：把人工经验固化为资产（规则/Skill/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「认证」优化二：建立基线对照（关闭/盲选/受控三组）证明增量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14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概念详解：隔离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对「隔离」的正确定位是：租户；它是可观测、可治理、可演进的稳定工程对象。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MCP 与 CapabilityOps：让跨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定义与内涵：隔离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把隔离讲透：是什么、不是什么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对「隔离」的正确定位是：租户；它是可观测、可治理、可演进的稳定工程对象。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治理维度：租户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要点维度：租户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机制图解：隔离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从数据流看「隔离」：上游产出受控载荷，经 tool.py 中的实现完成转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图：隔离 的机制与数据流（cycle 视角）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深入原理：隔离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正确姿势：把「隔离」的决策依据落成证据（Trace/Eval），而不是凭经验拍板。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常见误用：用相关性绕过「隔离」的硬性过滤，短期省事，长期必然越权或漂移。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代码契约：隔离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契约（概念2 隔离）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代码实现：隔离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19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实现（概念2 隔离）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应用实践：隔离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「隔离」的应用入口在本课程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陷阱与排查：隔离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「隔离」典型故障：成本失控—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工程决策：隔离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「隔离」的选型以证据与约束为准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优化拓展：隔离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「隔离」优化一：把人工经验固化为资产（规则/Skill/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「隔离」优化二：建立基线对照（关闭/盲选/受控三组）证明增量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24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概念详解：限流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「限流」的本质是配额。理解它的关键是分清模型能做的与系统必须兜底的。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MCP 与 CapabilityOps：让跨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定义与内涵：限流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把限流讲透：是什么、不是什么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「限流」的本质是配额。理解它的关键是分清模型能做的与系统必须兜底的。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治理维度：配额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要点维度：配额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机制图解：限流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「限流」的机制核心是解耦：策略与执行分离、状态与过程分离、权限与相关性分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图：限流 的机制与数据流（layers 视角）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深入原理：限流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正确姿势：为「限流」设置显式预算与停止条件，宁可慢一点，不可失控。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常见误用：只在 Demo 里验证「限流」的正常路径，故障注入一跑就现出原形。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代码契约：限流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契约（概念3 限流）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代码实现：限流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实现（概念3 限流）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应用实践：限流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上线「限流」前自检三问：失败会怎样？谁能审计？回滚要多久？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陷阱与排查：限流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「限流」典型故障：上下文漂移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工程决策：限流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「限流」的选型以证据与约束为准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优化拓展：限流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「限流」优化一：把人工经验固化为资产（规则/Skill/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「限流」优化二：建立基线对照（关闭/盲选/受控三组）证明增量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34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概念详解：审计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把「审计」当工程对象看：Tool Trace。它有明确的输入契约、失败语义与度量口径。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MCP 与 CapabilityOps：让跨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把审计讲透：是什么、不是什么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把「审计」当工程对象看：Tool Trace。它有明确的输入契约、失败语义与度量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治理维度：Tool Trace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要点维度：Tool Trace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「审计」之所以可靠，是因为它把不确定性关进笼子：预算、超时、重试、审计四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图：审计 的机制与数据流（hub 视角）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正确姿势：先定义「审计」的契约与不变量，再谈实现；所有旁路都必须被审计。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常见误用：把「审计」当成一次性胶水代码，没有版本、没有度量、没有回滚路径。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契约（概念4 审计）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39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实现（概念4 审计）</a:t>
              </a:r>
            </a:p>
          </p:txBody>
        </p:sp>
      </p:grp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把「审计」落到业务：先小流量灰度验证效果与成本，再逐步放开租户范围。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「审计」典型故障：静默失败—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「审计」的选型以证据与约束为准</a:t>
              </a:r>
            </a:p>
          </p:txBody>
        </p:sp>
      </p:grp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优化拓展：审计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「审计」优化一：把人工经验固化为资产（规则/Skill/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「审计」优化二：建立基线对照（关闭/盲选/受控三组）证明增量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44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概念详解：可见性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「可见性」指动态工具集编译。在企业级语境下，它同时约束接口契约、生命周期与治理边界，而不只是一个名词。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MCP 与 CapabilityOps：让跨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定义与内涵：可见性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把可见性讲透：是什么、不是什么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45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定义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「可见性」指动态工具集编译。在企业级语境下，它同时约束接口契约、生命周期与治理边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治理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治理维度：动态工具集编译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要点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要点维度：动态工具集编译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能力形态决定治理形态：Tool/Skill/Workflow/MCP 各得其所。</a:t>
              </a:r>
            </a:p>
          </p:txBody>
        </p: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机制图解：可见性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一图看懂运行机制与数据流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46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「可见性」的运行机制分三步：输入契约校验 → 核心转换执行 → 结果验证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关键环节：契约→执行→验证→留痕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落点：仓库验证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图：可见性 的机制与数据流（flow_v 视角）</a:t>
              </a:r>
            </a:p>
          </p:txBody>
        </p:sp>
      </p:grp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深入原理：可见性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正确姿势 vs 常见误用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47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正确姿势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正确姿势：把「可见性」的决策依据落成证据（Trace/Eval），而不是凭经验拍板。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契约先行，证据留痕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常见误用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常见误用：用相关性绕过「可见性」的硬性过滤，短期省事，长期必然越权或漂移。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无版本/无度量/无回滚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治理视角：最小权限、短期凭据、幂等与审计四支柱。</a:t>
              </a:r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代码契约：可见性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契约切面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48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切面：契约——先读接口再读实现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契约（概念5 可见性）</a:t>
              </a:r>
            </a:p>
          </p:txBody>
        </p:sp>
      </p:grp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代码实现：可见性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仓库真实代码 · 实现切面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49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文件：tool.py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切面：实现——先读接口再读实现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测试见 tests/ 目录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代码：tool.py · 实现（概念5 可见性）</a:t>
              </a:r>
            </a:p>
          </p:txBody>
        </p:sp>
      </p:grp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应用实践：可见性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三步落地：闭环→灰度→放开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50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最小闭环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「可见性」的应用入口在本课程 DataAgent：跑通对应 pytest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灰度验证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小流量对照基线，观察效果/成本/时延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逐步放开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按租户/场景分批，异常即回滚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陷阱与排查：可见性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症状→根因→处置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51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症状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根因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处置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「可见性」典型故障：成本失控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缺少验证/预算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验真+预算上限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结果不可解释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 Trace 留痕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接入统一 Trace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效果悄悄退化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无回归基线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评测+回归门禁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先止血，再根因，最后沉淀为回归用例</a:t>
              </a:r>
            </a:p>
          </p:txBody>
        </p:sp>
      </p:grp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工程决策：可见性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候选方案 × 取舍（ADR）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52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方案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代价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结论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直连实现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快但耦合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Demo 可用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平台化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前期成本高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生产首选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保持简单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能力上限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按场景取舍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「可见性」的选型以证据与约束为准</a:t>
              </a:r>
            </a:p>
          </p:txBody>
        </p:sp>
      </p:grp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优化拓展：可见性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三个可持续优化抓手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53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「可见性」优化一：把人工经验固化为资产（规则/Skill/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「可见性」优化二：建立基线对照（关闭/盲选/受控三组）证明增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资产化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经验固化为规则/Skill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基线化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对照实验证明增量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观测化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Trace/Baseline 先行</a:t>
              </a:r>
            </a:p>
          </p:txBody>
        </p:sp>
      </p:grp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本章知识图谱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概念之间的结构关系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54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核心：认证、隔离、限流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关系：输入→机制→治理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全部概念见讲义表格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图：本章概念关系（中心辐射视角）</a:t>
              </a:r>
            </a:p>
          </p:txBody>
        </p:sp>
      </p:grp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应用与实战指南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从理解到落地：场景、步骤与检查清单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MCP 与 CapabilityOps：让跨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实战路线图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三步从 Demo 到生产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56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选高频、可验证、低风险场景切入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契约先行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定义输入/输出/错误语义与验收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评测护航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建数据集与评分卡再动 Prompt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案例视角：预算调整 Action 的提议-审批-执行-验真全链路。</a:t>
              </a:r>
            </a:p>
          </p:txBody>
        </p:sp>
      </p:grp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典型应用场景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场景→做法→收益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57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场景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做法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收益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经营诊断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自主分析闭环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结论可解释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数据查询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只读网关+权限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安全合规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行动执行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风险可控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场景选择决定治理强度，按风险分级</a:t>
              </a:r>
            </a:p>
          </p:txBody>
        </p:sp>
      </p:grp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落地检查清单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上线前逐项打勾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58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功能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核心链路全绿；故障注入通过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质量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三层评测达标；回归门禁通过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安全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权限/审计/幂等/回滚就绪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GO/NO-GO 由硬门槛决定，不由均分决定</a:t>
              </a:r>
            </a:p>
          </p:txBody>
        </p:sp>
      </p:grp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59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优化与拓展指南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让系统随模型共同进化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MCP 与 CapabilityOps：让跨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优化方向对照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短期补丁 vs 长期资产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60</a:t>
            </a:r>
          </a:p>
        </p:txBody>
      </p:sp>
      <p:grpSp>
        <p:nvGrpSpPr>
          <p:cNvPr id="22" name="EasySlides Component: left"/>
          <p:cNvGrpSpPr/>
          <p:nvPr/>
        </p:nvGrpSpPr>
        <p:grpSpPr>
          <a:xfrm>
            <a:off x="495300" y="1285875"/>
            <a:ext cx="5410200" cy="4000500"/>
            <a:chOff x="495300" y="1285875"/>
            <a:chExt cx="5410200" cy="4000500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4953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001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短期补丁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10287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改 Prompt 救火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局部 if-else 兜底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人工盯梢排查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经验留在个人脑中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8001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0" name="EasySlides Component: right"/>
          <p:cNvGrpSpPr/>
          <p:nvPr/>
        </p:nvGrpSpPr>
        <p:grpSpPr>
          <a:xfrm>
            <a:off x="6286500" y="1285875"/>
            <a:ext cx="5410200" cy="4000500"/>
            <a:chOff x="6286500" y="1285875"/>
            <a:chExt cx="5410200" cy="4000500"/>
          </a:xfrm>
        </p:grpSpPr>
        <p:sp>
          <p:nvSpPr>
            <p:cNvPr id="23" name="Rectangle 23"/>
            <p:cNvSpPr/>
            <p:nvPr/>
          </p:nvSpPr>
          <p:spPr>
            <a:xfrm>
              <a:off x="6286500" y="1285875"/>
              <a:ext cx="5410200" cy="4000500"/>
            </a:xfrm>
            <a:prstGeom prst="roundRect">
              <a:avLst>
                <a:gd name="adj" fmla="val 952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Rectangle 24"/>
            <p:cNvSpPr/>
            <p:nvPr/>
          </p:nvSpPr>
          <p:spPr>
            <a:xfrm>
              <a:off x="6286500" y="1285875"/>
              <a:ext cx="5410200" cy="609600"/>
            </a:xfrm>
            <a:prstGeom prst="roundRect">
              <a:avLst>
                <a:gd name="adj" fmla="val 6250"/>
              </a:avLst>
            </a:prstGeom>
            <a:solidFill>
              <a:srgbClr val="E8F4FC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6286500" y="1285875"/>
              <a:ext cx="57150" cy="609600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6591300" y="1419225"/>
              <a:ext cx="48006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72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长期资产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6591300" y="22764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819900" y="2505075"/>
              <a:ext cx="4343400" cy="20955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规则/Skill/Eval 沉淀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统一 Runtime 治理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Trace+Baseline 驱动</a:t>
              </a:r>
            </a:p>
            <a:p>
              <a:pPr algn="l"/>
              <a:r>
                <a:rPr lang="zh-CN" sz="165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资产随组织复用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6591300" y="4905375"/>
              <a:ext cx="4800600" cy="9525"/>
            </a:xfrm>
            <a:custGeom>
              <a:avLst/>
              <a:gdLst/>
              <a:ahLst/>
              <a:cxnLst/>
              <a:rect l="l" t="t" r="r" b="b"/>
              <a:pathLst>
                <a:path w="4800600" h="9525">
                  <a:moveTo>
                    <a:pt x="0" y="0"/>
                  </a:moveTo>
                  <a:lnTo>
                    <a:pt x="4800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</p:grpSp>
      <p:grpSp>
        <p:nvGrpSpPr>
          <p:cNvPr id="34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1" name="Rectangle 31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2" name="Rectangle 32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延伸阅读：三层 Tool Contract 与动态最小工具集。</a:t>
              </a:r>
            </a:p>
          </p:txBody>
        </p:sp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拓展学习地图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三层次进阶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61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体系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把本讲机制放进企业级全景图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贯通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与前后讲次的接口互相印证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向上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架构与治理体系化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向深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Runtime 与可靠性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向外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多 Agent 与平台化</a:t>
              </a: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演进路线图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本讲在能力阶梯上的位置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62</a:t>
            </a:r>
          </a:p>
        </p:txBody>
      </p:sp>
      <p:grpSp>
        <p:nvGrpSpPr>
          <p:cNvPr id="26" name="EasySlides Component: evidence"/>
          <p:cNvGrpSpPr/>
          <p:nvPr/>
        </p:nvGrpSpPr>
        <p:grpSpPr>
          <a:xfrm>
            <a:off x="7124700" y="1285875"/>
            <a:ext cx="4572000" cy="4905375"/>
            <a:chOff x="7124700" y="1285875"/>
            <a:chExt cx="45720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7124700" y="1285875"/>
              <a:ext cx="4572000" cy="4905375"/>
            </a:xfrm>
            <a:prstGeom prst="roundRect">
              <a:avLst>
                <a:gd name="adj" fmla="val 833"/>
              </a:avLst>
            </a:prstGeom>
            <a:solidFill>
              <a:srgbClr val="FDF2F5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7124700" y="1285875"/>
              <a:ext cx="76200" cy="4905375"/>
            </a:xfrm>
            <a:prstGeom prst="rect">
              <a:avLst/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7391400" y="155257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8" name="Rectangle 18"/>
            <p:cNvSpPr/>
            <p:nvPr/>
          </p:nvSpPr>
          <p:spPr>
            <a:xfrm>
              <a:off x="7391400" y="3105150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19" name="Rectangle 19"/>
            <p:cNvSpPr/>
            <p:nvPr/>
          </p:nvSpPr>
          <p:spPr>
            <a:xfrm>
              <a:off x="7391400" y="4657725"/>
              <a:ext cx="4038600" cy="1257300"/>
            </a:xfrm>
            <a:prstGeom prst="roundRect">
              <a:avLst>
                <a:gd name="adj" fmla="val 1515"/>
              </a:avLst>
            </a:prstGeom>
            <a:solidFill>
              <a:srgbClr val="FFFFFF"/>
            </a:solidFill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7605712" y="174545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605712" y="3298031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605712" y="4850606"/>
              <a:ext cx="220156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5" b="1" dirty="0">
                  <a:solidFill>
                    <a:srgbClr val="CC0000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8600" y="181927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当前：本讲机制已可运行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848600" y="3371850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下一站：与相邻模块协同治理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848600" y="4924425"/>
              <a:ext cx="3314700" cy="723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长期：固化为组织级资产</a:t>
              </a:r>
            </a:p>
          </p:txBody>
        </p:sp>
      </p:grpSp>
      <p:grpSp>
        <p:nvGrpSpPr>
          <p:cNvPr id="32" name="EasySlides Component: figure"/>
          <p:cNvGrpSpPr/>
          <p:nvPr/>
        </p:nvGrpSpPr>
        <p:grpSpPr>
          <a:xfrm>
            <a:off x="495300" y="1285875"/>
            <a:ext cx="6400800" cy="4905375"/>
            <a:chOff x="495300" y="1285875"/>
            <a:chExt cx="6400800" cy="4905375"/>
          </a:xfrm>
        </p:grpSpPr>
        <p:sp>
          <p:nvSpPr>
            <p:cNvPr id="27" name="Rectangle 27"/>
            <p:cNvSpPr/>
            <p:nvPr/>
          </p:nvSpPr>
          <p:spPr>
            <a:xfrm>
              <a:off x="495300" y="1285875"/>
              <a:ext cx="64008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47700" y="1438275"/>
              <a:ext cx="6096000" cy="3905250"/>
            </a:xfrm>
            <a:prstGeom prst="roundRect">
              <a:avLst>
                <a:gd name="adj" fmla="val 488"/>
              </a:avLst>
            </a:prstGeom>
            <a:solidFill>
              <a:srgbClr val="FDF2F5"/>
            </a:solidFill>
            <a:ln w="9525">
              <a:solidFill>
                <a:srgbClr val="D4E2EE"/>
              </a:solidFill>
            </a:ln>
          </p:spPr>
        </p:sp>
        <p:pic>
          <p:nvPicPr>
            <p:cNvPr id="29" name="Image 2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7700" y="1605643"/>
              <a:ext cx="6096000" cy="3570514"/>
            </a:xfrm>
            <a:prstGeom prst="rect">
              <a:avLst/>
            </a:prstGeom>
          </p:spPr>
        </p:pic>
        <p:sp>
          <p:nvSpPr>
            <p:cNvPr id="30" name="Line 30"/>
            <p:cNvSpPr/>
            <p:nvPr/>
          </p:nvSpPr>
          <p:spPr>
            <a:xfrm>
              <a:off x="723900" y="5534025"/>
              <a:ext cx="5943600" cy="9525"/>
            </a:xfrm>
            <a:custGeom>
              <a:avLst/>
              <a:gdLst/>
              <a:ahLst/>
              <a:cxnLst/>
              <a:rect l="l" t="t" r="r" b="b"/>
              <a:pathLst>
                <a:path w="5943600" h="9525">
                  <a:moveTo>
                    <a:pt x="0" y="0"/>
                  </a:moveTo>
                  <a:lnTo>
                    <a:pt x="5943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00100" y="5610225"/>
              <a:ext cx="5791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图：从本讲机制到组织资产的演进路径</a:t>
              </a:r>
            </a:p>
          </p:txBody>
        </p:sp>
      </p:grp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63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治理与常见陷阱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企业级红线与审计要点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MCP 与 CapabilityOps：让跨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企业级红线清单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红线→后果→防护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64</a:t>
            </a:r>
          </a:p>
        </p:txBody>
      </p:sp>
      <p:grpSp>
        <p:nvGrpSpPr>
          <p:cNvPr id="38" name="EasySlides Component: matrix"/>
          <p:cNvGrpSpPr/>
          <p:nvPr/>
        </p:nvGrpSpPr>
        <p:grpSpPr>
          <a:xfrm>
            <a:off x="495300" y="1285875"/>
            <a:ext cx="11201400" cy="4905375"/>
            <a:chOff x="495300" y="1285875"/>
            <a:chExt cx="11201400" cy="490537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11201400" cy="4905375"/>
            </a:xfrm>
            <a:prstGeom prst="roundRect">
              <a:avLst>
                <a:gd name="adj" fmla="val 777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1285875"/>
              <a:ext cx="11201400" cy="647700"/>
            </a:xfrm>
            <a:prstGeom prst="roundRect">
              <a:avLst>
                <a:gd name="adj" fmla="val 5882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17" name="Line 17"/>
            <p:cNvSpPr/>
            <p:nvPr/>
          </p:nvSpPr>
          <p:spPr>
            <a:xfrm>
              <a:off x="42291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8" name="Line 18"/>
            <p:cNvSpPr/>
            <p:nvPr/>
          </p:nvSpPr>
          <p:spPr>
            <a:xfrm>
              <a:off x="7962900" y="1285875"/>
              <a:ext cx="9525" cy="4143375"/>
            </a:xfrm>
            <a:custGeom>
              <a:avLst/>
              <a:gdLst/>
              <a:ahLst/>
              <a:cxnLst/>
              <a:rect l="l" t="t" r="r" b="b"/>
              <a:pathLst>
                <a:path w="9525" h="4143375">
                  <a:moveTo>
                    <a:pt x="0" y="0"/>
                  </a:moveTo>
                  <a:lnTo>
                    <a:pt x="0" y="4143375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19" name="Line 19"/>
            <p:cNvSpPr/>
            <p:nvPr/>
          </p:nvSpPr>
          <p:spPr>
            <a:xfrm>
              <a:off x="495300" y="19335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sp>
          <p:nvSpPr>
            <p:cNvPr id="20" name="Line 20"/>
            <p:cNvSpPr/>
            <p:nvPr/>
          </p:nvSpPr>
          <p:spPr>
            <a:xfrm>
              <a:off x="495300" y="309562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1" name="Line 21"/>
            <p:cNvSpPr/>
            <p:nvPr/>
          </p:nvSpPr>
          <p:spPr>
            <a:xfrm>
              <a:off x="495300" y="4257675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495300" y="5429250"/>
              <a:ext cx="11201400" cy="9525"/>
            </a:xfrm>
            <a:custGeom>
              <a:avLst/>
              <a:gdLst/>
              <a:ahLst/>
              <a:cxnLst/>
              <a:rect l="l" t="t" r="r" b="b"/>
              <a:pathLst>
                <a:path w="11201400" h="9525">
                  <a:moveTo>
                    <a:pt x="0" y="0"/>
                  </a:moveTo>
                  <a:lnTo>
                    <a:pt x="11201400" y="0"/>
                  </a:lnTo>
                </a:path>
              </a:pathLst>
            </a:custGeom>
            <a:noFill/>
            <a:ln w="9525">
              <a:solidFill>
                <a:srgbClr val="B8C7D6"/>
              </a:solidFill>
            </a:ln>
          </p:spPr>
        </p:sp>
        <p:grpSp>
          <p:nvGrpSpPr>
            <p:cNvPr id="26" name="Group 26"/>
            <p:cNvGrpSpPr/>
            <p:nvPr/>
          </p:nvGrpSpPr>
          <p:grpSpPr>
            <a:xfrm>
              <a:off x="704850" y="1428750"/>
              <a:ext cx="10782300" cy="361950"/>
              <a:chOff x="704850" y="1428750"/>
              <a:chExt cx="10782300" cy="361950"/>
            </a:xfrm>
          </p:grpSpPr>
          <p:sp>
            <p:nvSpPr>
              <p:cNvPr id="23" name="TextBox 23"/>
              <p:cNvSpPr txBox="1"/>
              <p:nvPr/>
            </p:nvSpPr>
            <p:spPr>
              <a:xfrm>
                <a:off x="7048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红线</a:t>
                </a:r>
              </a:p>
            </p:txBody>
          </p:sp>
          <p:sp>
            <p:nvSpPr>
              <p:cNvPr id="24" name="TextBox 24"/>
              <p:cNvSpPr txBox="1"/>
              <p:nvPr/>
            </p:nvSpPr>
            <p:spPr>
              <a:xfrm>
                <a:off x="44386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后果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8172450" y="1428750"/>
                <a:ext cx="3314700" cy="361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575" b="1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防护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723900" y="2105025"/>
              <a:ext cx="10744200" cy="3086100"/>
              <a:chOff x="723900" y="2105025"/>
              <a:chExt cx="10744200" cy="308610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7239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越权访问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44577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数据泄漏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8191500" y="21050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硬过滤+审计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7239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未审批副作用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44577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业务事故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8191500" y="326707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审批+幂等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7239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不可回放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44577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无法追责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8191500" y="4429125"/>
                <a:ext cx="32766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anchor="ctr" anchorCtr="0">
                <a:normAutofit/>
              </a:bodyPr>
              <a:lstStyle/>
              <a:p>
                <a:pPr algn="ctr"/>
                <a:r>
                  <a:rPr lang="zh-CN" sz="1425" dirty="0">
                    <a:solidFill>
                      <a:srgbClr val="26384A"/>
                    </a:solidFill>
                    <a:latin typeface="Arial"/>
                    <a:ea typeface="Microsoft YaHei"/>
                    <a:cs typeface="Arial"/>
                  </a:rPr>
                  <a:t>Trace+Checkpoint</a:t>
                </a:r>
              </a:p>
            </p:txBody>
          </p:sp>
        </p:grpSp>
        <p:sp>
          <p:nvSpPr>
            <p:cNvPr id="37" name="TextBox 37"/>
            <p:cNvSpPr txBox="1"/>
            <p:nvPr/>
          </p:nvSpPr>
          <p:spPr>
            <a:xfrm>
              <a:off x="828675" y="5581650"/>
              <a:ext cx="10534650" cy="4191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500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红线一票否决，不允许带病上线</a:t>
              </a:r>
            </a:p>
          </p:txBody>
        </p:sp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5715000" y="0"/>
            <a:ext cx="6477000" cy="6858000"/>
          </a:xfrm>
          <a:custGeom>
            <a:avLst/>
            <a:gdLst/>
            <a:ahLst/>
            <a:cxnLst/>
            <a:rect l="l" t="t" r="r" b="b"/>
            <a:pathLst>
              <a:path w="6477000" h="6858000">
                <a:moveTo>
                  <a:pt x="1905000" y="0"/>
                </a:moveTo>
                <a:lnTo>
                  <a:pt x="6477000" y="0"/>
                </a:lnTo>
                <a:lnTo>
                  <a:pt x="6477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E11D48">
              <a:alpha val="20000"/>
            </a:srgbClr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2286000"/>
            <a:ext cx="114300" cy="22860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476250" y="2095500"/>
            <a:ext cx="2952750" cy="3143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750" b="1" dirty="0">
                <a:solidFill>
                  <a:srgbClr val="FFFFFF">
                    <a:alphaMod val="10000"/>
                  </a:srgbClr>
                </a:solidFill>
                <a:latin typeface="Arial"/>
                <a:ea typeface="Microsoft YaHei"/>
                <a:cs typeface="Arial"/>
              </a:rPr>
              <a:t>65</a:t>
            </a:r>
          </a:p>
        </p:txBody>
      </p:sp>
      <p:sp>
        <p:nvSpPr>
          <p:cNvPr id="6" name="Line 6"/>
          <p:cNvSpPr/>
          <p:nvPr/>
        </p:nvSpPr>
        <p:spPr>
          <a:xfrm>
            <a:off x="3619500" y="2505075"/>
            <a:ext cx="1143000" cy="9525"/>
          </a:xfrm>
          <a:custGeom>
            <a:avLst/>
            <a:gdLst/>
            <a:ahLst/>
            <a:cxnLst/>
            <a:rect l="l" t="t" r="r" b="b"/>
            <a:pathLst>
              <a:path w="1143000" h="9525">
                <a:moveTo>
                  <a:pt x="0" y="0"/>
                </a:moveTo>
                <a:lnTo>
                  <a:pt x="1143000" y="0"/>
                </a:lnTo>
              </a:path>
            </a:pathLst>
          </a:custGeom>
          <a:noFill/>
          <a:ln w="57150">
            <a:solidFill>
              <a:srgbClr val="CC0000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3619500" y="2667000"/>
            <a:ext cx="7429500" cy="876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42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复习与考核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619500" y="3648075"/>
            <a:ext cx="7620000" cy="419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800" dirty="0">
                <a:solidFill>
                  <a:srgbClr val="E8F4FC"/>
                </a:solidFill>
                <a:latin typeface="Arial"/>
                <a:ea typeface="Microsoft YaHei"/>
                <a:cs typeface="Arial"/>
              </a:rPr>
              <a:t>把本讲装进长期记忆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62750" y="6286500"/>
            <a:ext cx="409575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r"/>
            <a:r>
              <a:rPr lang="zh-CN" sz="1200" dirty="0">
                <a:solidFill>
                  <a:srgbClr val="FFFFFF">
                    <a:alphaMod val="55000"/>
                  </a:srgbClr>
                </a:solidFill>
                <a:latin typeface="Arial"/>
                <a:ea typeface="Microsoft YaHei"/>
                <a:cs typeface="Arial"/>
              </a:rPr>
              <a:t>MCP 与 CapabilityOps：让跨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复习要点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E11D48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三个必答题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课程第31讲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工具与技能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66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是什么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认证的定义与边界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为什么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能力形态决定治理形态：Tool/Skill/Workflow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E11D48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E11D48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9F1239"/>
                  </a:solidFill>
                  <a:latin typeface="Arial"/>
                  <a:ea typeface="Microsoft YaHei"/>
                  <a:cs typeface="Arial"/>
                </a:rPr>
                <a:t>怎么用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在 DataAgent 中跑通 tool.py 对应用例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9F1239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能讲给同事听懂，才算真正掌握</a:t>
              </a:r>
            </a:p>
          </p:txBody>
        </p:sp>
      </p:grp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9F1239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9F1239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MCP 与 CapabilityOps：让跨团队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E11D48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DF2F5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对照 DSH 插件接口与 MCP 远程协议，说明进程内扩展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第31讲 · 工具与技能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DF2F5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67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