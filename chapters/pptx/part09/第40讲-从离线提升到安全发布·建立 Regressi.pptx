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571750"/>
            <a:ext cx="990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40 从离线提升到安全发布：建立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600450"/>
            <a:ext cx="8572500" cy="476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20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第九篇（Agent 评测与受控进化篇） · 教学讲义</a:t>
            </a:r>
          </a:p>
        </p:txBody>
      </p:sp>
      <p:sp>
        <p:nvSpPr>
          <p:cNvPr id="8" name="Line 8"/>
          <p:cNvSpPr/>
          <p:nvPr/>
        </p:nvSpPr>
        <p:spPr>
          <a:xfrm>
            <a:off x="4000500" y="4333875"/>
            <a:ext cx="4191000" cy="9525"/>
          </a:xfrm>
          <a:custGeom>
            <a:avLst/>
            <a:gdLst/>
            <a:ahLst/>
            <a:cxnLst/>
            <a:rect l="l" t="t" r="r" b="b"/>
            <a:pathLst>
              <a:path w="4191000" h="9525">
                <a:moveTo>
                  <a:pt x="0" y="0"/>
                </a:moveTo>
                <a:lnTo>
                  <a:pt x="4191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4286250"/>
            <a:ext cx="95250" cy="9525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714750" y="4714875"/>
            <a:ext cx="476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725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4750" y="5105400"/>
            <a:ext cx="4762500" cy="3333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425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第40讲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52750" y="5486400"/>
            <a:ext cx="628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381500" y="6486525"/>
            <a:ext cx="3429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核心概念：机制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作用的三个关键要点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3524250"/>
            <a:ext cx="11201400" cy="1285875"/>
            <a:chOff x="495300" y="352425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352425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352425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397192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375285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版本元组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375285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375285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公平比较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CI Gate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拦截退化</a:t>
              </a:r>
            </a:p>
          </p:txBody>
        </p:sp>
      </p:grpSp>
      <p:grpSp>
        <p:nvGrpSpPr>
          <p:cNvPr id="34" name="EasySlides Component: metric_01"/>
          <p:cNvGrpSpPr/>
          <p:nvPr/>
        </p:nvGrpSpPr>
        <p:grpSpPr>
          <a:xfrm>
            <a:off x="495300" y="1285875"/>
            <a:ext cx="3505200" cy="1809750"/>
            <a:chOff x="495300" y="1285875"/>
            <a:chExt cx="3505200" cy="1809750"/>
          </a:xfrm>
        </p:grpSpPr>
        <p:sp>
          <p:nvSpPr>
            <p:cNvPr id="29" name="Rectangle 29"/>
            <p:cNvSpPr/>
            <p:nvPr/>
          </p:nvSpPr>
          <p:spPr>
            <a:xfrm>
              <a:off x="4953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版本元组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9906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公平比较</a:t>
              </a:r>
            </a:p>
          </p:txBody>
        </p:sp>
      </p:grpSp>
      <p:grpSp>
        <p:nvGrpSpPr>
          <p:cNvPr id="40" name="EasySlides Component: metric_02"/>
          <p:cNvGrpSpPr/>
          <p:nvPr/>
        </p:nvGrpSpPr>
        <p:grpSpPr>
          <a:xfrm>
            <a:off x="4343400" y="1285875"/>
            <a:ext cx="3505200" cy="1809750"/>
            <a:chOff x="4343400" y="1285875"/>
            <a:chExt cx="3505200" cy="1809750"/>
          </a:xfrm>
        </p:grpSpPr>
        <p:sp>
          <p:nvSpPr>
            <p:cNvPr id="35" name="Rectangle 35"/>
            <p:cNvSpPr/>
            <p:nvPr/>
          </p:nvSpPr>
          <p:spPr>
            <a:xfrm>
              <a:off x="43434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3434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101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CI Gate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48387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6101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拦截退化</a:t>
              </a:r>
            </a:p>
          </p:txBody>
        </p:sp>
      </p:grpSp>
      <p:grpSp>
        <p:nvGrpSpPr>
          <p:cNvPr id="46" name="EasySlides Component: metric_03"/>
          <p:cNvGrpSpPr/>
          <p:nvPr/>
        </p:nvGrpSpPr>
        <p:grpSpPr>
          <a:xfrm>
            <a:off x="8191500" y="1285875"/>
            <a:ext cx="3505200" cy="1809750"/>
            <a:chOff x="8191500" y="1285875"/>
            <a:chExt cx="3505200" cy="1809750"/>
          </a:xfrm>
        </p:grpSpPr>
        <p:sp>
          <p:nvSpPr>
            <p:cNvPr id="41" name="Rectangle 41"/>
            <p:cNvSpPr/>
            <p:nvPr/>
          </p:nvSpPr>
          <p:spPr>
            <a:xfrm>
              <a:off x="8191500" y="1285875"/>
              <a:ext cx="3505200" cy="180975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 w="11430">
              <a:solidFill>
                <a:srgbClr val="B8C7D6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8191500" y="1285875"/>
              <a:ext cx="3505200" cy="666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458200" y="1619250"/>
              <a:ext cx="2971800" cy="7143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31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Canary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686800" y="2476500"/>
              <a:ext cx="2514600" cy="9525"/>
            </a:xfrm>
            <a:custGeom>
              <a:avLst/>
              <a:gdLst/>
              <a:ahLst/>
              <a:cxnLst/>
              <a:rect l="l" t="t" r="r" b="b"/>
              <a:pathLst>
                <a:path w="2514600" h="9525">
                  <a:moveTo>
                    <a:pt x="0" y="0"/>
                  </a:moveTo>
                  <a:lnTo>
                    <a:pt x="2514600" y="0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58200" y="2562225"/>
              <a:ext cx="29718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dirty="0">
                  <a:solidFill>
                    <a:srgbClr val="52657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机制与流程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三步走：理解→实现→验证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grpSp>
        <p:nvGrpSpPr>
          <p:cNvPr id="22" name="EasySlides Component: step_01"/>
          <p:cNvGrpSpPr/>
          <p:nvPr/>
        </p:nvGrpSpPr>
        <p:grpSpPr>
          <a:xfrm>
            <a:off x="495300" y="1285875"/>
            <a:ext cx="3505200" cy="3476625"/>
            <a:chOff x="495300" y="1285875"/>
            <a:chExt cx="3505200" cy="3476625"/>
          </a:xfrm>
        </p:grpSpPr>
        <p:sp>
          <p:nvSpPr>
            <p:cNvPr id="15" name="Rectangle 15"/>
            <p:cNvSpPr/>
            <p:nvPr/>
          </p:nvSpPr>
          <p:spPr>
            <a:xfrm>
              <a:off x="4953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6953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143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144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版本元组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525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公平比较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001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0" name="EasySlides Component: step_02"/>
          <p:cNvGrpSpPr/>
          <p:nvPr/>
        </p:nvGrpSpPr>
        <p:grpSpPr>
          <a:xfrm>
            <a:off x="4343400" y="1285875"/>
            <a:ext cx="3505200" cy="3476625"/>
            <a:chOff x="4343400" y="1285875"/>
            <a:chExt cx="3505200" cy="3476625"/>
          </a:xfrm>
        </p:grpSpPr>
        <p:sp>
          <p:nvSpPr>
            <p:cNvPr id="23" name="Rectangle 23"/>
            <p:cNvSpPr/>
            <p:nvPr/>
          </p:nvSpPr>
          <p:spPr>
            <a:xfrm>
              <a:off x="43434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5434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5624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625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CI Gate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46482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8006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拦截退化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482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38" name="EasySlides Component: step_03"/>
          <p:cNvGrpSpPr/>
          <p:nvPr/>
        </p:nvGrpSpPr>
        <p:grpSpPr>
          <a:xfrm>
            <a:off x="8191500" y="1285875"/>
            <a:ext cx="3505200" cy="3476625"/>
            <a:chOff x="8191500" y="1285875"/>
            <a:chExt cx="3505200" cy="3476625"/>
          </a:xfrm>
        </p:grpSpPr>
        <p:sp>
          <p:nvSpPr>
            <p:cNvPr id="31" name="Rectangle 31"/>
            <p:cNvSpPr/>
            <p:nvPr/>
          </p:nvSpPr>
          <p:spPr>
            <a:xfrm>
              <a:off x="8191500" y="1285875"/>
              <a:ext cx="3505200" cy="3476625"/>
            </a:xfrm>
            <a:prstGeom prst="roundRect">
              <a:avLst>
                <a:gd name="adj" fmla="val 1096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391525" y="1495425"/>
              <a:ext cx="476250" cy="476250"/>
            </a:xfrm>
            <a:prstGeom prst="ellipse">
              <a:avLst/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410575" y="1504950"/>
              <a:ext cx="438150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010650" y="1524000"/>
              <a:ext cx="2324100" cy="4286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650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Canary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8496300" y="2181225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19050">
              <a:solidFill>
                <a:srgbClr val="D4E2EE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648700" y="2476500"/>
              <a:ext cx="2590800" cy="1666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00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灰度验证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496300" y="4391025"/>
              <a:ext cx="762000" cy="66675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</p:sp>
      </p:grpSp>
      <p:grpSp>
        <p:nvGrpSpPr>
          <p:cNvPr id="42" name="EasySlides Component: synthesis"/>
          <p:cNvGrpSpPr/>
          <p:nvPr/>
        </p:nvGrpSpPr>
        <p:grpSpPr>
          <a:xfrm>
            <a:off x="495300" y="5476875"/>
            <a:ext cx="11201400" cy="714375"/>
            <a:chOff x="495300" y="5476875"/>
            <a:chExt cx="11201400" cy="714375"/>
          </a:xfrm>
        </p:grpSpPr>
        <p:sp>
          <p:nvSpPr>
            <p:cNvPr id="39" name="Rectangle 39"/>
            <p:cNvSpPr/>
            <p:nvPr/>
          </p:nvSpPr>
          <p:spPr>
            <a:xfrm>
              <a:off x="495300" y="5476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495300" y="5476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6300" y="5610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代码落点：dataagent/infra/metrics + 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6675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381000" y="123825"/>
            <a:ext cx="7620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b="1" dirty="0">
                <a:solidFill>
                  <a:srgbClr val="9FD3FF"/>
                </a:solidFill>
                <a:latin typeface="Arial"/>
                <a:ea typeface="Microsoft YaHei"/>
                <a:cs typeface="Arial"/>
              </a:rPr>
              <a:t>40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7300" y="95250"/>
            <a:ext cx="809625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关键证据与结论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01250" y="762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66750"/>
            <a:ext cx="12192000" cy="476250"/>
          </a:xfrm>
          <a:prstGeom prst="rect">
            <a:avLst/>
          </a:prstGeom>
          <a:solidFill>
            <a:srgbClr val="E8F4FC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666750"/>
            <a:ext cx="57150" cy="476250"/>
          </a:xfrm>
          <a:prstGeom prst="rect">
            <a:avLst/>
          </a:prstGeom>
          <a:solidFill>
            <a:srgbClr val="0066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381000" y="714375"/>
            <a:ext cx="100012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用证据支撑工程判断</a:t>
            </a:r>
          </a:p>
        </p:txBody>
      </p:sp>
      <p:sp>
        <p:nvSpPr>
          <p:cNvPr id="11" name="Line 11"/>
          <p:cNvSpPr/>
          <p:nvPr/>
        </p:nvSpPr>
        <p:spPr>
          <a:xfrm>
            <a:off x="381000" y="6334125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8F4FC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81000" y="6477000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l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课程第40讲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81500" y="64770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90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评测与进化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63250" y="6457950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grpSp>
        <p:nvGrpSpPr>
          <p:cNvPr id="21" name="EasySlides Component: evidence_01"/>
          <p:cNvGrpSpPr/>
          <p:nvPr/>
        </p:nvGrpSpPr>
        <p:grpSpPr>
          <a:xfrm>
            <a:off x="495300" y="2095500"/>
            <a:ext cx="11201400" cy="1285875"/>
            <a:chOff x="495300" y="2095500"/>
            <a:chExt cx="11201400" cy="1285875"/>
          </a:xfrm>
        </p:grpSpPr>
        <p:sp>
          <p:nvSpPr>
            <p:cNvPr id="15" name="Rectangle 15"/>
            <p:cNvSpPr/>
            <p:nvPr/>
          </p:nvSpPr>
          <p:spPr>
            <a:xfrm>
              <a:off x="495300" y="2095500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095500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33425" y="2543175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47800" y="2324100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机制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362450" y="2324100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686300" y="2324100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公平比较</a:t>
              </a:r>
            </a:p>
          </p:txBody>
        </p:sp>
      </p:grpSp>
      <p:grpSp>
        <p:nvGrpSpPr>
          <p:cNvPr id="28" name="EasySlides Component: evidence_02"/>
          <p:cNvGrpSpPr/>
          <p:nvPr/>
        </p:nvGrpSpPr>
        <p:grpSpPr>
          <a:xfrm>
            <a:off x="495300" y="3571875"/>
            <a:ext cx="11201400" cy="1285875"/>
            <a:chOff x="495300" y="3571875"/>
            <a:chExt cx="11201400" cy="1285875"/>
          </a:xfrm>
        </p:grpSpPr>
        <p:sp>
          <p:nvSpPr>
            <p:cNvPr id="22" name="Rectangle 22"/>
            <p:cNvSpPr/>
            <p:nvPr/>
          </p:nvSpPr>
          <p:spPr>
            <a:xfrm>
              <a:off x="495300" y="35718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95300" y="35718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33425" y="40195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7800" y="38004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CI Gate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362450" y="38004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686300" y="38004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拦截退化</a:t>
              </a:r>
            </a:p>
          </p:txBody>
        </p:sp>
      </p:grpSp>
      <p:grpSp>
        <p:nvGrpSpPr>
          <p:cNvPr id="35" name="EasySlides Component: evidence_03"/>
          <p:cNvGrpSpPr/>
          <p:nvPr/>
        </p:nvGrpSpPr>
        <p:grpSpPr>
          <a:xfrm>
            <a:off x="495300" y="4905375"/>
            <a:ext cx="11201400" cy="1285875"/>
            <a:chOff x="495300" y="4905375"/>
            <a:chExt cx="11201400" cy="1285875"/>
          </a:xfrm>
        </p:grpSpPr>
        <p:sp>
          <p:nvSpPr>
            <p:cNvPr id="29" name="Rectangle 29"/>
            <p:cNvSpPr/>
            <p:nvPr/>
          </p:nvSpPr>
          <p:spPr>
            <a:xfrm>
              <a:off x="495300" y="4905375"/>
              <a:ext cx="11201400" cy="1285875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11430">
              <a:solidFill>
                <a:srgbClr val="B8C7D6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4905375"/>
              <a:ext cx="76200" cy="1285875"/>
            </a:xfrm>
            <a:prstGeom prst="roundRect">
              <a:avLst>
                <a:gd name="adj" fmla="val 50000"/>
              </a:avLst>
            </a:prstGeom>
            <a:solidFill>
              <a:srgbClr val="0066C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3425" y="5353050"/>
              <a:ext cx="438150" cy="5238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0066CC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7800" y="5133975"/>
              <a:ext cx="266700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575" b="1" dirty="0">
                  <a:solidFill>
                    <a:srgbClr val="003366"/>
                  </a:solidFill>
                  <a:latin typeface="Arial"/>
                  <a:ea typeface="Microsoft YaHei"/>
                  <a:cs typeface="Arial"/>
                </a:rPr>
                <a:t>实战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4362450" y="5133975"/>
              <a:ext cx="9525" cy="828675"/>
            </a:xfrm>
            <a:custGeom>
              <a:avLst/>
              <a:gdLst/>
              <a:ahLst/>
              <a:cxnLst/>
              <a:rect l="l" t="t" r="r" b="b"/>
              <a:pathLst>
                <a:path w="9525" h="828675">
                  <a:moveTo>
                    <a:pt x="0" y="0"/>
                  </a:moveTo>
                  <a:lnTo>
                    <a:pt x="0" y="828675"/>
                  </a:lnTo>
                </a:path>
              </a:pathLst>
            </a:custGeom>
            <a:noFill/>
            <a:ln w="9525">
              <a:solidFill>
                <a:srgbClr val="D4E2EE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686300" y="5133975"/>
              <a:ext cx="6572250" cy="781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l"/>
              <a:r>
                <a:rPr lang="zh-CN" sz="1425" dirty="0">
                  <a:solidFill>
                    <a:srgbClr val="26384A"/>
                  </a:solidFill>
                  <a:latin typeface="Arial"/>
                  <a:ea typeface="Microsoft YaHei"/>
                  <a:cs typeface="Arial"/>
                </a:rPr>
                <a:t>dataagent/infra/</a:t>
              </a:r>
            </a:p>
          </p:txBody>
        </p:sp>
      </p:grpSp>
      <p:grpSp>
        <p:nvGrpSpPr>
          <p:cNvPr id="39" name="EasySlides Component: synthesis"/>
          <p:cNvGrpSpPr/>
          <p:nvPr/>
        </p:nvGrpSpPr>
        <p:grpSpPr>
          <a:xfrm>
            <a:off x="495300" y="1285875"/>
            <a:ext cx="11201400" cy="714375"/>
            <a:chOff x="495300" y="1285875"/>
            <a:chExt cx="11201400" cy="714375"/>
          </a:xfrm>
        </p:grpSpPr>
        <p:sp>
          <p:nvSpPr>
            <p:cNvPr id="36" name="Rectangle 36"/>
            <p:cNvSpPr/>
            <p:nvPr/>
          </p:nvSpPr>
          <p:spPr>
            <a:xfrm>
              <a:off x="495300" y="1285875"/>
              <a:ext cx="11201400" cy="714375"/>
            </a:xfrm>
            <a:prstGeom prst="roundRect">
              <a:avLst>
                <a:gd name="adj" fmla="val 5333"/>
              </a:avLst>
            </a:prstGeom>
            <a:solidFill>
              <a:srgbClr val="003366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95300" y="1285875"/>
              <a:ext cx="76200" cy="714375"/>
            </a:xfrm>
            <a:prstGeom prst="roundRect">
              <a:avLst>
                <a:gd name="adj" fmla="val 50000"/>
              </a:avLst>
            </a:prstGeom>
            <a:solidFill>
              <a:srgbClr val="CC000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76300" y="1419225"/>
              <a:ext cx="10439400" cy="4476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 anchorCtr="0">
              <a:norm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模拟一次候选版本触发回归门禁阻断，修复后重新通过，体验受控进化闭环。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0"/>
          </a:xfrm>
          <a:prstGeom prst="rect">
            <a:avLst/>
          </a:prstGeom>
          <a:solidFill>
            <a:srgbClr val="003366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952500"/>
          </a:xfrm>
          <a:prstGeom prst="rect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39375" y="190500"/>
            <a:ext cx="161925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DataAgent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333625"/>
            <a:ext cx="9906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4200" b="1" dirty="0">
                <a:solidFill>
                  <a:srgbClr val="003366"/>
                </a:solidFill>
                <a:latin typeface="Arial"/>
                <a:ea typeface="Microsoft YaHei"/>
                <a:cs typeface="Arial"/>
              </a:rPr>
              <a:t>本章小结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09750" y="3238500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8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40 从离线提升到安全发布：建立 Regression</a:t>
            </a:r>
          </a:p>
        </p:txBody>
      </p:sp>
      <p:sp>
        <p:nvSpPr>
          <p:cNvPr id="8" name="Line 8"/>
          <p:cNvSpPr/>
          <p:nvPr/>
        </p:nvSpPr>
        <p:spPr>
          <a:xfrm>
            <a:off x="4381500" y="3857625"/>
            <a:ext cx="3429000" cy="9525"/>
          </a:xfrm>
          <a:custGeom>
            <a:avLst/>
            <a:gdLst/>
            <a:ahLst/>
            <a:cxnLst/>
            <a:rect l="l" t="t" r="r" b="b"/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/>
          <a:ln w="19050">
            <a:solidFill>
              <a:srgbClr val="0066CC"/>
            </a:solidFill>
          </a:ln>
        </p:spPr>
      </p:sp>
      <p:sp>
        <p:nvSpPr>
          <p:cNvPr id="9" name="Ellipse 9"/>
          <p:cNvSpPr/>
          <p:nvPr/>
        </p:nvSpPr>
        <p:spPr>
          <a:xfrm>
            <a:off x="6048375" y="3810000"/>
            <a:ext cx="95250" cy="9525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</p:sp>
      <p:sp>
        <p:nvSpPr>
          <p:cNvPr id="10" name="Rectangle 10"/>
          <p:cNvSpPr/>
          <p:nvPr/>
        </p:nvSpPr>
        <p:spPr>
          <a:xfrm>
            <a:off x="3429000" y="4238625"/>
            <a:ext cx="5334000" cy="123825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3619500" y="447675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350" dirty="0">
                <a:solidFill>
                  <a:srgbClr val="26384A"/>
                </a:solidFill>
                <a:latin typeface="Arial"/>
                <a:ea typeface="Microsoft YaHei"/>
                <a:cs typeface="Arial"/>
              </a:rPr>
              <a:t>模拟一次候选版本触发回归门禁阻断，修复后重新通过，体验受控进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0500" y="4838700"/>
            <a:ext cx="4191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第40讲 · 第九篇（Agent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619500" y="51244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200" dirty="0">
                <a:solidFill>
                  <a:srgbClr val="52657A"/>
                </a:solidFill>
                <a:latin typeface="Arial"/>
                <a:ea typeface="Microsoft YaHei"/>
                <a:cs typeface="Arial"/>
              </a:rPr>
              <a:t>企业级Agent工程架构实战营</a:t>
            </a:r>
          </a:p>
        </p:txBody>
      </p:sp>
      <p:sp>
        <p:nvSpPr>
          <p:cNvPr id="14" name="Rectangle 14"/>
          <p:cNvSpPr/>
          <p:nvPr/>
        </p:nvSpPr>
        <p:spPr>
          <a:xfrm>
            <a:off x="0" y="6334125"/>
            <a:ext cx="12192000" cy="523875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3619500" y="6486525"/>
            <a:ext cx="49530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课程复现资料 · 可公开分享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63250" y="6486525"/>
            <a:ext cx="85725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/>
          <a:p>
            <a:pPr algn="ctr"/>
            <a:r>
              <a:rPr lang="zh-CN" sz="1050" dirty="0">
                <a:solidFill>
                  <a:srgbClr val="6B7C8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